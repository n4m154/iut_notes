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314" r:id="rId3"/>
    <p:sldId id="315" r:id="rId4"/>
    <p:sldId id="316" r:id="rId5"/>
    <p:sldId id="317" r:id="rId6"/>
    <p:sldId id="283" r:id="rId7"/>
    <p:sldId id="284" r:id="rId8"/>
    <p:sldId id="297" r:id="rId9"/>
    <p:sldId id="302" r:id="rId10"/>
    <p:sldId id="289" r:id="rId11"/>
    <p:sldId id="300" r:id="rId12"/>
    <p:sldId id="301" r:id="rId13"/>
    <p:sldId id="296" r:id="rId14"/>
    <p:sldId id="285" r:id="rId15"/>
    <p:sldId id="299" r:id="rId16"/>
    <p:sldId id="286" r:id="rId17"/>
    <p:sldId id="287" r:id="rId18"/>
    <p:sldId id="294" r:id="rId19"/>
    <p:sldId id="295" r:id="rId20"/>
    <p:sldId id="303" r:id="rId21"/>
    <p:sldId id="288" r:id="rId22"/>
    <p:sldId id="290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208" autoAdjust="0"/>
  </p:normalViewPr>
  <p:slideViewPr>
    <p:cSldViewPr>
      <p:cViewPr varScale="1">
        <p:scale>
          <a:sx n="81" d="100"/>
          <a:sy n="81" d="100"/>
        </p:scale>
        <p:origin x="725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2019D-E485-4371-9079-59950BD182E7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23C875-2F3F-42B0-AF79-02DC4FAD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879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Passing inline code like this won’t fire on click—it fires every time the component renders: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This alert fires when the component renders, not when clicked!</a:t>
            </a:r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&lt;button onClick={alert('You clicked me!')}&gt;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23C875-2F3F-42B0-AF79-02DC4FADB94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779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23C875-2F3F-42B0-AF79-02DC4FADB94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598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44536A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44536A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44536A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44536A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10577"/>
            <a:ext cx="922845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44536A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2505748"/>
            <a:ext cx="10059670" cy="290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.dev/reference/react-dom/components/common#common-prop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.dev/learn/rendering-list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900" y="1107108"/>
            <a:ext cx="8458200" cy="23980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6000" spc="-50" dirty="0"/>
              <a:t>Introduction</a:t>
            </a:r>
            <a:r>
              <a:rPr sz="6000" spc="-210" dirty="0"/>
              <a:t> </a:t>
            </a:r>
            <a:r>
              <a:rPr sz="6000" dirty="0"/>
              <a:t>to</a:t>
            </a:r>
            <a:r>
              <a:rPr sz="6000" spc="-204" dirty="0"/>
              <a:t> </a:t>
            </a:r>
            <a:r>
              <a:rPr sz="6000" spc="-10" dirty="0"/>
              <a:t>React</a:t>
            </a:r>
            <a:r>
              <a:rPr lang="en-IN" sz="6000" spc="-10" dirty="0"/>
              <a:t>JS</a:t>
            </a:r>
            <a:br>
              <a:rPr lang="en-IN" sz="6000" spc="-10" dirty="0"/>
            </a:br>
            <a:r>
              <a:rPr lang="en-IN" sz="3500" spc="-10" dirty="0"/>
              <a:t>Event Handling &amp;&amp; Conditional Rendering</a:t>
            </a:r>
            <a:br>
              <a:rPr lang="en-IN" sz="6000" spc="-10" dirty="0"/>
            </a:b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4452302" y="3581400"/>
            <a:ext cx="3287395" cy="914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4800"/>
              </a:lnSpc>
              <a:spcBef>
                <a:spcPts val="100"/>
              </a:spcBef>
            </a:pPr>
            <a:r>
              <a:rPr lang="en-IN" sz="2400" dirty="0">
                <a:latin typeface="Carlito"/>
                <a:cs typeface="Carlito"/>
              </a:rPr>
              <a:t>Njayou Youssouf</a:t>
            </a:r>
          </a:p>
          <a:p>
            <a:pPr marL="12700" marR="5080" algn="ctr">
              <a:lnSpc>
                <a:spcPct val="124800"/>
              </a:lnSpc>
              <a:spcBef>
                <a:spcPts val="100"/>
              </a:spcBef>
            </a:pPr>
            <a:fld id="{C77017B0-78ED-4137-8CC4-6174E80D56F1}" type="datetime1">
              <a:rPr lang="en-IN" sz="2400" smtClean="0">
                <a:latin typeface="Carlito"/>
                <a:cs typeface="Carlito"/>
              </a:rPr>
              <a:t>26-05-2025</a:t>
            </a:fld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709D1-AA4A-4264-AFF1-96EE71A54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C0696-2055-4708-8818-160104F75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2505748"/>
            <a:ext cx="10059670" cy="1292662"/>
          </a:xfrm>
        </p:spPr>
        <p:txBody>
          <a:bodyPr/>
          <a:lstStyle/>
          <a:p>
            <a:r>
              <a:rPr lang="en-IN" dirty="0"/>
              <a:t>Create Gallery using state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136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0577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dirty="0"/>
              <a:t>Test 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8A929F7-BCEC-48C6-8AB5-B24F8A1F6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7575" y="1447800"/>
            <a:ext cx="10058400" cy="18973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b="1" dirty="0"/>
              <a:t>Challenge 1 : Complete the gallery </a:t>
            </a:r>
          </a:p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dirty="0"/>
              <a:t>When you press “Next” on the last sculpture the code crashes. </a:t>
            </a:r>
          </a:p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endParaRPr lang="en-IN" sz="2400" dirty="0"/>
          </a:p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dirty="0"/>
              <a:t>Fix the logic to prevent the crash. You may do this by adding extra logic to event handler or by disabling the button when the action is not possible.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506198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b="1" dirty="0"/>
              <a:t>Test 2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04C89E7-3A4F-4F57-A3A7-181C40E5C7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371600"/>
            <a:ext cx="10058400" cy="148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dirty="0"/>
              <a:t>Here is a small form that is supposed to let the user leave some feedback. When the feedback is submitted, it’s supposed to display a thank-you message. However, it crashes with an error message saying “Rendered fewer hooks than expected”. Can you spot the mistake and fix it?</a:t>
            </a:r>
          </a:p>
        </p:txBody>
      </p:sp>
    </p:spTree>
    <p:extLst>
      <p:ext uri="{BB962C8B-B14F-4D97-AF65-F5344CB8AC3E}">
        <p14:creationId xmlns:p14="http://schemas.microsoft.com/office/powerpoint/2010/main" val="3318086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0344" y="248502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dirty="0"/>
              <a:t>Stopping propagation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8A929F7-BCEC-48C6-8AB5-B24F8A1F6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7574" y="1447800"/>
            <a:ext cx="1051242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tabLst>
                <a:tab pos="469265" algn="l"/>
              </a:tabLst>
            </a:pPr>
            <a:endParaRPr lang="en-IN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D8C9E48C-01E2-4DB8-ABDC-B578C2EF5534}"/>
              </a:ext>
            </a:extLst>
          </p:cNvPr>
          <p:cNvSpPr txBox="1">
            <a:spLocks/>
          </p:cNvSpPr>
          <p:nvPr/>
        </p:nvSpPr>
        <p:spPr>
          <a:xfrm>
            <a:off x="830344" y="0"/>
            <a:ext cx="10284462" cy="7091044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{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useState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}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from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'react'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export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FeedbackForm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[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isSent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setIsSent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] =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useState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isSent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h1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Thank you!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h1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}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else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[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message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setMessage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] =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useState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''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onSubmit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>
                <a:solidFill>
                  <a:srgbClr val="7F7F7F"/>
                </a:solidFill>
                <a:latin typeface="Consolas" panose="020B0609020204030204" pitchFamily="49" charset="0"/>
              </a:rPr>
              <a:t>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2000" dirty="0" err="1">
                <a:solidFill>
                  <a:srgbClr val="7F7F7F"/>
                </a:solidFill>
                <a:latin typeface="Consolas" panose="020B0609020204030204" pitchFamily="49" charset="0"/>
              </a:rPr>
              <a:t>e</a:t>
            </a:r>
            <a:r>
              <a:rPr lang="en-IN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preventDefault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(); 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setIsSent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}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textarea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</a:t>
            </a:r>
            <a:r>
              <a:rPr lang="en-IN" sz="2000" dirty="0">
                <a:solidFill>
                  <a:srgbClr val="9CDCFE"/>
                </a:solidFill>
                <a:latin typeface="Consolas" panose="020B0609020204030204" pitchFamily="49" charset="0"/>
              </a:rPr>
              <a:t>placeholder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"Message"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</a:t>
            </a:r>
            <a:r>
              <a:rPr lang="en-IN" sz="2000" dirty="0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message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</a:t>
            </a:r>
            <a:r>
              <a:rPr lang="en-IN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onChange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>
                <a:solidFill>
                  <a:srgbClr val="7F7F7F"/>
                </a:solidFill>
                <a:latin typeface="Consolas" panose="020B0609020204030204" pitchFamily="49" charset="0"/>
              </a:rPr>
              <a:t>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setMessage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 err="1">
                <a:solidFill>
                  <a:srgbClr val="7F7F7F"/>
                </a:solidFill>
                <a:latin typeface="Consolas" panose="020B0609020204030204" pitchFamily="49" charset="0"/>
              </a:rPr>
              <a:t>e</a:t>
            </a:r>
            <a:r>
              <a:rPr lang="en-IN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sz="2000" dirty="0" err="1">
                <a:solidFill>
                  <a:srgbClr val="DADADA"/>
                </a:solidFill>
                <a:latin typeface="Consolas" panose="020B0609020204030204" pitchFamily="49" charset="0"/>
              </a:rPr>
              <a:t>target</a:t>
            </a:r>
            <a:r>
              <a:rPr lang="en-IN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sz="2000" dirty="0" err="1">
                <a:solidFill>
                  <a:srgbClr val="DADADA"/>
                </a:solidFill>
                <a:latin typeface="Consolas" panose="020B0609020204030204" pitchFamily="49" charset="0"/>
              </a:rPr>
              <a:t>value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</a:p>
          <a:p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	&lt;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"submit"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Send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);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0403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/>
              <a:t>Event Handling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8A929F7-BCEC-48C6-8AB5-B24F8A1F6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7575" y="1447800"/>
            <a:ext cx="10058400" cy="13304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dirty="0"/>
              <a:t>Different </a:t>
            </a:r>
            <a:r>
              <a:rPr lang="en-IN" dirty="0">
                <a:solidFill>
                  <a:srgbClr val="FF0000"/>
                </a:solidFill>
              </a:rPr>
              <a:t>ways</a:t>
            </a:r>
            <a:r>
              <a:rPr lang="en-IN" dirty="0"/>
              <a:t> to write an event handler</a:t>
            </a:r>
          </a:p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dirty="0"/>
              <a:t>How to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pass</a:t>
            </a:r>
            <a:r>
              <a:rPr lang="en-IN" dirty="0"/>
              <a:t> event handling </a:t>
            </a:r>
            <a:r>
              <a:rPr lang="en-IN" dirty="0">
                <a:solidFill>
                  <a:srgbClr val="0070C0"/>
                </a:solidFill>
              </a:rPr>
              <a:t>logic</a:t>
            </a:r>
            <a:r>
              <a:rPr lang="en-IN" dirty="0"/>
              <a:t> from a parent component</a:t>
            </a:r>
          </a:p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dirty="0"/>
              <a:t>How events </a:t>
            </a:r>
            <a:r>
              <a:rPr lang="en-IN" dirty="0">
                <a:solidFill>
                  <a:srgbClr val="FF0000"/>
                </a:solidFill>
              </a:rPr>
              <a:t>propagate</a:t>
            </a:r>
            <a:r>
              <a:rPr lang="en-IN" dirty="0"/>
              <a:t> and how to </a:t>
            </a:r>
            <a:r>
              <a:rPr lang="en-IN" dirty="0">
                <a:solidFill>
                  <a:schemeClr val="tx2"/>
                </a:solidFill>
              </a:rPr>
              <a:t>stop</a:t>
            </a:r>
            <a:r>
              <a:rPr lang="en-IN" dirty="0"/>
              <a:t> them</a:t>
            </a:r>
            <a:endParaRPr b="0" i="1" spc="-20" dirty="0">
              <a:latin typeface="Lato Light"/>
              <a:cs typeface="Lato Light"/>
            </a:endParaRPr>
          </a:p>
        </p:txBody>
      </p:sp>
    </p:spTree>
    <p:extLst>
      <p:ext uri="{BB962C8B-B14F-4D97-AF65-F5344CB8AC3E}">
        <p14:creationId xmlns:p14="http://schemas.microsoft.com/office/powerpoint/2010/main" val="2467475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/>
              <a:t>Write an event handler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3F3EA2A3-8586-4DE0-9866-AE4DD252185E}"/>
              </a:ext>
            </a:extLst>
          </p:cNvPr>
          <p:cNvSpPr txBox="1">
            <a:spLocks/>
          </p:cNvSpPr>
          <p:nvPr/>
        </p:nvSpPr>
        <p:spPr>
          <a:xfrm>
            <a:off x="1066800" y="1495481"/>
            <a:ext cx="6400800" cy="293606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r>
              <a:rPr lang="en-IN" sz="2400" dirty="0">
                <a:solidFill>
                  <a:srgbClr val="569CD6"/>
                </a:solidFill>
                <a:latin typeface="Consolas" panose="020B0609020204030204" pitchFamily="49" charset="0"/>
              </a:rPr>
              <a:t>export</a:t>
            </a:r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400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4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400" dirty="0">
                <a:solidFill>
                  <a:srgbClr val="C8C8C8"/>
                </a:solidFill>
                <a:latin typeface="Consolas" panose="020B0609020204030204" pitchFamily="49" charset="0"/>
              </a:rPr>
              <a:t>Button</a:t>
            </a:r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24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4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  I don't do anything</a:t>
            </a:r>
          </a:p>
          <a:p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4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F8B2C506-EF8E-41C5-9A4B-F505233323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2650" y="5181600"/>
            <a:ext cx="10058400" cy="16382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+mj-lt"/>
              <a:buAutoNum type="arabicPeriod"/>
              <a:tabLst>
                <a:tab pos="469265" algn="l"/>
              </a:tabLst>
            </a:pPr>
            <a:r>
              <a:rPr lang="en-IN" sz="2600" spc="-20" dirty="0">
                <a:cs typeface="Lato Light"/>
              </a:rPr>
              <a:t>Declare a function called </a:t>
            </a:r>
            <a:r>
              <a:rPr lang="en-IN" sz="2600" b="1" spc="-20" dirty="0">
                <a:solidFill>
                  <a:schemeClr val="tx2"/>
                </a:solidFill>
                <a:cs typeface="Lato Light"/>
              </a:rPr>
              <a:t>handleClick</a:t>
            </a:r>
            <a:r>
              <a:rPr lang="en-IN" sz="2600" spc="-20" dirty="0">
                <a:cs typeface="Lato Light"/>
              </a:rPr>
              <a:t> inside your Button component.</a:t>
            </a:r>
          </a:p>
          <a:p>
            <a:pPr marL="527050" indent="-51435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+mj-lt"/>
              <a:buAutoNum type="arabicPeriod"/>
              <a:tabLst>
                <a:tab pos="469265" algn="l"/>
              </a:tabLst>
            </a:pPr>
            <a:r>
              <a:rPr lang="en-IN" sz="2600" spc="-20" dirty="0">
                <a:cs typeface="Lato Light"/>
              </a:rPr>
              <a:t>Implement the </a:t>
            </a:r>
            <a:r>
              <a:rPr lang="en-IN" sz="2600" b="1" spc="-20" dirty="0">
                <a:solidFill>
                  <a:schemeClr val="tx2"/>
                </a:solidFill>
                <a:cs typeface="Lato Light"/>
              </a:rPr>
              <a:t>logic</a:t>
            </a:r>
            <a:r>
              <a:rPr lang="en-IN" sz="2600" spc="-20" dirty="0">
                <a:cs typeface="Lato Light"/>
              </a:rPr>
              <a:t> inside that function (use </a:t>
            </a:r>
            <a:r>
              <a:rPr lang="en-IN" sz="2600" i="1" spc="-20" dirty="0">
                <a:cs typeface="Lato Light"/>
              </a:rPr>
              <a:t>alert</a:t>
            </a:r>
            <a:r>
              <a:rPr lang="en-IN" sz="2600" spc="-20" dirty="0">
                <a:cs typeface="Lato Light"/>
              </a:rPr>
              <a:t> to show the message or </a:t>
            </a:r>
            <a:r>
              <a:rPr lang="en-IN" sz="2600" i="1" spc="-20" dirty="0">
                <a:cs typeface="Lato Light"/>
              </a:rPr>
              <a:t>console.log() </a:t>
            </a:r>
            <a:r>
              <a:rPr lang="en-IN" sz="2600" spc="-20" dirty="0">
                <a:cs typeface="Lato Light"/>
              </a:rPr>
              <a:t>).</a:t>
            </a:r>
          </a:p>
          <a:p>
            <a:pPr marL="527050" indent="-51435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+mj-lt"/>
              <a:buAutoNum type="arabicPeriod"/>
              <a:tabLst>
                <a:tab pos="469265" algn="l"/>
              </a:tabLst>
            </a:pPr>
            <a:r>
              <a:rPr lang="en-IN" sz="2600" spc="-20" dirty="0">
                <a:cs typeface="Lato Light"/>
              </a:rPr>
              <a:t>Add </a:t>
            </a:r>
            <a:r>
              <a:rPr lang="en-IN" sz="2600" b="1" spc="-20" dirty="0">
                <a:solidFill>
                  <a:schemeClr val="tx2"/>
                </a:solidFill>
                <a:cs typeface="Lato Light"/>
              </a:rPr>
              <a:t>onClick={handleClick} </a:t>
            </a:r>
            <a:r>
              <a:rPr lang="en-IN" sz="2600" spc="-20" dirty="0">
                <a:cs typeface="Lato Light"/>
              </a:rPr>
              <a:t>to the &lt;button&gt; JSX.</a:t>
            </a:r>
            <a:endParaRPr sz="2600" b="0" spc="-20" dirty="0">
              <a:cs typeface="Lato Ligh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AB3B74-A6DC-45F0-A4A9-026CFCE46DE2}"/>
              </a:ext>
            </a:extLst>
          </p:cNvPr>
          <p:cNvSpPr/>
          <p:nvPr/>
        </p:nvSpPr>
        <p:spPr>
          <a:xfrm>
            <a:off x="2308388" y="4525643"/>
            <a:ext cx="757522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000" b="0" i="0" dirty="0">
                <a:solidFill>
                  <a:srgbClr val="23272F"/>
                </a:solidFill>
                <a:effectLst/>
                <a:latin typeface="Optimistic Text"/>
              </a:rPr>
              <a:t>To show a message when a user clicks:</a:t>
            </a:r>
          </a:p>
        </p:txBody>
      </p:sp>
    </p:spTree>
    <p:extLst>
      <p:ext uri="{BB962C8B-B14F-4D97-AF65-F5344CB8AC3E}">
        <p14:creationId xmlns:p14="http://schemas.microsoft.com/office/powerpoint/2010/main" val="1489777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/>
              <a:t>Event Handler</a:t>
            </a:r>
            <a:endParaRPr lang="en-IN" b="0" i="1" spc="-20" dirty="0">
              <a:latin typeface="Lato Light"/>
              <a:cs typeface="Lato Light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DEF0BD09-53EC-45DD-B1AF-2A467BEB7F16}"/>
              </a:ext>
            </a:extLst>
          </p:cNvPr>
          <p:cNvSpPr txBox="1">
            <a:spLocks/>
          </p:cNvSpPr>
          <p:nvPr/>
        </p:nvSpPr>
        <p:spPr>
          <a:xfrm>
            <a:off x="1143000" y="2032133"/>
            <a:ext cx="10058400" cy="478272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rgbClr val="569CD6"/>
                </a:solidFill>
                <a:latin typeface="Consolas" panose="020B0609020204030204" pitchFamily="49" charset="0"/>
              </a:rPr>
              <a:t>export</a:t>
            </a:r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400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4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400" dirty="0">
                <a:solidFill>
                  <a:srgbClr val="C8C8C8"/>
                </a:solidFill>
                <a:latin typeface="Consolas" panose="020B0609020204030204" pitchFamily="49" charset="0"/>
              </a:rPr>
              <a:t>Button</a:t>
            </a:r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24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400" dirty="0">
                <a:solidFill>
                  <a:srgbClr val="C8C8C8"/>
                </a:solidFill>
                <a:latin typeface="Consolas" panose="020B0609020204030204" pitchFamily="49" charset="0"/>
              </a:rPr>
              <a:t>handleClick</a:t>
            </a:r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400" dirty="0">
                <a:solidFill>
                  <a:srgbClr val="C8C8C8"/>
                </a:solidFill>
                <a:latin typeface="Consolas" panose="020B0609020204030204" pitchFamily="49" charset="0"/>
              </a:rPr>
              <a:t>alert</a:t>
            </a:r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2400" dirty="0">
                <a:solidFill>
                  <a:srgbClr val="CE9178"/>
                </a:solidFill>
                <a:latin typeface="Consolas" panose="020B0609020204030204" pitchFamily="49" charset="0"/>
              </a:rPr>
              <a:t>'You clicked me!’</a:t>
            </a:r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console.log(</a:t>
            </a:r>
            <a:r>
              <a:rPr lang="en-IN" sz="2400" dirty="0">
                <a:solidFill>
                  <a:srgbClr val="CE9178"/>
                </a:solidFill>
                <a:latin typeface="Consolas" panose="020B0609020204030204" pitchFamily="49" charset="0"/>
              </a:rPr>
              <a:t>'You clicked me!’</a:t>
            </a:r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  }</a:t>
            </a:r>
          </a:p>
          <a:p>
            <a:b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24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4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400" dirty="0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4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400" dirty="0">
                <a:solidFill>
                  <a:srgbClr val="C8C8C8"/>
                </a:solidFill>
                <a:latin typeface="Consolas" panose="020B0609020204030204" pitchFamily="49" charset="0"/>
              </a:rPr>
              <a:t>handleClick</a:t>
            </a:r>
            <a:r>
              <a:rPr lang="en-IN" sz="24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  Click me</a:t>
            </a:r>
          </a:p>
          <a:p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4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24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sz="2200" dirty="0">
              <a:solidFill>
                <a:srgbClr val="569CD6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012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/>
              <a:t>Event Handler Functions</a:t>
            </a:r>
            <a:endParaRPr lang="en-IN" b="0" i="1" spc="-20" dirty="0">
              <a:latin typeface="Lato Light"/>
              <a:cs typeface="Lato Light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F011DFCA-D57F-4717-8947-C443D36722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00200"/>
            <a:ext cx="10058400" cy="30796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dirty="0"/>
              <a:t>Are usually defined </a:t>
            </a:r>
            <a:r>
              <a:rPr lang="en-IN" dirty="0">
                <a:solidFill>
                  <a:srgbClr val="FF0000"/>
                </a:solidFill>
              </a:rPr>
              <a:t>inside</a:t>
            </a:r>
            <a:r>
              <a:rPr lang="en-IN" dirty="0"/>
              <a:t> your components.</a:t>
            </a:r>
          </a:p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dirty="0"/>
              <a:t>Have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names</a:t>
            </a:r>
            <a:r>
              <a:rPr lang="en-IN" dirty="0"/>
              <a:t> that start with </a:t>
            </a:r>
            <a:r>
              <a:rPr lang="en-IN" dirty="0">
                <a:solidFill>
                  <a:schemeClr val="tx2"/>
                </a:solidFill>
              </a:rPr>
              <a:t>handle</a:t>
            </a:r>
            <a:r>
              <a:rPr lang="en-IN" dirty="0"/>
              <a:t>, followed by the name of the event.</a:t>
            </a:r>
            <a:endParaRPr lang="en-IN" b="1" dirty="0"/>
          </a:p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dirty="0"/>
              <a:t>By convention, it is common to name event handlers as handle followed by the event name. </a:t>
            </a:r>
          </a:p>
          <a:p>
            <a:pPr marL="2298700" lvl="5">
              <a:spcBef>
                <a:spcPts val="100"/>
              </a:spcBef>
              <a:buClr>
                <a:srgbClr val="C00000"/>
              </a:buClr>
              <a:tabLst>
                <a:tab pos="469265" algn="l"/>
              </a:tabLst>
            </a:pPr>
            <a:r>
              <a:rPr lang="en-IN" sz="2800" dirty="0"/>
              <a:t>onClick={handleClick}, </a:t>
            </a:r>
          </a:p>
          <a:p>
            <a:pPr marL="2298700" lvl="5">
              <a:spcBef>
                <a:spcPts val="100"/>
              </a:spcBef>
              <a:buClr>
                <a:srgbClr val="C00000"/>
              </a:buClr>
              <a:tabLst>
                <a:tab pos="469265" algn="l"/>
              </a:tabLst>
            </a:pPr>
            <a:r>
              <a:rPr lang="en-IN" sz="2800" dirty="0" err="1"/>
              <a:t>onMouseEnter</a:t>
            </a:r>
            <a:r>
              <a:rPr lang="en-IN" sz="2800" dirty="0"/>
              <a:t>={</a:t>
            </a:r>
            <a:r>
              <a:rPr lang="en-IN" sz="2800" dirty="0" err="1"/>
              <a:t>handleMouseEnter</a:t>
            </a:r>
            <a:r>
              <a:rPr lang="en-IN" sz="2800" dirty="0"/>
              <a:t>}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AB49E839-977A-4CCA-93F0-4FC1DB2CF17A}"/>
              </a:ext>
            </a:extLst>
          </p:cNvPr>
          <p:cNvSpPr txBox="1">
            <a:spLocks/>
          </p:cNvSpPr>
          <p:nvPr/>
        </p:nvSpPr>
        <p:spPr>
          <a:xfrm>
            <a:off x="533400" y="4973356"/>
            <a:ext cx="6019800" cy="1274067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handleClick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alert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'You clicked me!'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IN" sz="2200" dirty="0">
              <a:solidFill>
                <a:srgbClr val="569CD6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86E01F8C-2CD8-4150-B4E3-31514CB7C88A}"/>
              </a:ext>
            </a:extLst>
          </p:cNvPr>
          <p:cNvSpPr txBox="1">
            <a:spLocks/>
          </p:cNvSpPr>
          <p:nvPr/>
        </p:nvSpPr>
        <p:spPr>
          <a:xfrm>
            <a:off x="6705600" y="4973355"/>
            <a:ext cx="4953000" cy="136640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IN" sz="2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200" dirty="0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() </a:t>
            </a: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2200" dirty="0">
                <a:solidFill>
                  <a:srgbClr val="C8C8C8"/>
                </a:solidFill>
                <a:latin typeface="Consolas" panose="020B0609020204030204" pitchFamily="49" charset="0"/>
              </a:rPr>
              <a:t>alert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2200" dirty="0">
                <a:solidFill>
                  <a:srgbClr val="CE9178"/>
                </a:solidFill>
                <a:latin typeface="Consolas" panose="020B0609020204030204" pitchFamily="49" charset="0"/>
              </a:rPr>
              <a:t>'You clicked me!'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22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IN" sz="2200" dirty="0">
              <a:solidFill>
                <a:srgbClr val="569CD6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014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/>
              <a:t>Event Handler Functions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8A929F7-BCEC-48C6-8AB5-B24F8A1F6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7575" y="1447800"/>
            <a:ext cx="1005840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dirty="0"/>
              <a:t>Functions passed to event handlers must be passed, not called. For example: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5F82BDF-E7F0-45C3-BB8C-03F717294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523009"/>
              </p:ext>
            </p:extLst>
          </p:nvPr>
        </p:nvGraphicFramePr>
        <p:xfrm>
          <a:off x="916939" y="2660353"/>
          <a:ext cx="9751062" cy="2064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5531">
                  <a:extLst>
                    <a:ext uri="{9D8B030D-6E8A-4147-A177-3AD203B41FA5}">
                      <a16:colId xmlns:a16="http://schemas.microsoft.com/office/drawing/2014/main" val="1051300052"/>
                    </a:ext>
                  </a:extLst>
                </a:gridCol>
                <a:gridCol w="4875531">
                  <a:extLst>
                    <a:ext uri="{9D8B030D-6E8A-4147-A177-3AD203B41FA5}">
                      <a16:colId xmlns:a16="http://schemas.microsoft.com/office/drawing/2014/main" val="1201111681"/>
                    </a:ext>
                  </a:extLst>
                </a:gridCol>
              </a:tblGrid>
              <a:tr h="688016">
                <a:tc>
                  <a:txBody>
                    <a:bodyPr/>
                    <a:lstStyle/>
                    <a:p>
                      <a:pPr algn="ctr"/>
                      <a:r>
                        <a:rPr lang="en-IN" sz="2000" b="1" i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passing a function (correct)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i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calling a function (incorrect)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107250"/>
                  </a:ext>
                </a:extLst>
              </a:tr>
              <a:tr h="688016">
                <a:tc>
                  <a:txBody>
                    <a:bodyPr/>
                    <a:lstStyle/>
                    <a:p>
                      <a:pPr algn="ctr"/>
                      <a:r>
                        <a:rPr lang="en-IN" b="0" i="0" dirty="0">
                          <a:solidFill>
                            <a:schemeClr val="tx1"/>
                          </a:solidFill>
                          <a:effectLst/>
                          <a:latin typeface="Source Code Pro"/>
                        </a:rPr>
                        <a:t>&lt;button onClick={handleClick}&gt;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chemeClr val="tx1"/>
                          </a:solidFill>
                          <a:effectLst/>
                          <a:latin typeface="Source Code Pro"/>
                        </a:rPr>
                        <a:t>&lt;button onClick={handleClick()}&gt;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156476"/>
                  </a:ext>
                </a:extLst>
              </a:tr>
              <a:tr h="688016"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chemeClr val="tx1"/>
                          </a:solidFill>
                          <a:effectLst/>
                          <a:latin typeface="Source Code Pro"/>
                        </a:rPr>
                        <a:t>&lt;button onClick={() =&gt; alert('...')}&gt;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  <a:latin typeface="Source Code Pro"/>
                        </a:rPr>
                        <a:t>&lt;button onClick={alert('...')}&gt;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59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0792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0577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dirty="0"/>
              <a:t>Reading props in event handlers 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C5BF9B47-5DAF-48DF-91A2-36AE868AD18F}"/>
              </a:ext>
            </a:extLst>
          </p:cNvPr>
          <p:cNvSpPr txBox="1">
            <a:spLocks/>
          </p:cNvSpPr>
          <p:nvPr/>
        </p:nvSpPr>
        <p:spPr>
          <a:xfrm>
            <a:off x="916938" y="1299868"/>
            <a:ext cx="11122661" cy="5244384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({ </a:t>
            </a:r>
            <a:r>
              <a:rPr lang="en-IN" sz="2000" dirty="0">
                <a:solidFill>
                  <a:srgbClr val="7F7F7F"/>
                </a:solidFill>
                <a:latin typeface="Consolas" panose="020B0609020204030204" pitchFamily="49" charset="0"/>
              </a:rPr>
              <a:t>onClick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sz="2000" dirty="0">
                <a:solidFill>
                  <a:srgbClr val="7F7F7F"/>
                </a:solidFill>
                <a:latin typeface="Consolas" panose="020B0609020204030204" pitchFamily="49" charset="0"/>
              </a:rPr>
              <a:t>children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})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>
                <a:solidFill>
                  <a:srgbClr val="7F7F7F"/>
                </a:solidFill>
                <a:latin typeface="Consolas" panose="020B0609020204030204" pitchFamily="49" charset="0"/>
              </a:rPr>
              <a:t>onClick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>
                <a:solidFill>
                  <a:srgbClr val="7F7F7F"/>
                </a:solidFill>
                <a:latin typeface="Consolas" panose="020B0609020204030204" pitchFamily="49" charset="0"/>
              </a:rPr>
              <a:t>children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export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MusicButton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handleMusciClick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alert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"Playing music"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handleMusciClick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Click To play Music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export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MovieButton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handleMovieClick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alert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"Playing a movie"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handleMovieClick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Click to play a Movie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15668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0577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dirty="0"/>
              <a:t>Naming event handler props 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8A929F7-BCEC-48C6-8AB5-B24F8A1F6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7575" y="1447800"/>
            <a:ext cx="10058400" cy="2623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 algn="l" rtl="0"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US" altLang="en-US" dirty="0">
                <a:solidFill>
                  <a:srgbClr val="23272F"/>
                </a:solidFill>
                <a:latin typeface="Optimistic Text"/>
              </a:rPr>
              <a:t>Built-in components like </a:t>
            </a:r>
            <a:r>
              <a:rPr lang="en-US" altLang="en-US" sz="1800" dirty="0">
                <a:latin typeface="Source Code Pro"/>
              </a:rPr>
              <a:t>&lt;button&gt;</a:t>
            </a:r>
            <a:r>
              <a:rPr lang="en-US" altLang="en-US" dirty="0">
                <a:solidFill>
                  <a:srgbClr val="23272F"/>
                </a:solidFill>
                <a:latin typeface="Optimistic Text"/>
              </a:rPr>
              <a:t> and </a:t>
            </a:r>
            <a:r>
              <a:rPr lang="en-US" altLang="en-US" sz="1800" dirty="0">
                <a:latin typeface="Source Code Pro"/>
              </a:rPr>
              <a:t>&lt;div&gt;</a:t>
            </a:r>
            <a:r>
              <a:rPr lang="en-US" altLang="en-US" dirty="0">
                <a:solidFill>
                  <a:srgbClr val="23272F"/>
                </a:solidFill>
                <a:latin typeface="Optimistic Text"/>
              </a:rPr>
              <a:t> only support </a:t>
            </a:r>
            <a:r>
              <a:rPr lang="en-US" altLang="en-US" dirty="0">
                <a:latin typeface="Optimistic Text"/>
                <a:hlinkClick r:id="rId2"/>
              </a:rPr>
              <a:t>browser event names</a:t>
            </a:r>
            <a:r>
              <a:rPr lang="en-US" altLang="en-US" dirty="0">
                <a:solidFill>
                  <a:srgbClr val="23272F"/>
                </a:solidFill>
                <a:latin typeface="Optimistic Text"/>
              </a:rPr>
              <a:t> like </a:t>
            </a:r>
            <a:r>
              <a:rPr lang="en-US" altLang="en-US" sz="1800" dirty="0" err="1">
                <a:solidFill>
                  <a:srgbClr val="FF0000"/>
                </a:solidFill>
                <a:latin typeface="Source Code Pro"/>
              </a:rPr>
              <a:t>onClick</a:t>
            </a:r>
            <a:r>
              <a:rPr lang="en-US" altLang="en-US" dirty="0">
                <a:solidFill>
                  <a:srgbClr val="23272F"/>
                </a:solidFill>
                <a:latin typeface="Optimistic Text"/>
              </a:rPr>
              <a:t>. </a:t>
            </a:r>
          </a:p>
          <a:p>
            <a:pPr marL="469265" indent="-456565" algn="l" rtl="0"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US" altLang="en-US" dirty="0">
                <a:solidFill>
                  <a:srgbClr val="23272F"/>
                </a:solidFill>
                <a:latin typeface="Optimistic Text"/>
              </a:rPr>
              <a:t>When you’re building your own components, you can name their event handler props any way that you like.</a:t>
            </a:r>
            <a:r>
              <a:rPr lang="en-US" altLang="en-US" sz="1400" dirty="0"/>
              <a:t> </a:t>
            </a:r>
          </a:p>
          <a:p>
            <a:pPr marL="469265" indent="-456565" algn="l" rtl="0"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US" altLang="en-US" dirty="0">
                <a:solidFill>
                  <a:srgbClr val="23272F"/>
                </a:solidFill>
                <a:latin typeface="Optimistic Text"/>
              </a:rPr>
              <a:t>By convention, event handler props should start with </a:t>
            </a:r>
            <a:r>
              <a:rPr lang="en-US" altLang="en-US" sz="2000" dirty="0">
                <a:solidFill>
                  <a:srgbClr val="FF0000"/>
                </a:solidFill>
                <a:latin typeface="Source Code Pro"/>
              </a:rPr>
              <a:t>on</a:t>
            </a:r>
            <a:r>
              <a:rPr lang="en-US" altLang="en-US" dirty="0">
                <a:solidFill>
                  <a:srgbClr val="23272F"/>
                </a:solidFill>
                <a:latin typeface="Optimistic Text"/>
              </a:rPr>
              <a:t>, followed by a capital letter.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5268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04800"/>
            <a:ext cx="92284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b="1" dirty="0"/>
              <a:t>Naming event handler props </a:t>
            </a:r>
            <a:endParaRPr lang="en-IN" b="0" i="1" spc="-20" dirty="0">
              <a:latin typeface="Lato Light"/>
              <a:cs typeface="Lato Light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CB48421A-BC36-430E-97CC-B9F4D0B44703}"/>
              </a:ext>
            </a:extLst>
          </p:cNvPr>
          <p:cNvSpPr txBox="1">
            <a:spLocks/>
          </p:cNvSpPr>
          <p:nvPr/>
        </p:nvSpPr>
        <p:spPr>
          <a:xfrm>
            <a:off x="838200" y="1066800"/>
            <a:ext cx="10284462" cy="4982774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en-IN" sz="19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900" dirty="0">
                <a:solidFill>
                  <a:srgbClr val="C8C8C8"/>
                </a:solidFill>
                <a:latin typeface="Consolas" panose="020B0609020204030204" pitchFamily="49" charset="0"/>
              </a:rPr>
              <a:t>Button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({ </a:t>
            </a:r>
            <a:r>
              <a:rPr lang="en-IN" sz="1900" dirty="0">
                <a:solidFill>
                  <a:srgbClr val="7F7F7F"/>
                </a:solidFill>
                <a:latin typeface="Consolas" panose="020B0609020204030204" pitchFamily="49" charset="0"/>
              </a:rPr>
              <a:t>onPush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sz="1900" dirty="0">
                <a:solidFill>
                  <a:srgbClr val="7F7F7F"/>
                </a:solidFill>
                <a:latin typeface="Consolas" panose="020B0609020204030204" pitchFamily="49" charset="0"/>
              </a:rPr>
              <a:t>children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 }) {</a:t>
            </a:r>
          </a:p>
          <a:p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9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900" dirty="0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900" dirty="0">
                <a:solidFill>
                  <a:srgbClr val="7F7F7F"/>
                </a:solidFill>
                <a:latin typeface="Consolas" panose="020B0609020204030204" pitchFamily="49" charset="0"/>
              </a:rPr>
              <a:t>onPush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9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9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900" dirty="0">
                <a:solidFill>
                  <a:srgbClr val="7F7F7F"/>
                </a:solidFill>
                <a:latin typeface="Consolas" panose="020B0609020204030204" pitchFamily="49" charset="0"/>
              </a:rPr>
              <a:t>children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sz="19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9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19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9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sz="19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export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900" dirty="0">
                <a:solidFill>
                  <a:srgbClr val="C8C8C8"/>
                </a:solidFill>
                <a:latin typeface="Consolas" panose="020B0609020204030204" pitchFamily="49" charset="0"/>
              </a:rPr>
              <a:t>App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9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IN" sz="19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9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9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900" dirty="0">
                <a:solidFill>
                  <a:srgbClr val="7F7F7F"/>
                </a:solidFill>
                <a:latin typeface="Consolas" panose="020B0609020204030204" pitchFamily="49" charset="0"/>
              </a:rPr>
              <a:t>onPush 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() 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900" dirty="0">
                <a:solidFill>
                  <a:srgbClr val="C8C8C8"/>
                </a:solidFill>
                <a:latin typeface="Consolas" panose="020B0609020204030204" pitchFamily="49" charset="0"/>
              </a:rPr>
              <a:t>alert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1900" dirty="0">
                <a:solidFill>
                  <a:srgbClr val="CE9178"/>
                </a:solidFill>
                <a:latin typeface="Consolas" panose="020B0609020204030204" pitchFamily="49" charset="0"/>
              </a:rPr>
              <a:t>'Playing!'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9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 Play Movie </a:t>
            </a:r>
            <a:r>
              <a:rPr lang="en-IN" sz="19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19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9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9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900" dirty="0">
                <a:solidFill>
                  <a:srgbClr val="7F7F7F"/>
                </a:solidFill>
                <a:latin typeface="Consolas" panose="020B0609020204030204" pitchFamily="49" charset="0"/>
              </a:rPr>
              <a:t>onPush 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() 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900" dirty="0">
                <a:solidFill>
                  <a:srgbClr val="C8C8C8"/>
                </a:solidFill>
                <a:latin typeface="Consolas" panose="020B0609020204030204" pitchFamily="49" charset="0"/>
              </a:rPr>
              <a:t>alert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1900" dirty="0">
                <a:solidFill>
                  <a:srgbClr val="CE9178"/>
                </a:solidFill>
                <a:latin typeface="Consolas" panose="020B0609020204030204" pitchFamily="49" charset="0"/>
              </a:rPr>
              <a:t>'Uploading!'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9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 Upload Image </a:t>
            </a:r>
            <a:r>
              <a:rPr lang="en-IN" sz="19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19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9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9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900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IN" sz="19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9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9873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0577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dirty="0"/>
              <a:t>Event propagation 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8A929F7-BCEC-48C6-8AB5-B24F8A1F6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7575" y="1447800"/>
            <a:ext cx="10058400" cy="33874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dirty="0"/>
              <a:t>Event handlers will also catch events from any children your component might have. </a:t>
            </a:r>
          </a:p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endParaRPr lang="en-IN" sz="2400" dirty="0"/>
          </a:p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dirty="0"/>
              <a:t>We say that an event </a:t>
            </a:r>
            <a:r>
              <a:rPr lang="en-IN" sz="2400" dirty="0">
                <a:solidFill>
                  <a:srgbClr val="FF0000"/>
                </a:solidFill>
              </a:rPr>
              <a:t>“bubbles” </a:t>
            </a:r>
            <a:r>
              <a:rPr lang="en-IN" sz="2400" dirty="0"/>
              <a:t>or </a:t>
            </a:r>
            <a:r>
              <a:rPr lang="en-IN" sz="2400" dirty="0">
                <a:solidFill>
                  <a:schemeClr val="tx2"/>
                </a:solidFill>
              </a:rPr>
              <a:t>“propagates” </a:t>
            </a:r>
            <a:r>
              <a:rPr lang="en-IN" sz="2400" dirty="0"/>
              <a:t>up the tree: it starts with where the event happened, and then goes up the tree.</a:t>
            </a:r>
          </a:p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endParaRPr lang="en-IN" sz="2400" dirty="0"/>
          </a:p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i="1" dirty="0"/>
              <a:t>&lt;div&gt; </a:t>
            </a:r>
            <a:r>
              <a:rPr lang="en-IN" sz="2400" dirty="0"/>
              <a:t>contains two buttons. Both the </a:t>
            </a:r>
            <a:r>
              <a:rPr lang="en-IN" sz="2400" i="1" dirty="0"/>
              <a:t>&lt;div&gt; </a:t>
            </a:r>
            <a:r>
              <a:rPr lang="en-IN" sz="2400" dirty="0"/>
              <a:t>and each button have their own </a:t>
            </a:r>
            <a:r>
              <a:rPr lang="en-IN" sz="2400" i="1" dirty="0"/>
              <a:t>onClick</a:t>
            </a:r>
            <a:r>
              <a:rPr lang="en-IN" sz="2400" dirty="0"/>
              <a:t> handlers. </a:t>
            </a:r>
            <a:r>
              <a:rPr lang="en-IN" sz="2400" b="1" dirty="0"/>
              <a:t>Which handlers do you think will fire when you click a button?</a:t>
            </a:r>
          </a:p>
        </p:txBody>
      </p:sp>
    </p:spTree>
    <p:extLst>
      <p:ext uri="{BB962C8B-B14F-4D97-AF65-F5344CB8AC3E}">
        <p14:creationId xmlns:p14="http://schemas.microsoft.com/office/powerpoint/2010/main" val="2403885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92284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b="1" dirty="0"/>
              <a:t>Event propagation 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5E027742-894C-4719-866A-A11055B9A438}"/>
              </a:ext>
            </a:extLst>
          </p:cNvPr>
          <p:cNvSpPr txBox="1">
            <a:spLocks/>
          </p:cNvSpPr>
          <p:nvPr/>
        </p:nvSpPr>
        <p:spPr>
          <a:xfrm>
            <a:off x="838200" y="1066800"/>
            <a:ext cx="10284462" cy="4305666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en-IN" sz="19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export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Toolbar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000" dirty="0">
                <a:solidFill>
                  <a:srgbClr val="9CDCFE"/>
                </a:solidFill>
                <a:latin typeface="Consolas" panose="020B0609020204030204" pitchFamily="49" charset="0"/>
              </a:rPr>
              <a:t>className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"Toolbar"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000" dirty="0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alert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"You clicked on the toolbar!"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}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alert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"Playing!"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Play Movie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alert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"Uploading!"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Upload Image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04C89E7-3A4F-4F57-A3A7-181C40E5C7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5516277"/>
            <a:ext cx="1005840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dirty="0"/>
              <a:t>All events propagate in React except </a:t>
            </a:r>
            <a:r>
              <a:rPr lang="en-IN" sz="2400" b="1" dirty="0" err="1">
                <a:solidFill>
                  <a:srgbClr val="FF0000"/>
                </a:solidFill>
              </a:rPr>
              <a:t>onScroll</a:t>
            </a:r>
            <a:r>
              <a:rPr lang="en-IN" sz="2400" dirty="0"/>
              <a:t>, which only works on the JSX tag you attach it to.</a:t>
            </a:r>
          </a:p>
        </p:txBody>
      </p:sp>
    </p:spTree>
    <p:extLst>
      <p:ext uri="{BB962C8B-B14F-4D97-AF65-F5344CB8AC3E}">
        <p14:creationId xmlns:p14="http://schemas.microsoft.com/office/powerpoint/2010/main" val="205734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0344" y="248502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dirty="0"/>
              <a:t>Stopping propagation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8A929F7-BCEC-48C6-8AB5-B24F8A1F6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7574" y="1447800"/>
            <a:ext cx="1051242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tabLst>
                <a:tab pos="469265" algn="l"/>
              </a:tabLst>
            </a:pPr>
            <a:endParaRPr lang="en-IN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900F46C6-ADF4-436F-9577-BC7CB6A5CE8E}"/>
              </a:ext>
            </a:extLst>
          </p:cNvPr>
          <p:cNvSpPr txBox="1">
            <a:spLocks/>
          </p:cNvSpPr>
          <p:nvPr/>
        </p:nvSpPr>
        <p:spPr>
          <a:xfrm>
            <a:off x="838200" y="1066800"/>
            <a:ext cx="10284462" cy="4921219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en-IN" sz="19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export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Toolbar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000" dirty="0">
                <a:solidFill>
                  <a:srgbClr val="9CDCFE"/>
                </a:solidFill>
                <a:latin typeface="Consolas" panose="020B0609020204030204" pitchFamily="49" charset="0"/>
              </a:rPr>
              <a:t>className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"Toolbar"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000" dirty="0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alert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"You clicked on the toolbar!"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}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(e)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=&gt; {</a:t>
            </a:r>
          </a:p>
          <a:p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		e.stopPropagation();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		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alert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"Playing!"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}}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  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Play Movie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alert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"Uploading!"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Upload Image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59071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0577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/>
            <a:r>
              <a:rPr lang="en-IN" b="1" dirty="0" err="1"/>
              <a:t>preventDefault</a:t>
            </a:r>
            <a:r>
              <a:rPr lang="en-IN" b="1" dirty="0"/>
              <a:t> vs </a:t>
            </a:r>
            <a:r>
              <a:rPr lang="en-IN" b="1" dirty="0" err="1"/>
              <a:t>stopPropagation</a:t>
            </a:r>
            <a:r>
              <a:rPr lang="en-IN" b="1" dirty="0"/>
              <a:t> 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B538001B-5975-43C2-9CBF-850F519F0B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66800" y="1676400"/>
            <a:ext cx="1005840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dirty="0" err="1">
                <a:solidFill>
                  <a:srgbClr val="FF0000"/>
                </a:solidFill>
              </a:rPr>
              <a:t>e.preventDefault</a:t>
            </a:r>
            <a:r>
              <a:rPr lang="en-IN" sz="2400" dirty="0">
                <a:solidFill>
                  <a:srgbClr val="FF0000"/>
                </a:solidFill>
              </a:rPr>
              <a:t>()</a:t>
            </a:r>
            <a:r>
              <a:rPr lang="en-IN" sz="2400" dirty="0"/>
              <a:t> prevents the default browser </a:t>
            </a:r>
            <a:r>
              <a:rPr lang="en-IN" sz="2400" dirty="0" err="1"/>
              <a:t>behavior</a:t>
            </a:r>
            <a:r>
              <a:rPr lang="en-IN" sz="2400" dirty="0"/>
              <a:t> for the few events that have it.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9BFCE39-9914-4919-A366-82281EC6B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57DC34-E6FF-4D8B-8D79-3B619576BB99}"/>
              </a:ext>
            </a:extLst>
          </p:cNvPr>
          <p:cNvSpPr/>
          <p:nvPr/>
        </p:nvSpPr>
        <p:spPr>
          <a:xfrm>
            <a:off x="916939" y="2598003"/>
            <a:ext cx="10058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265" marR="0" lvl="0" indent="-4565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00000"/>
              </a:buClr>
              <a:buSzTx/>
              <a:buFont typeface="Arial"/>
              <a:buChar char="•"/>
              <a:tabLst>
                <a:tab pos="469265" algn="l"/>
              </a:tabLst>
              <a:defRPr/>
            </a:pPr>
            <a:r>
              <a:rPr lang="en-IN" sz="2400" dirty="0" err="1">
                <a:solidFill>
                  <a:srgbClr val="FF0000"/>
                </a:solidFill>
                <a:latin typeface="Carlito"/>
                <a:ea typeface="+mn-ea"/>
              </a:rPr>
              <a:t>e.stopPropagation</a:t>
            </a:r>
            <a:r>
              <a:rPr lang="en-IN" sz="2400" dirty="0">
                <a:solidFill>
                  <a:srgbClr val="FF0000"/>
                </a:solidFill>
                <a:latin typeface="Carlito"/>
                <a:ea typeface="+mn-ea"/>
              </a:rPr>
              <a:t>()</a:t>
            </a:r>
            <a:r>
              <a:rPr lang="en-IN" sz="2400" dirty="0">
                <a:solidFill>
                  <a:prstClr val="black"/>
                </a:solidFill>
                <a:latin typeface="Carlito"/>
                <a:ea typeface="+mn-ea"/>
              </a:rPr>
              <a:t> stops the event handlers attached to the tags above from firing.</a:t>
            </a:r>
          </a:p>
        </p:txBody>
      </p:sp>
    </p:spTree>
    <p:extLst>
      <p:ext uri="{BB962C8B-B14F-4D97-AF65-F5344CB8AC3E}">
        <p14:creationId xmlns:p14="http://schemas.microsoft.com/office/powerpoint/2010/main" val="406606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376897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dirty="0"/>
              <a:t>Test challenge 1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E8167613-D6FE-439A-A614-7B9FECE18F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7575" y="1066188"/>
            <a:ext cx="10058400" cy="1120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dirty="0"/>
              <a:t>Clicking this button is supposed to switch the page background between white and black. However, nothing happens when you click it. Fix the problem.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AFAB88F-A0AE-4481-AE9A-BE5DD412CF02}"/>
              </a:ext>
            </a:extLst>
          </p:cNvPr>
          <p:cNvSpPr txBox="1">
            <a:spLocks/>
          </p:cNvSpPr>
          <p:nvPr/>
        </p:nvSpPr>
        <p:spPr>
          <a:xfrm>
            <a:off x="1066800" y="2211025"/>
            <a:ext cx="10284462" cy="3997889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en-IN" sz="19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export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LightSwitch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handleClick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bodyStyle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document</a:t>
            </a:r>
            <a:r>
              <a:rPr lang="en-IN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sz="2000" dirty="0" err="1">
                <a:solidFill>
                  <a:srgbClr val="DADADA"/>
                </a:solidFill>
                <a:latin typeface="Consolas" panose="020B0609020204030204" pitchFamily="49" charset="0"/>
              </a:rPr>
              <a:t>body</a:t>
            </a:r>
            <a:r>
              <a:rPr lang="en-IN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style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bodyStyle</a:t>
            </a:r>
            <a:r>
              <a:rPr lang="en-IN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sz="2000" dirty="0" err="1">
                <a:solidFill>
                  <a:srgbClr val="DADADA"/>
                </a:solidFill>
                <a:latin typeface="Consolas" panose="020B0609020204030204" pitchFamily="49" charset="0"/>
              </a:rPr>
              <a:t>backgroundColor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=== 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"black"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bodyStyle</a:t>
            </a:r>
            <a:r>
              <a:rPr lang="en-IN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sz="2000" dirty="0" err="1">
                <a:solidFill>
                  <a:srgbClr val="DADADA"/>
                </a:solidFill>
                <a:latin typeface="Consolas" panose="020B0609020204030204" pitchFamily="49" charset="0"/>
              </a:rPr>
              <a:t>backgroundColor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"white"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}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else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bodyStyle</a:t>
            </a:r>
            <a:r>
              <a:rPr lang="en-IN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sz="2000" dirty="0" err="1">
                <a:solidFill>
                  <a:srgbClr val="DADADA"/>
                </a:solidFill>
                <a:latin typeface="Consolas" panose="020B0609020204030204" pitchFamily="49" charset="0"/>
              </a:rPr>
              <a:t>backgroundColor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"black"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}</a:t>
            </a:r>
          </a:p>
          <a:p>
            <a:b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handleClick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Toggle the lights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ABCA369E-F29C-4D80-8C4B-37CC7DB14A92}"/>
              </a:ext>
            </a:extLst>
          </p:cNvPr>
          <p:cNvSpPr txBox="1">
            <a:spLocks/>
          </p:cNvSpPr>
          <p:nvPr/>
        </p:nvSpPr>
        <p:spPr>
          <a:xfrm>
            <a:off x="762000" y="6297911"/>
            <a:ext cx="1005840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69265" indent="-456565"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dirty="0"/>
              <a:t>Change the </a:t>
            </a:r>
            <a:r>
              <a:rPr lang="en-IN" sz="2400" dirty="0" err="1"/>
              <a:t>color</a:t>
            </a:r>
            <a:r>
              <a:rPr lang="en-IN" sz="2400" dirty="0"/>
              <a:t> of the button instead?</a:t>
            </a:r>
          </a:p>
        </p:txBody>
      </p:sp>
    </p:spTree>
    <p:extLst>
      <p:ext uri="{BB962C8B-B14F-4D97-AF65-F5344CB8AC3E}">
        <p14:creationId xmlns:p14="http://schemas.microsoft.com/office/powerpoint/2010/main" val="4123105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8998" y="457200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b="1" dirty="0"/>
              <a:t>Test challenge 2</a:t>
            </a:r>
            <a:endParaRPr sz="2500" b="0" i="1" spc="-20" dirty="0">
              <a:latin typeface="Lato Light"/>
              <a:cs typeface="Lato Light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8A929F7-BCEC-48C6-8AB5-B24F8A1F6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810000"/>
            <a:ext cx="6096000" cy="2382062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/>
          <a:p>
            <a:r>
              <a:rPr lang="en-IN" dirty="0"/>
              <a:t> 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export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C8C8C8"/>
                </a:solidFill>
                <a:latin typeface="Consolas" panose="020B0609020204030204" pitchFamily="49" charset="0"/>
              </a:rPr>
              <a:t>Button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export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C8C8C8"/>
                </a:solidFill>
                <a:latin typeface="Consolas" panose="020B0609020204030204" pitchFamily="49" charset="0"/>
              </a:rPr>
              <a:t>ColorSwitch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({ </a:t>
            </a:r>
            <a:r>
              <a:rPr lang="en-IN" sz="1800" dirty="0" err="1">
                <a:solidFill>
                  <a:srgbClr val="7F7F7F"/>
                </a:solidFill>
                <a:latin typeface="Consolas" panose="020B0609020204030204" pitchFamily="49" charset="0"/>
              </a:rPr>
              <a:t>onChangeColor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}) {</a:t>
            </a: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Change </a:t>
            </a:r>
            <a:r>
              <a:rPr lang="en-IN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color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8D170E76-0C1B-4914-992D-CD0DCBE9B69D}"/>
              </a:ext>
            </a:extLst>
          </p:cNvPr>
          <p:cNvSpPr txBox="1">
            <a:spLocks/>
          </p:cNvSpPr>
          <p:nvPr/>
        </p:nvSpPr>
        <p:spPr>
          <a:xfrm>
            <a:off x="838200" y="1447800"/>
            <a:ext cx="10058400" cy="21794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69265" indent="-456565"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000" dirty="0"/>
              <a:t>This </a:t>
            </a:r>
            <a:r>
              <a:rPr lang="en-IN" sz="2000" b="1" dirty="0" err="1">
                <a:solidFill>
                  <a:schemeClr val="tx2"/>
                </a:solidFill>
              </a:rPr>
              <a:t>ColorSwitch</a:t>
            </a:r>
            <a:r>
              <a:rPr lang="en-IN" sz="2000" dirty="0"/>
              <a:t> component renders a button. It’s supposed to change the page </a:t>
            </a:r>
            <a:r>
              <a:rPr lang="en-IN" sz="2000" dirty="0" err="1"/>
              <a:t>color</a:t>
            </a:r>
            <a:r>
              <a:rPr lang="en-IN" sz="2000" dirty="0"/>
              <a:t>. Wire it up to the </a:t>
            </a:r>
            <a:r>
              <a:rPr lang="en-IN" sz="2000" b="1" dirty="0" err="1">
                <a:solidFill>
                  <a:schemeClr val="accent6">
                    <a:lumMod val="50000"/>
                  </a:schemeClr>
                </a:solidFill>
              </a:rPr>
              <a:t>onChangeColor</a:t>
            </a:r>
            <a:r>
              <a:rPr lang="en-IN" sz="2000" dirty="0"/>
              <a:t> event handler prop it receives from the parent so that clicking the button changes the </a:t>
            </a:r>
            <a:r>
              <a:rPr lang="en-IN" sz="2000" dirty="0" err="1"/>
              <a:t>color</a:t>
            </a:r>
            <a:r>
              <a:rPr lang="en-IN" sz="2000" dirty="0"/>
              <a:t>.</a:t>
            </a:r>
          </a:p>
          <a:p>
            <a:pPr marL="469265" indent="-456565"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000" dirty="0"/>
              <a:t>After you do this, notice that clicking the button also increments the page click counter. Your colleague who wrote the parent component insists that </a:t>
            </a:r>
            <a:r>
              <a:rPr lang="en-IN" sz="2000" dirty="0" err="1"/>
              <a:t>onChangeColor</a:t>
            </a:r>
            <a:r>
              <a:rPr lang="en-IN" sz="2000" dirty="0"/>
              <a:t> does not increment any counters. What else might be happening? Fix it so that clicking the button only changes the </a:t>
            </a:r>
            <a:r>
              <a:rPr lang="en-IN" sz="2000" dirty="0" err="1"/>
              <a:t>color</a:t>
            </a:r>
            <a:r>
              <a:rPr lang="en-IN" sz="2000" dirty="0"/>
              <a:t>, and does not increment the counter.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EC7A17-0B65-4FF6-93C8-6ECDBC91E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191000"/>
            <a:ext cx="4191000" cy="1143000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50800" dir="5400000" algn="ctr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4015284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8998" y="457200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b="1" dirty="0"/>
              <a:t>Test challenges 2 (solution)</a:t>
            </a:r>
            <a:endParaRPr sz="2500" b="0" i="1" spc="-20" dirty="0">
              <a:latin typeface="Lato Light"/>
              <a:cs typeface="Lato Light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8A929F7-BCEC-48C6-8AB5-B24F8A1F6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9210" y="1447800"/>
            <a:ext cx="9327790" cy="4259499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/>
          <a:p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export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ColorSwitch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({ </a:t>
            </a:r>
            <a:r>
              <a:rPr lang="en-IN" sz="2000" dirty="0" err="1">
                <a:solidFill>
                  <a:srgbClr val="7F7F7F"/>
                </a:solidFill>
                <a:latin typeface="Consolas" panose="020B0609020204030204" pitchFamily="49" charset="0"/>
              </a:rPr>
              <a:t>onChangeColor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})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000" dirty="0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7F7F7F"/>
                </a:solidFill>
                <a:latin typeface="Consolas" panose="020B0609020204030204" pitchFamily="49" charset="0"/>
              </a:rPr>
              <a:t>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)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2000" dirty="0">
                <a:solidFill>
                  <a:srgbClr val="7F7F7F"/>
                </a:solidFill>
                <a:latin typeface="Consolas" panose="020B0609020204030204" pitchFamily="49" charset="0"/>
              </a:rPr>
              <a:t>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stopPropagation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onChangeColor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}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Change </a:t>
            </a:r>
            <a:r>
              <a:rPr lang="en-IN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color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026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0577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dirty="0"/>
              <a:t>Conditional Rendering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8A929F7-BCEC-48C6-8AB5-B24F8A1F6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7575" y="1447800"/>
            <a:ext cx="10058400" cy="5236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2065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dirty="0"/>
              <a:t>Your components will often need to display different things depending on different conditions. </a:t>
            </a:r>
          </a:p>
          <a:p>
            <a:pPr marL="469265" indent="-456565">
              <a:lnSpc>
                <a:spcPct val="100000"/>
              </a:lnSpc>
              <a:spcBef>
                <a:spcPts val="2065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dirty="0"/>
              <a:t>In React, you can conditionally render JSX using JavaScript syntax like </a:t>
            </a:r>
            <a:r>
              <a:rPr lang="en-IN" dirty="0">
                <a:solidFill>
                  <a:srgbClr val="FF0000"/>
                </a:solidFill>
              </a:rPr>
              <a:t>if</a:t>
            </a:r>
            <a:r>
              <a:rPr lang="en-IN" dirty="0"/>
              <a:t> statements, </a:t>
            </a:r>
            <a:r>
              <a:rPr lang="en-IN" dirty="0">
                <a:solidFill>
                  <a:srgbClr val="FF0000"/>
                </a:solidFill>
              </a:rPr>
              <a:t>&amp;&amp;</a:t>
            </a:r>
            <a:r>
              <a:rPr lang="en-IN" dirty="0"/>
              <a:t>, and </a:t>
            </a:r>
            <a:r>
              <a:rPr lang="en-IN" dirty="0">
                <a:solidFill>
                  <a:srgbClr val="FF0000"/>
                </a:solidFill>
              </a:rPr>
              <a:t>? :</a:t>
            </a:r>
            <a:r>
              <a:rPr lang="en-IN" dirty="0"/>
              <a:t> operators.</a:t>
            </a:r>
          </a:p>
          <a:p>
            <a:pPr marL="469265" indent="-456565">
              <a:lnSpc>
                <a:spcPct val="100000"/>
              </a:lnSpc>
              <a:spcBef>
                <a:spcPts val="2065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endParaRPr lang="en-IN" dirty="0"/>
          </a:p>
          <a:p>
            <a:pPr marL="469265" indent="-456565">
              <a:lnSpc>
                <a:spcPct val="100000"/>
              </a:lnSpc>
              <a:spcBef>
                <a:spcPts val="2065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dirty="0"/>
              <a:t>How to return different JSX depending on a condition</a:t>
            </a:r>
          </a:p>
          <a:p>
            <a:pPr marL="469265" indent="-456565">
              <a:lnSpc>
                <a:spcPct val="100000"/>
              </a:lnSpc>
              <a:spcBef>
                <a:spcPts val="2065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dirty="0"/>
              <a:t>How to conditionally include or exclude a piece of JSX</a:t>
            </a:r>
          </a:p>
          <a:p>
            <a:pPr marL="469265" indent="-456565">
              <a:lnSpc>
                <a:spcPct val="100000"/>
              </a:lnSpc>
              <a:spcBef>
                <a:spcPts val="2065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dirty="0"/>
              <a:t>Common conditional syntax shortcuts you’ll encounter in React codebases</a:t>
            </a:r>
          </a:p>
        </p:txBody>
      </p:sp>
    </p:spTree>
    <p:extLst>
      <p:ext uri="{BB962C8B-B14F-4D97-AF65-F5344CB8AC3E}">
        <p14:creationId xmlns:p14="http://schemas.microsoft.com/office/powerpoint/2010/main" val="3930368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57575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dirty="0"/>
              <a:t>Conditionally returning JSX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8A929F7-BCEC-48C6-8AB5-B24F8A1F6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143000"/>
            <a:ext cx="1005840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dirty="0"/>
              <a:t>Assume you have a </a:t>
            </a:r>
            <a:r>
              <a:rPr lang="en-IN" sz="2400" b="1" dirty="0" err="1">
                <a:solidFill>
                  <a:srgbClr val="FF0000"/>
                </a:solidFill>
              </a:rPr>
              <a:t>PackingList</a:t>
            </a:r>
            <a:r>
              <a:rPr lang="en-IN" sz="2400" dirty="0"/>
              <a:t> component rendering several Items, which can be marked as </a:t>
            </a:r>
            <a:r>
              <a:rPr lang="en-IN" sz="2400" dirty="0">
                <a:solidFill>
                  <a:schemeClr val="tx2"/>
                </a:solidFill>
              </a:rPr>
              <a:t>packed</a:t>
            </a:r>
            <a:r>
              <a:rPr lang="en-IN" sz="2400" dirty="0"/>
              <a:t> or not: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F3331580-BF96-42E4-BD39-941CB8C4F33F}"/>
              </a:ext>
            </a:extLst>
          </p:cNvPr>
          <p:cNvSpPr txBox="1">
            <a:spLocks/>
          </p:cNvSpPr>
          <p:nvPr/>
        </p:nvSpPr>
        <p:spPr>
          <a:xfrm>
            <a:off x="846841" y="2088476"/>
            <a:ext cx="8305800" cy="3613169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export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C8C8C8"/>
                </a:solidFill>
                <a:latin typeface="Consolas" panose="020B0609020204030204" pitchFamily="49" charset="0"/>
              </a:rPr>
              <a:t>PackingList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section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h1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Sally Ride's Packing List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h1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ul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Item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isPacked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{true}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800" dirty="0">
                <a:solidFill>
                  <a:srgbClr val="CE9178"/>
                </a:solidFill>
                <a:latin typeface="Consolas" panose="020B0609020204030204" pitchFamily="49" charset="0"/>
              </a:rPr>
              <a:t>"Space suit"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Item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isPacked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{true}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800" dirty="0">
                <a:solidFill>
                  <a:srgbClr val="CE9178"/>
                </a:solidFill>
                <a:latin typeface="Consolas" panose="020B0609020204030204" pitchFamily="49" charset="0"/>
              </a:rPr>
              <a:t>"Helmet with a golden leaf"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Item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isPacked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{false}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800" dirty="0">
                <a:solidFill>
                  <a:srgbClr val="CE9178"/>
                </a:solidFill>
                <a:latin typeface="Consolas" panose="020B0609020204030204" pitchFamily="49" charset="0"/>
              </a:rPr>
              <a:t>"Photo of Tam"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ul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section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8A5B2C-603D-4255-B2BF-9D68BDCF5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3646925"/>
            <a:ext cx="3429000" cy="128027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5526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57575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dirty="0"/>
              <a:t>Conditionally returning JSX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8A929F7-BCEC-48C6-8AB5-B24F8A1F6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143000"/>
            <a:ext cx="1005840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dirty="0"/>
              <a:t>Assume you have a </a:t>
            </a:r>
            <a:r>
              <a:rPr lang="en-IN" sz="2400" b="1" dirty="0" err="1">
                <a:solidFill>
                  <a:srgbClr val="FF0000"/>
                </a:solidFill>
              </a:rPr>
              <a:t>PackingList</a:t>
            </a:r>
            <a:r>
              <a:rPr lang="en-IN" sz="2400" dirty="0"/>
              <a:t> component rendering several Items, which can be marked as </a:t>
            </a:r>
            <a:r>
              <a:rPr lang="en-IN" sz="2400" dirty="0">
                <a:solidFill>
                  <a:schemeClr val="tx2"/>
                </a:solidFill>
              </a:rPr>
              <a:t>packed</a:t>
            </a:r>
            <a:r>
              <a:rPr lang="en-IN" sz="2400" dirty="0"/>
              <a:t> or not: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F3331580-BF96-42E4-BD39-941CB8C4F33F}"/>
              </a:ext>
            </a:extLst>
          </p:cNvPr>
          <p:cNvSpPr txBox="1">
            <a:spLocks/>
          </p:cNvSpPr>
          <p:nvPr/>
        </p:nvSpPr>
        <p:spPr>
          <a:xfrm>
            <a:off x="846841" y="2088476"/>
            <a:ext cx="6011159" cy="1120178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C8C8C8"/>
                </a:solidFill>
                <a:latin typeface="Consolas" panose="020B0609020204030204" pitchFamily="49" charset="0"/>
              </a:rPr>
              <a:t>Item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({ </a:t>
            </a:r>
            <a:r>
              <a:rPr lang="en-IN" sz="1800" dirty="0">
                <a:solidFill>
                  <a:srgbClr val="7F7F7F"/>
                </a:solidFill>
                <a:latin typeface="Consolas" panose="020B0609020204030204" pitchFamily="49" charset="0"/>
              </a:rPr>
              <a:t>name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7F7F7F"/>
                </a:solidFill>
                <a:latin typeface="Consolas" panose="020B0609020204030204" pitchFamily="49" charset="0"/>
              </a:rPr>
              <a:t>isPacked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}) {</a:t>
            </a: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className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800" dirty="0">
                <a:solidFill>
                  <a:srgbClr val="CE9178"/>
                </a:solidFill>
                <a:latin typeface="Consolas" panose="020B0609020204030204" pitchFamily="49" charset="0"/>
              </a:rPr>
              <a:t>"item"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800" dirty="0">
                <a:solidFill>
                  <a:srgbClr val="7F7F7F"/>
                </a:solidFill>
                <a:latin typeface="Consolas" panose="020B0609020204030204" pitchFamily="49" charset="0"/>
              </a:rPr>
              <a:t>name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8A5B2C-603D-4255-B2BF-9D68BDCF5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012679"/>
            <a:ext cx="3429000" cy="12802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F683E3B8-1F8F-4431-A9E3-40069CE01F3E}"/>
              </a:ext>
            </a:extLst>
          </p:cNvPr>
          <p:cNvSpPr txBox="1">
            <a:spLocks/>
          </p:cNvSpPr>
          <p:nvPr/>
        </p:nvSpPr>
        <p:spPr>
          <a:xfrm>
            <a:off x="838200" y="3649347"/>
            <a:ext cx="6096000" cy="1951175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C8C8C8"/>
                </a:solidFill>
                <a:latin typeface="Consolas" panose="020B0609020204030204" pitchFamily="49" charset="0"/>
              </a:rPr>
              <a:t>Item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({ </a:t>
            </a:r>
            <a:r>
              <a:rPr lang="en-IN" sz="1800" dirty="0">
                <a:solidFill>
                  <a:srgbClr val="7F7F7F"/>
                </a:solidFill>
                <a:latin typeface="Consolas" panose="020B0609020204030204" pitchFamily="49" charset="0"/>
              </a:rPr>
              <a:t>name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7F7F7F"/>
                </a:solidFill>
                <a:latin typeface="Consolas" panose="020B0609020204030204" pitchFamily="49" charset="0"/>
              </a:rPr>
              <a:t>isPacked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}) {</a:t>
            </a: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if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n-IN" sz="1800" dirty="0" err="1">
                <a:solidFill>
                  <a:srgbClr val="7F7F7F"/>
                </a:solidFill>
                <a:latin typeface="Consolas" panose="020B0609020204030204" pitchFamily="49" charset="0"/>
              </a:rPr>
              <a:t>isPacked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className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800" dirty="0">
                <a:solidFill>
                  <a:srgbClr val="CE9178"/>
                </a:solidFill>
                <a:latin typeface="Consolas" panose="020B0609020204030204" pitchFamily="49" charset="0"/>
              </a:rPr>
              <a:t>"item"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800" dirty="0">
                <a:solidFill>
                  <a:srgbClr val="7F7F7F"/>
                </a:solidFill>
                <a:latin typeface="Consolas" panose="020B0609020204030204" pitchFamily="49" charset="0"/>
              </a:rPr>
              <a:t>name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✅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className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800" dirty="0">
                <a:solidFill>
                  <a:srgbClr val="CE9178"/>
                </a:solidFill>
                <a:latin typeface="Consolas" panose="020B0609020204030204" pitchFamily="49" charset="0"/>
              </a:rPr>
              <a:t>"item"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800" dirty="0">
                <a:solidFill>
                  <a:srgbClr val="7F7F7F"/>
                </a:solidFill>
                <a:latin typeface="Consolas" panose="020B0609020204030204" pitchFamily="49" charset="0"/>
              </a:rPr>
              <a:t>name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FE0539-95B3-4719-9DF6-D0871AE01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3733800"/>
            <a:ext cx="3581400" cy="134885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8082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57575"/>
            <a:ext cx="102870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i="1" spc="-20" dirty="0">
                <a:cs typeface="Lato Light"/>
              </a:rPr>
              <a:t>Conditionally returning nothing with null</a:t>
            </a:r>
            <a:endParaRPr b="1" i="1" spc="-20" dirty="0">
              <a:cs typeface="Lato Light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F3331580-BF96-42E4-BD39-941CB8C4F33F}"/>
              </a:ext>
            </a:extLst>
          </p:cNvPr>
          <p:cNvSpPr txBox="1">
            <a:spLocks/>
          </p:cNvSpPr>
          <p:nvPr/>
        </p:nvSpPr>
        <p:spPr>
          <a:xfrm>
            <a:off x="846306" y="1295400"/>
            <a:ext cx="6164094" cy="1397177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if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n-IN" sz="1800" dirty="0" err="1">
                <a:solidFill>
                  <a:srgbClr val="C8C8C8"/>
                </a:solidFill>
                <a:latin typeface="Consolas" panose="020B0609020204030204" pitchFamily="49" charset="0"/>
              </a:rPr>
              <a:t>isPacked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className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800" dirty="0">
                <a:solidFill>
                  <a:srgbClr val="CE9178"/>
                </a:solidFill>
                <a:latin typeface="Consolas" panose="020B0609020204030204" pitchFamily="49" charset="0"/>
              </a:rPr>
              <a:t>"item"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800" dirty="0">
                <a:solidFill>
                  <a:srgbClr val="C8C8C8"/>
                </a:solidFill>
                <a:latin typeface="Consolas" panose="020B0609020204030204" pitchFamily="49" charset="0"/>
              </a:rPr>
              <a:t>name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D685BE26-EC8C-4265-B55F-5A6EAEDBCC32}"/>
              </a:ext>
            </a:extLst>
          </p:cNvPr>
          <p:cNvSpPr txBox="1">
            <a:spLocks/>
          </p:cNvSpPr>
          <p:nvPr/>
        </p:nvSpPr>
        <p:spPr>
          <a:xfrm>
            <a:off x="838200" y="3200400"/>
            <a:ext cx="6164094" cy="1674176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className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800" dirty="0">
                <a:solidFill>
                  <a:srgbClr val="CE9178"/>
                </a:solidFill>
                <a:latin typeface="Consolas" panose="020B0609020204030204" pitchFamily="49" charset="0"/>
              </a:rPr>
              <a:t>"item"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800" dirty="0" err="1">
                <a:solidFill>
                  <a:srgbClr val="C8C8C8"/>
                </a:solidFill>
                <a:latin typeface="Consolas" panose="020B0609020204030204" pitchFamily="49" charset="0"/>
              </a:rPr>
              <a:t>isPacked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? </a:t>
            </a:r>
            <a:r>
              <a:rPr lang="en-IN" sz="1800" dirty="0">
                <a:solidFill>
                  <a:srgbClr val="C8C8C8"/>
                </a:solidFill>
                <a:latin typeface="Consolas" panose="020B0609020204030204" pitchFamily="49" charset="0"/>
              </a:rPr>
              <a:t>name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+ </a:t>
            </a:r>
            <a:r>
              <a:rPr lang="en-IN" sz="1800" dirty="0">
                <a:solidFill>
                  <a:srgbClr val="CE9178"/>
                </a:solidFill>
                <a:latin typeface="Consolas" panose="020B0609020204030204" pitchFamily="49" charset="0"/>
              </a:rPr>
              <a:t>' ✅'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: </a:t>
            </a:r>
            <a:r>
              <a:rPr lang="en-IN" sz="1800" dirty="0">
                <a:solidFill>
                  <a:srgbClr val="C8C8C8"/>
                </a:solidFill>
                <a:latin typeface="Consolas" panose="020B0609020204030204" pitchFamily="49" charset="0"/>
              </a:rPr>
              <a:t>name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BC4EAE-B912-4A56-8E6C-56D9D1001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116" y="3429000"/>
            <a:ext cx="3543607" cy="130313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8186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57575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i="1" spc="-20" dirty="0">
                <a:latin typeface="+mj-lt"/>
                <a:cs typeface="Lato Light"/>
              </a:rPr>
              <a:t>Logical AND operator (&amp;&amp;) </a:t>
            </a:r>
            <a:endParaRPr b="1" i="1" spc="-20" dirty="0">
              <a:latin typeface="+mj-lt"/>
              <a:cs typeface="Lato Light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8A929F7-BCEC-48C6-8AB5-B24F8A1F6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143000"/>
            <a:ext cx="1005840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dirty="0"/>
              <a:t>Assume you have a </a:t>
            </a:r>
            <a:r>
              <a:rPr lang="en-IN" sz="2400" b="1" dirty="0" err="1">
                <a:solidFill>
                  <a:srgbClr val="FF0000"/>
                </a:solidFill>
              </a:rPr>
              <a:t>PackingList</a:t>
            </a:r>
            <a:r>
              <a:rPr lang="en-IN" sz="2400" dirty="0"/>
              <a:t> component rendering several Items, which can be marked as </a:t>
            </a:r>
            <a:r>
              <a:rPr lang="en-IN" sz="2400" dirty="0">
                <a:solidFill>
                  <a:schemeClr val="tx2"/>
                </a:solidFill>
              </a:rPr>
              <a:t>packed</a:t>
            </a:r>
            <a:r>
              <a:rPr lang="en-IN" sz="2400" dirty="0"/>
              <a:t> or not: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F3331580-BF96-42E4-BD39-941CB8C4F33F}"/>
              </a:ext>
            </a:extLst>
          </p:cNvPr>
          <p:cNvSpPr txBox="1">
            <a:spLocks/>
          </p:cNvSpPr>
          <p:nvPr/>
        </p:nvSpPr>
        <p:spPr>
          <a:xfrm>
            <a:off x="846841" y="2088476"/>
            <a:ext cx="5858759" cy="1674176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className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800" dirty="0">
                <a:solidFill>
                  <a:srgbClr val="CE9178"/>
                </a:solidFill>
                <a:latin typeface="Consolas" panose="020B0609020204030204" pitchFamily="49" charset="0"/>
              </a:rPr>
              <a:t>"item"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800" dirty="0">
                <a:solidFill>
                  <a:srgbClr val="C8C8C8"/>
                </a:solidFill>
                <a:latin typeface="Consolas" panose="020B0609020204030204" pitchFamily="49" charset="0"/>
              </a:rPr>
              <a:t>name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800" dirty="0" err="1">
                <a:solidFill>
                  <a:srgbClr val="C8C8C8"/>
                </a:solidFill>
                <a:latin typeface="Consolas" panose="020B0609020204030204" pitchFamily="49" charset="0"/>
              </a:rPr>
              <a:t>isPacked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&amp;&amp; </a:t>
            </a:r>
            <a:r>
              <a:rPr lang="en-IN" sz="1800" dirty="0">
                <a:solidFill>
                  <a:srgbClr val="CE9178"/>
                </a:solidFill>
                <a:latin typeface="Consolas" panose="020B0609020204030204" pitchFamily="49" charset="0"/>
              </a:rPr>
              <a:t>'✅'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87084315-28F7-48B3-AF8B-CA077A49D36F}"/>
              </a:ext>
            </a:extLst>
          </p:cNvPr>
          <p:cNvSpPr txBox="1">
            <a:spLocks/>
          </p:cNvSpPr>
          <p:nvPr/>
        </p:nvSpPr>
        <p:spPr>
          <a:xfrm>
            <a:off x="833336" y="4114800"/>
            <a:ext cx="10058400" cy="20948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0"/>
              </a:spcBef>
              <a:buClr>
                <a:srgbClr val="C00000"/>
              </a:buClr>
              <a:tabLst>
                <a:tab pos="469265" algn="l"/>
              </a:tabLst>
            </a:pPr>
            <a:r>
              <a:rPr lang="en-IN" sz="2400" dirty="0"/>
              <a:t>Don’t put numbers on the left side of &amp;&amp; operator                             </a:t>
            </a:r>
          </a:p>
          <a:p>
            <a:pPr marL="12700">
              <a:spcBef>
                <a:spcPts val="100"/>
              </a:spcBef>
              <a:buClr>
                <a:srgbClr val="C00000"/>
              </a:buClr>
              <a:tabLst>
                <a:tab pos="469265" algn="l"/>
              </a:tabLst>
            </a:pPr>
            <a:r>
              <a:rPr lang="en-IN" sz="2400" dirty="0"/>
              <a:t>(Wrong)                                                                        </a:t>
            </a:r>
          </a:p>
          <a:p>
            <a:pPr marL="12700">
              <a:spcBef>
                <a:spcPts val="100"/>
              </a:spcBef>
              <a:buClr>
                <a:srgbClr val="C00000"/>
              </a:buClr>
              <a:tabLst>
                <a:tab pos="469265" algn="l"/>
              </a:tabLst>
            </a:pPr>
            <a:r>
              <a:rPr lang="en-IN" i="1" dirty="0" err="1">
                <a:solidFill>
                  <a:srgbClr val="FF0000"/>
                </a:solidFill>
                <a:latin typeface="Source Code Pro"/>
              </a:rPr>
              <a:t>messageCount</a:t>
            </a:r>
            <a:r>
              <a:rPr lang="en-IN" i="1" dirty="0">
                <a:solidFill>
                  <a:srgbClr val="FF0000"/>
                </a:solidFill>
                <a:latin typeface="Source Code Pro"/>
              </a:rPr>
              <a:t> &amp;&amp; &lt;p&gt;New messages&lt;/p&gt;              </a:t>
            </a:r>
          </a:p>
          <a:p>
            <a:pPr marL="12700">
              <a:spcBef>
                <a:spcPts val="100"/>
              </a:spcBef>
              <a:buClr>
                <a:srgbClr val="C00000"/>
              </a:buClr>
              <a:tabLst>
                <a:tab pos="469265" algn="l"/>
              </a:tabLst>
            </a:pPr>
            <a:r>
              <a:rPr lang="en-IN" dirty="0"/>
              <a:t>(Correct)</a:t>
            </a:r>
          </a:p>
          <a:p>
            <a:pPr marL="12700">
              <a:spcBef>
                <a:spcPts val="100"/>
              </a:spcBef>
              <a:buClr>
                <a:srgbClr val="C00000"/>
              </a:buClr>
              <a:tabLst>
                <a:tab pos="469265" algn="l"/>
              </a:tabLst>
            </a:pPr>
            <a:r>
              <a:rPr lang="en-IN" i="1" dirty="0" err="1">
                <a:solidFill>
                  <a:srgbClr val="00B050"/>
                </a:solidFill>
                <a:latin typeface="Source Code Pro"/>
              </a:rPr>
              <a:t>messageCount</a:t>
            </a:r>
            <a:r>
              <a:rPr lang="en-IN" i="1" dirty="0">
                <a:solidFill>
                  <a:srgbClr val="00B050"/>
                </a:solidFill>
                <a:latin typeface="Source Code Pro"/>
              </a:rPr>
              <a:t> &gt; 0 &amp;&amp; &lt;p&gt;New messages&lt;/p&gt;                        </a:t>
            </a:r>
            <a:endParaRPr lang="en-IN" sz="2400" i="1" dirty="0">
              <a:solidFill>
                <a:srgbClr val="00B050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84122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57575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dirty="0"/>
              <a:t>Test challenge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8A929F7-BCEC-48C6-8AB5-B24F8A1F6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143000"/>
            <a:ext cx="10820400" cy="26488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dirty="0"/>
              <a:t>In this example, each Item receives a numerical importance prop. Use the &amp;&amp; operator to render “(Importance: X)” in italics, but only for items that have non-zero importance. Your item list should end up looking like this:</a:t>
            </a:r>
          </a:p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endParaRPr lang="en-IN" sz="2400" dirty="0"/>
          </a:p>
          <a:p>
            <a:pPr marL="1840865" lvl="3" indent="-456565"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dirty="0"/>
              <a:t>Space suit (</a:t>
            </a:r>
            <a:r>
              <a:rPr lang="en-IN" sz="2400" i="1" dirty="0"/>
              <a:t>Importance: 9</a:t>
            </a:r>
            <a:r>
              <a:rPr lang="en-IN" sz="2400" dirty="0"/>
              <a:t>)</a:t>
            </a:r>
          </a:p>
          <a:p>
            <a:pPr marL="1840865" lvl="3" indent="-456565"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dirty="0"/>
              <a:t>Helmet with a golden leaf</a:t>
            </a:r>
          </a:p>
          <a:p>
            <a:pPr marL="1840865" lvl="3" indent="-456565"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dirty="0"/>
              <a:t>Photo of Tam (</a:t>
            </a:r>
            <a:r>
              <a:rPr lang="en-IN" sz="2400" i="1" dirty="0"/>
              <a:t>Importance: 6)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F3331580-BF96-42E4-BD39-941CB8C4F33F}"/>
              </a:ext>
            </a:extLst>
          </p:cNvPr>
          <p:cNvSpPr txBox="1">
            <a:spLocks/>
          </p:cNvSpPr>
          <p:nvPr/>
        </p:nvSpPr>
        <p:spPr>
          <a:xfrm>
            <a:off x="1143000" y="3962400"/>
            <a:ext cx="6553200" cy="1120178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C8C8C8"/>
                </a:solidFill>
                <a:latin typeface="Consolas" panose="020B0609020204030204" pitchFamily="49" charset="0"/>
              </a:rPr>
              <a:t>Item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({ </a:t>
            </a:r>
            <a:r>
              <a:rPr lang="en-IN" sz="1800" dirty="0">
                <a:solidFill>
                  <a:srgbClr val="7F7F7F"/>
                </a:solidFill>
                <a:latin typeface="Consolas" panose="020B0609020204030204" pitchFamily="49" charset="0"/>
              </a:rPr>
              <a:t>name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sz="1800" dirty="0">
                <a:solidFill>
                  <a:srgbClr val="7F7F7F"/>
                </a:solidFill>
                <a:latin typeface="Consolas" panose="020B0609020204030204" pitchFamily="49" charset="0"/>
              </a:rPr>
              <a:t>importance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}) {</a:t>
            </a: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className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800" dirty="0">
                <a:solidFill>
                  <a:srgbClr val="CE9178"/>
                </a:solidFill>
                <a:latin typeface="Consolas" panose="020B0609020204030204" pitchFamily="49" charset="0"/>
              </a:rPr>
              <a:t>"item"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800" dirty="0">
                <a:solidFill>
                  <a:srgbClr val="7F7F7F"/>
                </a:solidFill>
                <a:latin typeface="Consolas" panose="020B0609020204030204" pitchFamily="49" charset="0"/>
              </a:rPr>
              <a:t>name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8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8DEE36E-AD9B-4F61-8A58-D3F296FB8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9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57575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dirty="0"/>
              <a:t>Rendering Lists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8A929F7-BCEC-48C6-8AB5-B24F8A1F6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71600"/>
            <a:ext cx="10058400" cy="11458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dirty="0"/>
              <a:t>How to render components from an array using JavaScript’s </a:t>
            </a:r>
            <a:r>
              <a:rPr lang="en-IN" sz="2400" b="1" i="1" dirty="0">
                <a:solidFill>
                  <a:schemeClr val="tx2"/>
                </a:solidFill>
              </a:rPr>
              <a:t>map()</a:t>
            </a:r>
          </a:p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dirty="0"/>
              <a:t>How to render only specific components using JavaScript’s </a:t>
            </a:r>
            <a:r>
              <a:rPr lang="en-IN" sz="2400" b="1" i="1" dirty="0">
                <a:solidFill>
                  <a:schemeClr val="tx2"/>
                </a:solidFill>
              </a:rPr>
              <a:t>filter()</a:t>
            </a:r>
          </a:p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•"/>
              <a:tabLst>
                <a:tab pos="469265" algn="l"/>
              </a:tabLst>
            </a:pPr>
            <a:r>
              <a:rPr lang="en-IN" sz="2400" dirty="0"/>
              <a:t>When and why to use </a:t>
            </a:r>
            <a:r>
              <a:rPr lang="en-IN" sz="2400" b="1" dirty="0">
                <a:solidFill>
                  <a:srgbClr val="FF0000"/>
                </a:solidFill>
              </a:rPr>
              <a:t>React keys</a:t>
            </a:r>
          </a:p>
        </p:txBody>
      </p:sp>
    </p:spTree>
    <p:extLst>
      <p:ext uri="{BB962C8B-B14F-4D97-AF65-F5344CB8AC3E}">
        <p14:creationId xmlns:p14="http://schemas.microsoft.com/office/powerpoint/2010/main" val="1199293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57575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dirty="0"/>
              <a:t>Rendering Lists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8A929F7-BCEC-48C6-8AB5-B24F8A1F6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71600"/>
            <a:ext cx="10058400" cy="2243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tabLst>
                <a:tab pos="469265" algn="l"/>
              </a:tabLst>
            </a:pPr>
            <a:r>
              <a:rPr lang="en-IN" sz="2000" b="1" i="1" dirty="0">
                <a:latin typeface="Source Code Pro"/>
              </a:rPr>
              <a:t>&lt;ul&gt;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tabLst>
                <a:tab pos="469265" algn="l"/>
              </a:tabLst>
            </a:pPr>
            <a:r>
              <a:rPr lang="en-IN" sz="2000" b="1" i="1" dirty="0">
                <a:latin typeface="Source Code Pro"/>
              </a:rPr>
              <a:t>  &lt;li&gt;Creola Katherine Johnson: mathematician&lt;/li&gt;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tabLst>
                <a:tab pos="469265" algn="l"/>
              </a:tabLst>
            </a:pPr>
            <a:r>
              <a:rPr lang="en-IN" sz="2000" b="1" i="1" dirty="0">
                <a:latin typeface="Source Code Pro"/>
              </a:rPr>
              <a:t>  &lt;li&gt;Mario José Molina-</a:t>
            </a:r>
            <a:r>
              <a:rPr lang="en-IN" sz="2000" b="1" i="1" dirty="0" err="1">
                <a:latin typeface="Source Code Pro"/>
              </a:rPr>
              <a:t>Pasquel</a:t>
            </a:r>
            <a:r>
              <a:rPr lang="en-IN" sz="2000" b="1" i="1" dirty="0">
                <a:latin typeface="Source Code Pro"/>
              </a:rPr>
              <a:t> </a:t>
            </a:r>
            <a:r>
              <a:rPr lang="en-IN" sz="2000" b="1" i="1" dirty="0" err="1">
                <a:latin typeface="Source Code Pro"/>
              </a:rPr>
              <a:t>Henríquez</a:t>
            </a:r>
            <a:r>
              <a:rPr lang="en-IN" sz="2000" b="1" i="1" dirty="0">
                <a:latin typeface="Source Code Pro"/>
              </a:rPr>
              <a:t>: chemist&lt;/li&gt;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tabLst>
                <a:tab pos="469265" algn="l"/>
              </a:tabLst>
            </a:pPr>
            <a:r>
              <a:rPr lang="en-IN" sz="2000" b="1" i="1" dirty="0">
                <a:latin typeface="Source Code Pro"/>
              </a:rPr>
              <a:t>  &lt;li&gt;Mohammad </a:t>
            </a:r>
            <a:r>
              <a:rPr lang="en-IN" sz="2000" b="1" i="1" dirty="0" err="1">
                <a:latin typeface="Source Code Pro"/>
              </a:rPr>
              <a:t>Abdus</a:t>
            </a:r>
            <a:r>
              <a:rPr lang="en-IN" sz="2000" b="1" i="1" dirty="0">
                <a:latin typeface="Source Code Pro"/>
              </a:rPr>
              <a:t> Salam: physicist&lt;/li&gt;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tabLst>
                <a:tab pos="469265" algn="l"/>
              </a:tabLst>
            </a:pPr>
            <a:r>
              <a:rPr lang="en-IN" sz="2000" b="1" i="1" dirty="0">
                <a:latin typeface="Source Code Pro"/>
              </a:rPr>
              <a:t>  &lt;li&gt;Percy Lavon Julian: chemist&lt;/li&gt;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tabLst>
                <a:tab pos="469265" algn="l"/>
              </a:tabLst>
            </a:pPr>
            <a:r>
              <a:rPr lang="en-IN" sz="2000" b="1" i="1" dirty="0">
                <a:latin typeface="Source Code Pro"/>
              </a:rPr>
              <a:t>  &lt;li&gt;</a:t>
            </a:r>
            <a:r>
              <a:rPr lang="en-IN" sz="2000" b="1" i="1" dirty="0" err="1">
                <a:latin typeface="Source Code Pro"/>
              </a:rPr>
              <a:t>Subrahmanyan</a:t>
            </a:r>
            <a:r>
              <a:rPr lang="en-IN" sz="2000" b="1" i="1" dirty="0">
                <a:latin typeface="Source Code Pro"/>
              </a:rPr>
              <a:t> Chandrasekhar: astrophysicist&lt;/li&gt;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tabLst>
                <a:tab pos="469265" algn="l"/>
              </a:tabLst>
            </a:pPr>
            <a:r>
              <a:rPr lang="en-IN" sz="2000" b="1" i="1" dirty="0">
                <a:latin typeface="Source Code Pro"/>
              </a:rPr>
              <a:t>&lt;/ul&gt;</a:t>
            </a:r>
          </a:p>
        </p:txBody>
      </p:sp>
    </p:spTree>
    <p:extLst>
      <p:ext uri="{BB962C8B-B14F-4D97-AF65-F5344CB8AC3E}">
        <p14:creationId xmlns:p14="http://schemas.microsoft.com/office/powerpoint/2010/main" val="3644344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57575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dirty="0"/>
              <a:t>Rendering Lists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8A929F7-BCEC-48C6-8AB5-B24F8A1F6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71600"/>
            <a:ext cx="10058400" cy="2166619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/>
          <a:p>
            <a:r>
              <a:rPr lang="en-IN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people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'Creola Katherine Johnson: mathematician'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'Mario José Molina-</a:t>
            </a:r>
            <a:r>
              <a:rPr lang="en-IN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Pasquel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Henríquez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: chemist'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'Mohammad </a:t>
            </a:r>
            <a:r>
              <a:rPr lang="en-IN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Abdus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 Salam: physicist'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'Percy Lavon Julian: chemist'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IN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Subrahmanyan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 Chandrasekhar: astrophysicist'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FC522EA-A3AA-44D0-A890-CD4A154EACFC}"/>
              </a:ext>
            </a:extLst>
          </p:cNvPr>
          <p:cNvSpPr txBox="1">
            <a:spLocks/>
          </p:cNvSpPr>
          <p:nvPr/>
        </p:nvSpPr>
        <p:spPr>
          <a:xfrm>
            <a:off x="838200" y="3810000"/>
            <a:ext cx="10058400" cy="1858842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065" rIns="0" bIns="0" rtlCol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export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List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listItems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people</a:t>
            </a:r>
            <a:r>
              <a:rPr lang="en-IN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map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7F7F7F"/>
                </a:solidFill>
                <a:latin typeface="Consolas" panose="020B0609020204030204" pitchFamily="49" charset="0"/>
              </a:rPr>
              <a:t>person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>
                <a:solidFill>
                  <a:srgbClr val="7F7F7F"/>
                </a:solidFill>
                <a:latin typeface="Consolas" panose="020B0609020204030204" pitchFamily="49" charset="0"/>
              </a:rPr>
              <a:t>person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);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ul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listItems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ul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7796BC-45F1-410C-900A-7D538526EBAF}"/>
              </a:ext>
            </a:extLst>
          </p:cNvPr>
          <p:cNvSpPr/>
          <p:nvPr/>
        </p:nvSpPr>
        <p:spPr>
          <a:xfrm>
            <a:off x="762000" y="6002232"/>
            <a:ext cx="838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C1554D"/>
                </a:solidFill>
                <a:effectLst/>
                <a:latin typeface="Source Code Pro"/>
              </a:rPr>
              <a:t>Console</a:t>
            </a:r>
          </a:p>
          <a:p>
            <a:r>
              <a:rPr lang="en-IN" b="0" i="0" dirty="0">
                <a:solidFill>
                  <a:srgbClr val="C1554D"/>
                </a:solidFill>
                <a:effectLst/>
                <a:latin typeface="Source Code Pro"/>
              </a:rPr>
              <a:t>Warning: Each child in a list should have a unique "key" prop. 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9293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animBg="1"/>
      <p:bldP spid="4" grpId="0" animBg="1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57575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dirty="0"/>
              <a:t>Rendering Lists (Filter)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43CFD3-AB4E-41D6-8D5B-42B021012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165" y="1219200"/>
            <a:ext cx="10059670" cy="5416868"/>
          </a:xfrm>
          <a:solidFill>
            <a:schemeClr val="tx1"/>
          </a:solidFill>
        </p:spPr>
        <p:txBody>
          <a:bodyPr/>
          <a:lstStyle/>
          <a:p>
            <a:r>
              <a:rPr lang="en-IN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C8C8C8"/>
                </a:solidFill>
                <a:latin typeface="Consolas" panose="020B0609020204030204" pitchFamily="49" charset="0"/>
              </a:rPr>
              <a:t>people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 = [{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DADADA"/>
                </a:solidFill>
                <a:latin typeface="Consolas" panose="020B0609020204030204" pitchFamily="49" charset="0"/>
              </a:rPr>
              <a:t>id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6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DADADA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'Creola Katherine Johnson'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DADADA"/>
                </a:solidFill>
                <a:latin typeface="Consolas" panose="020B0609020204030204" pitchFamily="49" charset="0"/>
              </a:rPr>
              <a:t>profession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'mathematician'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}, {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DADADA"/>
                </a:solidFill>
                <a:latin typeface="Consolas" panose="020B0609020204030204" pitchFamily="49" charset="0"/>
              </a:rPr>
              <a:t>id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DADADA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'Mario José Molina-</a:t>
            </a:r>
            <a:r>
              <a:rPr lang="en-IN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Pasquel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Henríquez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DADADA"/>
                </a:solidFill>
                <a:latin typeface="Consolas" panose="020B0609020204030204" pitchFamily="49" charset="0"/>
              </a:rPr>
              <a:t>profession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'chemist'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}, {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DADADA"/>
                </a:solidFill>
                <a:latin typeface="Consolas" panose="020B0609020204030204" pitchFamily="49" charset="0"/>
              </a:rPr>
              <a:t>id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6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DADADA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'Mohammad </a:t>
            </a:r>
            <a:r>
              <a:rPr lang="en-IN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Abdus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 Salam'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DADADA"/>
                </a:solidFill>
                <a:latin typeface="Consolas" panose="020B0609020204030204" pitchFamily="49" charset="0"/>
              </a:rPr>
              <a:t>profession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'physicist'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}, {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DADADA"/>
                </a:solidFill>
                <a:latin typeface="Consolas" panose="020B0609020204030204" pitchFamily="49" charset="0"/>
              </a:rPr>
              <a:t>id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6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DADADA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'Percy Lavon Julian'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DADADA"/>
                </a:solidFill>
                <a:latin typeface="Consolas" panose="020B0609020204030204" pitchFamily="49" charset="0"/>
              </a:rPr>
              <a:t>profession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'chemist'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,  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}, {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DADADA"/>
                </a:solidFill>
                <a:latin typeface="Consolas" panose="020B0609020204030204" pitchFamily="49" charset="0"/>
              </a:rPr>
              <a:t>id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600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DADADA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IN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Subrahmanyan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 Chandrasekhar'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DADADA"/>
                </a:solidFill>
                <a:latin typeface="Consolas" panose="020B0609020204030204" pitchFamily="49" charset="0"/>
              </a:rPr>
              <a:t>profession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'astrophysicist'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}];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291898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57575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dirty="0"/>
              <a:t>Rendering Lists (Filter)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43CFD3-AB4E-41D6-8D5B-42B021012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165" y="1219200"/>
            <a:ext cx="10059670" cy="2092881"/>
          </a:xfrm>
          <a:solidFill>
            <a:schemeClr val="tx1"/>
          </a:solidFill>
        </p:spPr>
        <p:txBody>
          <a:bodyPr/>
          <a:lstStyle/>
          <a:p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export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C8C8C8"/>
                </a:solidFill>
                <a:latin typeface="Consolas" panose="020B0609020204030204" pitchFamily="49" charset="0"/>
              </a:rPr>
              <a:t>List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listItems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people</a:t>
            </a:r>
            <a:r>
              <a:rPr lang="en-IN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map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7F7F7F"/>
                </a:solidFill>
                <a:latin typeface="Consolas" panose="020B0609020204030204" pitchFamily="49" charset="0"/>
              </a:rPr>
              <a:t>person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li key={person.id}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>
                <a:solidFill>
                  <a:srgbClr val="7F7F7F"/>
                </a:solidFill>
                <a:latin typeface="Consolas" panose="020B0609020204030204" pitchFamily="49" charset="0"/>
              </a:rPr>
              <a:t>person.name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);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ul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000" dirty="0" err="1">
                <a:solidFill>
                  <a:srgbClr val="C8C8C8"/>
                </a:solidFill>
                <a:latin typeface="Consolas" panose="020B0609020204030204" pitchFamily="49" charset="0"/>
              </a:rPr>
              <a:t>listItems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ul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FAB6BB-C913-4283-95B7-A3A76AED69BA}"/>
              </a:ext>
            </a:extLst>
          </p:cNvPr>
          <p:cNvSpPr/>
          <p:nvPr/>
        </p:nvSpPr>
        <p:spPr>
          <a:xfrm>
            <a:off x="990600" y="3810000"/>
            <a:ext cx="838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1554D"/>
                </a:solidFill>
                <a:latin typeface="Source Code Pro"/>
              </a:rPr>
              <a:t>Show only chemist?</a:t>
            </a:r>
            <a:endParaRPr lang="en-IN" b="0" i="0" dirty="0">
              <a:solidFill>
                <a:srgbClr val="C1554D"/>
              </a:solidFill>
              <a:effectLst/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74361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57575"/>
            <a:ext cx="922845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b="1" dirty="0"/>
              <a:t>Reading </a:t>
            </a:r>
            <a:r>
              <a:rPr lang="en-IN" b="1" dirty="0" err="1"/>
              <a:t>resouces</a:t>
            </a:r>
            <a:endParaRPr b="0" i="1" spc="-20" dirty="0">
              <a:latin typeface="Lato Light"/>
              <a:cs typeface="Lato Ligh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BD37C3-B61A-465B-B6CF-74A7D3ABF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8472" y="1447800"/>
            <a:ext cx="10059670" cy="3016210"/>
          </a:xfrm>
        </p:spPr>
        <p:txBody>
          <a:bodyPr/>
          <a:lstStyle/>
          <a:p>
            <a:r>
              <a:rPr lang="en-IN" dirty="0">
                <a:hlinkClick r:id="rId2"/>
              </a:rPr>
              <a:t>https://react.dev/learn/responding-to-events</a:t>
            </a:r>
          </a:p>
          <a:p>
            <a:endParaRPr lang="en-IN" dirty="0">
              <a:hlinkClick r:id="rId2"/>
            </a:endParaRPr>
          </a:p>
          <a:p>
            <a:r>
              <a:rPr lang="en-IN" dirty="0">
                <a:hlinkClick r:id="rId2"/>
              </a:rPr>
              <a:t>https://react.dev/learn/conditional-rendering</a:t>
            </a:r>
          </a:p>
          <a:p>
            <a:endParaRPr lang="en-IN" dirty="0">
              <a:hlinkClick r:id="rId2"/>
            </a:endParaRPr>
          </a:p>
          <a:p>
            <a:r>
              <a:rPr lang="en-IN" dirty="0">
                <a:hlinkClick r:id="rId2"/>
              </a:rPr>
              <a:t>https://react.dev/learn/rendering-lists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17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936</TotalTime>
  <Words>2780</Words>
  <Application>Microsoft Office PowerPoint</Application>
  <PresentationFormat>Widescreen</PresentationFormat>
  <Paragraphs>332</Paragraphs>
  <Slides>32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Carlito</vt:lpstr>
      <vt:lpstr>Consolas</vt:lpstr>
      <vt:lpstr>Lato Light</vt:lpstr>
      <vt:lpstr>Optimistic Text</vt:lpstr>
      <vt:lpstr>Source Code Pro</vt:lpstr>
      <vt:lpstr>Office Theme</vt:lpstr>
      <vt:lpstr>Introduction to ReactJS Event Handling &amp;&amp; Conditional Rendering </vt:lpstr>
      <vt:lpstr>PowerPoint Presentation</vt:lpstr>
      <vt:lpstr>Test </vt:lpstr>
      <vt:lpstr>Test 2</vt:lpstr>
      <vt:lpstr>Stopping propagation</vt:lpstr>
      <vt:lpstr>Event Handling</vt:lpstr>
      <vt:lpstr>Write an event handler</vt:lpstr>
      <vt:lpstr>Event Handler</vt:lpstr>
      <vt:lpstr>Event Handler Functions</vt:lpstr>
      <vt:lpstr>Event Handler Functions</vt:lpstr>
      <vt:lpstr>Reading props in event handlers </vt:lpstr>
      <vt:lpstr>Naming event handler props </vt:lpstr>
      <vt:lpstr>Naming event handler props </vt:lpstr>
      <vt:lpstr>Event propagation </vt:lpstr>
      <vt:lpstr>Event propagation </vt:lpstr>
      <vt:lpstr>Stopping propagation</vt:lpstr>
      <vt:lpstr>preventDefault vs stopPropagation </vt:lpstr>
      <vt:lpstr>Test challenge 1</vt:lpstr>
      <vt:lpstr>Test challenge 2</vt:lpstr>
      <vt:lpstr>Test challenges 2 (solution)</vt:lpstr>
      <vt:lpstr>Conditional Rendering</vt:lpstr>
      <vt:lpstr>Conditionally returning JSX</vt:lpstr>
      <vt:lpstr>Conditionally returning JSX</vt:lpstr>
      <vt:lpstr>Conditionally returning nothing with null</vt:lpstr>
      <vt:lpstr>Logical AND operator (&amp;&amp;) </vt:lpstr>
      <vt:lpstr>Test challenge</vt:lpstr>
      <vt:lpstr>Rendering Lists</vt:lpstr>
      <vt:lpstr>Rendering Lists</vt:lpstr>
      <vt:lpstr>Rendering Lists</vt:lpstr>
      <vt:lpstr>Rendering Lists (Filter)</vt:lpstr>
      <vt:lpstr>Rendering Lists (Filter)</vt:lpstr>
      <vt:lpstr>Reading resouces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React.js</dc:title>
  <dc:creator>Aaron Smith</dc:creator>
  <cp:lastModifiedBy>Youssouf</cp:lastModifiedBy>
  <cp:revision>148</cp:revision>
  <dcterms:created xsi:type="dcterms:W3CDTF">2024-11-12T19:37:26Z</dcterms:created>
  <dcterms:modified xsi:type="dcterms:W3CDTF">2025-05-25T19:30:09Z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2020-02-10T00:00:00Z</vt:filetime>
  </property>
  <property fmtid="{D5CDD505-2E9C-101B-9397-08002B2CF9AE}" pid="3" name="Creator">
    <vt:lpwstr>Acrobat PDFMaker 19 for PowerPoint</vt:lpwstr>
  </property>
  <property fmtid="{D5CDD505-2E9C-101B-9397-08002B2CF9AE}" pid="4" name="LastSaved">
    <vt:filetime>2024-11-12T00:00:00Z</vt:filetime>
  </property>
  <property fmtid="{D5CDD505-2E9C-101B-9397-08002B2CF9AE}" pid="5" name="Producer">
    <vt:lpwstr>3-Heights(TM) PDF Security Shell 4.8.25.2 (http://www.pdf-tools.com)</vt:lpwstr>
  </property>
</Properties>
</file>