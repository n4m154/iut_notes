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76B090-3D09-471C-9674-9974EB38FB92}">
  <a:tblStyle styleId="{5876B090-3D09-471C-9674-9974EB38FB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58" autoAdjust="0"/>
  </p:normalViewPr>
  <p:slideViewPr>
    <p:cSldViewPr snapToGrid="0">
      <p:cViewPr varScale="1">
        <p:scale>
          <a:sx n="88" d="100"/>
          <a:sy n="88" d="100"/>
        </p:scale>
        <p:origin x="13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59b62aa8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59b62aa8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59b62aa8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59b62aa8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59b62aa8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59b62aa8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 dirty="0">
                <a:solidFill>
                  <a:srgbClr val="333333"/>
                </a:solidFill>
              </a:rPr>
              <a:t>It allows you to associate handlers with an asynchronous action's eventual success value or failure reason. This lets asynchronous methods return values like synchronous methods: instead of immediately returning the final value, the asynchronous method returns a </a:t>
            </a:r>
            <a:r>
              <a:rPr lang="en" i="1" dirty="0">
                <a:solidFill>
                  <a:srgbClr val="333333"/>
                </a:solidFill>
              </a:rPr>
              <a:t>promise</a:t>
            </a:r>
            <a:r>
              <a:rPr lang="en" dirty="0">
                <a:solidFill>
                  <a:srgbClr val="333333"/>
                </a:solidFill>
              </a:rPr>
              <a:t> to supply the value at some point in the future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59b62aa8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59b62aa8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>
                <a:solidFill>
                  <a:srgbClr val="333333"/>
                </a:solidFill>
              </a:rPr>
              <a:t>It allows you to associate handlers with an asynchronous action's eventual success value or failure reason. This lets asynchronous methods return values like synchronous methods: instead of immediately returning the final value, the asynchronous method returns a </a:t>
            </a:r>
            <a:r>
              <a:rPr lang="en" i="1">
                <a:solidFill>
                  <a:srgbClr val="333333"/>
                </a:solidFill>
              </a:rPr>
              <a:t>promise</a:t>
            </a:r>
            <a:r>
              <a:rPr lang="en">
                <a:solidFill>
                  <a:srgbClr val="333333"/>
                </a:solidFill>
              </a:rPr>
              <a:t> to supply the value at some point in the future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59b62aa8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59b62aa8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 dirty="0"/>
              <a:t>Usage is basically for expensive things, and things that you don’t know how long they’ll take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59b62aa8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59b62aa8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59b62aa8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59b62aa8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59b62aa8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59b62aa8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59b62aa8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59b62aa8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59b62aa8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59b62aa8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59b62aa8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59b62aa8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59b62aa8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59b62aa8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59b62aa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59b62aa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59b62aa8_0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59b62aa8_0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059b62aa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059b62aa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59b62aa8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59b62aa8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59b62aa8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59b62aa8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59b62aa8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059b62aa8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059b62aa8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059b62aa8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059b62aa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059b62aa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059b62aa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059b62aa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59b62aa8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059b62aa8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59b62aa8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059b62aa8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59b62aa8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59b62aa8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059b62aa8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059b62aa8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059b62aa8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059b62aa8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059b62aa8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059b62aa8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059b62aa8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059b62aa8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059b62aa8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059b62aa8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059b62aa8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059b62aa8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059b62aa8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059b62aa8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059b62aa8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059b62aa8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059b62aa8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059b62aa8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multis/collective data actions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059b62aa8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059b62aa8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multis/collective data actions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059b62aa8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059b62aa8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059b62aa8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059b62aa8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059b62aa8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059b62aa8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059b62aa8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059b62aa8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059b62aa8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059b62aa8_0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059b62aa8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059b62aa8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059b62aa8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059b62aa8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059b62aa8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059b62aa8_0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059b62aa8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059b62aa8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059b62aa8_0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059b62aa8_0_8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Promise/resolv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Promise/resolv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hyperlink" Target="https://facebook.github.io/react-native/docs/asyncstorage.html#removeite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default.asp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24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02650" y="1702675"/>
            <a:ext cx="7254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Roboto"/>
                <a:ea typeface="Roboto"/>
                <a:cs typeface="Roboto"/>
                <a:sym typeface="Roboto"/>
              </a:rPr>
              <a:t>SWE 4637</a:t>
            </a: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: Cross-Platform Mobile Development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6550" y="2119025"/>
            <a:ext cx="67758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Data Persistence (Local storage)</a:t>
            </a: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Promises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21" descr="Related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800" y="466525"/>
            <a:ext cx="2233075" cy="148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 descr="Image result for promis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900" y="1408100"/>
            <a:ext cx="2559825" cy="17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descr="Image result for promis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0125" y="1953238"/>
            <a:ext cx="2571750" cy="170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1"/>
          <p:cNvCxnSpPr/>
          <p:nvPr/>
        </p:nvCxnSpPr>
        <p:spPr>
          <a:xfrm>
            <a:off x="5060125" y="225250"/>
            <a:ext cx="3758100" cy="3758100"/>
          </a:xfrm>
          <a:prstGeom prst="straightConnector1">
            <a:avLst/>
          </a:prstGeom>
          <a:noFill/>
          <a:ln w="1143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21"/>
          <p:cNvCxnSpPr/>
          <p:nvPr/>
        </p:nvCxnSpPr>
        <p:spPr>
          <a:xfrm flipH="1">
            <a:off x="5059975" y="258700"/>
            <a:ext cx="3743700" cy="3743700"/>
          </a:xfrm>
          <a:prstGeom prst="straightConnector1">
            <a:avLst/>
          </a:prstGeom>
          <a:noFill/>
          <a:ln w="1143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Promises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699425" y="1049000"/>
            <a:ext cx="792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Promise is a proxy for a value not necessarily known when the promise is created.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Promises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699425" y="1049000"/>
            <a:ext cx="792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Promise is a proxy for a value not necessarily known when the promise is created.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38" y="1961875"/>
            <a:ext cx="76295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Promises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699425" y="1049000"/>
            <a:ext cx="792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Promise is a proxy for a value not necessarily known when the promise is created.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0" y="19143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699425" y="2496800"/>
            <a:ext cx="7921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Running asynchronous functions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Accessing storage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0" y="22704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Example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Promises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699425" y="1049000"/>
            <a:ext cx="792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Promise is a proxy for a value not necessarily known when the promise is created.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38" y="1961875"/>
            <a:ext cx="76295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 Promises - Pyramid of doom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7" descr="Image result for js pyramid of doom"/>
          <p:cNvPicPr preferRelativeResize="0"/>
          <p:nvPr/>
        </p:nvPicPr>
        <p:blipFill rotWithShape="1">
          <a:blip r:embed="rId3">
            <a:alphaModFix/>
          </a:blip>
          <a:srcRect r="39642"/>
          <a:stretch/>
        </p:blipFill>
        <p:spPr>
          <a:xfrm>
            <a:off x="4843175" y="1069225"/>
            <a:ext cx="3902299" cy="19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 descr="Image result for js pyramid of doom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975" y="1069225"/>
            <a:ext cx="3902300" cy="219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0" y="46653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Async/await for the rescue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699425" y="1049000"/>
            <a:ext cx="79218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way of declaring Asynchronous</a:t>
            </a: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functions, and to control blocking</a:t>
            </a: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or running asynchronously.</a:t>
            </a: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428000" y="2785750"/>
            <a:ext cx="38520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myfunction = () =&gt;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//Code before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promise1.then(function(value)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console.log(value);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//Code after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p28" descr="Image result for async awa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750" y="235750"/>
            <a:ext cx="4054944" cy="16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/>
          <p:nvPr/>
        </p:nvSpPr>
        <p:spPr>
          <a:xfrm>
            <a:off x="4092275" y="3251300"/>
            <a:ext cx="1028700" cy="535200"/>
          </a:xfrm>
          <a:prstGeom prst="rightArrow">
            <a:avLst>
              <a:gd name="adj1" fmla="val 29857"/>
              <a:gd name="adj2" fmla="val 61729"/>
            </a:avLst>
          </a:prstGeom>
          <a:solidFill>
            <a:srgbClr val="666666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4025824" y="2984325"/>
            <a:ext cx="8109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4019425" y="3459600"/>
            <a:ext cx="8109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5076200" y="2785750"/>
            <a:ext cx="38520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myfunction = </a:t>
            </a:r>
            <a:r>
              <a:rPr lang="en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() =&gt;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//Code before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const value = </a:t>
            </a:r>
            <a:r>
              <a:rPr lang="en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promise1;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console.log(value);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//Code after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/>
        </p:nvSpPr>
        <p:spPr>
          <a:xfrm>
            <a:off x="0" y="22704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Example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775" y="1708382"/>
            <a:ext cx="224200" cy="2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460218" y="1084000"/>
            <a:ext cx="81012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simple, unencrypted, asynchronous, persistent, key-value storage system that is global to the app. It should be used instead of LocalStorage.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460218" y="1084000"/>
            <a:ext cx="81012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simple, unencrypted, asynchronous, persistent, key-value storage system that is global to the app. It should be used instead of LocalStorage.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" name="Google Shape;223;p33"/>
          <p:cNvCxnSpPr/>
          <p:nvPr/>
        </p:nvCxnSpPr>
        <p:spPr>
          <a:xfrm>
            <a:off x="77340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3"/>
          <p:cNvCxnSpPr/>
          <p:nvPr/>
        </p:nvCxnSpPr>
        <p:spPr>
          <a:xfrm>
            <a:off x="77340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3"/>
          <p:cNvCxnSpPr/>
          <p:nvPr/>
        </p:nvCxnSpPr>
        <p:spPr>
          <a:xfrm>
            <a:off x="250050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33"/>
          <p:cNvSpPr txBox="1"/>
          <p:nvPr/>
        </p:nvSpPr>
        <p:spPr>
          <a:xfrm>
            <a:off x="1284000" y="3882025"/>
            <a:ext cx="7059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User</a:t>
            </a:r>
            <a:endParaRPr dirty="0"/>
          </a:p>
        </p:txBody>
      </p:sp>
      <p:cxnSp>
        <p:nvCxnSpPr>
          <p:cNvPr id="227" name="Google Shape;227;p33"/>
          <p:cNvCxnSpPr/>
          <p:nvPr/>
        </p:nvCxnSpPr>
        <p:spPr>
          <a:xfrm>
            <a:off x="370845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3"/>
          <p:cNvCxnSpPr/>
          <p:nvPr/>
        </p:nvCxnSpPr>
        <p:spPr>
          <a:xfrm>
            <a:off x="370845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33"/>
          <p:cNvCxnSpPr/>
          <p:nvPr/>
        </p:nvCxnSpPr>
        <p:spPr>
          <a:xfrm>
            <a:off x="543555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33"/>
          <p:cNvSpPr txBox="1"/>
          <p:nvPr/>
        </p:nvSpPr>
        <p:spPr>
          <a:xfrm>
            <a:off x="4219049" y="3882025"/>
            <a:ext cx="770961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Places</a:t>
            </a:r>
            <a:endParaRPr dirty="0"/>
          </a:p>
        </p:txBody>
      </p:sp>
      <p:sp>
        <p:nvSpPr>
          <p:cNvPr id="231" name="Google Shape;231;p33"/>
          <p:cNvSpPr txBox="1"/>
          <p:nvPr/>
        </p:nvSpPr>
        <p:spPr>
          <a:xfrm>
            <a:off x="6883800" y="388202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Person</a:t>
            </a:r>
            <a:r>
              <a:rPr lang="en" dirty="0"/>
              <a:t> ID</a:t>
            </a:r>
            <a:endParaRPr dirty="0"/>
          </a:p>
        </p:txBody>
      </p:sp>
      <p:pic>
        <p:nvPicPr>
          <p:cNvPr id="232" name="Google Shape;232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00" y="2845825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200825" y="2844300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 txBox="1"/>
          <p:nvPr/>
        </p:nvSpPr>
        <p:spPr>
          <a:xfrm>
            <a:off x="1024175" y="3413450"/>
            <a:ext cx="13332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 :  Abd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1031675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  :  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1030925" y="3030497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7" name="Google Shape;237;p33"/>
          <p:cNvGrpSpPr/>
          <p:nvPr/>
        </p:nvGrpSpPr>
        <p:grpSpPr>
          <a:xfrm>
            <a:off x="1060734" y="2625470"/>
            <a:ext cx="1167451" cy="480121"/>
            <a:chOff x="1053300" y="2430232"/>
            <a:chExt cx="1167451" cy="480121"/>
          </a:xfrm>
        </p:grpSpPr>
        <p:sp>
          <p:nvSpPr>
            <p:cNvPr id="238" name="Google Shape;238;p33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9" name="Google Shape;239;p33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33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41" name="Google Shape;241;p33"/>
          <p:cNvSpPr txBox="1"/>
          <p:nvPr/>
        </p:nvSpPr>
        <p:spPr>
          <a:xfrm>
            <a:off x="3934802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  : World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3942293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43" name="Google Shape;243;p33"/>
          <p:cNvGrpSpPr/>
          <p:nvPr/>
        </p:nvGrpSpPr>
        <p:grpSpPr>
          <a:xfrm>
            <a:off x="3988284" y="2822920"/>
            <a:ext cx="1167451" cy="480121"/>
            <a:chOff x="1053300" y="2430232"/>
            <a:chExt cx="1167451" cy="480121"/>
          </a:xfrm>
        </p:grpSpPr>
        <p:sp>
          <p:nvSpPr>
            <p:cNvPr id="244" name="Google Shape;244;p33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5" name="Google Shape;245;p33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6" name="Google Shape;246;p33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247" name="Google Shape;247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538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31863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3"/>
          <p:cNvCxnSpPr/>
          <p:nvPr/>
        </p:nvCxnSpPr>
        <p:spPr>
          <a:xfrm>
            <a:off x="6619076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3"/>
          <p:cNvCxnSpPr/>
          <p:nvPr/>
        </p:nvCxnSpPr>
        <p:spPr>
          <a:xfrm>
            <a:off x="6619068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3"/>
          <p:cNvCxnSpPr/>
          <p:nvPr/>
        </p:nvCxnSpPr>
        <p:spPr>
          <a:xfrm>
            <a:off x="8346168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33"/>
          <p:cNvSpPr txBox="1"/>
          <p:nvPr/>
        </p:nvSpPr>
        <p:spPr>
          <a:xfrm>
            <a:off x="6845419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6852910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54" name="Google Shape;254;p33"/>
          <p:cNvGrpSpPr/>
          <p:nvPr/>
        </p:nvGrpSpPr>
        <p:grpSpPr>
          <a:xfrm>
            <a:off x="6898902" y="2822920"/>
            <a:ext cx="1167451" cy="480121"/>
            <a:chOff x="1053300" y="2430232"/>
            <a:chExt cx="1167451" cy="480121"/>
          </a:xfrm>
        </p:grpSpPr>
        <p:sp>
          <p:nvSpPr>
            <p:cNvPr id="255" name="Google Shape;255;p33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6" name="Google Shape;256;p33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7" name="Google Shape;257;p33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258" name="Google Shape;258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155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42480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841225" y="1084000"/>
            <a:ext cx="1582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Person</a:t>
            </a:r>
            <a:r>
              <a:rPr lang="en" dirty="0"/>
              <a:t> ID</a:t>
            </a:r>
            <a:endParaRPr dirty="0"/>
          </a:p>
        </p:txBody>
      </p:sp>
      <p:cxnSp>
        <p:nvCxnSpPr>
          <p:cNvPr id="267" name="Google Shape;267;p34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4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4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34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72" name="Google Shape;272;p34"/>
          <p:cNvGrpSpPr/>
          <p:nvPr/>
        </p:nvGrpSpPr>
        <p:grpSpPr>
          <a:xfrm>
            <a:off x="6970602" y="3040670"/>
            <a:ext cx="1167451" cy="480121"/>
            <a:chOff x="1053300" y="2430232"/>
            <a:chExt cx="1167451" cy="480121"/>
          </a:xfrm>
        </p:grpSpPr>
        <p:sp>
          <p:nvSpPr>
            <p:cNvPr id="273" name="Google Shape;273;p34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4" name="Google Shape;274;p34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5" name="Google Shape;275;p34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276" name="Google Shape;276;p34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00" y="1610225"/>
            <a:ext cx="4733664" cy="9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841225" y="1084000"/>
            <a:ext cx="1582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286" name="Google Shape;286;p35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5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5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35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35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91" name="Google Shape;291;p35"/>
          <p:cNvGrpSpPr/>
          <p:nvPr/>
        </p:nvGrpSpPr>
        <p:grpSpPr>
          <a:xfrm>
            <a:off x="6970602" y="3040670"/>
            <a:ext cx="1167451" cy="480121"/>
            <a:chOff x="1053300" y="2430232"/>
            <a:chExt cx="1167451" cy="480121"/>
          </a:xfrm>
        </p:grpSpPr>
        <p:sp>
          <p:nvSpPr>
            <p:cNvPr id="292" name="Google Shape;292;p35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3" name="Google Shape;293;p35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4" name="Google Shape;294;p35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295" name="Google Shape;295;p35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00" y="1610225"/>
            <a:ext cx="4733664" cy="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/>
        </p:nvSpPr>
        <p:spPr>
          <a:xfrm>
            <a:off x="4881900" y="1727000"/>
            <a:ext cx="1076400" cy="33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9" name="Google Shape;299;p35"/>
          <p:cNvCxnSpPr>
            <a:endCxn id="300" idx="0"/>
          </p:cNvCxnSpPr>
          <p:nvPr/>
        </p:nvCxnSpPr>
        <p:spPr>
          <a:xfrm>
            <a:off x="5886850" y="1914725"/>
            <a:ext cx="1734600" cy="1021200"/>
          </a:xfrm>
          <a:prstGeom prst="curved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35"/>
          <p:cNvSpPr/>
          <p:nvPr/>
        </p:nvSpPr>
        <p:spPr>
          <a:xfrm>
            <a:off x="7538800" y="2935925"/>
            <a:ext cx="165300" cy="189900"/>
          </a:xfrm>
          <a:prstGeom prst="downArrow">
            <a:avLst>
              <a:gd name="adj1" fmla="val 9164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841225" y="1084000"/>
            <a:ext cx="1582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6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308" name="Google Shape;308;p36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6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36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3" name="Google Shape;313;p36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6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00" y="1610225"/>
            <a:ext cx="4733664" cy="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6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7" name="Google Shape;317;p36"/>
          <p:cNvCxnSpPr>
            <a:endCxn id="318" idx="0"/>
          </p:cNvCxnSpPr>
          <p:nvPr/>
        </p:nvCxnSpPr>
        <p:spPr>
          <a:xfrm>
            <a:off x="5886850" y="1914725"/>
            <a:ext cx="1734600" cy="1021200"/>
          </a:xfrm>
          <a:prstGeom prst="curved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36"/>
          <p:cNvSpPr/>
          <p:nvPr/>
        </p:nvSpPr>
        <p:spPr>
          <a:xfrm>
            <a:off x="7538800" y="2935925"/>
            <a:ext cx="165300" cy="189900"/>
          </a:xfrm>
          <a:prstGeom prst="downArrow">
            <a:avLst>
              <a:gd name="adj1" fmla="val 9164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841225" y="1084000"/>
            <a:ext cx="1582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7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pic>
        <p:nvPicPr>
          <p:cNvPr id="326" name="Google Shape;3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800" y="1610225"/>
            <a:ext cx="4733664" cy="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 txBox="1"/>
          <p:nvPr/>
        </p:nvSpPr>
        <p:spPr>
          <a:xfrm>
            <a:off x="841225" y="2788575"/>
            <a:ext cx="18543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Fetching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00" y="3264067"/>
            <a:ext cx="4733674" cy="162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37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7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7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37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37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4" name="Google Shape;334;p37" descr="Image result for curly bracket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7" descr="Image result for curly bracket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7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8"/>
          <p:cNvSpPr txBox="1"/>
          <p:nvPr/>
        </p:nvSpPr>
        <p:spPr>
          <a:xfrm>
            <a:off x="841225" y="1084000"/>
            <a:ext cx="1582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pic>
        <p:nvPicPr>
          <p:cNvPr id="344" name="Google Shape;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800" y="1610225"/>
            <a:ext cx="4733664" cy="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8"/>
          <p:cNvSpPr txBox="1"/>
          <p:nvPr/>
        </p:nvSpPr>
        <p:spPr>
          <a:xfrm>
            <a:off x="841225" y="2788575"/>
            <a:ext cx="18543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Fetching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6" name="Google Shape;3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00" y="3264067"/>
            <a:ext cx="4733674" cy="162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38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38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38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8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52" name="Google Shape;352;p38" descr="Image result for curly bracket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8" descr="Image result for curly bracket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8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38"/>
          <p:cNvSpPr txBox="1"/>
          <p:nvPr/>
        </p:nvSpPr>
        <p:spPr>
          <a:xfrm>
            <a:off x="4926150" y="3433750"/>
            <a:ext cx="716100" cy="2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‘175’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9"/>
          <p:cNvSpPr txBox="1"/>
          <p:nvPr/>
        </p:nvSpPr>
        <p:spPr>
          <a:xfrm>
            <a:off x="841225" y="108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 -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AsynchStorage.setItem(key, val)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39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sp>
        <p:nvSpPr>
          <p:cNvPr id="363" name="Google Shape;363;p39"/>
          <p:cNvSpPr txBox="1"/>
          <p:nvPr/>
        </p:nvSpPr>
        <p:spPr>
          <a:xfrm>
            <a:off x="841225" y="1564000"/>
            <a:ext cx="5811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Fetching Data - 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AsynchStorage.getItem(key)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" name="Google Shape;364;p39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39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39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7" name="Google Shape;367;p39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9" name="Google Shape;369;p3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9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841225" y="204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Removing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425" y="2524000"/>
            <a:ext cx="5247462" cy="2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841225" y="108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 -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AsynchStorage.setItem(key, val)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841225" y="1564000"/>
            <a:ext cx="5811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Fetching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AsynchStorage.getItem(key)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841225" y="204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AsynchStorage.removeItem(key)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0"/>
          <p:cNvSpPr txBox="1"/>
          <p:nvPr/>
        </p:nvSpPr>
        <p:spPr>
          <a:xfrm>
            <a:off x="841218" y="252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Clearing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AsynchStorage.clear()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841218" y="300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All keys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AsynchStorage.getAllKeys()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841225" y="108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pushing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391" name="Google Shape;391;p41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2" name="Google Shape;392;p41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41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4" name="Google Shape;394;p41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1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075" y="1564000"/>
            <a:ext cx="5456176" cy="12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2"/>
          <p:cNvSpPr txBox="1"/>
          <p:nvPr/>
        </p:nvSpPr>
        <p:spPr>
          <a:xfrm>
            <a:off x="841225" y="108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pushing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404" name="Google Shape;404;p42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42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42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7" name="Google Shape;407;p42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2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2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42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" name="Google Shape;4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075" y="1564000"/>
            <a:ext cx="5456176" cy="12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43"/>
          <p:cNvSpPr txBox="1"/>
          <p:nvPr/>
        </p:nvSpPr>
        <p:spPr>
          <a:xfrm>
            <a:off x="841225" y="1084000"/>
            <a:ext cx="7395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pushing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43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420" name="Google Shape;420;p43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3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3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3" name="Google Shape;423;p4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3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075" y="1564000"/>
            <a:ext cx="5456176" cy="12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3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43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43"/>
          <p:cNvSpPr txBox="1"/>
          <p:nvPr/>
        </p:nvSpPr>
        <p:spPr>
          <a:xfrm>
            <a:off x="841225" y="2957025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getting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0" name="Google Shape;43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075" y="3484650"/>
            <a:ext cx="5374113" cy="12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841225" y="1084000"/>
            <a:ext cx="7395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pushing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6955500" y="409977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cxnSp>
        <p:nvCxnSpPr>
          <p:cNvPr id="438" name="Google Shape;438;p44"/>
          <p:cNvCxnSpPr/>
          <p:nvPr/>
        </p:nvCxnSpPr>
        <p:spPr>
          <a:xfrm>
            <a:off x="6690776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4"/>
          <p:cNvCxnSpPr/>
          <p:nvPr/>
        </p:nvCxnSpPr>
        <p:spPr>
          <a:xfrm>
            <a:off x="6690768" y="400440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4"/>
          <p:cNvCxnSpPr/>
          <p:nvPr/>
        </p:nvCxnSpPr>
        <p:spPr>
          <a:xfrm>
            <a:off x="8417868" y="301322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1" name="Google Shape;441;p44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55" y="306281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4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114180" y="306128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7075" y="1564000"/>
            <a:ext cx="5456176" cy="12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4"/>
          <p:cNvSpPr txBox="1"/>
          <p:nvPr/>
        </p:nvSpPr>
        <p:spPr>
          <a:xfrm>
            <a:off x="6917119" y="363120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6924610" y="343375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44"/>
          <p:cNvSpPr txBox="1"/>
          <p:nvPr/>
        </p:nvSpPr>
        <p:spPr>
          <a:xfrm>
            <a:off x="6920510" y="3247156"/>
            <a:ext cx="10764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year : 97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44"/>
          <p:cNvSpPr txBox="1"/>
          <p:nvPr/>
        </p:nvSpPr>
        <p:spPr>
          <a:xfrm>
            <a:off x="841225" y="2957025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getting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8" name="Google Shape;44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075" y="3484650"/>
            <a:ext cx="5374113" cy="125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4"/>
          <p:cNvSpPr txBox="1"/>
          <p:nvPr/>
        </p:nvSpPr>
        <p:spPr>
          <a:xfrm>
            <a:off x="3138650" y="4099775"/>
            <a:ext cx="3191400" cy="36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[[‘year’,‘97’], [‘Hei’,‘175’], [‘Wei’,‘75’]]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AsyncStorage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5"/>
          <p:cNvSpPr txBox="1"/>
          <p:nvPr/>
        </p:nvSpPr>
        <p:spPr>
          <a:xfrm>
            <a:off x="841225" y="108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 -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AsyncStorage.setItem(key, val)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841225" y="1564000"/>
            <a:ext cx="5811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Fetching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AsyncStorage.getItem(key)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5"/>
          <p:cNvSpPr txBox="1"/>
          <p:nvPr/>
        </p:nvSpPr>
        <p:spPr>
          <a:xfrm>
            <a:off x="841225" y="204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AsyncStorage.removeItem(key)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5"/>
          <p:cNvSpPr txBox="1"/>
          <p:nvPr/>
        </p:nvSpPr>
        <p:spPr>
          <a:xfrm>
            <a:off x="841218" y="252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Clearing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AsyncStorage.clear()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841218" y="3004000"/>
            <a:ext cx="6083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All keys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AsyncStorage.getAllKeys()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5"/>
          <p:cNvSpPr txBox="1"/>
          <p:nvPr/>
        </p:nvSpPr>
        <p:spPr>
          <a:xfrm>
            <a:off x="841225" y="3484000"/>
            <a:ext cx="7395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pushing -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AsyncStorage.multiSet(array&lt;array&lt;string&gt;&gt;)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841225" y="3964000"/>
            <a:ext cx="7395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Multi getting -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AsyncStorage.multiGet(array&lt;string&gt;)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6" descr="Related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214" y="450525"/>
            <a:ext cx="1749525" cy="17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6"/>
          <p:cNvSpPr txBox="1"/>
          <p:nvPr/>
        </p:nvSpPr>
        <p:spPr>
          <a:xfrm>
            <a:off x="3624425" y="2125000"/>
            <a:ext cx="18951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Droid Sans"/>
                <a:ea typeface="Droid Sans"/>
                <a:cs typeface="Droid Sans"/>
                <a:sym typeface="Droid Sans"/>
              </a:rPr>
              <a:t>NOTE</a:t>
            </a:r>
            <a:endParaRPr sz="3000" b="1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468" name="Google Shape;468;p46"/>
          <p:cNvSpPr txBox="1"/>
          <p:nvPr/>
        </p:nvSpPr>
        <p:spPr>
          <a:xfrm>
            <a:off x="1046688" y="2980975"/>
            <a:ext cx="70506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All functions of AsyncStorage are asynchronous (Did that surprise you? :o) Make sure you use async/await with it to get desired result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7"/>
          <p:cNvSpPr txBox="1"/>
          <p:nvPr/>
        </p:nvSpPr>
        <p:spPr>
          <a:xfrm>
            <a:off x="0" y="136185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Secure Storage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4" name="Google Shape;474;p47"/>
          <p:cNvGrpSpPr/>
          <p:nvPr/>
        </p:nvGrpSpPr>
        <p:grpSpPr>
          <a:xfrm>
            <a:off x="2262199" y="2333574"/>
            <a:ext cx="4619601" cy="2094127"/>
            <a:chOff x="2320199" y="2332449"/>
            <a:chExt cx="4619601" cy="2094127"/>
          </a:xfrm>
        </p:grpSpPr>
        <p:pic>
          <p:nvPicPr>
            <p:cNvPr id="475" name="Google Shape;475;p47" descr="Related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20199" y="2362501"/>
              <a:ext cx="2064100" cy="2064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47" descr="Image result for expo.io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75700" y="2332449"/>
              <a:ext cx="2064100" cy="20640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8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48"/>
          <p:cNvSpPr txBox="1"/>
          <p:nvPr/>
        </p:nvSpPr>
        <p:spPr>
          <a:xfrm>
            <a:off x="460218" y="1084000"/>
            <a:ext cx="81012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Provides a way to encrypt and securely store key–value pairs locally on the device. Each Expo project has a separate storage system and has no access to the storage of other Expo projects.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48"/>
          <p:cNvCxnSpPr/>
          <p:nvPr/>
        </p:nvCxnSpPr>
        <p:spPr>
          <a:xfrm>
            <a:off x="77340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48"/>
          <p:cNvCxnSpPr/>
          <p:nvPr/>
        </p:nvCxnSpPr>
        <p:spPr>
          <a:xfrm>
            <a:off x="77340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8"/>
          <p:cNvCxnSpPr/>
          <p:nvPr/>
        </p:nvCxnSpPr>
        <p:spPr>
          <a:xfrm>
            <a:off x="250050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6" name="Google Shape;486;p48"/>
          <p:cNvSpPr txBox="1"/>
          <p:nvPr/>
        </p:nvSpPr>
        <p:spPr>
          <a:xfrm>
            <a:off x="1284000" y="3882025"/>
            <a:ext cx="7059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User</a:t>
            </a:r>
            <a:endParaRPr dirty="0"/>
          </a:p>
        </p:txBody>
      </p:sp>
      <p:cxnSp>
        <p:nvCxnSpPr>
          <p:cNvPr id="487" name="Google Shape;487;p48"/>
          <p:cNvCxnSpPr/>
          <p:nvPr/>
        </p:nvCxnSpPr>
        <p:spPr>
          <a:xfrm>
            <a:off x="370845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48"/>
          <p:cNvCxnSpPr/>
          <p:nvPr/>
        </p:nvCxnSpPr>
        <p:spPr>
          <a:xfrm>
            <a:off x="370845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48"/>
          <p:cNvCxnSpPr/>
          <p:nvPr/>
        </p:nvCxnSpPr>
        <p:spPr>
          <a:xfrm>
            <a:off x="543555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p48"/>
          <p:cNvSpPr txBox="1"/>
          <p:nvPr/>
        </p:nvSpPr>
        <p:spPr>
          <a:xfrm>
            <a:off x="6883800" y="388202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dirty="0"/>
              <a:t>Person ID</a:t>
            </a:r>
          </a:p>
        </p:txBody>
      </p:sp>
      <p:pic>
        <p:nvPicPr>
          <p:cNvPr id="492" name="Google Shape;492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00" y="2845825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200825" y="2844300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8"/>
          <p:cNvSpPr txBox="1"/>
          <p:nvPr/>
        </p:nvSpPr>
        <p:spPr>
          <a:xfrm>
            <a:off x="1024175" y="3413450"/>
            <a:ext cx="13332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 :  Abd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48"/>
          <p:cNvSpPr txBox="1"/>
          <p:nvPr/>
        </p:nvSpPr>
        <p:spPr>
          <a:xfrm>
            <a:off x="1031675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  :  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48"/>
          <p:cNvSpPr txBox="1"/>
          <p:nvPr/>
        </p:nvSpPr>
        <p:spPr>
          <a:xfrm>
            <a:off x="1030925" y="3030497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97" name="Google Shape;497;p48"/>
          <p:cNvGrpSpPr/>
          <p:nvPr/>
        </p:nvGrpSpPr>
        <p:grpSpPr>
          <a:xfrm>
            <a:off x="1060734" y="2625470"/>
            <a:ext cx="1167451" cy="480121"/>
            <a:chOff x="1053300" y="2430232"/>
            <a:chExt cx="1167451" cy="480121"/>
          </a:xfrm>
        </p:grpSpPr>
        <p:sp>
          <p:nvSpPr>
            <p:cNvPr id="498" name="Google Shape;498;p48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9" name="Google Shape;499;p48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0" name="Google Shape;500;p48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01" name="Google Shape;501;p48"/>
          <p:cNvSpPr txBox="1"/>
          <p:nvPr/>
        </p:nvSpPr>
        <p:spPr>
          <a:xfrm>
            <a:off x="3934802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  : World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48"/>
          <p:cNvSpPr txBox="1"/>
          <p:nvPr/>
        </p:nvSpPr>
        <p:spPr>
          <a:xfrm>
            <a:off x="3942293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3" name="Google Shape;503;p48"/>
          <p:cNvGrpSpPr/>
          <p:nvPr/>
        </p:nvGrpSpPr>
        <p:grpSpPr>
          <a:xfrm>
            <a:off x="3988284" y="2822920"/>
            <a:ext cx="1167451" cy="480121"/>
            <a:chOff x="1053300" y="2430232"/>
            <a:chExt cx="1167451" cy="480121"/>
          </a:xfrm>
        </p:grpSpPr>
        <p:sp>
          <p:nvSpPr>
            <p:cNvPr id="504" name="Google Shape;504;p48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5" name="Google Shape;505;p48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6" name="Google Shape;506;p48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507" name="Google Shape;507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538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31863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48"/>
          <p:cNvCxnSpPr/>
          <p:nvPr/>
        </p:nvCxnSpPr>
        <p:spPr>
          <a:xfrm>
            <a:off x="6619076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48"/>
          <p:cNvCxnSpPr/>
          <p:nvPr/>
        </p:nvCxnSpPr>
        <p:spPr>
          <a:xfrm>
            <a:off x="6619068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1" name="Google Shape;511;p48"/>
          <p:cNvCxnSpPr/>
          <p:nvPr/>
        </p:nvCxnSpPr>
        <p:spPr>
          <a:xfrm>
            <a:off x="8346168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2" name="Google Shape;512;p48"/>
          <p:cNvSpPr txBox="1"/>
          <p:nvPr/>
        </p:nvSpPr>
        <p:spPr>
          <a:xfrm>
            <a:off x="6845419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48"/>
          <p:cNvSpPr txBox="1"/>
          <p:nvPr/>
        </p:nvSpPr>
        <p:spPr>
          <a:xfrm>
            <a:off x="6852910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14" name="Google Shape;514;p48"/>
          <p:cNvGrpSpPr/>
          <p:nvPr/>
        </p:nvGrpSpPr>
        <p:grpSpPr>
          <a:xfrm>
            <a:off x="6898902" y="2822920"/>
            <a:ext cx="1167451" cy="480121"/>
            <a:chOff x="1053300" y="2430232"/>
            <a:chExt cx="1167451" cy="480121"/>
          </a:xfrm>
        </p:grpSpPr>
        <p:sp>
          <p:nvSpPr>
            <p:cNvPr id="515" name="Google Shape;515;p48"/>
            <p:cNvSpPr txBox="1"/>
            <p:nvPr/>
          </p:nvSpPr>
          <p:spPr>
            <a:xfrm>
              <a:off x="1053300" y="2430232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6" name="Google Shape;516;p48"/>
            <p:cNvSpPr txBox="1"/>
            <p:nvPr/>
          </p:nvSpPr>
          <p:spPr>
            <a:xfrm>
              <a:off x="1053452" y="2540206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7" name="Google Shape;517;p48"/>
            <p:cNvSpPr txBox="1"/>
            <p:nvPr/>
          </p:nvSpPr>
          <p:spPr>
            <a:xfrm>
              <a:off x="1053452" y="2647554"/>
              <a:ext cx="11673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518" name="Google Shape;518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155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8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42480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83;p48">
            <a:extLst>
              <a:ext uri="{FF2B5EF4-FFF2-40B4-BE49-F238E27FC236}">
                <a16:creationId xmlns:a16="http://schemas.microsoft.com/office/drawing/2014/main" id="{9597E043-C123-4624-BC2A-B40F9751A368}"/>
              </a:ext>
            </a:extLst>
          </p:cNvPr>
          <p:cNvCxnSpPr/>
          <p:nvPr/>
        </p:nvCxnSpPr>
        <p:spPr>
          <a:xfrm>
            <a:off x="773409" y="279693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484;p48">
            <a:extLst>
              <a:ext uri="{FF2B5EF4-FFF2-40B4-BE49-F238E27FC236}">
                <a16:creationId xmlns:a16="http://schemas.microsoft.com/office/drawing/2014/main" id="{A7B07399-30FC-4B3E-941F-63BE26A327B0}"/>
              </a:ext>
            </a:extLst>
          </p:cNvPr>
          <p:cNvCxnSpPr/>
          <p:nvPr/>
        </p:nvCxnSpPr>
        <p:spPr>
          <a:xfrm>
            <a:off x="773400" y="378811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486;p48">
            <a:extLst>
              <a:ext uri="{FF2B5EF4-FFF2-40B4-BE49-F238E27FC236}">
                <a16:creationId xmlns:a16="http://schemas.microsoft.com/office/drawing/2014/main" id="{82EF39AB-B68F-48CF-A914-CE92F72B2AB1}"/>
              </a:ext>
            </a:extLst>
          </p:cNvPr>
          <p:cNvSpPr txBox="1"/>
          <p:nvPr/>
        </p:nvSpPr>
        <p:spPr>
          <a:xfrm>
            <a:off x="1284000" y="3883485"/>
            <a:ext cx="7059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User</a:t>
            </a:r>
            <a:endParaRPr dirty="0"/>
          </a:p>
        </p:txBody>
      </p:sp>
      <p:cxnSp>
        <p:nvCxnSpPr>
          <p:cNvPr id="44" name="Google Shape;487;p48">
            <a:extLst>
              <a:ext uri="{FF2B5EF4-FFF2-40B4-BE49-F238E27FC236}">
                <a16:creationId xmlns:a16="http://schemas.microsoft.com/office/drawing/2014/main" id="{EE9D1D8C-BC0A-482E-9A39-740334D92A05}"/>
              </a:ext>
            </a:extLst>
          </p:cNvPr>
          <p:cNvCxnSpPr/>
          <p:nvPr/>
        </p:nvCxnSpPr>
        <p:spPr>
          <a:xfrm>
            <a:off x="3708459" y="279693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88;p48">
            <a:extLst>
              <a:ext uri="{FF2B5EF4-FFF2-40B4-BE49-F238E27FC236}">
                <a16:creationId xmlns:a16="http://schemas.microsoft.com/office/drawing/2014/main" id="{F7E180D5-B99B-4F4B-A76F-9D51E0B353B5}"/>
              </a:ext>
            </a:extLst>
          </p:cNvPr>
          <p:cNvCxnSpPr/>
          <p:nvPr/>
        </p:nvCxnSpPr>
        <p:spPr>
          <a:xfrm>
            <a:off x="3708450" y="378811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90;p48">
            <a:extLst>
              <a:ext uri="{FF2B5EF4-FFF2-40B4-BE49-F238E27FC236}">
                <a16:creationId xmlns:a16="http://schemas.microsoft.com/office/drawing/2014/main" id="{318CF5D7-07A2-47DA-BB2F-A85DFC01D81C}"/>
              </a:ext>
            </a:extLst>
          </p:cNvPr>
          <p:cNvSpPr txBox="1"/>
          <p:nvPr/>
        </p:nvSpPr>
        <p:spPr>
          <a:xfrm>
            <a:off x="4029489" y="3882025"/>
            <a:ext cx="912813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Places</a:t>
            </a:r>
            <a:endParaRPr dirty="0"/>
          </a:p>
        </p:txBody>
      </p:sp>
      <p:pic>
        <p:nvPicPr>
          <p:cNvPr id="47" name="Google Shape;492;p48" descr="Image result for curly brackets">
            <a:extLst>
              <a:ext uri="{FF2B5EF4-FFF2-40B4-BE49-F238E27FC236}">
                <a16:creationId xmlns:a16="http://schemas.microsoft.com/office/drawing/2014/main" id="{00AE5BA6-C1BF-496D-9794-24C38A88CD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00" y="2847285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93;p48" descr="Image result for curly brackets">
            <a:extLst>
              <a:ext uri="{FF2B5EF4-FFF2-40B4-BE49-F238E27FC236}">
                <a16:creationId xmlns:a16="http://schemas.microsoft.com/office/drawing/2014/main" id="{4B6B8DAE-A6AC-4EC2-9CC9-9EDFECAE4E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200825" y="2845760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4;p48">
            <a:extLst>
              <a:ext uri="{FF2B5EF4-FFF2-40B4-BE49-F238E27FC236}">
                <a16:creationId xmlns:a16="http://schemas.microsoft.com/office/drawing/2014/main" id="{3B3EC0E3-E483-4DA2-9C8B-7753679DE01F}"/>
              </a:ext>
            </a:extLst>
          </p:cNvPr>
          <p:cNvSpPr txBox="1"/>
          <p:nvPr/>
        </p:nvSpPr>
        <p:spPr>
          <a:xfrm>
            <a:off x="1024175" y="3414910"/>
            <a:ext cx="13332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 :  Abd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" name="Google Shape;495;p48">
            <a:extLst>
              <a:ext uri="{FF2B5EF4-FFF2-40B4-BE49-F238E27FC236}">
                <a16:creationId xmlns:a16="http://schemas.microsoft.com/office/drawing/2014/main" id="{0C51A618-300F-4D43-AD94-CFFF77CE1348}"/>
              </a:ext>
            </a:extLst>
          </p:cNvPr>
          <p:cNvSpPr txBox="1"/>
          <p:nvPr/>
        </p:nvSpPr>
        <p:spPr>
          <a:xfrm>
            <a:off x="1031675" y="321746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  :  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" name="Google Shape;501;p48">
            <a:extLst>
              <a:ext uri="{FF2B5EF4-FFF2-40B4-BE49-F238E27FC236}">
                <a16:creationId xmlns:a16="http://schemas.microsoft.com/office/drawing/2014/main" id="{5BE26CC9-0DC0-4325-9E6C-2D49A081CF64}"/>
              </a:ext>
            </a:extLst>
          </p:cNvPr>
          <p:cNvSpPr txBox="1"/>
          <p:nvPr/>
        </p:nvSpPr>
        <p:spPr>
          <a:xfrm>
            <a:off x="3934802" y="341491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  : World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" name="Google Shape;502;p48">
            <a:extLst>
              <a:ext uri="{FF2B5EF4-FFF2-40B4-BE49-F238E27FC236}">
                <a16:creationId xmlns:a16="http://schemas.microsoft.com/office/drawing/2014/main" id="{5DF38042-D5CB-401E-81D4-719860363B20}"/>
              </a:ext>
            </a:extLst>
          </p:cNvPr>
          <p:cNvSpPr txBox="1"/>
          <p:nvPr/>
        </p:nvSpPr>
        <p:spPr>
          <a:xfrm>
            <a:off x="3942293" y="321746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" name="Google Shape;507;p48" descr="Image result for curly brackets">
            <a:extLst>
              <a:ext uri="{FF2B5EF4-FFF2-40B4-BE49-F238E27FC236}">
                <a16:creationId xmlns:a16="http://schemas.microsoft.com/office/drawing/2014/main" id="{82877B9B-AB7D-47DD-93F9-86DF74038C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538" y="2846522"/>
            <a:ext cx="232600" cy="8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10;p48">
            <a:extLst>
              <a:ext uri="{FF2B5EF4-FFF2-40B4-BE49-F238E27FC236}">
                <a16:creationId xmlns:a16="http://schemas.microsoft.com/office/drawing/2014/main" id="{02AAD1C0-4C1C-49ED-98B1-627DE9AC62F1}"/>
              </a:ext>
            </a:extLst>
          </p:cNvPr>
          <p:cNvCxnSpPr/>
          <p:nvPr/>
        </p:nvCxnSpPr>
        <p:spPr>
          <a:xfrm>
            <a:off x="6619068" y="378811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12;p48">
            <a:extLst>
              <a:ext uri="{FF2B5EF4-FFF2-40B4-BE49-F238E27FC236}">
                <a16:creationId xmlns:a16="http://schemas.microsoft.com/office/drawing/2014/main" id="{835ED2C9-6386-4CC5-9371-3916A6A1B6C3}"/>
              </a:ext>
            </a:extLst>
          </p:cNvPr>
          <p:cNvSpPr txBox="1"/>
          <p:nvPr/>
        </p:nvSpPr>
        <p:spPr>
          <a:xfrm>
            <a:off x="6845419" y="341491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" name="Google Shape;513;p48">
            <a:extLst>
              <a:ext uri="{FF2B5EF4-FFF2-40B4-BE49-F238E27FC236}">
                <a16:creationId xmlns:a16="http://schemas.microsoft.com/office/drawing/2014/main" id="{652C5C17-D302-4939-B71A-56DE3253ABFE}"/>
              </a:ext>
            </a:extLst>
          </p:cNvPr>
          <p:cNvSpPr txBox="1"/>
          <p:nvPr/>
        </p:nvSpPr>
        <p:spPr>
          <a:xfrm>
            <a:off x="6852910" y="321746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49"/>
          <p:cNvSpPr txBox="1"/>
          <p:nvPr/>
        </p:nvSpPr>
        <p:spPr>
          <a:xfrm>
            <a:off x="460218" y="1084000"/>
            <a:ext cx="81012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Provides a way to encrypt and securely store key–value pairs locally on the device. Each Expo project has a separate storage system and has no access to the storage of other Expo projects.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9"/>
          <p:cNvCxnSpPr/>
          <p:nvPr/>
        </p:nvCxnSpPr>
        <p:spPr>
          <a:xfrm>
            <a:off x="77340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49"/>
          <p:cNvCxnSpPr/>
          <p:nvPr/>
        </p:nvCxnSpPr>
        <p:spPr>
          <a:xfrm>
            <a:off x="77340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49"/>
          <p:cNvCxnSpPr/>
          <p:nvPr/>
        </p:nvCxnSpPr>
        <p:spPr>
          <a:xfrm>
            <a:off x="250050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9" name="Google Shape;529;p49"/>
          <p:cNvSpPr txBox="1"/>
          <p:nvPr/>
        </p:nvSpPr>
        <p:spPr>
          <a:xfrm>
            <a:off x="1284000" y="3882025"/>
            <a:ext cx="7059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User</a:t>
            </a:r>
            <a:endParaRPr dirty="0"/>
          </a:p>
        </p:txBody>
      </p:sp>
      <p:cxnSp>
        <p:nvCxnSpPr>
          <p:cNvPr id="530" name="Google Shape;530;p49"/>
          <p:cNvCxnSpPr/>
          <p:nvPr/>
        </p:nvCxnSpPr>
        <p:spPr>
          <a:xfrm>
            <a:off x="3708459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49"/>
          <p:cNvCxnSpPr/>
          <p:nvPr/>
        </p:nvCxnSpPr>
        <p:spPr>
          <a:xfrm>
            <a:off x="3708450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49"/>
          <p:cNvCxnSpPr/>
          <p:nvPr/>
        </p:nvCxnSpPr>
        <p:spPr>
          <a:xfrm>
            <a:off x="5435550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49"/>
          <p:cNvSpPr txBox="1"/>
          <p:nvPr/>
        </p:nvSpPr>
        <p:spPr>
          <a:xfrm>
            <a:off x="4219049" y="3882025"/>
            <a:ext cx="890543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Places</a:t>
            </a:r>
            <a:endParaRPr dirty="0"/>
          </a:p>
        </p:txBody>
      </p:sp>
      <p:sp>
        <p:nvSpPr>
          <p:cNvPr id="534" name="Google Shape;534;p49"/>
          <p:cNvSpPr txBox="1"/>
          <p:nvPr/>
        </p:nvSpPr>
        <p:spPr>
          <a:xfrm>
            <a:off x="6883800" y="3882025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Peron</a:t>
            </a:r>
            <a:r>
              <a:rPr lang="en" dirty="0"/>
              <a:t> ID</a:t>
            </a:r>
            <a:endParaRPr dirty="0"/>
          </a:p>
        </p:txBody>
      </p:sp>
      <p:pic>
        <p:nvPicPr>
          <p:cNvPr id="535" name="Google Shape;535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00" y="2845825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200825" y="2844300"/>
            <a:ext cx="232600" cy="8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9"/>
          <p:cNvSpPr txBox="1"/>
          <p:nvPr/>
        </p:nvSpPr>
        <p:spPr>
          <a:xfrm>
            <a:off x="1024175" y="3413450"/>
            <a:ext cx="13332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 :  Abd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49"/>
          <p:cNvSpPr txBox="1"/>
          <p:nvPr/>
        </p:nvSpPr>
        <p:spPr>
          <a:xfrm>
            <a:off x="1031675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  :  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49"/>
          <p:cNvSpPr txBox="1"/>
          <p:nvPr/>
        </p:nvSpPr>
        <p:spPr>
          <a:xfrm>
            <a:off x="1030925" y="3030497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Loc  :  CA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49"/>
          <p:cNvSpPr txBox="1"/>
          <p:nvPr/>
        </p:nvSpPr>
        <p:spPr>
          <a:xfrm>
            <a:off x="3934802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  : World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3942293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  : CA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2" name="Google Shape;542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538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31863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49"/>
          <p:cNvCxnSpPr/>
          <p:nvPr/>
        </p:nvCxnSpPr>
        <p:spPr>
          <a:xfrm>
            <a:off x="6619076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49"/>
          <p:cNvCxnSpPr/>
          <p:nvPr/>
        </p:nvCxnSpPr>
        <p:spPr>
          <a:xfrm>
            <a:off x="6619068" y="3786650"/>
            <a:ext cx="17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49"/>
          <p:cNvCxnSpPr/>
          <p:nvPr/>
        </p:nvCxnSpPr>
        <p:spPr>
          <a:xfrm>
            <a:off x="8346168" y="2795475"/>
            <a:ext cx="0" cy="99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" name="Google Shape;547;p49"/>
          <p:cNvSpPr txBox="1"/>
          <p:nvPr/>
        </p:nvSpPr>
        <p:spPr>
          <a:xfrm>
            <a:off x="6845419" y="3413450"/>
            <a:ext cx="1644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Wei  : 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8" name="Google Shape;548;p49"/>
          <p:cNvSpPr txBox="1"/>
          <p:nvPr/>
        </p:nvSpPr>
        <p:spPr>
          <a:xfrm>
            <a:off x="6852910" y="3216000"/>
            <a:ext cx="11673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Hei  : 175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9" name="Google Shape;549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155" y="2845062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9" descr="Image result for curly bracket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42480" y="2843537"/>
            <a:ext cx="232600" cy="8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9" descr="Related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604" y="2307650"/>
            <a:ext cx="602716" cy="60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9" descr="Related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0654" y="2328975"/>
            <a:ext cx="602716" cy="60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9" descr="Related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6254" y="2328975"/>
            <a:ext cx="602716" cy="60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9" name="Google Shape;55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825" y="1564000"/>
            <a:ext cx="5726950" cy="10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0"/>
          <p:cNvSpPr txBox="1"/>
          <p:nvPr/>
        </p:nvSpPr>
        <p:spPr>
          <a:xfrm>
            <a:off x="841225" y="1084000"/>
            <a:ext cx="7673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1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51"/>
          <p:cNvSpPr txBox="1"/>
          <p:nvPr/>
        </p:nvSpPr>
        <p:spPr>
          <a:xfrm>
            <a:off x="841225" y="1084000"/>
            <a:ext cx="7673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7" name="Google Shape;56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825" y="1564000"/>
            <a:ext cx="5726950" cy="10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1"/>
          <p:cNvSpPr txBox="1"/>
          <p:nvPr/>
        </p:nvSpPr>
        <p:spPr>
          <a:xfrm>
            <a:off x="841225" y="2836600"/>
            <a:ext cx="7673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Getting Data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9" name="Google Shape;56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825" y="3316597"/>
            <a:ext cx="5726950" cy="139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2"/>
          <p:cNvSpPr txBox="1"/>
          <p:nvPr/>
        </p:nvSpPr>
        <p:spPr>
          <a:xfrm>
            <a:off x="0" y="4813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2"/>
          <p:cNvSpPr txBox="1"/>
          <p:nvPr/>
        </p:nvSpPr>
        <p:spPr>
          <a:xfrm>
            <a:off x="841225" y="1084000"/>
            <a:ext cx="7673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Pushing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SecureStore.setItemAsync(key, value, options)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52"/>
          <p:cNvSpPr txBox="1"/>
          <p:nvPr/>
        </p:nvSpPr>
        <p:spPr>
          <a:xfrm>
            <a:off x="841225" y="1564000"/>
            <a:ext cx="7673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Getting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SecureStore.getItemAsync(key, value, options)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52"/>
          <p:cNvSpPr txBox="1"/>
          <p:nvPr/>
        </p:nvSpPr>
        <p:spPr>
          <a:xfrm>
            <a:off x="841225" y="2044000"/>
            <a:ext cx="7929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Deleting Data -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SecureStore.deleteItemAsync(key, value, options)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3"/>
          <p:cNvSpPr txBox="1"/>
          <p:nvPr/>
        </p:nvSpPr>
        <p:spPr>
          <a:xfrm>
            <a:off x="0" y="2032494"/>
            <a:ext cx="91440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Live Demo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AsyncStorage and SecureStore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4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54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9" name="Google Shape;58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209" y="1734649"/>
            <a:ext cx="200250" cy="2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5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55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8" name="Google Shape;5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209" y="1734649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775" y="1936982"/>
            <a:ext cx="224200" cy="2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6"/>
          <p:cNvSpPr txBox="1"/>
          <p:nvPr/>
        </p:nvSpPr>
        <p:spPr>
          <a:xfrm>
            <a:off x="0" y="33888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SQLite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6"/>
          <p:cNvSpPr txBox="1"/>
          <p:nvPr/>
        </p:nvSpPr>
        <p:spPr>
          <a:xfrm>
            <a:off x="460218" y="1084000"/>
            <a:ext cx="81012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 Expo module that gives you access to a locally stored database. The database persists across restarts.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56"/>
          <p:cNvSpPr txBox="1"/>
          <p:nvPr/>
        </p:nvSpPr>
        <p:spPr>
          <a:xfrm>
            <a:off x="3948750" y="4501100"/>
            <a:ext cx="12465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Person</a:t>
            </a:r>
            <a:r>
              <a:rPr lang="en" dirty="0"/>
              <a:t> ID</a:t>
            </a:r>
            <a:endParaRPr dirty="0"/>
          </a:p>
        </p:txBody>
      </p:sp>
      <p:cxnSp>
        <p:nvCxnSpPr>
          <p:cNvPr id="609" name="Google Shape;609;p56"/>
          <p:cNvCxnSpPr/>
          <p:nvPr/>
        </p:nvCxnSpPr>
        <p:spPr>
          <a:xfrm>
            <a:off x="624200" y="2473725"/>
            <a:ext cx="0" cy="184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56"/>
          <p:cNvCxnSpPr/>
          <p:nvPr/>
        </p:nvCxnSpPr>
        <p:spPr>
          <a:xfrm>
            <a:off x="623775" y="4323125"/>
            <a:ext cx="7906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56"/>
          <p:cNvCxnSpPr/>
          <p:nvPr/>
        </p:nvCxnSpPr>
        <p:spPr>
          <a:xfrm>
            <a:off x="8523500" y="2511275"/>
            <a:ext cx="0" cy="181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12" name="Google Shape;612;p56"/>
          <p:cNvGraphicFramePr/>
          <p:nvPr>
            <p:extLst>
              <p:ext uri="{D42A27DB-BD31-4B8C-83A1-F6EECF244321}">
                <p14:modId xmlns:p14="http://schemas.microsoft.com/office/powerpoint/2010/main" val="163751744"/>
              </p:ext>
            </p:extLst>
          </p:nvPr>
        </p:nvGraphicFramePr>
        <p:xfrm>
          <a:off x="928024" y="2900223"/>
          <a:ext cx="4299029" cy="1244925"/>
        </p:xfrm>
        <a:graphic>
          <a:graphicData uri="http://schemas.openxmlformats.org/drawingml/2006/table">
            <a:tbl>
              <a:tblPr>
                <a:noFill/>
                <a:tableStyleId>{5876B090-3D09-471C-9674-9974EB38FB92}</a:tableStyleId>
              </a:tblPr>
              <a:tblGrid>
                <a:gridCol w="46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Gender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Height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W</a:t>
                      </a:r>
                      <a:r>
                        <a:rPr lang="en-IN" dirty="0"/>
                        <a:t>e</a:t>
                      </a:r>
                      <a:r>
                        <a:rPr lang="en" dirty="0"/>
                        <a:t>i</a:t>
                      </a:r>
                      <a:r>
                        <a:rPr lang="en-IN" dirty="0"/>
                        <a:t>g</a:t>
                      </a:r>
                      <a:r>
                        <a:rPr lang="en" dirty="0"/>
                        <a:t>th</a:t>
                      </a:r>
                      <a:endParaRPr dirty="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Abdallah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175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Santi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170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78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3" name="Google Shape;613;p56"/>
          <p:cNvSpPr txBox="1"/>
          <p:nvPr/>
        </p:nvSpPr>
        <p:spPr>
          <a:xfrm>
            <a:off x="2674075" y="2438400"/>
            <a:ext cx="6609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Jedis</a:t>
            </a:r>
            <a:endParaRPr b="1"/>
          </a:p>
        </p:txBody>
      </p:sp>
      <p:sp>
        <p:nvSpPr>
          <p:cNvPr id="614" name="Google Shape;614;p56"/>
          <p:cNvSpPr txBox="1"/>
          <p:nvPr/>
        </p:nvSpPr>
        <p:spPr>
          <a:xfrm>
            <a:off x="6220425" y="2438400"/>
            <a:ext cx="12465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Books</a:t>
            </a:r>
            <a:endParaRPr b="1" dirty="0"/>
          </a:p>
        </p:txBody>
      </p:sp>
      <p:graphicFrame>
        <p:nvGraphicFramePr>
          <p:cNvPr id="615" name="Google Shape;615;p56"/>
          <p:cNvGraphicFramePr/>
          <p:nvPr>
            <p:extLst>
              <p:ext uri="{D42A27DB-BD31-4B8C-83A1-F6EECF244321}">
                <p14:modId xmlns:p14="http://schemas.microsoft.com/office/powerpoint/2010/main" val="2536198732"/>
              </p:ext>
            </p:extLst>
          </p:nvPr>
        </p:nvGraphicFramePr>
        <p:xfrm>
          <a:off x="5451838" y="2900223"/>
          <a:ext cx="2783675" cy="414975"/>
        </p:xfrm>
        <a:graphic>
          <a:graphicData uri="http://schemas.openxmlformats.org/drawingml/2006/table">
            <a:tbl>
              <a:tblPr>
                <a:noFill/>
                <a:tableStyleId>{5876B090-3D09-471C-9674-9974EB38FB92}</a:tableStyleId>
              </a:tblPr>
              <a:tblGrid>
                <a:gridCol w="45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Title</a:t>
                      </a:r>
                      <a:endParaRPr dirty="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Color</a:t>
                      </a:r>
                      <a:endParaRPr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Author</a:t>
                      </a:r>
                      <a:endParaRPr dirty="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7"/>
          <p:cNvSpPr txBox="1"/>
          <p:nvPr/>
        </p:nvSpPr>
        <p:spPr>
          <a:xfrm>
            <a:off x="0" y="30404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Using SQLite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7"/>
          <p:cNvSpPr txBox="1"/>
          <p:nvPr/>
        </p:nvSpPr>
        <p:spPr>
          <a:xfrm>
            <a:off x="460225" y="1084000"/>
            <a:ext cx="8101200" cy="4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will always need to open the database before using it </a:t>
            </a:r>
            <a:r>
              <a:rPr lang="en" sz="18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SQLite.openDatabase(name, version, description, size) =&gt; DB</a:t>
            </a:r>
            <a:endParaRPr sz="18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Then we use DB to execute transactions</a:t>
            </a:r>
            <a:b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db.transaction(callback, error, success)</a:t>
            </a:r>
            <a:endParaRPr sz="18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Transactions are objects that have a function called “executeSql”</a:t>
            </a:r>
            <a:br>
              <a:rPr lang="en" sz="1800" dirty="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tx.executeSql(sqlStatement, arguments, success, error)</a:t>
            </a:r>
            <a:endParaRPr sz="1800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8"/>
          <p:cNvSpPr txBox="1"/>
          <p:nvPr/>
        </p:nvSpPr>
        <p:spPr>
          <a:xfrm>
            <a:off x="0" y="33888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Typical Use of SQLite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8"/>
          <p:cNvSpPr txBox="1"/>
          <p:nvPr/>
        </p:nvSpPr>
        <p:spPr>
          <a:xfrm>
            <a:off x="460225" y="1084000"/>
            <a:ext cx="8101200" cy="4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666666"/>
                </a:solidFill>
              </a:rPr>
              <a:t>Used at the top</a:t>
            </a:r>
            <a:br>
              <a:rPr lang="en" sz="1800">
                <a:solidFill>
                  <a:srgbClr val="666666"/>
                </a:solidFill>
              </a:rPr>
            </a:b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 db = SQLite.openDatabase(name);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Then to execute SQL queries: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8" name="Google Shape;62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925" y="2395400"/>
            <a:ext cx="7298250" cy="17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9"/>
          <p:cNvSpPr txBox="1"/>
          <p:nvPr/>
        </p:nvSpPr>
        <p:spPr>
          <a:xfrm>
            <a:off x="699425" y="1049000"/>
            <a:ext cx="79218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can write an asynchronous function to handle all of your querying. On calling it, just use await.</a:t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9"/>
          <p:cNvSpPr txBox="1"/>
          <p:nvPr/>
        </p:nvSpPr>
        <p:spPr>
          <a:xfrm>
            <a:off x="0" y="33888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Async/await and promises for the rescue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5" name="Google Shape;63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388" y="2019800"/>
            <a:ext cx="8033864" cy="28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0"/>
          <p:cNvSpPr txBox="1"/>
          <p:nvPr/>
        </p:nvSpPr>
        <p:spPr>
          <a:xfrm>
            <a:off x="699425" y="1049000"/>
            <a:ext cx="79218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-"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CREATE TABLE [if not exists] table_name (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column1 datatype,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column2 datatype,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	column3 datatype,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....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-"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select column1, column3 from table_name;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-"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insert into table_name (col1, col2) values (‘x’, ‘y’);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-"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delete from locations WHERE col1 = ‘x’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https://www.w3schools.com/sql/default.asp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60"/>
          <p:cNvSpPr txBox="1"/>
          <p:nvPr/>
        </p:nvSpPr>
        <p:spPr>
          <a:xfrm>
            <a:off x="0" y="338883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Common SQL Queries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1"/>
          <p:cNvSpPr txBox="1"/>
          <p:nvPr/>
        </p:nvSpPr>
        <p:spPr>
          <a:xfrm>
            <a:off x="0" y="22704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SQLite code analysis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2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2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3" name="Google Shape;65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2" descr="Image result for you mem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813" y="2662375"/>
            <a:ext cx="1908375" cy="1908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p62"/>
          <p:cNvCxnSpPr/>
          <p:nvPr/>
        </p:nvCxnSpPr>
        <p:spPr>
          <a:xfrm>
            <a:off x="2365250" y="2248464"/>
            <a:ext cx="1719600" cy="10362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6" name="Google Shape;656;p62"/>
          <p:cNvCxnSpPr/>
          <p:nvPr/>
        </p:nvCxnSpPr>
        <p:spPr>
          <a:xfrm>
            <a:off x="3979650" y="3276053"/>
            <a:ext cx="165300" cy="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7" name="Google Shape;657;p62"/>
          <p:cNvSpPr txBox="1"/>
          <p:nvPr/>
        </p:nvSpPr>
        <p:spPr>
          <a:xfrm>
            <a:off x="4194300" y="4252159"/>
            <a:ext cx="7554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YOU</a:t>
            </a:r>
            <a:endParaRPr sz="1800" b="1"/>
          </a:p>
        </p:txBody>
      </p:sp>
      <p:pic>
        <p:nvPicPr>
          <p:cNvPr id="658" name="Google Shape;65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209" y="1734649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7334" y="1947390"/>
            <a:ext cx="200250" cy="2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3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Overview for today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63"/>
          <p:cNvSpPr txBox="1"/>
          <p:nvPr/>
        </p:nvSpPr>
        <p:spPr>
          <a:xfrm>
            <a:off x="526475" y="1414374"/>
            <a:ext cx="5378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Basic JS Promises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Asynchronous Storage and Secure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local storage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Build a to-do list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7" name="Google Shape;66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800" y="1369524"/>
            <a:ext cx="1371000" cy="13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3" descr="Image result for you mem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813" y="2662375"/>
            <a:ext cx="1908375" cy="1908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9" name="Google Shape;669;p63"/>
          <p:cNvCxnSpPr/>
          <p:nvPr/>
        </p:nvCxnSpPr>
        <p:spPr>
          <a:xfrm>
            <a:off x="2365250" y="2248464"/>
            <a:ext cx="1719600" cy="10362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0" name="Google Shape;670;p63"/>
          <p:cNvCxnSpPr/>
          <p:nvPr/>
        </p:nvCxnSpPr>
        <p:spPr>
          <a:xfrm>
            <a:off x="3979650" y="3276053"/>
            <a:ext cx="165300" cy="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1" name="Google Shape;671;p63"/>
          <p:cNvSpPr txBox="1"/>
          <p:nvPr/>
        </p:nvSpPr>
        <p:spPr>
          <a:xfrm>
            <a:off x="4194300" y="4252159"/>
            <a:ext cx="7554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YOU</a:t>
            </a:r>
            <a:endParaRPr sz="1800" b="1"/>
          </a:p>
        </p:txBody>
      </p:sp>
      <p:pic>
        <p:nvPicPr>
          <p:cNvPr id="672" name="Google Shape;672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285" y="1519381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209" y="1734649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7334" y="1947390"/>
            <a:ext cx="200250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775" y="2150565"/>
            <a:ext cx="224200" cy="2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1328</Words>
  <Application>Microsoft Office PowerPoint</Application>
  <PresentationFormat>On-screen Show (16:9)</PresentationFormat>
  <Paragraphs>292</Paragraphs>
  <Slides>45</Slides>
  <Notes>45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Consolas</vt:lpstr>
      <vt:lpstr>Droid Sans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Youssouf</cp:lastModifiedBy>
  <cp:revision>12</cp:revision>
  <dcterms:modified xsi:type="dcterms:W3CDTF">2025-08-18T08:33:11Z</dcterms:modified>
</cp:coreProperties>
</file>