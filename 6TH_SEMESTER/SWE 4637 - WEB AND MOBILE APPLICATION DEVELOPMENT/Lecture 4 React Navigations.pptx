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89" r:id="rId4"/>
    <p:sldId id="290" r:id="rId5"/>
    <p:sldId id="291" r:id="rId6"/>
    <p:sldId id="292" r:id="rId7"/>
    <p:sldId id="293" r:id="rId8"/>
    <p:sldId id="294" r:id="rId9"/>
    <p:sldId id="276" r:id="rId10"/>
    <p:sldId id="295" r:id="rId11"/>
    <p:sldId id="296" r:id="rId12"/>
    <p:sldId id="279" r:id="rId13"/>
    <p:sldId id="260" r:id="rId14"/>
    <p:sldId id="261" r:id="rId15"/>
    <p:sldId id="262" r:id="rId16"/>
    <p:sldId id="263" r:id="rId17"/>
    <p:sldId id="297" r:id="rId18"/>
    <p:sldId id="298" r:id="rId19"/>
    <p:sldId id="299" r:id="rId20"/>
    <p:sldId id="300" r:id="rId21"/>
    <p:sldId id="264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C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7" autoAdjust="0"/>
    <p:restoredTop sz="65574" autoAdjust="0"/>
  </p:normalViewPr>
  <p:slideViewPr>
    <p:cSldViewPr snapToGrid="0">
      <p:cViewPr varScale="1">
        <p:scale>
          <a:sx n="74" d="100"/>
          <a:sy n="74" d="100"/>
        </p:scale>
        <p:origin x="907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83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0e11ab7a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0e11ab7a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ttps://snack.expo.dev/?name=Native+Stack+Navigator&amp;code=import+*+as+React+from+%27react%27%3B%0Aimport+%7B+Text%2C+View+%7D+from+%27react-native%27%3B%0Aimport+%7B+NavigationContainer%2C+useNavigation+%7D+from+%27%40react-navigation%2Fnative%27%3B%0Aimport+%7B+Button+%7D+from+%27%40react-navigation%2Felements%27%3B%0Aimport+%7B+createNativeStackNavigator+%7D+from+%27%40react-navigation%2Fnative-stack%27%3B%0A%0Aconst+Stack+%3D+createNativeStackNavigator%28%29%3B%0A%0Afunction+MyStack%28%29+%7B%0A++return+%28%0A++++%3CStack.Navigator%3E%0A++++++%3CStack.Screen+name%3D%22Home%22+component%3D%7BHomeScreen%7D+%2F%3E%0A++++++%3CStack.Screen+name%3D%22Profile%22+component%3D%7BProfileScreen%7D+%2F%3E%0A++++%3C%2FStack.Navigator%3E%0A++%29%3B%0A%7D%0A%0Afunction+HomeScreen%28%29+%7B%0A++const+navigation+%3D+useNavigation%28%29%3B%0A%0A++return+%28%0A++++%3CView+style%3D%7B%7B+flex%3A+1%2C+alignItems%3A+%27center%27%2C+justifyContent%3A+%27center%27+%7D%7D%3E%0A++++++%3CText%3EHome+Screen%3C%2FText%3E%0A++++++%3CButton+onPress%3D%7B%28%29+%3D%3E+navigation.navigate%28%27Profile%27%29%7D%3E%0A++++++++Go+to+Profile%0A++++++%3C%2FButton%3E%0A++++%3C%2FView%3E%0A++%29%3B%0A%7D%0A%0Afunction+ProfileScreen%28%29+%7B%0A++return+%28%0A++++%3CView+style%3D%7B%7B+flex%3A+1%2C+alignItems%3A+%27center%27%2C+justifyContent%3A+%27center%27+%7D%7D%3E%0A++++++%3CText%3EProfile+Screen%3C%2FText%3E%0A++++%3C%2FView%3E%0A++%29%3B%0A%7D%0A%0Aexport+default+function+App%28%29+%7B%0A++return+%28%0A++++%3CNavigationContainer%3E%0A++++++%3CMyStack+%2F%3E%0A++++%3C%2FNavigationContainer%3E%0A++%29%3B%0A%7D%0A&amp;dependencies=%40react-navigation%2Felements%402.6.2%2C%40react-native-masked-view%2Fmasked-view%40*%2C%40react-navigation%2Fnative%407.1.17%2Creact%40*%2Creact-native%40*%2Creact-native-safe-area-context%40*%2C%40react-navigation%2Fnative-stack%407.3.24%2Creact-native-screens%40*&amp;platform=web&amp;supportedPlatforms=ios%2Candroid%2Cweb&amp;preview=true&amp;hideQueryParams=true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eac2598e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eac2598e5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ttps://snack.expo.dev/?name=Bottom+Tab+Navigator&amp;code=import+*+as+React+from+%27react%27%3B%0Aimport+%7B+Text%2C+View+%7D+from+%27react-native%27%3B%0Aimport+%7B+NavigationContainer%2C+useNavigation+%7D+from+%27%40react-navigation%2Fnative%27%3B%0Aimport+%7B+Button+%7D+from+%27%40react-navigation%2Felements%27%3B%0Aimport+%7B+createBottomTabNavigator+%7D+from+%27%40react-navigation%2Fbottom-tabs%27%3B%0A%0Aconst+Tab+%3D+createBottomTabNavigator%28%29%3B%0A%0Afunction+MyTabs%28%29+%7B%0A++return+%28%0A++++%3CTab.Navigator%3E%0A++++++%3CTab.Screen+name%3D%22Home%22+component%3D%7BHomeScreen%7D+%2F%3E%0A++++++%3CTab.Screen+name%3D%22Profile%22+component%3D%7BProfileScreen%7D+%2F%3E%0A++++%3C%2FTab.Navigator%3E%0A++%29%3B%0A%7D%0A%0Afunction+HomeScreen%28%29+%7B%0A++const+navigation+%3D+useNavigation%28%29%3B%0A%0A++return+%28%0A++++%3CView+style%3D%7B%7B+flex%3A+1%2C+alignItems%3A+%27center%27%2C+justifyContent%3A+%27center%27+%7D%7D%3E%0A++++++%3CText%3EHome+Screen%3C%2FText%3E%0A++++++%3CButton+onPress%3D%7B%28%29+%3D%3E+navigation.navigate%28%27Profile%27%29%7D%3E%0A++++++++Go+to+Profile%0A++++++%3C%2FButton%3E%0A++++%3C%2FView%3E%0A++%29%3B%0A%7D%0A%0Afunction+ProfileScreen%28%29+%7B%0A++const+navigation+%3D+useNavigation%28%29%3B%0A%0A++return+%28%0A++++%3CView+style%3D%7B%7B+flex%3A+1%2C+alignItems%3A+%27center%27%2C+justifyContent%3A+%27center%27+%7D%7D%3E%0A++++++%3CText%3EProfile+Screen%3C%2FText%3E%0A++++++%3CButton+onPress%3D%7B%28%29+%3D%3E+navigation.navigate%28%27Home%27%29%7D%3EGo+to+Home%3C%2FButton%3E%0A++++%3C%2FView%3E%0A++%29%3B%0A%7D%0A%0Aexport+default+function+App%28%29+%7B%0A++return+%28%0A++++%3CNavigationContainer%3E%0A++++++%3CMyTabs+%2F%3E%0A++++%3C%2FNavigationContainer%3E%0A++%29%3B%0A%7D%0A&amp;dependencies=%40react-navigation%2Fbottom-tabs%407.4.5%2C%40react-navigation%2Fnative%407.1.17%2Creact%40*%2Creact-native%40*%2Creact-native-safe-area-context%40*%2Creact-native-screens%40*%2C%40react-navigation%2Felements%402.6.2%2C%40react-native-masked-view%2Fmasked-view%40*&amp;platform=web&amp;supportedPlatforms=ios%2Candroid%2Cweb&amp;preview=true&amp;hideQueryParams=true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4426bd2b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e4426bd2b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https://snack.expo.dev/?name=Drawer+Navigator&amp;code=import+*+as+React+from+%27react%27%3B%0Aimport+%7B+Text%2C+View+%7D+from+%27react-native%27%3B%0Aimport+%7B+NavigationContainer%2C+useNavigation+%7D+from+%27%40react-navigation%2Fnative%27%3B%0Aimport+%7B+Button+%7D+from+%27%40react-navigation%2Felements%27%3B%0Aimport+%7B+createDrawerNavigator+%7D+from+%27%40react-navigation%2Fdrawer%27%3B%0A%0Aconst+Drawer+%3D+createDrawerNavigator%28%29%3B%0A%0Afunction+MyDrawer%28%29+%7B%0A++return+%28%0A++++%3CDrawer.Navigator%3E%0A++++++%3CDrawer.Screen+name%3D%22Home%22+component%3D%7BHomeScreen%7D+%2F%3E%0A++++++%3CDrawer.Screen+name%3D%22Profile%22+component%3D%7BProfileScreen%7D+%2F%3E%0A++++%3C%2FDrawer.Navigator%3E%0A++%29%3B%0A%7D%0A%0Afunction+HomeScreen%28%29+%7B%0A++const+navigation+%3D+useNavigation%28%29%3B%0A%0A++return+%28%0A++++%3CView+style%3D%7B%7B+flex%3A+1%2C+alignItems%3A+%27center%27%2C+justifyContent%3A+%27center%27+%7D%7D%3E%0A++++++%3CText%3EHome+Screen%3C%2FText%3E%0A++++++%3CButton+onPress%3D%7B%28%29+%3D%3E+navigation.navigate%28%27Profile%27%29%7D%3E%0A++++++++Go+to+Profile%0A++++++%3C%2FButton%3E%0A++++%3C%2FView%3E%0A++%29%3B%0A%7D%0A%0Afunction+ProfileScreen%28%29+%7B%0A++const+navigation+%3D+useNavigation%28%29%3B%0A%0A++return+%28%0A++++%3CView+style%3D%7B%7B+flex%3A+1%2C+alignItems%3A+%27center%27%2C+justifyContent%3A+%27center%27+%7D%7D%3E%0A++++++%3CText%3EProfile+Screen%3C%2FText%3E%0A++++++%3CButton+onPress%3D%7B%28%29+%3D%3E+navigation.navigate%28%27Home%27%29%7D%3EGo+to+Home%3C%2FButton%3E%0A++++%3C%2FView%3E%0A++%29%3B%0A%7D%0A%0Aexport+default+function+App%28%29+%7B%0A++return+%28%0A++++%3CNavigationContainer%3E%0A++++++%3CMyDrawer+%2F%3E%0A++++%3C%2FNavigationContainer%3E%0A++%29%3B%0A%7D%0A&amp;dependencies=%40react-navigation%2Fdrawer%407.5.6%2C%40react-navigation%2Fnative%407.1.17%2Creact%40*%2Creact-native%40*%2Creact-native-gesture-handler%40*%2Creact-native-reanimated%40*%2Creact-native-safe-area-context%40*%2Creact-native-screens%40*%2C%40react-navigation%2Felements%402.6.2%2C%40react-native-masked-view%2Fmasked-view%40*&amp;platform=web&amp;supportedPlatforms=ios%2Candroid%2Cweb&amp;preview=true&amp;hideQueryParams=true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4426bd2b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e4426bd2b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4426bd2b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4426bd2b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e4426bd2b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e4426bd2b_0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4426bd2b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e4426bd2b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4426bd2b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4426bd2b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e4426bd2b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e4426bd2b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4426bd2b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4426bd2b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4426bd2b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4426bd2b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e4426bd2b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e4426bd2b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eac2598e56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eac2598e56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ac2598e56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eac2598e56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eac2598e56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eac2598e56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16215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2864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084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944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4426bd2b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e4426bd2b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87111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e4426bd2b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e4426bd2b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2921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7506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ac2598e56_1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ac2598e56_1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1866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14710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58348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59812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5760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7877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3286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200563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ac2598e56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eac2598e56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20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02650" y="1702675"/>
            <a:ext cx="72549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latin typeface="Helvetica Neue"/>
                <a:ea typeface="Helvetica Neue"/>
                <a:cs typeface="Helvetica Neue"/>
                <a:sym typeface="Helvetica Neue"/>
              </a:rPr>
              <a:t>SWE 4637</a:t>
            </a:r>
            <a:r>
              <a:rPr lang="en" sz="2400" dirty="0">
                <a:latin typeface="Helvetica Neue"/>
                <a:ea typeface="Helvetica Neue"/>
                <a:cs typeface="Helvetica Neue"/>
                <a:sym typeface="Helvetica Neue"/>
              </a:rPr>
              <a:t>: Cross-Platform Mobile Development</a:t>
            </a: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36549" y="2119025"/>
            <a:ext cx="6340200" cy="3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rgbClr val="8E8E9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 Native Navigation and Nested Navigation</a:t>
            </a:r>
            <a:endParaRPr sz="1800" dirty="0">
              <a:solidFill>
                <a:srgbClr val="8E8E9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 🗺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Char char="-"/>
            </a:pPr>
            <a:r>
              <a:rPr lang="en" dirty="0"/>
              <a:t>Review of </a:t>
            </a:r>
            <a:r>
              <a:rPr lang="en-IN" dirty="0" err="1"/>
              <a:t>FlatList</a:t>
            </a:r>
            <a:r>
              <a:rPr lang="en-IN" dirty="0"/>
              <a:t>, </a:t>
            </a:r>
            <a:r>
              <a:rPr lang="en-IN" dirty="0" err="1"/>
              <a:t>TextInput</a:t>
            </a:r>
            <a:r>
              <a:rPr lang="en-IN" dirty="0"/>
              <a:t> and </a:t>
            </a:r>
            <a:r>
              <a:rPr lang="en" dirty="0"/>
              <a:t>ScrollView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dirty="0"/>
              <a:t>Learn about n</a:t>
            </a:r>
            <a:r>
              <a:rPr lang="en-IN" dirty="0"/>
              <a:t>avigation</a:t>
            </a:r>
            <a:r>
              <a:rPr lang="en" dirty="0"/>
              <a:t>!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 dirty="0"/>
              <a:t>Stack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 dirty="0"/>
              <a:t>Tab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IN" dirty="0"/>
              <a:t>Drawer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8" name="Google Shape;168;p27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" name="Google Shape;169;p27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7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E4C7A7-0C15-4844-9BE7-9149A267AC3E}"/>
              </a:ext>
            </a:extLst>
          </p:cNvPr>
          <p:cNvSpPr/>
          <p:nvPr/>
        </p:nvSpPr>
        <p:spPr>
          <a:xfrm>
            <a:off x="434412" y="237370"/>
            <a:ext cx="395973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500" dirty="0"/>
              <a:t>What is React Navigation?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8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8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4" name="Google Shape;184;p28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85" name="Google Shape;185;p28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8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/>
          <p:nvPr/>
        </p:nvSpPr>
        <p:spPr>
          <a:xfrm>
            <a:off x="3538175" y="719150"/>
            <a:ext cx="4376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9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9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" name="Google Shape;201;p29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2" name="Google Shape;202;p29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9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9"/>
          <p:cNvSpPr/>
          <p:nvPr/>
        </p:nvSpPr>
        <p:spPr>
          <a:xfrm>
            <a:off x="3538175" y="719150"/>
            <a:ext cx="4376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1490272" y="766725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9"/>
          <p:cNvSpPr/>
          <p:nvPr/>
        </p:nvSpPr>
        <p:spPr>
          <a:xfrm>
            <a:off x="1616025" y="1014825"/>
            <a:ext cx="137400" cy="825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0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0" name="Google Shape;220;p30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21" name="Google Shape;221;p30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0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/>
          <p:nvPr/>
        </p:nvSpPr>
        <p:spPr>
          <a:xfrm>
            <a:off x="3538175" y="719150"/>
            <a:ext cx="4376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1490272" y="766725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CACA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1490270" y="478575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1616025" y="786225"/>
            <a:ext cx="137400" cy="825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1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1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1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31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41" name="Google Shape;241;p31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1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1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742625" y="79480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5635775" y="86295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8" name="Google Shape;258;p32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59" name="Google Shape;259;p32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/>
          <p:nvPr/>
        </p:nvSpPr>
        <p:spPr>
          <a:xfrm>
            <a:off x="742625" y="79480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5635775" y="86295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3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33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6" name="Google Shape;276;p33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77" name="Google Shape;277;p33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3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33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0" name="Google Shape;2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742625" y="794800"/>
            <a:ext cx="49029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34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4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4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3" name="Google Shape;293;p34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94" name="Google Shape;294;p34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4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4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4"/>
          <p:cNvSpPr/>
          <p:nvPr/>
        </p:nvSpPr>
        <p:spPr>
          <a:xfrm>
            <a:off x="6463825" y="1509925"/>
            <a:ext cx="536400" cy="196200"/>
          </a:xfrm>
          <a:prstGeom prst="roundRect">
            <a:avLst>
              <a:gd name="adj" fmla="val 16667"/>
            </a:avLst>
          </a:prstGeom>
          <a:solidFill>
            <a:srgbClr val="CECEC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9" name="Google Shape;2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4"/>
          <p:cNvSpPr/>
          <p:nvPr/>
        </p:nvSpPr>
        <p:spPr>
          <a:xfrm>
            <a:off x="742625" y="794800"/>
            <a:ext cx="49029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5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5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35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1" name="Google Shape;311;p35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12" name="Google Shape;312;p35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35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"/>
          <p:cNvSpPr/>
          <p:nvPr/>
        </p:nvSpPr>
        <p:spPr>
          <a:xfrm>
            <a:off x="742625" y="794800"/>
            <a:ext cx="49029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/>
        </p:nvSpPr>
        <p:spPr>
          <a:xfrm>
            <a:off x="1504025" y="3758486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6"/>
          <p:cNvSpPr txBox="1"/>
          <p:nvPr/>
        </p:nvSpPr>
        <p:spPr>
          <a:xfrm>
            <a:off x="3956550" y="3758486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6"/>
          <p:cNvSpPr txBox="1"/>
          <p:nvPr/>
        </p:nvSpPr>
        <p:spPr>
          <a:xfrm>
            <a:off x="6409075" y="3758486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36"/>
          <p:cNvSpPr/>
          <p:nvPr/>
        </p:nvSpPr>
        <p:spPr>
          <a:xfrm>
            <a:off x="1483475" y="1179861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6"/>
          <p:cNvSpPr/>
          <p:nvPr/>
        </p:nvSpPr>
        <p:spPr>
          <a:xfrm>
            <a:off x="3936000" y="1179861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6"/>
          <p:cNvSpPr/>
          <p:nvPr/>
        </p:nvSpPr>
        <p:spPr>
          <a:xfrm>
            <a:off x="6367975" y="1179861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5" name="Google Shape;325;p36"/>
          <p:cNvCxnSpPr/>
          <p:nvPr/>
        </p:nvCxnSpPr>
        <p:spPr>
          <a:xfrm>
            <a:off x="4064000" y="3332161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326" name="Google Shape;326;p36"/>
          <p:cNvSpPr/>
          <p:nvPr/>
        </p:nvSpPr>
        <p:spPr>
          <a:xfrm>
            <a:off x="4277150" y="3414661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36"/>
          <p:cNvSpPr/>
          <p:nvPr/>
        </p:nvSpPr>
        <p:spPr>
          <a:xfrm>
            <a:off x="4738975" y="3414661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36"/>
          <p:cNvSpPr/>
          <p:nvPr/>
        </p:nvSpPr>
        <p:spPr>
          <a:xfrm>
            <a:off x="6367975" y="1179861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9" name="Google Shape;32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454912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703587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6"/>
          <p:cNvSpPr txBox="1"/>
          <p:nvPr/>
        </p:nvSpPr>
        <p:spPr>
          <a:xfrm>
            <a:off x="1483475" y="349175"/>
            <a:ext cx="6156600" cy="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Live Demo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What is React Navigation?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 </a:t>
            </a: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endParaRPr dirty="0"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00536" cy="1909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🎯 Purpose</a:t>
            </a:r>
          </a:p>
          <a:p>
            <a:pPr marL="114300" indent="0" algn="just">
              <a:buNone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The most popular navigation library for React Native apps, providing smooth transitions between screens.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endParaRPr dirty="0"/>
          </a:p>
        </p:txBody>
      </p:sp>
      <p:sp>
        <p:nvSpPr>
          <p:cNvPr id="4" name="Google Shape;81;p17">
            <a:extLst>
              <a:ext uri="{FF2B5EF4-FFF2-40B4-BE49-F238E27FC236}">
                <a16:creationId xmlns:a16="http://schemas.microsoft.com/office/drawing/2014/main" id="{F68ECF70-6100-4FBB-AF60-38E5069676F0}"/>
              </a:ext>
            </a:extLst>
          </p:cNvPr>
          <p:cNvSpPr txBox="1">
            <a:spLocks/>
          </p:cNvSpPr>
          <p:nvPr/>
        </p:nvSpPr>
        <p:spPr>
          <a:xfrm>
            <a:off x="4503950" y="1080022"/>
            <a:ext cx="3900536" cy="190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⚡ Performance</a:t>
            </a:r>
          </a:p>
          <a:p>
            <a:pPr marL="114300" indent="0" algn="just">
              <a:buNone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Optimized for 60fps animations and gesture-based navigation on both iOS and Android.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5" name="Google Shape;81;p17">
            <a:extLst>
              <a:ext uri="{FF2B5EF4-FFF2-40B4-BE49-F238E27FC236}">
                <a16:creationId xmlns:a16="http://schemas.microsoft.com/office/drawing/2014/main" id="{71EEC4BC-ED74-4D31-BC7B-27088D4827E2}"/>
              </a:ext>
            </a:extLst>
          </p:cNvPr>
          <p:cNvSpPr txBox="1">
            <a:spLocks/>
          </p:cNvSpPr>
          <p:nvPr/>
        </p:nvSpPr>
        <p:spPr>
          <a:xfrm>
            <a:off x="311700" y="3196297"/>
            <a:ext cx="3900536" cy="190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🛠️ Customizable</a:t>
            </a:r>
          </a:p>
          <a:p>
            <a:pPr marL="114300" indent="0" algn="just">
              <a:buNone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Highly customizable with support for custom transitions, headers, and navigation patterns.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6" name="Google Shape;81;p17">
            <a:extLst>
              <a:ext uri="{FF2B5EF4-FFF2-40B4-BE49-F238E27FC236}">
                <a16:creationId xmlns:a16="http://schemas.microsoft.com/office/drawing/2014/main" id="{37566E80-A0FC-459C-B614-93550018362C}"/>
              </a:ext>
            </a:extLst>
          </p:cNvPr>
          <p:cNvSpPr txBox="1">
            <a:spLocks/>
          </p:cNvSpPr>
          <p:nvPr/>
        </p:nvSpPr>
        <p:spPr>
          <a:xfrm>
            <a:off x="4572000" y="3196297"/>
            <a:ext cx="3900536" cy="190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📦 Modular</a:t>
            </a:r>
          </a:p>
          <a:p>
            <a:pPr marL="114300" indent="0" algn="just">
              <a:buNone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Different navigators for different use cases - Stack, Tab, Drawer, and more.</a:t>
            </a:r>
          </a:p>
          <a:p>
            <a:pPr>
              <a:buFont typeface="Arial"/>
              <a:buChar char="-"/>
            </a:pP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230420" y="2011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⚙️ Installation &amp; Setup</a:t>
            </a:r>
          </a:p>
        </p:txBody>
      </p:sp>
      <p:sp>
        <p:nvSpPr>
          <p:cNvPr id="88" name="Google Shape;88;p18"/>
          <p:cNvSpPr txBox="1"/>
          <p:nvPr/>
        </p:nvSpPr>
        <p:spPr>
          <a:xfrm>
            <a:off x="464106" y="773885"/>
            <a:ext cx="5585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>
                <a:solidFill>
                  <a:srgbClr val="764BA2"/>
                </a:solidFill>
                <a:latin typeface="Segoe UI" panose="020B0502040204020203" pitchFamily="34" charset="0"/>
              </a:rPr>
              <a:t>1. Install Core Package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3F7B8-22C5-49E6-878A-7E8B4E07701F}"/>
              </a:ext>
            </a:extLst>
          </p:cNvPr>
          <p:cNvSpPr/>
          <p:nvPr/>
        </p:nvSpPr>
        <p:spPr>
          <a:xfrm>
            <a:off x="601459" y="1345415"/>
            <a:ext cx="8092835" cy="3960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68D391"/>
                </a:solidFill>
                <a:latin typeface="Courier New" panose="02070309020205020404" pitchFamily="49" charset="0"/>
              </a:rPr>
              <a:t>npm</a:t>
            </a:r>
            <a:r>
              <a:rPr lang="en-IN" dirty="0">
                <a:solidFill>
                  <a:srgbClr val="68D391"/>
                </a:solidFill>
                <a:latin typeface="Courier New" panose="02070309020205020404" pitchFamily="49" charset="0"/>
              </a:rPr>
              <a:t> install @react-navigation/native</a:t>
            </a:r>
          </a:p>
        </p:txBody>
      </p:sp>
      <p:sp>
        <p:nvSpPr>
          <p:cNvPr id="7" name="Google Shape;88;p18">
            <a:extLst>
              <a:ext uri="{FF2B5EF4-FFF2-40B4-BE49-F238E27FC236}">
                <a16:creationId xmlns:a16="http://schemas.microsoft.com/office/drawing/2014/main" id="{8E4033D7-EC22-45F4-8575-BA4A5EA604C9}"/>
              </a:ext>
            </a:extLst>
          </p:cNvPr>
          <p:cNvSpPr txBox="1"/>
          <p:nvPr/>
        </p:nvSpPr>
        <p:spPr>
          <a:xfrm>
            <a:off x="449706" y="1683288"/>
            <a:ext cx="5585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>
                <a:solidFill>
                  <a:srgbClr val="764BA2"/>
                </a:solidFill>
                <a:latin typeface="Segoe UI" panose="020B0502040204020203" pitchFamily="34" charset="0"/>
              </a:rPr>
              <a:t>2. Install Dependencies</a:t>
            </a:r>
          </a:p>
          <a:p>
            <a:endParaRPr lang="en-IN" sz="1800" b="1" dirty="0">
              <a:solidFill>
                <a:srgbClr val="764BA2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E810BA-DBD0-4B5E-AE56-AF2BF3689DCA}"/>
              </a:ext>
            </a:extLst>
          </p:cNvPr>
          <p:cNvSpPr/>
          <p:nvPr/>
        </p:nvSpPr>
        <p:spPr>
          <a:xfrm>
            <a:off x="587059" y="2254818"/>
            <a:ext cx="8092835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68D391"/>
                </a:solidFill>
                <a:latin typeface="Courier New" panose="02070309020205020404" pitchFamily="49" charset="0"/>
              </a:rPr>
              <a:t>npm</a:t>
            </a:r>
            <a:r>
              <a:rPr lang="en-IN" dirty="0">
                <a:solidFill>
                  <a:srgbClr val="68D391"/>
                </a:solidFill>
                <a:latin typeface="Courier New" panose="02070309020205020404" pitchFamily="49" charset="0"/>
              </a:rPr>
              <a:t> install react-native-screens react-native-safe-area-context</a:t>
            </a:r>
          </a:p>
        </p:txBody>
      </p:sp>
      <p:sp>
        <p:nvSpPr>
          <p:cNvPr id="9" name="Google Shape;88;p18">
            <a:extLst>
              <a:ext uri="{FF2B5EF4-FFF2-40B4-BE49-F238E27FC236}">
                <a16:creationId xmlns:a16="http://schemas.microsoft.com/office/drawing/2014/main" id="{C00796CA-B130-46EC-A565-956F9FA7CF29}"/>
              </a:ext>
            </a:extLst>
          </p:cNvPr>
          <p:cNvSpPr txBox="1"/>
          <p:nvPr/>
        </p:nvSpPr>
        <p:spPr>
          <a:xfrm>
            <a:off x="391654" y="2562595"/>
            <a:ext cx="5585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>
                <a:solidFill>
                  <a:srgbClr val="764BA2"/>
                </a:solidFill>
                <a:latin typeface="Segoe UI" panose="020B0502040204020203" pitchFamily="34" charset="0"/>
              </a:rPr>
              <a:t>3. Install Navigation Types</a:t>
            </a:r>
          </a:p>
          <a:p>
            <a:endParaRPr lang="en-IN" sz="1800" b="1" dirty="0">
              <a:solidFill>
                <a:srgbClr val="764BA2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F0ED87-96CF-4BE7-B63E-1084F011F239}"/>
              </a:ext>
            </a:extLst>
          </p:cNvPr>
          <p:cNvSpPr/>
          <p:nvPr/>
        </p:nvSpPr>
        <p:spPr>
          <a:xfrm>
            <a:off x="529007" y="3134125"/>
            <a:ext cx="8367655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68D391"/>
                </a:solidFill>
                <a:latin typeface="Courier New" panose="02070309020205020404" pitchFamily="49" charset="0"/>
              </a:rPr>
              <a:t>npm</a:t>
            </a:r>
            <a:r>
              <a:rPr lang="en-IN" dirty="0">
                <a:solidFill>
                  <a:srgbClr val="68D391"/>
                </a:solidFill>
                <a:latin typeface="Courier New" panose="02070309020205020404" pitchFamily="49" charset="0"/>
              </a:rPr>
              <a:t> install @react-navigation/stack @react-navigation/bottom-tabs @react-navigation/drawer</a:t>
            </a:r>
          </a:p>
        </p:txBody>
      </p:sp>
      <p:sp>
        <p:nvSpPr>
          <p:cNvPr id="11" name="Google Shape;88;p18">
            <a:extLst>
              <a:ext uri="{FF2B5EF4-FFF2-40B4-BE49-F238E27FC236}">
                <a16:creationId xmlns:a16="http://schemas.microsoft.com/office/drawing/2014/main" id="{3CA46470-10CC-45D0-9398-37D4F536C396}"/>
              </a:ext>
            </a:extLst>
          </p:cNvPr>
          <p:cNvSpPr txBox="1"/>
          <p:nvPr/>
        </p:nvSpPr>
        <p:spPr>
          <a:xfrm>
            <a:off x="384805" y="3640020"/>
            <a:ext cx="55854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IN" sz="1800" b="1" dirty="0">
                <a:solidFill>
                  <a:srgbClr val="764BA2"/>
                </a:solidFill>
                <a:latin typeface="Segoe UI" panose="020B0502040204020203" pitchFamily="34" charset="0"/>
              </a:rPr>
              <a:t>4. Additional Dependencies</a:t>
            </a:r>
          </a:p>
          <a:p>
            <a:endParaRPr lang="en-IN" sz="1800" b="1" dirty="0">
              <a:solidFill>
                <a:srgbClr val="764BA2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BF4666-A8F8-4720-88D6-92378FDCEC0B}"/>
              </a:ext>
            </a:extLst>
          </p:cNvPr>
          <p:cNvSpPr/>
          <p:nvPr/>
        </p:nvSpPr>
        <p:spPr>
          <a:xfrm>
            <a:off x="522158" y="4211550"/>
            <a:ext cx="8092835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dirty="0" err="1">
                <a:solidFill>
                  <a:srgbClr val="68D391"/>
                </a:solidFill>
                <a:latin typeface="Courier New" panose="02070309020205020404" pitchFamily="49" charset="0"/>
              </a:rPr>
              <a:t>npm</a:t>
            </a:r>
            <a:r>
              <a:rPr lang="en-IN" dirty="0">
                <a:solidFill>
                  <a:srgbClr val="68D391"/>
                </a:solidFill>
                <a:latin typeface="Courier New" panose="02070309020205020404" pitchFamily="49" charset="0"/>
              </a:rPr>
              <a:t> install react-native-gesture-handler react-native-reanimated</a:t>
            </a:r>
          </a:p>
          <a:p>
            <a:endParaRPr lang="en-IN" dirty="0">
              <a:solidFill>
                <a:srgbClr val="68D391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311700" y="18617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🏗️ Basic App Structure</a:t>
            </a:r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311700" y="758877"/>
            <a:ext cx="8520600" cy="3232148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React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"react"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NavigationContainer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"@react-navigation/native"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createStackNavigator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"@react-navigation/stack"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Stack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createStackNavigator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NavigationContainer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Stack.Navigator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Stack.Screen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Stack.Screen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"Details"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DetailsScreen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Stack.Navigator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NavigationContainer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export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default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App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Google Shape;81;p17">
            <a:extLst>
              <a:ext uri="{FF2B5EF4-FFF2-40B4-BE49-F238E27FC236}">
                <a16:creationId xmlns:a16="http://schemas.microsoft.com/office/drawing/2014/main" id="{71C2F426-6E07-411E-B16B-9C8270F5146C}"/>
              </a:ext>
            </a:extLst>
          </p:cNvPr>
          <p:cNvSpPr txBox="1">
            <a:spLocks/>
          </p:cNvSpPr>
          <p:nvPr/>
        </p:nvSpPr>
        <p:spPr>
          <a:xfrm>
            <a:off x="386651" y="3991026"/>
            <a:ext cx="3840575" cy="109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 err="1">
                <a:solidFill>
                  <a:srgbClr val="764BA2"/>
                </a:solidFill>
                <a:latin typeface="Segoe UI" panose="020B0502040204020203" pitchFamily="34" charset="0"/>
              </a:rPr>
              <a:t>NavigationContainer</a:t>
            </a:r>
            <a:endParaRPr lang="en-IN" b="1" dirty="0">
              <a:solidFill>
                <a:srgbClr val="764BA2"/>
              </a:solidFill>
              <a:latin typeface="Segoe UI" panose="020B0502040204020203" pitchFamily="34" charset="0"/>
            </a:endParaRPr>
          </a:p>
          <a:p>
            <a:pPr marL="114300" indent="0" algn="just">
              <a:buNone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Wraps your entire app and manages navigation state</a:t>
            </a:r>
          </a:p>
        </p:txBody>
      </p:sp>
      <p:sp>
        <p:nvSpPr>
          <p:cNvPr id="5" name="Google Shape;81;p17">
            <a:extLst>
              <a:ext uri="{FF2B5EF4-FFF2-40B4-BE49-F238E27FC236}">
                <a16:creationId xmlns:a16="http://schemas.microsoft.com/office/drawing/2014/main" id="{12582F0A-04AA-45F9-B932-9962BDD4C770}"/>
              </a:ext>
            </a:extLst>
          </p:cNvPr>
          <p:cNvSpPr txBox="1">
            <a:spLocks/>
          </p:cNvSpPr>
          <p:nvPr/>
        </p:nvSpPr>
        <p:spPr>
          <a:xfrm>
            <a:off x="4743792" y="4045364"/>
            <a:ext cx="3840575" cy="1098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Navigator</a:t>
            </a:r>
          </a:p>
          <a:p>
            <a:pPr marL="114300" indent="0">
              <a:buNone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Defines the navigation structure (Stack, Tab, Drawer)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📚 Stack Navigation 1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425475" y="1375452"/>
            <a:ext cx="7024636" cy="34164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25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createStackNavigator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500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"@react-navigation/stack"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2500" dirty="0">
                <a:solidFill>
                  <a:srgbClr val="C8C8C8"/>
                </a:solidFill>
                <a:latin typeface="Consolas" panose="020B0609020204030204" pitchFamily="49" charset="0"/>
              </a:rPr>
              <a:t>Button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2500" dirty="0">
                <a:solidFill>
                  <a:srgbClr val="C8C8C8"/>
                </a:solidFill>
                <a:latin typeface="Consolas" panose="020B0609020204030204" pitchFamily="49" charset="0"/>
              </a:rPr>
              <a:t>View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2500" dirty="0">
                <a:solidFill>
                  <a:srgbClr val="C8C8C8"/>
                </a:solidFill>
                <a:latin typeface="Consolas" panose="020B0609020204030204" pitchFamily="49" charset="0"/>
              </a:rPr>
              <a:t>Text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500" dirty="0">
                <a:solidFill>
                  <a:srgbClr val="CE9178"/>
                </a:solidFill>
                <a:latin typeface="Consolas" panose="020B0609020204030204" pitchFamily="49" charset="0"/>
              </a:rPr>
              <a:t>"react-native"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500" dirty="0">
                <a:solidFill>
                  <a:srgbClr val="C8C8C8"/>
                </a:solidFill>
                <a:latin typeface="Consolas" panose="020B0609020204030204" pitchFamily="49" charset="0"/>
              </a:rPr>
              <a:t>Stack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25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createStackNavigator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5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2500" dirty="0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&gt;</a:t>
            </a: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Home Screen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500" dirty="0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500" dirty="0">
                <a:solidFill>
                  <a:srgbClr val="CE9178"/>
                </a:solidFill>
                <a:latin typeface="Consolas" panose="020B0609020204030204" pitchFamily="49" charset="0"/>
              </a:rPr>
              <a:t>"Go to Details"</a:t>
            </a:r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2500" dirty="0" err="1">
                <a:solidFill>
                  <a:srgbClr val="9CDCFE"/>
                </a:solidFill>
                <a:latin typeface="Consolas" panose="020B0609020204030204" pitchFamily="49" charset="0"/>
              </a:rPr>
              <a:t>onPress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500" dirty="0" err="1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sz="25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500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navigate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2500" dirty="0">
                <a:solidFill>
                  <a:srgbClr val="CE9178"/>
                </a:solidFill>
                <a:latin typeface="Consolas" panose="020B0609020204030204" pitchFamily="49" charset="0"/>
              </a:rPr>
              <a:t>"Details"</a:t>
            </a:r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500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sz="25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5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5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241DA7-8BD8-4D20-A82B-DD42A9C3AFA1}"/>
              </a:ext>
            </a:extLst>
          </p:cNvPr>
          <p:cNvSpPr/>
          <p:nvPr/>
        </p:nvSpPr>
        <p:spPr>
          <a:xfrm>
            <a:off x="311700" y="802752"/>
            <a:ext cx="852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Stack navigation provides a way to transition between screens where each new screen is placed on top of a stack.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📚 Stack Navigation 2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425474" y="1375452"/>
            <a:ext cx="8406825" cy="3416400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800" dirty="0" err="1">
                <a:solidFill>
                  <a:srgbClr val="C8C8C8"/>
                </a:solidFill>
                <a:latin typeface="Consolas" panose="020B0609020204030204" pitchFamily="49" charset="0"/>
              </a:rPr>
              <a:t>DetailsScreen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2800" dirty="0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9CDCFE"/>
                </a:solidFill>
                <a:latin typeface="Consolas" panose="020B0609020204030204" pitchFamily="49" charset="0"/>
              </a:rPr>
              <a:t>&gt;</a:t>
            </a:r>
            <a:endParaRPr lang="en-IN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Details Screen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IN" sz="2800" dirty="0">
                <a:solidFill>
                  <a:srgbClr val="9CDCFE"/>
                </a:solidFill>
                <a:latin typeface="Consolas" panose="020B0609020204030204" pitchFamily="49" charset="0"/>
              </a:rPr>
              <a:t>           title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800" dirty="0">
                <a:solidFill>
                  <a:srgbClr val="CE9178"/>
                </a:solidFill>
                <a:latin typeface="Consolas" panose="020B0609020204030204" pitchFamily="49" charset="0"/>
              </a:rPr>
              <a:t>"Go back"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800" dirty="0" err="1">
                <a:solidFill>
                  <a:srgbClr val="9CDCFE"/>
                </a:solidFill>
                <a:latin typeface="Consolas" panose="020B0609020204030204" pitchFamily="49" charset="0"/>
              </a:rPr>
              <a:t>onPress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          </a:t>
            </a:r>
            <a:r>
              <a:rPr lang="en-IN" sz="2800" dirty="0" err="1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sz="28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2800" dirty="0" err="1">
                <a:solidFill>
                  <a:srgbClr val="C8C8C8"/>
                </a:solidFill>
                <a:latin typeface="Consolas" panose="020B0609020204030204" pitchFamily="49" charset="0"/>
              </a:rPr>
              <a:t>goBack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2800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sz="2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28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241DA7-8BD8-4D20-A82B-DD42A9C3AFA1}"/>
              </a:ext>
            </a:extLst>
          </p:cNvPr>
          <p:cNvSpPr/>
          <p:nvPr/>
        </p:nvSpPr>
        <p:spPr>
          <a:xfrm>
            <a:off x="311700" y="802752"/>
            <a:ext cx="852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Stack navigation provides a way to transition between screens where each new screen is placed on top of a stack.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849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📚 Stack Navigation 3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425474" y="1375452"/>
            <a:ext cx="3614375" cy="20572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✅ Best For</a:t>
            </a:r>
          </a:p>
          <a:p>
            <a:r>
              <a:rPr lang="en-IN" dirty="0"/>
              <a:t>Linear navigation flow</a:t>
            </a:r>
          </a:p>
          <a:p>
            <a:r>
              <a:rPr lang="en-IN" dirty="0"/>
              <a:t>Detail views</a:t>
            </a:r>
          </a:p>
          <a:p>
            <a:r>
              <a:rPr lang="en-IN" dirty="0"/>
              <a:t>Form wizards</a:t>
            </a:r>
          </a:p>
          <a:p>
            <a:r>
              <a:rPr lang="en-IN" dirty="0"/>
              <a:t>Settings screens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Google Shape;100;p20">
            <a:extLst>
              <a:ext uri="{FF2B5EF4-FFF2-40B4-BE49-F238E27FC236}">
                <a16:creationId xmlns:a16="http://schemas.microsoft.com/office/drawing/2014/main" id="{4C304AAE-9507-45B4-A6F6-3A60AA9EE0C0}"/>
              </a:ext>
            </a:extLst>
          </p:cNvPr>
          <p:cNvSpPr txBox="1">
            <a:spLocks/>
          </p:cNvSpPr>
          <p:nvPr/>
        </p:nvSpPr>
        <p:spPr>
          <a:xfrm>
            <a:off x="4572000" y="1359317"/>
            <a:ext cx="4260300" cy="2057296"/>
          </a:xfrm>
          <a:prstGeom prst="rect">
            <a:avLst/>
          </a:prstGeom>
          <a:solidFill>
            <a:srgbClr val="FBCDBF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⚠️ Considerations</a:t>
            </a:r>
          </a:p>
          <a:p>
            <a:r>
              <a:rPr lang="en-IN" dirty="0"/>
              <a:t>Can create deep navigation stacks</a:t>
            </a:r>
          </a:p>
          <a:p>
            <a:r>
              <a:rPr lang="en-IN" dirty="0"/>
              <a:t>Memory usage increases with stack depth</a:t>
            </a:r>
          </a:p>
          <a:p>
            <a:r>
              <a:rPr lang="en-IN" dirty="0"/>
              <a:t>Back button </a:t>
            </a:r>
            <a:r>
              <a:rPr lang="en-IN" dirty="0" err="1"/>
              <a:t>behavior</a:t>
            </a:r>
            <a:r>
              <a:rPr lang="en-IN" dirty="0"/>
              <a:t> needs consideration</a:t>
            </a:r>
          </a:p>
          <a:p>
            <a:pPr marL="114300" indent="0">
              <a:buFont typeface="Arial"/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995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📚 Stack Navigation - Advanced Features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r>
              <a:rPr lang="en-IN" sz="2200" b="1" dirty="0">
                <a:solidFill>
                  <a:srgbClr val="764BA2"/>
                </a:solidFill>
                <a:latin typeface="Segoe UI" panose="020B0502040204020203" pitchFamily="34" charset="0"/>
              </a:rPr>
              <a:t>Passing Parameters</a:t>
            </a: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675255"/>
            <a:ext cx="7130916" cy="3069132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Navigate with parameters .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"Details"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itemId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86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otherParam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"anything you want here"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});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Access parameters in target screen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DetailsScreen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itemId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otherParam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 = </a:t>
            </a:r>
            <a:r>
              <a:rPr lang="en-IN" dirty="0" err="1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params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Details Screen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Item ID: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itemId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689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📚 Stack Navigation - Advanced Features 2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r>
              <a:rPr lang="en-IN" sz="2200" b="1" dirty="0">
                <a:solidFill>
                  <a:srgbClr val="764BA2"/>
                </a:solidFill>
                <a:latin typeface="Segoe UI" panose="020B0502040204020203" pitchFamily="34" charset="0"/>
              </a:rPr>
              <a:t>Custom Header Configuration</a:t>
            </a: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675255"/>
            <a:ext cx="7130916" cy="3069132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Stack.Screen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options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title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"My Home"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headerStyle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{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backgroundColor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"#f4511e"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headerTintColor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"#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fff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headerTitleStyle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{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fontWeight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"bold"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}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70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🗂️ Tab Navigation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0C189-1B7E-4BC7-9425-3FA2A4B7CADA}"/>
              </a:ext>
            </a:extLst>
          </p:cNvPr>
          <p:cNvSpPr/>
          <p:nvPr/>
        </p:nvSpPr>
        <p:spPr>
          <a:xfrm>
            <a:off x="479685" y="660346"/>
            <a:ext cx="7075357" cy="470898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createBottomTabNavigator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"@react-navigation/bottom-tabs"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Ionicons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"react-native-vector-icons/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Ionicons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8C8C8"/>
                </a:solidFill>
                <a:latin typeface="Consolas" panose="020B0609020204030204" pitchFamily="49" charset="0"/>
              </a:rPr>
              <a:t>Tab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createBottomTabNavigator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MyTabs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Tab.Navigator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screenOptions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})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tabBarIcon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({ 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focused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})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iconName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12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iconName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focused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?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"home-outline"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}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else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if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1200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"Settings"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iconName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focused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?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"settings"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"settings-outline"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}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Ionicons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iconName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size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},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DADADA"/>
                </a:solidFill>
                <a:latin typeface="Consolas" panose="020B0609020204030204" pitchFamily="49" charset="0"/>
              </a:rPr>
              <a:t>tabBarActiveTintColor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"tomato"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 err="1">
                <a:solidFill>
                  <a:srgbClr val="DADADA"/>
                </a:solidFill>
                <a:latin typeface="Consolas" panose="020B0609020204030204" pitchFamily="49" charset="0"/>
              </a:rPr>
              <a:t>tabBarInactiveTintColor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gray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})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"Settings"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SettingsScreen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1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1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31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D6C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1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0" name="Google Shape;240;p31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41" name="Google Shape;241;p31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1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1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4" name="Google Shape;24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742625" y="79480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5635775" y="86295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513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>
            <a:off x="150402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Stack 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3956550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Tab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2"/>
          <p:cNvSpPr txBox="1"/>
          <p:nvPr/>
        </p:nvSpPr>
        <p:spPr>
          <a:xfrm>
            <a:off x="6409075" y="3572825"/>
            <a:ext cx="12309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Drawer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Navigator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14834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2"/>
          <p:cNvSpPr/>
          <p:nvPr/>
        </p:nvSpPr>
        <p:spPr>
          <a:xfrm>
            <a:off x="3936000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6367975" y="994200"/>
            <a:ext cx="1272000" cy="2427300"/>
          </a:xfrm>
          <a:prstGeom prst="roundRect">
            <a:avLst>
              <a:gd name="adj" fmla="val 16667"/>
            </a:avLst>
          </a:prstGeom>
          <a:solidFill>
            <a:srgbClr val="EECC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8" name="Google Shape;258;p32"/>
          <p:cNvCxnSpPr/>
          <p:nvPr/>
        </p:nvCxnSpPr>
        <p:spPr>
          <a:xfrm>
            <a:off x="4064000" y="3146500"/>
            <a:ext cx="10041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59" name="Google Shape;259;p32"/>
          <p:cNvSpPr/>
          <p:nvPr/>
        </p:nvSpPr>
        <p:spPr>
          <a:xfrm>
            <a:off x="4277150" y="3229000"/>
            <a:ext cx="117000" cy="117000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2"/>
          <p:cNvSpPr/>
          <p:nvPr/>
        </p:nvSpPr>
        <p:spPr>
          <a:xfrm>
            <a:off x="4738975" y="3229000"/>
            <a:ext cx="117000" cy="11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2"/>
          <p:cNvSpPr/>
          <p:nvPr/>
        </p:nvSpPr>
        <p:spPr>
          <a:xfrm>
            <a:off x="6367975" y="994200"/>
            <a:ext cx="728400" cy="24273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8525" y="1269250"/>
            <a:ext cx="669676" cy="19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338" y="1517925"/>
            <a:ext cx="669676" cy="19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/>
          <p:nvPr/>
        </p:nvSpPr>
        <p:spPr>
          <a:xfrm>
            <a:off x="742625" y="79480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2"/>
          <p:cNvSpPr/>
          <p:nvPr/>
        </p:nvSpPr>
        <p:spPr>
          <a:xfrm>
            <a:off x="5635775" y="862950"/>
            <a:ext cx="2753700" cy="3417600"/>
          </a:xfrm>
          <a:prstGeom prst="roundRect">
            <a:avLst>
              <a:gd name="adj" fmla="val 16667"/>
            </a:avLst>
          </a:prstGeom>
          <a:solidFill>
            <a:srgbClr val="FFFFFF">
              <a:alpha val="907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311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🗂️ Tab Navigation - Advanced Features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r>
              <a:rPr lang="en-IN" sz="2200" b="1" dirty="0">
                <a:solidFill>
                  <a:srgbClr val="764BA2"/>
                </a:solidFill>
                <a:latin typeface="Segoe UI" panose="020B0502040204020203" pitchFamily="34" charset="0"/>
              </a:rPr>
              <a:t>Custom Tab Bar</a:t>
            </a:r>
            <a:br>
              <a:rPr lang="en-IN" sz="2400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sz="2400" dirty="0"/>
            </a:b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94145" y="1682750"/>
            <a:ext cx="7130916" cy="3069132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MyTabBar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state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descriptors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{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flexDirection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"row"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7F7F7F"/>
                </a:solidFill>
                <a:latin typeface="Consolas" panose="020B0609020204030204" pitchFamily="49" charset="0"/>
              </a:rPr>
              <a:t>state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routes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map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((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index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options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 =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descriptors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key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label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options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tabBarLabel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||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isFocused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7F7F7F"/>
                </a:solidFill>
                <a:latin typeface="Consolas" panose="020B0609020204030204" pitchFamily="49" charset="0"/>
              </a:rPr>
              <a:t>state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index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=== 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index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onPress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= ()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dirty="0" err="1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};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TouchableOpacity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key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7F7F7F"/>
                </a:solidFill>
                <a:latin typeface="Consolas" panose="020B0609020204030204" pitchFamily="49" charset="0"/>
              </a:rPr>
              <a:t>route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key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onPress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onPress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styles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tabItem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  {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backgroundColor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isFocused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?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"#ccc"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"#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fff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},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]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label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TouchableOpacity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  );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  })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Tab.Navigator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9CDCFE"/>
                </a:solidFill>
                <a:latin typeface="Consolas" panose="020B0609020204030204" pitchFamily="49" charset="0"/>
              </a:rPr>
              <a:t>tabBar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7F7F7F"/>
                </a:solidFill>
                <a:latin typeface="Consolas" panose="020B0609020204030204" pitchFamily="49" charset="0"/>
              </a:rPr>
              <a:t>props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MyTabBar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...</a:t>
            </a:r>
            <a:r>
              <a:rPr lang="en-IN" dirty="0">
                <a:solidFill>
                  <a:srgbClr val="C8C8C8"/>
                </a:solidFill>
                <a:latin typeface="Consolas" panose="020B0609020204030204" pitchFamily="49" charset="0"/>
              </a:rPr>
              <a:t>props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&gt;&lt;/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Tab.Navigator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249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🗂️ Tab Navigation - Advanced Features 2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r>
              <a:rPr lang="en-IN" sz="2200" b="1" dirty="0">
                <a:solidFill>
                  <a:srgbClr val="764BA2"/>
                </a:solidFill>
                <a:latin typeface="Segoe UI" panose="020B0502040204020203" pitchFamily="34" charset="0"/>
              </a:rPr>
              <a:t>Badge on Tab</a:t>
            </a:r>
            <a:br>
              <a:rPr lang="en-IN" sz="2400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sz="2400" dirty="0"/>
            </a:br>
            <a:br>
              <a:rPr lang="en-IN" sz="2400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sz="2400" dirty="0"/>
            </a:b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94145" y="1682750"/>
            <a:ext cx="5137225" cy="2319624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569CD6"/>
                </a:solidFill>
                <a:latin typeface="Consolas" panose="020B0609020204030204" pitchFamily="49" charset="0"/>
              </a:rPr>
              <a:t>Tab.Screen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"Messages"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MessagesScreen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dirty="0">
                <a:solidFill>
                  <a:srgbClr val="9CDCFE"/>
                </a:solidFill>
                <a:latin typeface="Consolas" panose="020B0609020204030204" pitchFamily="49" charset="0"/>
              </a:rPr>
              <a:t>options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{ </a:t>
            </a:r>
            <a:r>
              <a:rPr lang="en-IN" dirty="0" err="1">
                <a:solidFill>
                  <a:srgbClr val="DADADA"/>
                </a:solidFill>
                <a:latin typeface="Consolas" panose="020B0609020204030204" pitchFamily="49" charset="0"/>
              </a:rPr>
              <a:t>tabBarBadge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50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</a:t>
            </a:r>
            <a:r>
              <a:rPr lang="en-IN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8492BE-C31C-486D-B0BF-3321E7D99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226" y="1847303"/>
            <a:ext cx="3042407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583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🗄️ Drawer Navigation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0C189-1B7E-4BC7-9425-3FA2A4B7CADA}"/>
              </a:ext>
            </a:extLst>
          </p:cNvPr>
          <p:cNvSpPr/>
          <p:nvPr/>
        </p:nvSpPr>
        <p:spPr>
          <a:xfrm>
            <a:off x="479685" y="660346"/>
            <a:ext cx="7075357" cy="489364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createDrawerNavigator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"@react-navigation/drawer"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8C8C8"/>
                </a:solidFill>
                <a:latin typeface="Consolas" panose="020B0609020204030204" pitchFamily="49" charset="0"/>
              </a:rPr>
              <a:t>Drawer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createDrawerNavigator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MyDrawer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initialRouteName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Drawer.Screen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options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drawerIcon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({ 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})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Ionicons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"home-outline"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</a:rPr>
              <a:t>22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),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}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Drawer.Screen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"Notifications"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NotificationsScreen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options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drawerIcon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({ 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})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Ionicons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"notifications-outline"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</a:rPr>
              <a:t>22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color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  ),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}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8035674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🗄️ Drawer Navigation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0C189-1B7E-4BC7-9425-3FA2A4B7CADA}"/>
              </a:ext>
            </a:extLst>
          </p:cNvPr>
          <p:cNvSpPr/>
          <p:nvPr/>
        </p:nvSpPr>
        <p:spPr>
          <a:xfrm>
            <a:off x="479685" y="660346"/>
            <a:ext cx="7075357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6A9955"/>
                </a:solidFill>
                <a:latin typeface="Consolas" panose="020B0609020204030204" pitchFamily="49" charset="0"/>
              </a:rPr>
              <a:t>// Screen component with drawer toggle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sz="1200" dirty="0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style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{ </a:t>
            </a:r>
            <a:r>
              <a:rPr lang="en-IN" sz="1200" dirty="0">
                <a:solidFill>
                  <a:srgbClr val="DADADA"/>
                </a:solidFill>
                <a:latin typeface="Consolas" panose="020B0609020204030204" pitchFamily="49" charset="0"/>
              </a:rPr>
              <a:t>flex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DADADA"/>
                </a:solidFill>
                <a:latin typeface="Consolas" panose="020B0609020204030204" pitchFamily="49" charset="0"/>
              </a:rPr>
              <a:t>alignItems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center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sz="1200" dirty="0" err="1">
                <a:solidFill>
                  <a:srgbClr val="DADADA"/>
                </a:solidFill>
                <a:latin typeface="Consolas" panose="020B0609020204030204" pitchFamily="49" charset="0"/>
              </a:rPr>
              <a:t>justifyContent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center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Home Screen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Text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Button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title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"Open Drawer"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</a:rPr>
              <a:t>onPress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=&gt;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7F7F7F"/>
                </a:solidFill>
                <a:latin typeface="Consolas" panose="020B0609020204030204" pitchFamily="49" charset="0"/>
              </a:rPr>
              <a:t>navigation</a:t>
            </a:r>
            <a:r>
              <a:rPr lang="en-IN" sz="1200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openDrawer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View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5326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🗄️ Drawer Navigation - Advanced Features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Custom Drawer Content</a:t>
            </a: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0C189-1B7E-4BC7-9425-3FA2A4B7CADA}"/>
              </a:ext>
            </a:extLst>
          </p:cNvPr>
          <p:cNvSpPr/>
          <p:nvPr/>
        </p:nvSpPr>
        <p:spPr>
          <a:xfrm>
            <a:off x="418725" y="1524176"/>
            <a:ext cx="7075357" cy="267765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569CD6"/>
                </a:solidFill>
                <a:latin typeface="Courier New" panose="020703090202050204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{ 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DrawerContentScrollView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DrawerItemList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DrawerItem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} </a:t>
            </a:r>
            <a:r>
              <a:rPr lang="en-IN" sz="1200" dirty="0">
                <a:solidFill>
                  <a:srgbClr val="569CD6"/>
                </a:solidFill>
                <a:latin typeface="Courier New" panose="020703090202050204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'@react-navigation/drawer'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; </a:t>
            </a:r>
            <a:r>
              <a:rPr lang="en-IN" sz="1200" dirty="0">
                <a:solidFill>
                  <a:srgbClr val="569CD6"/>
                </a:solidFill>
                <a:latin typeface="Courier New" panose="020703090202050204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CustomDrawerContent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props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) { </a:t>
            </a:r>
            <a:r>
              <a:rPr lang="en-IN" sz="1200" dirty="0">
                <a:solidFill>
                  <a:srgbClr val="569CD6"/>
                </a:solidFill>
                <a:latin typeface="Courier New" panose="020703090202050204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( &lt;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DrawerContentScrollView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{...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props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}&gt; &lt;</a:t>
            </a:r>
            <a:r>
              <a:rPr lang="en-IN" sz="1200" dirty="0">
                <a:solidFill>
                  <a:srgbClr val="4EC9B0"/>
                </a:solidFill>
                <a:latin typeface="Courier New" panose="02070309020205020404" pitchFamily="49" charset="0"/>
              </a:rPr>
              <a:t>View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style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={{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height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 150,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alignItems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urier New" panose="02070309020205020404" pitchFamily="49" charset="0"/>
              </a:rPr>
              <a:t>center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justifyContent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urier New" panose="02070309020205020404" pitchFamily="49" charset="0"/>
              </a:rPr>
              <a:t>center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backgroundColor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'#f6f6f6'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marginBottom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 20 }}&gt; &lt;</a:t>
            </a:r>
            <a:r>
              <a:rPr lang="en-IN" sz="1200" dirty="0">
                <a:solidFill>
                  <a:srgbClr val="4EC9B0"/>
                </a:solidFill>
                <a:latin typeface="Courier New" panose="02070309020205020404" pitchFamily="49" charset="0"/>
              </a:rPr>
              <a:t>Image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source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={{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uri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'https://example.com/avatar.jpg'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}}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style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={{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width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 80,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height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 80,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borderRadius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 40 }} /&gt; &lt;</a:t>
            </a:r>
            <a:r>
              <a:rPr lang="en-IN" sz="1200" dirty="0">
                <a:solidFill>
                  <a:srgbClr val="4EC9B0"/>
                </a:solidFill>
                <a:latin typeface="Courier New" panose="02070309020205020404" pitchFamily="49" charset="0"/>
              </a:rPr>
              <a:t>Text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style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={{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marginTop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 10,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fontWeight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: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'bold'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}}&gt; John Doe &lt;/</a:t>
            </a:r>
            <a:r>
              <a:rPr lang="en-IN" sz="1200" dirty="0">
                <a:solidFill>
                  <a:srgbClr val="4EC9B0"/>
                </a:solidFill>
                <a:latin typeface="Courier New" panose="02070309020205020404" pitchFamily="49" charset="0"/>
              </a:rPr>
              <a:t>Text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&gt; &lt;/</a:t>
            </a:r>
            <a:r>
              <a:rPr lang="en-IN" sz="1200" dirty="0">
                <a:solidFill>
                  <a:srgbClr val="4EC9B0"/>
                </a:solidFill>
                <a:latin typeface="Courier New" panose="02070309020205020404" pitchFamily="49" charset="0"/>
              </a:rPr>
              <a:t>View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&gt; &lt;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DrawerItemList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{...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props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} /&gt; &lt;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DrawerItem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label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"Logout"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onPress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={() =&gt; { // Handle logout 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Alert</a:t>
            </a:r>
            <a:r>
              <a:rPr lang="en-IN" sz="1200" dirty="0" err="1">
                <a:solidFill>
                  <a:srgbClr val="D4D4D4"/>
                </a:solidFill>
                <a:latin typeface="Courier New" panose="02070309020205020404" pitchFamily="49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alert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'Logout'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'Are you sure?'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); }}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icon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={({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,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}) =&gt; ( &lt;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Ionicons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urier New" panose="02070309020205020404" pitchFamily="49" charset="0"/>
              </a:rPr>
              <a:t>"exit-outline"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color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} 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size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} /&gt; )} /&gt; &lt;/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DrawerContentScrollView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&gt; ); } &lt;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Drawer.Navigator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</a:t>
            </a:r>
            <a:r>
              <a:rPr lang="en-IN" sz="1200" dirty="0" err="1">
                <a:solidFill>
                  <a:srgbClr val="9CDCFE"/>
                </a:solidFill>
                <a:latin typeface="Courier New" panose="02070309020205020404" pitchFamily="49" charset="0"/>
              </a:rPr>
              <a:t>drawerContent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={(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props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) =&gt; &lt;</a:t>
            </a:r>
            <a:r>
              <a:rPr lang="en-IN" sz="1200" dirty="0" err="1">
                <a:solidFill>
                  <a:srgbClr val="4EC9B0"/>
                </a:solidFill>
                <a:latin typeface="Courier New" panose="02070309020205020404" pitchFamily="49" charset="0"/>
              </a:rPr>
              <a:t>CustomDrawerContent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 {...</a:t>
            </a:r>
            <a:r>
              <a:rPr lang="en-IN" sz="1200" dirty="0">
                <a:solidFill>
                  <a:srgbClr val="9CDCFE"/>
                </a:solidFill>
                <a:latin typeface="Courier New" panose="02070309020205020404" pitchFamily="49" charset="0"/>
              </a:rPr>
              <a:t>props</a:t>
            </a:r>
            <a:r>
              <a:rPr lang="en-IN" sz="1200" dirty="0">
                <a:solidFill>
                  <a:srgbClr val="D4D4D4"/>
                </a:solidFill>
                <a:latin typeface="Courier New" panose="02070309020205020404" pitchFamily="49" charset="0"/>
              </a:rPr>
              <a:t>} /&gt;} 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912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🎯 Combining Navigation Types</a:t>
            </a:r>
            <a:br>
              <a:rPr lang="en-IN" dirty="0"/>
            </a:br>
            <a:r>
              <a:rPr lang="en-IN" sz="2000" dirty="0">
                <a:solidFill>
                  <a:srgbClr val="333333"/>
                </a:solidFill>
                <a:latin typeface="Segoe UI" panose="020B0502040204020203" pitchFamily="34" charset="0"/>
              </a:rPr>
              <a:t>Real-world apps often combine multiple navigation patterns for the best user experience.</a:t>
            </a:r>
            <a:b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0C189-1B7E-4BC7-9425-3FA2A4B7CADA}"/>
              </a:ext>
            </a:extLst>
          </p:cNvPr>
          <p:cNvSpPr/>
          <p:nvPr/>
        </p:nvSpPr>
        <p:spPr>
          <a:xfrm>
            <a:off x="418726" y="1242853"/>
            <a:ext cx="7075357" cy="360098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createBottomTabNavigator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"@react-navigation/bottom-tabs"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createStackNavigator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"@react-navigation/stack"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import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{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createDrawerNavigator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}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from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"@react-navigation/drawer"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8C8C8"/>
                </a:solidFill>
                <a:latin typeface="Consolas" panose="020B0609020204030204" pitchFamily="49" charset="0"/>
              </a:rPr>
              <a:t>Stack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createStackNavigator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8C8C8"/>
                </a:solidFill>
                <a:latin typeface="Consolas" panose="020B0609020204030204" pitchFamily="49" charset="0"/>
              </a:rPr>
              <a:t>Tab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createBottomTabNavigator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const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8C8C8"/>
                </a:solidFill>
                <a:latin typeface="Consolas" panose="020B0609020204030204" pitchFamily="49" charset="0"/>
              </a:rPr>
              <a:t>Drawer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createDrawerNavigator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6A9955"/>
                </a:solidFill>
                <a:latin typeface="Consolas" panose="020B0609020204030204" pitchFamily="49" charset="0"/>
              </a:rPr>
              <a:t>// Stack Navigator for Home Tab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HomeStack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HomeMain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"Details"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DetailsScreen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Stack.Navigator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b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284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🎯 Combining Navigation Types (</a:t>
            </a:r>
            <a:r>
              <a:rPr lang="en-IN" b="1" dirty="0" err="1">
                <a:solidFill>
                  <a:srgbClr val="667EEA"/>
                </a:solidFill>
                <a:latin typeface="Segoe UI" panose="020B0502040204020203" pitchFamily="34" charset="0"/>
              </a:rPr>
              <a:t>Cont</a:t>
            </a:r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)</a:t>
            </a:r>
            <a:br>
              <a:rPr lang="en-IN" dirty="0"/>
            </a:br>
            <a:r>
              <a:rPr lang="en-IN" sz="2000" dirty="0">
                <a:solidFill>
                  <a:srgbClr val="333333"/>
                </a:solidFill>
                <a:latin typeface="Segoe UI" panose="020B0502040204020203" pitchFamily="34" charset="0"/>
              </a:rPr>
              <a:t>Real-world apps often combine multiple navigation patterns for the best user experience.</a:t>
            </a:r>
            <a:b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0C189-1B7E-4BC7-9425-3FA2A4B7CADA}"/>
              </a:ext>
            </a:extLst>
          </p:cNvPr>
          <p:cNvSpPr/>
          <p:nvPr/>
        </p:nvSpPr>
        <p:spPr>
          <a:xfrm>
            <a:off x="418726" y="1085536"/>
            <a:ext cx="7075357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6A9955"/>
                </a:solidFill>
                <a:latin typeface="Consolas" panose="020B0609020204030204" pitchFamily="49" charset="0"/>
              </a:rPr>
              <a:t>// Tab Navigator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TabNavigator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</a:rPr>
              <a:t>HomeTab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HomeStack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"Profile"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ProfileScreen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Tab.Navigator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sz="1200" dirty="0">
                <a:solidFill>
                  <a:srgbClr val="6A9955"/>
                </a:solidFill>
                <a:latin typeface="Consolas" panose="020B0609020204030204" pitchFamily="49" charset="0"/>
              </a:rPr>
              <a:t>// Main App with Drawer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function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C8C8C8"/>
                </a:solidFill>
                <a:latin typeface="Consolas" panose="020B0609020204030204" pitchFamily="49" charset="0"/>
              </a:rPr>
              <a:t>App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NavigationContainer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"Main"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TabNavigator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Drawer.Screen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</a:rPr>
              <a:t>"Settings"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</a:rPr>
              <a:t>component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IN" sz="1200" dirty="0" err="1">
                <a:solidFill>
                  <a:srgbClr val="C8C8C8"/>
                </a:solidFill>
                <a:latin typeface="Consolas" panose="020B0609020204030204" pitchFamily="49" charset="0"/>
              </a:rPr>
              <a:t>SettingsScreen</a:t>
            </a:r>
            <a:r>
              <a:rPr lang="en-IN" sz="1200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/&gt;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Drawer.Navigator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&lt;/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</a:rPr>
              <a:t>NavigationContainer</a:t>
            </a:r>
            <a:r>
              <a:rPr lang="en-IN" sz="12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endParaRPr lang="en-IN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8049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🏗️ Common Architecture Pattern:</a:t>
            </a: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br>
              <a:rPr lang="en-IN" dirty="0"/>
            </a:br>
            <a:b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5" name="Google Shape;100;p20">
            <a:extLst>
              <a:ext uri="{FF2B5EF4-FFF2-40B4-BE49-F238E27FC236}">
                <a16:creationId xmlns:a16="http://schemas.microsoft.com/office/drawing/2014/main" id="{7CA60A79-CDBF-486F-843A-CA38F8914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5474" y="1375452"/>
            <a:ext cx="8047966" cy="14558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b="1" dirty="0">
                <a:solidFill>
                  <a:srgbClr val="333333"/>
                </a:solidFill>
                <a:latin typeface="Segoe UI" panose="020B0502040204020203" pitchFamily="34" charset="0"/>
              </a:rPr>
              <a:t>Drawer</a:t>
            </a: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 → </a:t>
            </a:r>
            <a:r>
              <a:rPr lang="en-IN" b="1" dirty="0">
                <a:solidFill>
                  <a:srgbClr val="333333"/>
                </a:solidFill>
                <a:latin typeface="Segoe UI" panose="020B0502040204020203" pitchFamily="34" charset="0"/>
              </a:rPr>
              <a:t>Tabs</a:t>
            </a: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 → </a:t>
            </a:r>
            <a:r>
              <a:rPr lang="en-IN" b="1" dirty="0">
                <a:solidFill>
                  <a:srgbClr val="333333"/>
                </a:solidFill>
                <a:latin typeface="Segoe UI" panose="020B0502040204020203" pitchFamily="34" charset="0"/>
              </a:rPr>
              <a:t>Stacks</a:t>
            </a:r>
            <a:endParaRPr lang="en-IN" dirty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This provides main menu access, section switching, and detailed navigation within sections.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03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  <a:t>✨ Best Practices &amp; Pro Tips</a:t>
            </a:r>
            <a:br>
              <a:rPr lang="en-IN" b="1" dirty="0">
                <a:solidFill>
                  <a:srgbClr val="667EEA"/>
                </a:solidFill>
                <a:latin typeface="Segoe UI" panose="020B0502040204020203" pitchFamily="34" charset="0"/>
              </a:rPr>
            </a:br>
            <a:b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</a:br>
            <a:endParaRPr dirty="0"/>
          </a:p>
        </p:txBody>
      </p:sp>
      <p:sp>
        <p:nvSpPr>
          <p:cNvPr id="5" name="Google Shape;100;p20">
            <a:extLst>
              <a:ext uri="{FF2B5EF4-FFF2-40B4-BE49-F238E27FC236}">
                <a16:creationId xmlns:a16="http://schemas.microsoft.com/office/drawing/2014/main" id="{7CA60A79-CDBF-486F-843A-CA38F8914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840359"/>
            <a:ext cx="4572000" cy="14558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🎯 Navigation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Keep navigation hierarchy shallow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Use appropriate navigator for each use case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Consider user mental models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Google Shape;100;p20">
            <a:extLst>
              <a:ext uri="{FF2B5EF4-FFF2-40B4-BE49-F238E27FC236}">
                <a16:creationId xmlns:a16="http://schemas.microsoft.com/office/drawing/2014/main" id="{ABBE1E69-F2D5-4269-9B58-3EE1003FB343}"/>
              </a:ext>
            </a:extLst>
          </p:cNvPr>
          <p:cNvSpPr txBox="1">
            <a:spLocks/>
          </p:cNvSpPr>
          <p:nvPr/>
        </p:nvSpPr>
        <p:spPr>
          <a:xfrm>
            <a:off x="4736701" y="2743666"/>
            <a:ext cx="4407299" cy="14558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🔒 State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Reset navigation on logout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Handle deep linking properly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Persist navigation state if needed</a:t>
            </a:r>
          </a:p>
          <a:p>
            <a:pPr marL="114300" indent="0">
              <a:buFont typeface="Arial"/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Google Shape;100;p20">
            <a:extLst>
              <a:ext uri="{FF2B5EF4-FFF2-40B4-BE49-F238E27FC236}">
                <a16:creationId xmlns:a16="http://schemas.microsoft.com/office/drawing/2014/main" id="{2408FA34-EEE6-4C6D-9FD0-F8467EC3FCEC}"/>
              </a:ext>
            </a:extLst>
          </p:cNvPr>
          <p:cNvSpPr txBox="1">
            <a:spLocks/>
          </p:cNvSpPr>
          <p:nvPr/>
        </p:nvSpPr>
        <p:spPr>
          <a:xfrm>
            <a:off x="1" y="2743666"/>
            <a:ext cx="4468259" cy="14558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🎨 User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Consistent navigation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Clear visual feedback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33333"/>
                </a:solidFill>
                <a:latin typeface="Segoe UI" panose="020B0502040204020203" pitchFamily="34" charset="0"/>
              </a:rPr>
              <a:t>Proper loading states</a:t>
            </a:r>
          </a:p>
          <a:p>
            <a:pPr marL="114300" indent="0">
              <a:buFont typeface="Arial"/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Google Shape;100;p20">
            <a:extLst>
              <a:ext uri="{FF2B5EF4-FFF2-40B4-BE49-F238E27FC236}">
                <a16:creationId xmlns:a16="http://schemas.microsoft.com/office/drawing/2014/main" id="{619F93A7-49E3-42A1-87DD-455099A3C9A8}"/>
              </a:ext>
            </a:extLst>
          </p:cNvPr>
          <p:cNvSpPr txBox="1">
            <a:spLocks/>
          </p:cNvSpPr>
          <p:nvPr/>
        </p:nvSpPr>
        <p:spPr>
          <a:xfrm>
            <a:off x="4675741" y="847544"/>
            <a:ext cx="4468259" cy="14558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⚡ Performance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2"/>
                </a:solidFill>
                <a:latin typeface="Consolas" panose="020B0609020204030204" pitchFamily="49" charset="0"/>
              </a:rPr>
              <a:t>Use lazy prop for tabs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2"/>
                </a:solidFill>
                <a:latin typeface="Consolas" panose="020B0609020204030204" pitchFamily="49" charset="0"/>
              </a:rPr>
              <a:t>Implement proper back button handling</a:t>
            </a:r>
          </a:p>
          <a:p>
            <a:pPr marL="114300" indent="0">
              <a:buNone/>
            </a:pPr>
            <a:r>
              <a:rPr lang="en-IN" dirty="0">
                <a:solidFill>
                  <a:schemeClr val="bg2"/>
                </a:solidFill>
                <a:latin typeface="Consolas" panose="020B0609020204030204" pitchFamily="49" charset="0"/>
              </a:rPr>
              <a:t>Avoid deep stack nesting</a:t>
            </a:r>
          </a:p>
        </p:txBody>
      </p:sp>
    </p:spTree>
    <p:extLst>
      <p:ext uri="{BB962C8B-B14F-4D97-AF65-F5344CB8AC3E}">
        <p14:creationId xmlns:p14="http://schemas.microsoft.com/office/powerpoint/2010/main" val="1138660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311700" y="8764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  <a:t>Common Navigation Methods</a:t>
            </a:r>
            <a:br>
              <a:rPr lang="en-IN" b="1" dirty="0">
                <a:solidFill>
                  <a:srgbClr val="764BA2"/>
                </a:solidFill>
                <a:latin typeface="Segoe UI" panose="020B0502040204020203" pitchFamily="34" charset="0"/>
              </a:rPr>
            </a:br>
            <a:br>
              <a:rPr lang="en-IN" dirty="0"/>
            </a:br>
            <a:endParaRPr dirty="0"/>
          </a:p>
        </p:txBody>
      </p:sp>
      <p:sp>
        <p:nvSpPr>
          <p:cNvPr id="5" name="Google Shape;100;p20">
            <a:extLst>
              <a:ext uri="{FF2B5EF4-FFF2-40B4-BE49-F238E27FC236}">
                <a16:creationId xmlns:a16="http://schemas.microsoft.com/office/drawing/2014/main" id="{7CA60A79-CDBF-486F-843A-CA38F8914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840359"/>
            <a:ext cx="6373706" cy="3657134"/>
          </a:xfrm>
          <a:prstGeom prst="rect">
            <a:avLst/>
          </a:prstGeom>
          <a:solidFill>
            <a:schemeClr val="tx1"/>
          </a:solidFill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Basic navigation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ScreenName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{ 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param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"value"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});</a:t>
            </a: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goBack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push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ScreenName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Stack-specific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pop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popToTop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Tab-specific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jumpTo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 err="1">
                <a:solidFill>
                  <a:srgbClr val="CE9178"/>
                </a:solidFill>
                <a:latin typeface="Consolas" panose="020B0609020204030204" pitchFamily="49" charset="0"/>
              </a:rPr>
              <a:t>TabName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Drawer-specific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openDrawer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closeDrawer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toggleDrawer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();</a:t>
            </a:r>
          </a:p>
          <a:p>
            <a:b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IN" dirty="0">
                <a:solidFill>
                  <a:srgbClr val="6A9955"/>
                </a:solidFill>
                <a:latin typeface="Consolas" panose="020B0609020204030204" pitchFamily="49" charset="0"/>
              </a:rPr>
              <a:t>// Reset navigation state</a:t>
            </a: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navigation</a:t>
            </a:r>
            <a:r>
              <a:rPr lang="en-IN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IN" dirty="0" err="1">
                <a:solidFill>
                  <a:srgbClr val="C8C8C8"/>
                </a:solidFill>
                <a:latin typeface="Consolas" panose="020B0609020204030204" pitchFamily="49" charset="0"/>
              </a:rPr>
              <a:t>reset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({ 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index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routes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[{ </a:t>
            </a:r>
            <a:r>
              <a:rPr lang="en-IN" dirty="0">
                <a:solidFill>
                  <a:srgbClr val="DADADA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: </a:t>
            </a:r>
            <a:r>
              <a:rPr lang="en-IN" dirty="0">
                <a:solidFill>
                  <a:srgbClr val="CE9178"/>
                </a:solidFill>
                <a:latin typeface="Consolas" panose="020B0609020204030204" pitchFamily="49" charset="0"/>
              </a:rPr>
              <a:t>"Home"</a:t>
            </a:r>
            <a:r>
              <a:rPr lang="en-IN" dirty="0">
                <a:solidFill>
                  <a:srgbClr val="D4D4D4"/>
                </a:solidFill>
                <a:latin typeface="Consolas" panose="020B0609020204030204" pitchFamily="49" charset="0"/>
              </a:rPr>
              <a:t> }] });</a:t>
            </a:r>
          </a:p>
          <a:p>
            <a:pPr marL="114300" indent="0">
              <a:buNone/>
            </a:pPr>
            <a:endParaRPr lang="en-IN" dirty="0">
              <a:solidFill>
                <a:srgbClr val="D4D4D4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56868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4462</Words>
  <Application>Microsoft Office PowerPoint</Application>
  <PresentationFormat>On-screen Show (16:9)</PresentationFormat>
  <Paragraphs>352</Paragraphs>
  <Slides>33</Slides>
  <Notes>33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Consolas</vt:lpstr>
      <vt:lpstr>Courier New</vt:lpstr>
      <vt:lpstr>Helvetica Neue</vt:lpstr>
      <vt:lpstr>Roboto</vt:lpstr>
      <vt:lpstr>Segoe UI</vt:lpstr>
      <vt:lpstr>Simple Light</vt:lpstr>
      <vt:lpstr>PowerPoint Presentation</vt:lpstr>
      <vt:lpstr>Roadmap 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React Navigation?    </vt:lpstr>
      <vt:lpstr>⚙️ Installation &amp; Setup</vt:lpstr>
      <vt:lpstr>🏗️ Basic App Structure</vt:lpstr>
      <vt:lpstr>📚 Stack Navigation 1  </vt:lpstr>
      <vt:lpstr>📚 Stack Navigation 2  </vt:lpstr>
      <vt:lpstr>📚 Stack Navigation 3  </vt:lpstr>
      <vt:lpstr>📚 Stack Navigation - Advanced Features  Passing Parameters    </vt:lpstr>
      <vt:lpstr>📚 Stack Navigation - Advanced Features 2  Custom Header Configuration      </vt:lpstr>
      <vt:lpstr>🗂️ Tab Navigation  </vt:lpstr>
      <vt:lpstr>PowerPoint Presentation</vt:lpstr>
      <vt:lpstr>PowerPoint Presentation</vt:lpstr>
      <vt:lpstr>🗂️ Tab Navigation - Advanced Features  Custom Tab Bar      </vt:lpstr>
      <vt:lpstr>🗂️ Tab Navigation - Advanced Features 2  Badge on Tab        </vt:lpstr>
      <vt:lpstr>🗄️ Drawer Navigation    </vt:lpstr>
      <vt:lpstr>🗄️ Drawer Navigation    </vt:lpstr>
      <vt:lpstr>🗄️ Drawer Navigation - Advanced Features  Custom Drawer Content  </vt:lpstr>
      <vt:lpstr>🎯 Combining Navigation Types Real-world apps often combine multiple navigation patterns for the best user experience.  </vt:lpstr>
      <vt:lpstr>🎯 Combining Navigation Types (Cont) Real-world apps often combine multiple navigation patterns for the best user experience.  </vt:lpstr>
      <vt:lpstr>🏗️ Common Architecture Pattern:     </vt:lpstr>
      <vt:lpstr>✨ Best Practices &amp; Pro Tips  </vt:lpstr>
      <vt:lpstr>Common Navigation Methods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njayou youssouf</dc:creator>
  <cp:lastModifiedBy>Youssouf</cp:lastModifiedBy>
  <cp:revision>31</cp:revision>
  <dcterms:modified xsi:type="dcterms:W3CDTF">2025-08-11T08:39:14Z</dcterms:modified>
</cp:coreProperties>
</file>