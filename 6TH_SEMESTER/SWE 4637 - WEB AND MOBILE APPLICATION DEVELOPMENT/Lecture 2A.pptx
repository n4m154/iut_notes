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3"/>
  </p:notes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4" r:id="rId22"/>
    <p:sldId id="285" r:id="rId23"/>
    <p:sldId id="286" r:id="rId24"/>
    <p:sldId id="287" r:id="rId25"/>
    <p:sldId id="288" r:id="rId26"/>
    <p:sldId id="311" r:id="rId27"/>
    <p:sldId id="290" r:id="rId28"/>
    <p:sldId id="291" r:id="rId29"/>
    <p:sldId id="292" r:id="rId30"/>
    <p:sldId id="312" r:id="rId31"/>
    <p:sldId id="294" r:id="rId32"/>
    <p:sldId id="297" r:id="rId33"/>
    <p:sldId id="298" r:id="rId34"/>
    <p:sldId id="299" r:id="rId35"/>
    <p:sldId id="300" r:id="rId36"/>
    <p:sldId id="301" r:id="rId37"/>
    <p:sldId id="302" r:id="rId38"/>
    <p:sldId id="303" r:id="rId39"/>
    <p:sldId id="305" r:id="rId40"/>
    <p:sldId id="306" r:id="rId41"/>
    <p:sldId id="307" r:id="rId42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44"/>
      <p:bold r:id="rId45"/>
      <p:italic r:id="rId46"/>
      <p:boldItalic r:id="rId47"/>
    </p:embeddedFont>
    <p:embeddedFont>
      <p:font typeface="Consolas" panose="020B0609020204030204" pitchFamily="49" charset="0"/>
      <p:regular r:id="rId48"/>
      <p:bold r:id="rId49"/>
      <p:italic r:id="rId50"/>
      <p:boldItalic r:id="rId51"/>
    </p:embeddedFont>
    <p:embeddedFont>
      <p:font typeface="Helvetica Neue" panose="020B0604020202020204" charset="0"/>
      <p:regular r:id="rId52"/>
      <p:bold r:id="rId53"/>
      <p:italic r:id="rId54"/>
      <p:boldItalic r:id="rId55"/>
    </p:embeddedFont>
    <p:embeddedFont>
      <p:font typeface="Roboto" panose="020B0604020202020204" charset="0"/>
      <p:regular r:id="rId56"/>
      <p:bold r:id="rId57"/>
      <p:italic r:id="rId58"/>
      <p:boldItalic r:id="rId5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B9DFCA-5B25-4FC7-A4FE-27C05EACBDE4}">
  <a:tblStyle styleId="{8EB9DFCA-5B25-4FC7-A4FE-27C05EACBDE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font" Target="fonts/font12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font" Target="fonts/font10.fntdata"/><Relationship Id="rId58" Type="http://schemas.openxmlformats.org/officeDocument/2006/relationships/font" Target="fonts/font15.fntdata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56" Type="http://schemas.openxmlformats.org/officeDocument/2006/relationships/font" Target="fonts/font13.fntdata"/><Relationship Id="rId8" Type="http://schemas.openxmlformats.org/officeDocument/2006/relationships/slide" Target="slides/slide7.xml"/><Relationship Id="rId51" Type="http://schemas.openxmlformats.org/officeDocument/2006/relationships/font" Target="fonts/font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59" Type="http://schemas.openxmlformats.org/officeDocument/2006/relationships/font" Target="fonts/font16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1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Relationship Id="rId57" Type="http://schemas.openxmlformats.org/officeDocument/2006/relationships/font" Target="fonts/font1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font" Target="fonts/font9.fntdata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d4cc84663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d4cc84663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 we just briefly explained why enabling something like ES6 is important.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What about….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ee448cb59_0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ee448cb59_0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First, what does it mean to enable ES6 support?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d4cc84663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d4cc84663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saw how Babel preprocessor works with ES6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ee448cb59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ee448cb59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about JSX?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d4cc84663_0_5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d4cc84663_0_5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Building a layout with JSX once and having it work on both iOS and Android is priceless.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Imagine all of the time you saved.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ee466440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ee466440c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Towards the end, we looked at styling React Native, but we kept it to the basics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ee466440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ee466440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ee448cb59_0_4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ee448cb59_0_4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ee448cb59_0_4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ee448cb59_0_4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ee466440c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ee466440c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ee466440c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ee466440c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ee466440c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ee466440c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ee466440c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ee466440c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ee466440c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ee466440c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ee466440c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ee466440c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ee466440c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ee466440c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ee466440c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ee466440c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ee448cb5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ee448cb5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Stretch, doesn’t keep aspect ratio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Cover is like Crop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Contain is like fit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Repeat tiles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ee448cb59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ee448cb59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far so good?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ee448cb59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ee448cb59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ee448cb59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2ee448cb59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ee448cb59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ee448cb59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contact between child and parent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ee448cb59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ee448cb59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is a pain to figure out the right percentages. What is absolute vs what is relative?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ee448cb59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2ee448cb59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is a pain to figure out the right percentages. What is absolute vs what is relative?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ee448cb59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ee448cb59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contact between child and parent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409050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ee448cb59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2ee448cb59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is a pain to figure out the right percentages. What is absolute vs what is relative?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ee448cb59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2ee448cb59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ee448cb59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2ee448cb59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ee448cb59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ee448cb59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contact between child and parent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8031308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ee448cb59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2ee448cb59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 it with a demo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2ee448cb59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2ee448cb59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2ee448cb59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2ee448cb59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2ee448cb59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2ee448cb59_0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ee448cb59_0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2ee448cb59_0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ee448cb59_0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2ee448cb59_0_2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ee448cb59_0_4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2ee448cb59_0_4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2ee448cb59_0_4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2ee448cb59_0_4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2ee448cb59_0_4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2ee448cb59_0_4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2ee448cb59_0_4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2ee448cb59_0_4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2ee448cb59_0_4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2ee448cb59_0_4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hpoet/react-native-styling-cheat-sheet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eactnativeexpress.com/flexbox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200906" y="1432418"/>
            <a:ext cx="72549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2400" dirty="0">
                <a:latin typeface="Roboto"/>
                <a:ea typeface="Roboto"/>
                <a:cs typeface="Roboto"/>
                <a:sym typeface="Roboto"/>
              </a:rPr>
              <a:t>Basic React Native Components + Stylesheets</a:t>
            </a:r>
            <a:endParaRPr sz="24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5522350" y="3636050"/>
            <a:ext cx="3337800" cy="11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6875" y="1680425"/>
            <a:ext cx="1066175" cy="10661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8"/>
          <p:cNvSpPr txBox="1"/>
          <p:nvPr/>
        </p:nvSpPr>
        <p:spPr>
          <a:xfrm>
            <a:off x="2903100" y="1007075"/>
            <a:ext cx="33378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Vanilla React Native uses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Babel as a preprocessor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2822025" y="3325225"/>
            <a:ext cx="1315500" cy="8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Roboto"/>
                <a:ea typeface="Roboto"/>
                <a:cs typeface="Roboto"/>
                <a:sym typeface="Roboto"/>
              </a:rPr>
              <a:t>ES6</a:t>
            </a:r>
            <a:endParaRPr sz="30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ECMAScript 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4424250" y="3499050"/>
            <a:ext cx="295500" cy="3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</a:t>
            </a:r>
            <a:endParaRPr/>
          </a:p>
        </p:txBody>
      </p:sp>
      <p:sp>
        <p:nvSpPr>
          <p:cNvPr id="92" name="Google Shape;92;p18"/>
          <p:cNvSpPr txBox="1"/>
          <p:nvPr/>
        </p:nvSpPr>
        <p:spPr>
          <a:xfrm>
            <a:off x="4886675" y="3344275"/>
            <a:ext cx="1315500" cy="7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Roboto"/>
                <a:ea typeface="Roboto"/>
                <a:cs typeface="Roboto"/>
                <a:sym typeface="Roboto"/>
              </a:rPr>
              <a:t>JSX</a:t>
            </a:r>
            <a:endParaRPr sz="30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Extension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6875" y="1680425"/>
            <a:ext cx="1066175" cy="10661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/>
        </p:nvSpPr>
        <p:spPr>
          <a:xfrm>
            <a:off x="2903100" y="1007075"/>
            <a:ext cx="33378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Vanilla React Native uses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Babel as a preprocessor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19"/>
          <p:cNvSpPr txBox="1"/>
          <p:nvPr/>
        </p:nvSpPr>
        <p:spPr>
          <a:xfrm>
            <a:off x="2822025" y="3325225"/>
            <a:ext cx="1315500" cy="8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Roboto"/>
                <a:ea typeface="Roboto"/>
                <a:cs typeface="Roboto"/>
                <a:sym typeface="Roboto"/>
              </a:rPr>
              <a:t>ES6</a:t>
            </a:r>
            <a:endParaRPr sz="30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ECMAScript 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4424250" y="3499050"/>
            <a:ext cx="295500" cy="3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</a:t>
            </a:r>
            <a:endParaRPr/>
          </a:p>
        </p:txBody>
      </p:sp>
      <p:sp>
        <p:nvSpPr>
          <p:cNvPr id="101" name="Google Shape;101;p19"/>
          <p:cNvSpPr txBox="1"/>
          <p:nvPr/>
        </p:nvSpPr>
        <p:spPr>
          <a:xfrm>
            <a:off x="4886675" y="3344275"/>
            <a:ext cx="1315500" cy="7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Roboto"/>
                <a:ea typeface="Roboto"/>
                <a:cs typeface="Roboto"/>
                <a:sym typeface="Roboto"/>
              </a:rPr>
              <a:t>JSX</a:t>
            </a:r>
            <a:endParaRPr sz="30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Extension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9"/>
          <p:cNvSpPr/>
          <p:nvPr/>
        </p:nvSpPr>
        <p:spPr>
          <a:xfrm rot="10800000">
            <a:off x="2480175" y="763800"/>
            <a:ext cx="3563700" cy="3615900"/>
          </a:xfrm>
          <a:prstGeom prst="corner">
            <a:avLst>
              <a:gd name="adj1" fmla="val 50000"/>
              <a:gd name="adj2" fmla="val 50000"/>
            </a:avLst>
          </a:prstGeom>
          <a:solidFill>
            <a:srgbClr val="FFFFFF">
              <a:alpha val="88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/>
        </p:nvSpPr>
        <p:spPr>
          <a:xfrm>
            <a:off x="0" y="441650"/>
            <a:ext cx="9144000" cy="8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Roboto"/>
                <a:ea typeface="Roboto"/>
                <a:cs typeface="Roboto"/>
                <a:sym typeface="Roboto"/>
              </a:rPr>
              <a:t>ES6 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(ECMAScript 6)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20"/>
          <p:cNvSpPr txBox="1"/>
          <p:nvPr/>
        </p:nvSpPr>
        <p:spPr>
          <a:xfrm>
            <a:off x="620050" y="1103975"/>
            <a:ext cx="7741800" cy="8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Cleaner (fat arrow) functions.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09" name="Google Shape;109;p20"/>
          <p:cNvGrpSpPr/>
          <p:nvPr/>
        </p:nvGrpSpPr>
        <p:grpSpPr>
          <a:xfrm>
            <a:off x="3691963" y="2557997"/>
            <a:ext cx="1785944" cy="985353"/>
            <a:chOff x="3691963" y="2557997"/>
            <a:chExt cx="1785944" cy="985353"/>
          </a:xfrm>
        </p:grpSpPr>
        <p:pic>
          <p:nvPicPr>
            <p:cNvPr id="110" name="Google Shape;110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691963" y="2557997"/>
              <a:ext cx="1785944" cy="81120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11" name="Google Shape;111;p20"/>
            <p:cNvCxnSpPr/>
            <p:nvPr/>
          </p:nvCxnSpPr>
          <p:spPr>
            <a:xfrm>
              <a:off x="3773213" y="3543350"/>
              <a:ext cx="154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12" name="Google Shape;112;p20"/>
          <p:cNvSpPr txBox="1"/>
          <p:nvPr/>
        </p:nvSpPr>
        <p:spPr>
          <a:xfrm>
            <a:off x="620050" y="1860100"/>
            <a:ext cx="3639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8100" marR="381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foo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()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50">
                <a:solidFill>
                  <a:srgbClr val="409B1C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'bar'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baz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(x)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x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this.items.map(x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this.doSomethingWith(x))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5568700" y="1434075"/>
            <a:ext cx="3000000" cy="3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8100" marR="381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_this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this;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foo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 {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50">
                <a:solidFill>
                  <a:srgbClr val="409B1C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'bar'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baz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baz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(x) {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x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this.items.map(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(x) {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_this.doSomethingWith(x);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6875" y="1680425"/>
            <a:ext cx="1066175" cy="1066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1"/>
          <p:cNvSpPr txBox="1"/>
          <p:nvPr/>
        </p:nvSpPr>
        <p:spPr>
          <a:xfrm>
            <a:off x="2903100" y="1007075"/>
            <a:ext cx="33378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Vanilla React Native uses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Babel as a preprocessor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p21"/>
          <p:cNvSpPr txBox="1"/>
          <p:nvPr/>
        </p:nvSpPr>
        <p:spPr>
          <a:xfrm>
            <a:off x="2822025" y="3325225"/>
            <a:ext cx="1315500" cy="8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Roboto"/>
                <a:ea typeface="Roboto"/>
                <a:cs typeface="Roboto"/>
                <a:sym typeface="Roboto"/>
              </a:rPr>
              <a:t>ES6</a:t>
            </a:r>
            <a:endParaRPr sz="30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ECMAScript 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" name="Google Shape;121;p21"/>
          <p:cNvSpPr txBox="1"/>
          <p:nvPr/>
        </p:nvSpPr>
        <p:spPr>
          <a:xfrm>
            <a:off x="4424250" y="3499050"/>
            <a:ext cx="295500" cy="3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</a:t>
            </a:r>
            <a:endParaRPr/>
          </a:p>
        </p:txBody>
      </p:sp>
      <p:sp>
        <p:nvSpPr>
          <p:cNvPr id="122" name="Google Shape;122;p21"/>
          <p:cNvSpPr txBox="1"/>
          <p:nvPr/>
        </p:nvSpPr>
        <p:spPr>
          <a:xfrm>
            <a:off x="4886675" y="3344275"/>
            <a:ext cx="1315500" cy="7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Roboto"/>
                <a:ea typeface="Roboto"/>
                <a:cs typeface="Roboto"/>
                <a:sym typeface="Roboto"/>
              </a:rPr>
              <a:t>JSX</a:t>
            </a:r>
            <a:endParaRPr sz="30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Extension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p21"/>
          <p:cNvSpPr/>
          <p:nvPr/>
        </p:nvSpPr>
        <p:spPr>
          <a:xfrm rot="10800000" flipH="1">
            <a:off x="2480175" y="763775"/>
            <a:ext cx="4781400" cy="4293900"/>
          </a:xfrm>
          <a:prstGeom prst="corner">
            <a:avLst>
              <a:gd name="adj1" fmla="val 50000"/>
              <a:gd name="adj2" fmla="val 50000"/>
            </a:avLst>
          </a:prstGeom>
          <a:solidFill>
            <a:srgbClr val="FFFFFF">
              <a:alpha val="88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9626" y="591350"/>
            <a:ext cx="889549" cy="88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3888" y="490213"/>
            <a:ext cx="1091800" cy="109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100" y="1708125"/>
            <a:ext cx="1799949" cy="3213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89451" y="2816800"/>
            <a:ext cx="1436401" cy="144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82462" y="591350"/>
            <a:ext cx="725175" cy="8895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3" name="Google Shape;133;p22"/>
          <p:cNvGrpSpPr/>
          <p:nvPr/>
        </p:nvGrpSpPr>
        <p:grpSpPr>
          <a:xfrm>
            <a:off x="115999" y="1680608"/>
            <a:ext cx="2867100" cy="858300"/>
            <a:chOff x="1666826" y="2116033"/>
            <a:chExt cx="2867100" cy="858300"/>
          </a:xfrm>
        </p:grpSpPr>
        <p:sp>
          <p:nvSpPr>
            <p:cNvPr id="134" name="Google Shape;134;p22"/>
            <p:cNvSpPr/>
            <p:nvPr/>
          </p:nvSpPr>
          <p:spPr>
            <a:xfrm>
              <a:off x="1666826" y="2116033"/>
              <a:ext cx="2867100" cy="858300"/>
            </a:xfrm>
            <a:prstGeom prst="roundRect">
              <a:avLst>
                <a:gd name="adj" fmla="val 16667"/>
              </a:avLst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2"/>
            <p:cNvSpPr txBox="1"/>
            <p:nvPr/>
          </p:nvSpPr>
          <p:spPr>
            <a:xfrm>
              <a:off x="1699025" y="2202725"/>
              <a:ext cx="2816100" cy="7023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76200" marR="7620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000088"/>
                  </a:solidFill>
                  <a:latin typeface="Consolas"/>
                  <a:ea typeface="Consolas"/>
                  <a:cs typeface="Consolas"/>
                  <a:sym typeface="Consolas"/>
                </a:rPr>
                <a:t>let</a:t>
              </a:r>
              <a: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textLayer = </a:t>
              </a:r>
              <a:r>
                <a:rPr lang="en" sz="900">
                  <a:solidFill>
                    <a:srgbClr val="660066"/>
                  </a:solidFill>
                  <a:latin typeface="Consolas"/>
                  <a:ea typeface="Consolas"/>
                  <a:cs typeface="Consolas"/>
                  <a:sym typeface="Consolas"/>
                </a:rPr>
                <a:t>CATextLayer</a:t>
              </a:r>
              <a: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()</a:t>
              </a:r>
              <a:b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b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  </a:t>
              </a:r>
              <a:b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" sz="900">
                  <a:solidFill>
                    <a:srgbClr val="000088"/>
                  </a:solidFill>
                  <a:latin typeface="Consolas"/>
                  <a:ea typeface="Consolas"/>
                  <a:cs typeface="Consolas"/>
                  <a:sym typeface="Consolas"/>
                </a:rPr>
                <a:t>self</a:t>
              </a:r>
              <a: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.view.layer.addSublayer(textLayer)</a:t>
              </a:r>
              <a:endParaRPr sz="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136" name="Google Shape;136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34312" y="1708125"/>
            <a:ext cx="2780176" cy="2825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074650" y="1680600"/>
            <a:ext cx="1811261" cy="3130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" name="Google Shape;138;p22"/>
          <p:cNvCxnSpPr/>
          <p:nvPr/>
        </p:nvCxnSpPr>
        <p:spPr>
          <a:xfrm>
            <a:off x="3299288" y="929625"/>
            <a:ext cx="0" cy="3999900"/>
          </a:xfrm>
          <a:prstGeom prst="straightConnector1">
            <a:avLst/>
          </a:prstGeom>
          <a:noFill/>
          <a:ln w="2857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" name="Google Shape;139;p22"/>
          <p:cNvCxnSpPr/>
          <p:nvPr/>
        </p:nvCxnSpPr>
        <p:spPr>
          <a:xfrm>
            <a:off x="6063188" y="929625"/>
            <a:ext cx="0" cy="3999900"/>
          </a:xfrm>
          <a:prstGeom prst="straightConnector1">
            <a:avLst/>
          </a:prstGeom>
          <a:noFill/>
          <a:ln w="2857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0" name="Google Shape;140;p22"/>
          <p:cNvSpPr txBox="1"/>
          <p:nvPr/>
        </p:nvSpPr>
        <p:spPr>
          <a:xfrm>
            <a:off x="6465700" y="1759550"/>
            <a:ext cx="2278200" cy="26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8100" marR="381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ourNestedView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View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foo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50">
                <a:solidFill>
                  <a:srgbClr val="409B1C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'bar'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/View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/>
        </p:nvSpPr>
        <p:spPr>
          <a:xfrm>
            <a:off x="2954000" y="503825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8100" marR="381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styles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StyleSheet.create({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container: {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flex: 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backgroundColor: </a:t>
            </a:r>
            <a:r>
              <a:rPr lang="en" sz="1050">
                <a:solidFill>
                  <a:srgbClr val="409B1C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'#fff'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alignItems: </a:t>
            </a:r>
            <a:r>
              <a:rPr lang="en" sz="1050">
                <a:solidFill>
                  <a:srgbClr val="409B1C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'center'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justifyContent: </a:t>
            </a:r>
            <a:r>
              <a:rPr lang="en" sz="1050">
                <a:solidFill>
                  <a:srgbClr val="409B1C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'center'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},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0" y="3327075"/>
            <a:ext cx="9144000" cy="8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Basically “CSS” brought to a mobile platform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https://github.com/vhpoet/react-native-styling-cheat-sheet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</a:t>
            </a:r>
            <a:endParaRPr/>
          </a:p>
        </p:txBody>
      </p:sp>
      <p:sp>
        <p:nvSpPr>
          <p:cNvPr id="171" name="Google Shape;171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Different classes that inherit from the React Component class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</a:t>
            </a:r>
            <a:endParaRPr/>
          </a:p>
        </p:txBody>
      </p:sp>
      <p:sp>
        <p:nvSpPr>
          <p:cNvPr id="177" name="Google Shape;177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Different classes that inherit from the React Component class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Importance: renderable!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</a:t>
            </a:r>
            <a:endParaRPr/>
          </a:p>
        </p:txBody>
      </p:sp>
      <p:sp>
        <p:nvSpPr>
          <p:cNvPr id="183" name="Google Shape;183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Different classes that inherit from the React Component class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Importance: renderable!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Common Components:</a:t>
            </a: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View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Text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Image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Lists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Scrollviews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Touchables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</a:t>
            </a:r>
            <a:endParaRPr/>
          </a:p>
        </p:txBody>
      </p:sp>
      <p:sp>
        <p:nvSpPr>
          <p:cNvPr id="189" name="Google Shape;189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</a:rPr>
              <a:t>Different classes that inherit from the React Component class</a:t>
            </a:r>
            <a:endParaRPr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</a:rPr>
              <a:t>Importance: renderable!</a:t>
            </a:r>
            <a:endParaRPr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Common Components:</a:t>
            </a: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View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Text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Image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Char char="-"/>
            </a:pPr>
            <a:r>
              <a:rPr lang="en">
                <a:solidFill>
                  <a:srgbClr val="D9D9D9"/>
                </a:solidFill>
              </a:rPr>
              <a:t>Lists</a:t>
            </a:r>
            <a:endParaRPr>
              <a:solidFill>
                <a:srgbClr val="D9D9D9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Char char="-"/>
            </a:pPr>
            <a:r>
              <a:rPr lang="en">
                <a:solidFill>
                  <a:srgbClr val="D9D9D9"/>
                </a:solidFill>
              </a:rPr>
              <a:t>Scrollviews</a:t>
            </a:r>
            <a:endParaRPr>
              <a:solidFill>
                <a:srgbClr val="D9D9D9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Char char="-"/>
            </a:pPr>
            <a:r>
              <a:rPr lang="en">
                <a:solidFill>
                  <a:srgbClr val="D9D9D9"/>
                </a:solidFill>
              </a:rPr>
              <a:t>Touchables</a:t>
            </a:r>
            <a:endParaRPr>
              <a:solidFill>
                <a:srgbClr val="D9D9D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</a:t>
            </a:r>
            <a:endParaRPr/>
          </a:p>
        </p:txBody>
      </p:sp>
      <p:sp>
        <p:nvSpPr>
          <p:cNvPr id="195" name="Google Shape;195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Most common visual styles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Common uses: wrapper around images, background, layout control</a:t>
            </a:r>
            <a:endParaRPr/>
          </a:p>
        </p:txBody>
      </p:sp>
      <p:sp>
        <p:nvSpPr>
          <p:cNvPr id="196" name="Google Shape;196;p30"/>
          <p:cNvSpPr txBox="1"/>
          <p:nvPr/>
        </p:nvSpPr>
        <p:spPr>
          <a:xfrm>
            <a:off x="311700" y="1853675"/>
            <a:ext cx="21504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5555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backgroundColor: “red”</a:t>
            </a:r>
            <a:endParaRPr sz="1200"/>
          </a:p>
        </p:txBody>
      </p:sp>
      <p:sp>
        <p:nvSpPr>
          <p:cNvPr id="197" name="Google Shape;197;p30"/>
          <p:cNvSpPr txBox="1"/>
          <p:nvPr/>
        </p:nvSpPr>
        <p:spPr>
          <a:xfrm>
            <a:off x="2274775" y="1853675"/>
            <a:ext cx="17412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5555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borderWidth: 2</a:t>
            </a:r>
            <a:endParaRPr sz="1200"/>
          </a:p>
        </p:txBody>
      </p:sp>
      <p:sp>
        <p:nvSpPr>
          <p:cNvPr id="198" name="Google Shape;198;p30"/>
          <p:cNvSpPr txBox="1"/>
          <p:nvPr/>
        </p:nvSpPr>
        <p:spPr>
          <a:xfrm>
            <a:off x="3701400" y="1853675"/>
            <a:ext cx="22125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5555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borderColor: “green”</a:t>
            </a:r>
            <a:endParaRPr sz="1200"/>
          </a:p>
        </p:txBody>
      </p:sp>
      <p:sp>
        <p:nvSpPr>
          <p:cNvPr id="199" name="Google Shape;199;p30"/>
          <p:cNvSpPr txBox="1"/>
          <p:nvPr/>
        </p:nvSpPr>
        <p:spPr>
          <a:xfrm>
            <a:off x="5518800" y="1853675"/>
            <a:ext cx="17412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5555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borderRadius: 10</a:t>
            </a:r>
            <a:endParaRPr sz="1200"/>
          </a:p>
        </p:txBody>
      </p:sp>
      <p:sp>
        <p:nvSpPr>
          <p:cNvPr id="200" name="Google Shape;200;p30"/>
          <p:cNvSpPr txBox="1"/>
          <p:nvPr/>
        </p:nvSpPr>
        <p:spPr>
          <a:xfrm>
            <a:off x="7341877" y="1853675"/>
            <a:ext cx="17412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5555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opacity: 0.3</a:t>
            </a:r>
            <a:endParaRPr sz="1200"/>
          </a:p>
        </p:txBody>
      </p:sp>
      <p:sp>
        <p:nvSpPr>
          <p:cNvPr id="201" name="Google Shape;201;p30"/>
          <p:cNvSpPr/>
          <p:nvPr/>
        </p:nvSpPr>
        <p:spPr>
          <a:xfrm>
            <a:off x="850575" y="2254775"/>
            <a:ext cx="938700" cy="9387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30"/>
          <p:cNvSpPr/>
          <p:nvPr/>
        </p:nvSpPr>
        <p:spPr>
          <a:xfrm>
            <a:off x="2508288" y="2254775"/>
            <a:ext cx="938700" cy="93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30"/>
          <p:cNvSpPr/>
          <p:nvPr/>
        </p:nvSpPr>
        <p:spPr>
          <a:xfrm>
            <a:off x="4166000" y="2254775"/>
            <a:ext cx="938700" cy="938700"/>
          </a:xfrm>
          <a:prstGeom prst="rect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4" name="Google Shape;20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7013" y="2208074"/>
            <a:ext cx="1032100" cy="103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1425" y="2254775"/>
            <a:ext cx="938700" cy="9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</a:t>
            </a:r>
            <a:endParaRPr/>
          </a:p>
        </p:txBody>
      </p:sp>
      <p:sp>
        <p:nvSpPr>
          <p:cNvPr id="211" name="Google Shape;211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Using the different styles we can get pretty interesting shapes</a:t>
            </a:r>
            <a:endParaRPr/>
          </a:p>
        </p:txBody>
      </p:sp>
      <p:pic>
        <p:nvPicPr>
          <p:cNvPr id="212" name="Google Shape;21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400" y="2228225"/>
            <a:ext cx="1264900" cy="126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72025" y="2222024"/>
            <a:ext cx="1264900" cy="1277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89650" y="2228225"/>
            <a:ext cx="1264900" cy="126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07275" y="2228225"/>
            <a:ext cx="1264900" cy="126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24900" y="2234426"/>
            <a:ext cx="1264900" cy="1252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</a:t>
            </a:r>
            <a:endParaRPr/>
          </a:p>
        </p:txBody>
      </p:sp>
      <p:sp>
        <p:nvSpPr>
          <p:cNvPr id="222" name="Google Shape;222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the most interesting component, but still useful...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223" name="Google Shape;223;p32"/>
          <p:cNvSpPr txBox="1"/>
          <p:nvPr/>
        </p:nvSpPr>
        <p:spPr>
          <a:xfrm>
            <a:off x="311700" y="1853675"/>
            <a:ext cx="11967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color: “red”</a:t>
            </a:r>
            <a:endParaRPr sz="1200">
              <a:solidFill>
                <a:srgbClr val="FF0000"/>
              </a:solidFill>
            </a:endParaRPr>
          </a:p>
        </p:txBody>
      </p:sp>
      <p:sp>
        <p:nvSpPr>
          <p:cNvPr id="224" name="Google Shape;224;p32"/>
          <p:cNvSpPr txBox="1"/>
          <p:nvPr/>
        </p:nvSpPr>
        <p:spPr>
          <a:xfrm>
            <a:off x="2158888" y="1853675"/>
            <a:ext cx="17412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555555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fontWeight: “bold”</a:t>
            </a:r>
            <a:endParaRPr sz="1200" b="1"/>
          </a:p>
        </p:txBody>
      </p:sp>
      <p:sp>
        <p:nvSpPr>
          <p:cNvPr id="225" name="Google Shape;225;p32"/>
          <p:cNvSpPr txBox="1"/>
          <p:nvPr/>
        </p:nvSpPr>
        <p:spPr>
          <a:xfrm>
            <a:off x="4714388" y="1853675"/>
            <a:ext cx="15624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555555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fontSize: 16</a:t>
            </a:r>
            <a:endParaRPr sz="1600"/>
          </a:p>
        </p:txBody>
      </p:sp>
      <p:sp>
        <p:nvSpPr>
          <p:cNvPr id="226" name="Google Shape;226;p32"/>
          <p:cNvSpPr txBox="1"/>
          <p:nvPr/>
        </p:nvSpPr>
        <p:spPr>
          <a:xfrm>
            <a:off x="7091100" y="1853675"/>
            <a:ext cx="17412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5555"/>
                </a:solidFill>
                <a:highlight>
                  <a:srgbClr val="F3F3F3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fontFamily: “Helvatica”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7" name="Google Shape;227;p32"/>
          <p:cNvSpPr txBox="1"/>
          <p:nvPr/>
        </p:nvSpPr>
        <p:spPr>
          <a:xfrm>
            <a:off x="3456750" y="2660125"/>
            <a:ext cx="2230500" cy="401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5555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backgroundColor: “black”</a:t>
            </a:r>
            <a:endParaRPr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</a:t>
            </a:r>
            <a:endParaRPr/>
          </a:p>
        </p:txBody>
      </p:sp>
      <p:sp>
        <p:nvSpPr>
          <p:cNvPr id="233" name="Google Shape;233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 allows nesting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&lt;Text style={{fontWeight: 'bold'}}&gt;</a:t>
            </a:r>
            <a:endParaRPr sz="1600">
              <a:highlight>
                <a:srgbClr val="F3F3F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    I am bold</a:t>
            </a:r>
            <a:endParaRPr sz="1600">
              <a:highlight>
                <a:srgbClr val="F3F3F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    &lt;Text style={{color: 'red'}}&gt;</a:t>
            </a:r>
            <a:endParaRPr sz="1600">
              <a:highlight>
                <a:srgbClr val="F3F3F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        and red</a:t>
            </a:r>
            <a:endParaRPr sz="1600">
              <a:highlight>
                <a:srgbClr val="F3F3F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    &lt;/Text&gt;</a:t>
            </a:r>
            <a:endParaRPr sz="1600">
              <a:highlight>
                <a:srgbClr val="F3F3F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&lt;/Text&gt;</a:t>
            </a:r>
            <a:endParaRPr sz="1600">
              <a:highlight>
                <a:srgbClr val="F3F3F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34" name="Google Shape;23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9975" y="865163"/>
            <a:ext cx="1986007" cy="399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</a:t>
            </a:r>
            <a:endParaRPr/>
          </a:p>
        </p:txBody>
      </p:sp>
      <p:sp>
        <p:nvSpPr>
          <p:cNvPr id="240" name="Google Shape;240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 an onPress and onLongPress handlers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&lt;Text onPress=() =&gt; console.log(“bold clicked”)</a:t>
            </a:r>
            <a:endParaRPr sz="1600">
              <a:highlight>
                <a:srgbClr val="F3F3F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      style={{fontWeight: 'bold'}}&gt;</a:t>
            </a:r>
            <a:endParaRPr sz="1600">
              <a:highlight>
                <a:srgbClr val="F3F3F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    I am bold</a:t>
            </a:r>
            <a:endParaRPr sz="1600">
              <a:highlight>
                <a:srgbClr val="F3F3F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    &lt;Text style={{color: 'red'}}&gt;</a:t>
            </a:r>
            <a:endParaRPr sz="1600">
              <a:highlight>
                <a:srgbClr val="F3F3F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        and red</a:t>
            </a:r>
            <a:endParaRPr sz="1600">
              <a:highlight>
                <a:srgbClr val="F3F3F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    &lt;/Text&gt;</a:t>
            </a:r>
            <a:endParaRPr sz="1600">
              <a:highlight>
                <a:srgbClr val="F3F3F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&lt;/Text&gt;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41" name="Google Shape;24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9975" y="865163"/>
            <a:ext cx="1986007" cy="399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</a:t>
            </a:r>
            <a:endParaRPr/>
          </a:p>
        </p:txBody>
      </p:sp>
      <p:sp>
        <p:nvSpPr>
          <p:cNvPr id="247" name="Google Shape;247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Surprise! Used to display images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Uses URI or Assets to display the photos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&lt;Image style={{width: 50, height: 50}}</a:t>
            </a:r>
            <a:endParaRPr sz="1400">
              <a:highlight>
                <a:srgbClr val="F3F3F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       source={{uri: </a:t>
            </a:r>
            <a:br>
              <a:rPr lang="en" sz="1400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400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                    'https://facebook.github.io/react-native/</a:t>
            </a:r>
            <a:br>
              <a:rPr lang="en" sz="1400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400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                     docs/assets/favicon.png'}}/&gt;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48" name="Google Shape;24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4403" y="898788"/>
            <a:ext cx="1947900" cy="392377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5"/>
          <p:cNvSpPr/>
          <p:nvPr/>
        </p:nvSpPr>
        <p:spPr>
          <a:xfrm>
            <a:off x="7017107" y="1813475"/>
            <a:ext cx="930900" cy="66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</a:t>
            </a:r>
            <a:endParaRPr/>
          </a:p>
        </p:txBody>
      </p:sp>
      <p:sp>
        <p:nvSpPr>
          <p:cNvPr id="255" name="Google Shape;255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Surprise! Used to display images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Uses URI or Assets to display the photos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&lt;Image source={require('/react-native/img/favicon.png')}/&gt;</a:t>
            </a:r>
            <a:endParaRPr sz="1400">
              <a:highlight>
                <a:srgbClr val="F3F3F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56" name="Google Shape;25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4403" y="898788"/>
            <a:ext cx="1947900" cy="392377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6"/>
          <p:cNvSpPr/>
          <p:nvPr/>
        </p:nvSpPr>
        <p:spPr>
          <a:xfrm>
            <a:off x="7017107" y="1813475"/>
            <a:ext cx="930900" cy="66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</a:t>
            </a:r>
            <a:endParaRPr/>
          </a:p>
        </p:txBody>
      </p:sp>
      <p:sp>
        <p:nvSpPr>
          <p:cNvPr id="263" name="Google Shape;263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specify the resize mode of the image</a:t>
            </a: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&lt;Image resizeMode=“stretch” source={{...}}/&gt;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&lt;Image resizeMode=“cover” source={{...}}/&gt;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&lt;Image resizeMode=“contain” source={{...}}/&gt;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&lt;Image resizeMode=“repeat” source={{...}}/&gt;</a:t>
            </a:r>
            <a:endParaRPr/>
          </a:p>
        </p:txBody>
      </p:sp>
      <p:sp>
        <p:nvSpPr>
          <p:cNvPr id="264" name="Google Shape;264;p37"/>
          <p:cNvSpPr/>
          <p:nvPr/>
        </p:nvSpPr>
        <p:spPr>
          <a:xfrm>
            <a:off x="7017107" y="1813475"/>
            <a:ext cx="930900" cy="66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37"/>
          <p:cNvSpPr/>
          <p:nvPr/>
        </p:nvSpPr>
        <p:spPr>
          <a:xfrm>
            <a:off x="7155850" y="1554300"/>
            <a:ext cx="1501800" cy="4056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37"/>
          <p:cNvSpPr/>
          <p:nvPr/>
        </p:nvSpPr>
        <p:spPr>
          <a:xfrm>
            <a:off x="7155850" y="2239825"/>
            <a:ext cx="1501800" cy="4056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37"/>
          <p:cNvSpPr/>
          <p:nvPr/>
        </p:nvSpPr>
        <p:spPr>
          <a:xfrm>
            <a:off x="7155850" y="2925350"/>
            <a:ext cx="1501800" cy="4056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37"/>
          <p:cNvSpPr/>
          <p:nvPr/>
        </p:nvSpPr>
        <p:spPr>
          <a:xfrm>
            <a:off x="7155850" y="3610875"/>
            <a:ext cx="1501800" cy="4056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9" name="Google Shape;269;p37" descr="Image result for react native log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5850" y="1554300"/>
            <a:ext cx="1501799" cy="405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7" descr="Image result for react native logo"/>
          <p:cNvPicPr preferRelativeResize="0"/>
          <p:nvPr/>
        </p:nvPicPr>
        <p:blipFill rotWithShape="1">
          <a:blip r:embed="rId3">
            <a:alphaModFix/>
          </a:blip>
          <a:srcRect t="36495" b="36495"/>
          <a:stretch/>
        </p:blipFill>
        <p:spPr>
          <a:xfrm>
            <a:off x="7155850" y="2239825"/>
            <a:ext cx="1501800" cy="40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7" descr="Image result for react native log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3950" y="2925350"/>
            <a:ext cx="405599" cy="405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37" descr="Image result for react native log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5850" y="3610875"/>
            <a:ext cx="405599" cy="405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7" descr="Image result for react native log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1000" y="3610875"/>
            <a:ext cx="405599" cy="405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37" descr="Image result for react native log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6125" y="3610875"/>
            <a:ext cx="405599" cy="405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37" descr="Image result for react native log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1275" y="3610875"/>
            <a:ext cx="405599" cy="405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</a:t>
            </a:r>
            <a:endParaRPr/>
          </a:p>
        </p:txBody>
      </p:sp>
      <p:sp>
        <p:nvSpPr>
          <p:cNvPr id="281" name="Google Shape;281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</a:rPr>
              <a:t>Different classes that inherit from the React Component class</a:t>
            </a:r>
            <a:endParaRPr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</a:rPr>
              <a:t>Importance: renderable!</a:t>
            </a:r>
            <a:endParaRPr>
              <a:solidFill>
                <a:srgbClr val="D9D9D9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Common Components:</a:t>
            </a: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View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Text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Image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Char char="-"/>
            </a:pPr>
            <a:r>
              <a:rPr lang="en">
                <a:solidFill>
                  <a:srgbClr val="D9D9D9"/>
                </a:solidFill>
              </a:rPr>
              <a:t>Lists</a:t>
            </a:r>
            <a:endParaRPr>
              <a:solidFill>
                <a:srgbClr val="D9D9D9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Char char="-"/>
            </a:pPr>
            <a:r>
              <a:rPr lang="en">
                <a:solidFill>
                  <a:srgbClr val="D9D9D9"/>
                </a:solidFill>
              </a:rPr>
              <a:t>Scrollviews</a:t>
            </a:r>
            <a:endParaRPr>
              <a:solidFill>
                <a:srgbClr val="D9D9D9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Char char="-"/>
            </a:pPr>
            <a:r>
              <a:rPr lang="en">
                <a:solidFill>
                  <a:srgbClr val="D9D9D9"/>
                </a:solidFill>
              </a:rPr>
              <a:t>Touchables</a:t>
            </a:r>
            <a:endParaRPr>
              <a:solidFill>
                <a:srgbClr val="D9D9D9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1"/>
          <p:cNvSpPr txBox="1"/>
          <p:nvPr/>
        </p:nvSpPr>
        <p:spPr>
          <a:xfrm>
            <a:off x="3637200" y="300350"/>
            <a:ext cx="1869600" cy="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Coordinates</a:t>
            </a:r>
            <a:endParaRPr sz="1800"/>
          </a:p>
        </p:txBody>
      </p:sp>
      <p:sp>
        <p:nvSpPr>
          <p:cNvPr id="308" name="Google Shape;308;p41"/>
          <p:cNvSpPr txBox="1"/>
          <p:nvPr/>
        </p:nvSpPr>
        <p:spPr>
          <a:xfrm>
            <a:off x="3246750" y="1178850"/>
            <a:ext cx="26505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Container: {</a:t>
            </a:r>
            <a:b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    position: ‘absolute’,</a:t>
            </a:r>
            <a:b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    start: 0,</a:t>
            </a:r>
            <a:b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    top: 0,</a:t>
            </a:r>
            <a:b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    width: 50,</a:t>
            </a:r>
            <a:b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    height: 50</a:t>
            </a:r>
            <a:b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         .</a:t>
            </a:r>
            <a:b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         .</a:t>
            </a:r>
            <a:b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         .</a:t>
            </a:r>
            <a:b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2"/>
              </a:solidFill>
              <a:highlight>
                <a:srgbClr val="F3F3F3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42" descr="Image result for iphone 7 body 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3993" y="495553"/>
            <a:ext cx="4617900" cy="461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42"/>
          <p:cNvSpPr txBox="1"/>
          <p:nvPr/>
        </p:nvSpPr>
        <p:spPr>
          <a:xfrm>
            <a:off x="3637200" y="300350"/>
            <a:ext cx="1869600" cy="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Coordinates</a:t>
            </a:r>
            <a:endParaRPr sz="1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F949D8-C7D9-4B19-BD00-BE7F29313B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5406" y="1261454"/>
            <a:ext cx="1735074" cy="308609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43" descr="Image result for iphone 7 body 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3993" y="531272"/>
            <a:ext cx="4617900" cy="461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43"/>
          <p:cNvSpPr txBox="1"/>
          <p:nvPr/>
        </p:nvSpPr>
        <p:spPr>
          <a:xfrm>
            <a:off x="3637200" y="300350"/>
            <a:ext cx="1869600" cy="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Coordinates</a:t>
            </a:r>
            <a:endParaRPr sz="18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E34A7C-4B1E-486F-9840-3BADC94F62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9663" y="1275741"/>
            <a:ext cx="1735074" cy="3086099"/>
          </a:xfrm>
          <a:prstGeom prst="rect">
            <a:avLst/>
          </a:prstGeom>
        </p:spPr>
      </p:pic>
      <p:pic>
        <p:nvPicPr>
          <p:cNvPr id="323" name="Google Shape;323;p43" descr="Image result for ipad wireframe 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3265974" y="1218598"/>
            <a:ext cx="4317125" cy="340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292009-6A86-4ED6-B87E-6227E4DE1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0034" y="1094561"/>
            <a:ext cx="1735074" cy="308609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4"/>
          <p:cNvSpPr txBox="1"/>
          <p:nvPr/>
        </p:nvSpPr>
        <p:spPr>
          <a:xfrm>
            <a:off x="3259500" y="330375"/>
            <a:ext cx="2625000" cy="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Relative, percentages</a:t>
            </a:r>
            <a:endParaRPr sz="1800"/>
          </a:p>
        </p:txBody>
      </p:sp>
      <p:sp>
        <p:nvSpPr>
          <p:cNvPr id="330" name="Google Shape;330;p44"/>
          <p:cNvSpPr txBox="1"/>
          <p:nvPr/>
        </p:nvSpPr>
        <p:spPr>
          <a:xfrm>
            <a:off x="3246750" y="1178850"/>
            <a:ext cx="26505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Container: {</a:t>
            </a:r>
            <a:b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    start: ‘10%’,</a:t>
            </a:r>
            <a:b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    top: ‘10%’,</a:t>
            </a:r>
            <a:b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    width: ‘5%’,</a:t>
            </a:r>
            <a:b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    height: ‘5%’</a:t>
            </a:r>
            <a:b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         .</a:t>
            </a:r>
            <a:b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         .</a:t>
            </a:r>
            <a:b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         .</a:t>
            </a:r>
            <a:b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2"/>
              </a:solidFill>
              <a:highlight>
                <a:srgbClr val="F3F3F3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45" descr="Image result for iphone 7 body 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3993" y="509842"/>
            <a:ext cx="4617900" cy="461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5"/>
          <p:cNvSpPr txBox="1"/>
          <p:nvPr/>
        </p:nvSpPr>
        <p:spPr>
          <a:xfrm>
            <a:off x="3259500" y="330375"/>
            <a:ext cx="2625000" cy="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Relative, percentages</a:t>
            </a:r>
            <a:endParaRPr sz="1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3F88AE-F643-4C40-A3F3-D25A8A511A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5406" y="1261454"/>
            <a:ext cx="1735074" cy="308609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43" descr="Image result for iphone 7 body 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3993" y="531272"/>
            <a:ext cx="4617900" cy="461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43"/>
          <p:cNvSpPr txBox="1"/>
          <p:nvPr/>
        </p:nvSpPr>
        <p:spPr>
          <a:xfrm>
            <a:off x="3637200" y="300350"/>
            <a:ext cx="1869600" cy="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Coordinates</a:t>
            </a:r>
            <a:endParaRPr sz="18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E34A7C-4B1E-486F-9840-3BADC94F62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9663" y="1296053"/>
            <a:ext cx="1735074" cy="3086099"/>
          </a:xfrm>
          <a:prstGeom prst="rect">
            <a:avLst/>
          </a:prstGeom>
        </p:spPr>
      </p:pic>
      <p:pic>
        <p:nvPicPr>
          <p:cNvPr id="323" name="Google Shape;323;p43" descr="Image result for ipad wireframe 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3265974" y="1218598"/>
            <a:ext cx="4317125" cy="340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292009-6A86-4ED6-B87E-6227E4DE1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0033" y="1094561"/>
            <a:ext cx="2672242" cy="363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5595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47" descr="Image result for iphone 7 body 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8577" y="571773"/>
            <a:ext cx="4617900" cy="461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B9767E8-B18C-4D19-A137-4A54D23FC8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7473" y="1331560"/>
            <a:ext cx="1735074" cy="3086099"/>
          </a:xfrm>
          <a:prstGeom prst="rect">
            <a:avLst/>
          </a:prstGeom>
        </p:spPr>
      </p:pic>
      <p:sp>
        <p:nvSpPr>
          <p:cNvPr id="352" name="Google Shape;352;p47"/>
          <p:cNvSpPr txBox="1"/>
          <p:nvPr/>
        </p:nvSpPr>
        <p:spPr>
          <a:xfrm>
            <a:off x="3259500" y="330375"/>
            <a:ext cx="2625000" cy="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Relative, percentages</a:t>
            </a:r>
            <a:endParaRPr sz="1800"/>
          </a:p>
        </p:txBody>
      </p:sp>
      <p:cxnSp>
        <p:nvCxnSpPr>
          <p:cNvPr id="358" name="Google Shape;358;p47"/>
          <p:cNvCxnSpPr/>
          <p:nvPr/>
        </p:nvCxnSpPr>
        <p:spPr>
          <a:xfrm rot="10800000">
            <a:off x="1426725" y="1959775"/>
            <a:ext cx="791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9" name="Google Shape;359;p47"/>
          <p:cNvSpPr/>
          <p:nvPr/>
        </p:nvSpPr>
        <p:spPr>
          <a:xfrm>
            <a:off x="4094907" y="2838310"/>
            <a:ext cx="72600" cy="72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4" name="Google Shape;354;p47" descr="Image result for ipad wireframe 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3230071" y="1209597"/>
            <a:ext cx="4317125" cy="340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B27B1F8-40A7-4011-B330-BFAE3CABF4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8849" y="1093487"/>
            <a:ext cx="2672242" cy="3634844"/>
          </a:xfrm>
          <a:prstGeom prst="rect">
            <a:avLst/>
          </a:prstGeom>
        </p:spPr>
      </p:pic>
      <p:sp>
        <p:nvSpPr>
          <p:cNvPr id="357" name="Google Shape;357;p47"/>
          <p:cNvSpPr txBox="1"/>
          <p:nvPr/>
        </p:nvSpPr>
        <p:spPr>
          <a:xfrm>
            <a:off x="882375" y="1208875"/>
            <a:ext cx="1880400" cy="8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Appropriate margins?</a:t>
            </a:r>
            <a:endParaRPr sz="1200" dirty="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Screen ratio change?</a:t>
            </a:r>
            <a:endParaRPr sz="1200" dirty="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Safe area around?</a:t>
            </a:r>
            <a:endParaRPr sz="1200" dirty="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6" name="Google Shape;356;p47"/>
          <p:cNvCxnSpPr/>
          <p:nvPr/>
        </p:nvCxnSpPr>
        <p:spPr>
          <a:xfrm rot="10800000">
            <a:off x="2218425" y="1959775"/>
            <a:ext cx="1924500" cy="921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8"/>
          <p:cNvSpPr txBox="1"/>
          <p:nvPr/>
        </p:nvSpPr>
        <p:spPr>
          <a:xfrm>
            <a:off x="3259500" y="330375"/>
            <a:ext cx="2625000" cy="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Flexboxes</a:t>
            </a:r>
            <a:endParaRPr sz="1800"/>
          </a:p>
        </p:txBody>
      </p:sp>
      <p:sp>
        <p:nvSpPr>
          <p:cNvPr id="365" name="Google Shape;365;p48"/>
          <p:cNvSpPr txBox="1"/>
          <p:nvPr/>
        </p:nvSpPr>
        <p:spPr>
          <a:xfrm>
            <a:off x="2727000" y="1178850"/>
            <a:ext cx="36900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Container: {</a:t>
            </a:r>
            <a:b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    justifyContent: ‘space-around’,</a:t>
            </a:r>
            <a:b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    alignItems: ‘center’,</a:t>
            </a:r>
            <a:b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         .</a:t>
            </a:r>
            <a:b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         .</a:t>
            </a:r>
            <a:b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         .</a:t>
            </a:r>
            <a:b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chemeClr val="dk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2"/>
              </a:solidFill>
              <a:highlight>
                <a:srgbClr val="F3F3F3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49" descr="Image result for iphone 7 body 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3993" y="495553"/>
            <a:ext cx="4617900" cy="461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49"/>
          <p:cNvSpPr txBox="1"/>
          <p:nvPr/>
        </p:nvSpPr>
        <p:spPr>
          <a:xfrm>
            <a:off x="3259500" y="330375"/>
            <a:ext cx="2625000" cy="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Flexboxes</a:t>
            </a:r>
            <a:endParaRPr sz="1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6B6AAE-1213-4D64-A556-4BFE1394A7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5406" y="1261454"/>
            <a:ext cx="1735074" cy="308609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43" descr="Image result for iphone 7 body 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3993" y="531272"/>
            <a:ext cx="4617900" cy="461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43"/>
          <p:cNvSpPr txBox="1"/>
          <p:nvPr/>
        </p:nvSpPr>
        <p:spPr>
          <a:xfrm>
            <a:off x="3637200" y="300350"/>
            <a:ext cx="1869600" cy="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Coordinates</a:t>
            </a:r>
            <a:endParaRPr sz="18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E34A7C-4B1E-486F-9840-3BADC94F62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9663" y="1296053"/>
            <a:ext cx="1735074" cy="3086099"/>
          </a:xfrm>
          <a:prstGeom prst="rect">
            <a:avLst/>
          </a:prstGeom>
        </p:spPr>
      </p:pic>
      <p:pic>
        <p:nvPicPr>
          <p:cNvPr id="323" name="Google Shape;323;p43" descr="Image result for ipad wireframe 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3265974" y="1218598"/>
            <a:ext cx="4317125" cy="340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292009-6A86-4ED6-B87E-6227E4DE1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0033" y="1094561"/>
            <a:ext cx="2672242" cy="363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6252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1"/>
          <p:cNvSpPr txBox="1"/>
          <p:nvPr/>
        </p:nvSpPr>
        <p:spPr>
          <a:xfrm>
            <a:off x="3259500" y="330375"/>
            <a:ext cx="2625000" cy="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Flexboxes</a:t>
            </a:r>
            <a:endParaRPr sz="1800"/>
          </a:p>
        </p:txBody>
      </p:sp>
      <p:graphicFrame>
        <p:nvGraphicFramePr>
          <p:cNvPr id="387" name="Google Shape;387;p51"/>
          <p:cNvGraphicFramePr/>
          <p:nvPr/>
        </p:nvGraphicFramePr>
        <p:xfrm>
          <a:off x="2352425" y="1161375"/>
          <a:ext cx="4439150" cy="1985328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{8EB9DFCA-5B25-4FC7-A4FE-27C05EACBDE4}</a:tableStyleId>
              </a:tblPr>
              <a:tblGrid>
                <a:gridCol w="113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2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Property</a:t>
                      </a:r>
                      <a:endParaRPr sz="1050" b="1">
                        <a:solidFill>
                          <a:srgbClr val="333333"/>
                        </a:solidFill>
                        <a:highlight>
                          <a:srgbClr val="FFFFFF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76200" marR="76200" marT="76200" marB="76200" anchor="b"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Default</a:t>
                      </a:r>
                      <a:endParaRPr sz="1050" b="1">
                        <a:solidFill>
                          <a:srgbClr val="333333"/>
                        </a:solidFill>
                        <a:highlight>
                          <a:srgbClr val="FFFFFF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76200" marR="76200" marT="76200" marB="76200" anchor="b"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Options</a:t>
                      </a:r>
                      <a:endParaRPr sz="1050" b="1">
                        <a:solidFill>
                          <a:srgbClr val="333333"/>
                        </a:solidFill>
                        <a:highlight>
                          <a:srgbClr val="FFFFFF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76200" marR="76200" marT="76200" marB="76200" anchor="b"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rgbClr val="555555"/>
                          </a:solidFill>
                          <a:highlight>
                            <a:srgbClr val="F3F3F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flexDirection</a:t>
                      </a:r>
                      <a:endParaRPr sz="950">
                        <a:solidFill>
                          <a:srgbClr val="555555"/>
                        </a:solidFill>
                        <a:highlight>
                          <a:srgbClr val="F3F3F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76200" marR="76200" marT="76200" marB="76200">
                    <a:lnT w="19050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rgbClr val="555555"/>
                          </a:solidFill>
                          <a:highlight>
                            <a:srgbClr val="F3F3F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column</a:t>
                      </a:r>
                      <a:endParaRPr sz="950">
                        <a:solidFill>
                          <a:srgbClr val="555555"/>
                        </a:solidFill>
                        <a:highlight>
                          <a:srgbClr val="F3F3F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76200" marR="76200" marT="76200" marB="76200">
                    <a:lnT w="19050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rgbClr val="555555"/>
                          </a:solidFill>
                          <a:highlight>
                            <a:srgbClr val="F3F3F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row, column</a:t>
                      </a:r>
                      <a:endParaRPr sz="950">
                        <a:solidFill>
                          <a:srgbClr val="555555"/>
                        </a:solidFill>
                        <a:highlight>
                          <a:srgbClr val="F3F3F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76200" marR="76200" marT="76200" marB="76200">
                    <a:lnT w="19050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rgbClr val="555555"/>
                          </a:solidFill>
                          <a:highlight>
                            <a:srgbClr val="F3F3F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justifyContent</a:t>
                      </a:r>
                      <a:endParaRPr sz="950">
                        <a:solidFill>
                          <a:srgbClr val="555555"/>
                        </a:solidFill>
                        <a:highlight>
                          <a:srgbClr val="F3F3F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76200" marR="76200" marT="76200" marB="76200"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rgbClr val="555555"/>
                          </a:solidFill>
                          <a:highlight>
                            <a:srgbClr val="F3F3F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flex-start</a:t>
                      </a:r>
                      <a:endParaRPr sz="950">
                        <a:solidFill>
                          <a:srgbClr val="555555"/>
                        </a:solidFill>
                        <a:highlight>
                          <a:srgbClr val="F3F3F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76200" marR="76200" marT="76200" marB="76200"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rgbClr val="555555"/>
                          </a:solidFill>
                          <a:highlight>
                            <a:srgbClr val="F3F3F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flex-start, center, flex-end, space-around, space-between</a:t>
                      </a:r>
                      <a:endParaRPr sz="950">
                        <a:solidFill>
                          <a:srgbClr val="555555"/>
                        </a:solidFill>
                        <a:highlight>
                          <a:srgbClr val="F3F3F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76200" marR="76200" marT="76200" marB="76200"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rgbClr val="555555"/>
                          </a:solidFill>
                          <a:highlight>
                            <a:srgbClr val="F3F3F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alignItems</a:t>
                      </a:r>
                      <a:endParaRPr sz="950">
                        <a:solidFill>
                          <a:srgbClr val="555555"/>
                        </a:solidFill>
                        <a:highlight>
                          <a:srgbClr val="F3F3F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76200" marR="76200" marT="76200" marB="76200"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rgbClr val="555555"/>
                          </a:solidFill>
                          <a:highlight>
                            <a:srgbClr val="F3F3F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stretch</a:t>
                      </a:r>
                      <a:endParaRPr sz="950">
                        <a:solidFill>
                          <a:srgbClr val="555555"/>
                        </a:solidFill>
                        <a:highlight>
                          <a:srgbClr val="F3F3F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76200" marR="76200" marT="76200" marB="76200"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rgbClr val="555555"/>
                          </a:solidFill>
                          <a:highlight>
                            <a:srgbClr val="F3F3F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flex-start, center, flex-end, stretch</a:t>
                      </a:r>
                      <a:endParaRPr sz="950">
                        <a:solidFill>
                          <a:srgbClr val="555555"/>
                        </a:solidFill>
                        <a:highlight>
                          <a:srgbClr val="F3F3F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76200" marR="76200" marT="76200" marB="76200"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8" name="Google Shape;388;p51"/>
          <p:cNvSpPr txBox="1"/>
          <p:nvPr/>
        </p:nvSpPr>
        <p:spPr>
          <a:xfrm>
            <a:off x="2736000" y="3694325"/>
            <a:ext cx="3672000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http://www.reactnativeexpress.com/flexbox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4"/>
          <p:cNvSpPr txBox="1"/>
          <p:nvPr/>
        </p:nvSpPr>
        <p:spPr>
          <a:xfrm>
            <a:off x="0" y="466508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From design to code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17" name="Google Shape;41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1663" y="1229108"/>
            <a:ext cx="2123047" cy="3769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7109" y="1229108"/>
            <a:ext cx="2119292" cy="3769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98813" y="898525"/>
            <a:ext cx="1893524" cy="4100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5"/>
          <p:cNvSpPr txBox="1"/>
          <p:nvPr/>
        </p:nvSpPr>
        <p:spPr>
          <a:xfrm>
            <a:off x="0" y="466508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From design to code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5" name="Google Shape;425;p55"/>
          <p:cNvPicPr preferRelativeResize="0"/>
          <p:nvPr/>
        </p:nvPicPr>
        <p:blipFill rotWithShape="1">
          <a:blip r:embed="rId3">
            <a:alphaModFix/>
          </a:blip>
          <a:srcRect t="11817" b="72194"/>
          <a:stretch/>
        </p:blipFill>
        <p:spPr>
          <a:xfrm>
            <a:off x="3619600" y="2270400"/>
            <a:ext cx="2119300" cy="602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6"/>
          <p:cNvSpPr txBox="1"/>
          <p:nvPr/>
        </p:nvSpPr>
        <p:spPr>
          <a:xfrm>
            <a:off x="0" y="466508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From design to code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1" name="Google Shape;431;p56"/>
          <p:cNvSpPr txBox="1"/>
          <p:nvPr/>
        </p:nvSpPr>
        <p:spPr>
          <a:xfrm>
            <a:off x="526475" y="1189351"/>
            <a:ext cx="5378400" cy="21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➔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Break down the design.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➔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Choose components for each part.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➔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Code out the components tree and style it.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8"/>
          <p:cNvSpPr txBox="1"/>
          <p:nvPr/>
        </p:nvSpPr>
        <p:spPr>
          <a:xfrm>
            <a:off x="0" y="466508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From design to code: Exercise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41" name="Google Shape;441;p58"/>
          <p:cNvPicPr preferRelativeResize="0"/>
          <p:nvPr/>
        </p:nvPicPr>
        <p:blipFill rotWithShape="1">
          <a:blip r:embed="rId3">
            <a:alphaModFix/>
          </a:blip>
          <a:srcRect t="30739" b="59300"/>
          <a:stretch/>
        </p:blipFill>
        <p:spPr>
          <a:xfrm>
            <a:off x="729024" y="1713800"/>
            <a:ext cx="7193250" cy="127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9"/>
          <p:cNvSpPr txBox="1"/>
          <p:nvPr/>
        </p:nvSpPr>
        <p:spPr>
          <a:xfrm>
            <a:off x="0" y="466508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From design to code: Exercise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47" name="Google Shape;447;p59"/>
          <p:cNvPicPr preferRelativeResize="0"/>
          <p:nvPr/>
        </p:nvPicPr>
        <p:blipFill rotWithShape="1">
          <a:blip r:embed="rId3">
            <a:alphaModFix/>
          </a:blip>
          <a:srcRect t="30738" b="22848"/>
          <a:stretch/>
        </p:blipFill>
        <p:spPr>
          <a:xfrm>
            <a:off x="3510475" y="1494250"/>
            <a:ext cx="2123050" cy="174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0"/>
          <p:cNvSpPr txBox="1"/>
          <p:nvPr/>
        </p:nvSpPr>
        <p:spPr>
          <a:xfrm>
            <a:off x="0" y="466508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From design to code: Exercise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53" name="Google Shape;453;p60"/>
          <p:cNvPicPr preferRelativeResize="0"/>
          <p:nvPr/>
        </p:nvPicPr>
        <p:blipFill rotWithShape="1">
          <a:blip r:embed="rId3">
            <a:alphaModFix/>
          </a:blip>
          <a:srcRect t="30739" b="12091"/>
          <a:stretch/>
        </p:blipFill>
        <p:spPr>
          <a:xfrm>
            <a:off x="3510475" y="1494250"/>
            <a:ext cx="2123050" cy="215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62"/>
          <p:cNvSpPr txBox="1"/>
          <p:nvPr/>
        </p:nvSpPr>
        <p:spPr>
          <a:xfrm>
            <a:off x="0" y="962108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Roboto"/>
                <a:ea typeface="Roboto"/>
                <a:cs typeface="Roboto"/>
                <a:sym typeface="Roboto"/>
              </a:rPr>
              <a:t>	Assignment 3</a:t>
            </a:r>
            <a:endParaRPr sz="2400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3"/>
          <p:cNvSpPr txBox="1"/>
          <p:nvPr/>
        </p:nvSpPr>
        <p:spPr>
          <a:xfrm>
            <a:off x="0" y="962108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Roboto"/>
                <a:ea typeface="Roboto"/>
                <a:cs typeface="Roboto"/>
                <a:sym typeface="Roboto"/>
              </a:rPr>
              <a:t>	Assignment 3</a:t>
            </a:r>
            <a:endParaRPr sz="24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7" name="Google Shape;477;p63"/>
          <p:cNvSpPr txBox="1"/>
          <p:nvPr/>
        </p:nvSpPr>
        <p:spPr>
          <a:xfrm>
            <a:off x="533975" y="1506958"/>
            <a:ext cx="5378400" cy="11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en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Building the main screen of </a:t>
            </a:r>
            <a:r>
              <a:rPr lang="en-IN" dirty="0" err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Pathao</a:t>
            </a:r>
            <a:r>
              <a:rPr lang="en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E1EC1E-4E65-4CB7-9069-CD1A728F0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7695" y="748040"/>
            <a:ext cx="1735074" cy="30860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313319-C3A0-4300-9428-24CB7EA11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7276" y="546548"/>
            <a:ext cx="2672242" cy="363484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4"/>
          <p:cNvSpPr txBox="1"/>
          <p:nvPr/>
        </p:nvSpPr>
        <p:spPr>
          <a:xfrm>
            <a:off x="0" y="962108"/>
            <a:ext cx="91440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Roboto"/>
                <a:ea typeface="Roboto"/>
                <a:cs typeface="Roboto"/>
                <a:sym typeface="Roboto"/>
              </a:rPr>
              <a:t>	Assignment 3</a:t>
            </a:r>
            <a:endParaRPr sz="24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5" name="Google Shape;485;p64"/>
          <p:cNvSpPr txBox="1"/>
          <p:nvPr/>
        </p:nvSpPr>
        <p:spPr>
          <a:xfrm>
            <a:off x="534821" y="1506958"/>
            <a:ext cx="5378400" cy="11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en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Building the main screen of </a:t>
            </a:r>
            <a:r>
              <a:rPr lang="en-IN" dirty="0" err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Pathao</a:t>
            </a:r>
            <a:r>
              <a:rPr lang="en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en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Focuses on the UI.</a:t>
            </a:r>
            <a:endParaRPr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EC4906-8E76-43D1-91A5-5F3DA77DA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6655" y="748040"/>
            <a:ext cx="1735074" cy="30860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0A857C-E62D-4F01-877E-33DC74A87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618" y="1333961"/>
            <a:ext cx="2672242" cy="36348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639</TotalTime>
  <Words>1110</Words>
  <Application>Microsoft Office PowerPoint</Application>
  <PresentationFormat>On-screen Show (16:9)</PresentationFormat>
  <Paragraphs>206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Helvetica Neue</vt:lpstr>
      <vt:lpstr>Arial</vt:lpstr>
      <vt:lpstr>Calibri</vt:lpstr>
      <vt:lpstr>Roboto</vt:lpstr>
      <vt:lpstr>Consolas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Components</vt:lpstr>
      <vt:lpstr>Components</vt:lpstr>
      <vt:lpstr>Components</vt:lpstr>
      <vt:lpstr>Components</vt:lpstr>
      <vt:lpstr>View</vt:lpstr>
      <vt:lpstr>View</vt:lpstr>
      <vt:lpstr>Text</vt:lpstr>
      <vt:lpstr>Text</vt:lpstr>
      <vt:lpstr>Text</vt:lpstr>
      <vt:lpstr>Image</vt:lpstr>
      <vt:lpstr>Image</vt:lpstr>
      <vt:lpstr>Image</vt:lpstr>
      <vt:lpstr>Components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Youssouf</cp:lastModifiedBy>
  <cp:revision>10</cp:revision>
  <dcterms:modified xsi:type="dcterms:W3CDTF">2025-07-28T08:26:09Z</dcterms:modified>
</cp:coreProperties>
</file>