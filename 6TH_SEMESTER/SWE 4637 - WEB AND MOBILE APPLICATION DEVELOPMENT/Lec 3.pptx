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Helvetica Neue" panose="020B0604020202020204" charset="0"/>
      <p:regular r:id="rId38"/>
      <p:bold r:id="rId39"/>
      <p:italic r:id="rId40"/>
      <p:boldItalic r:id="rId41"/>
    </p:embeddedFont>
    <p:embeddedFont>
      <p:font typeface="Inconsolata" panose="020B0604020202020204" charset="0"/>
      <p:regular r:id="rId42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00e11ab7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00e11ab7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eac2598e5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eac2598e5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ac2598e56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eac2598e56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ac2598e56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eac2598e56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eac2598e56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eac2598e56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ac2598e56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eac2598e56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eac2598e56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eac2598e56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ac2598e56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ac2598e56_1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ac2598e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eac2598e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ac2598e56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eac2598e56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eac2598e56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eac2598e56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eac2598e56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eac2598e56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eac2598e56_1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eac2598e56_1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eac2598e56_1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eac2598e56_1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eac2598e56_1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eac2598e56_1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eac2598e56_1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eac2598e56_1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eac2598e56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eac2598e56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eac2598e5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eac2598e5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eac2598e56_1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eac2598e56_1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eac2598e56_1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eac2598e56_1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eac2598e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eac2598e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eac2598e5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eac2598e5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eac2598e5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eac2598e56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eac2598e5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eac2598e5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eac2598e5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eac2598e5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eac2598e5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eac2598e5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eac2598e56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eac2598e56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eac2598e56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eac2598e56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eac2598e56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eac2598e56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eac2598e56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eac2598e56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eac2598e56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eac2598e56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nack.expo.dev/@hannahlee/fun-stuff-start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nack.expo.dev/@hannahlee/fun-stuf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native.dev/docs/textinput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nack.expo.dev/@nadout/bold-french-frie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actnative.dev/docs/scrollview" TargetMode="External"/><Relationship Id="rId4" Type="http://schemas.openxmlformats.org/officeDocument/2006/relationships/hyperlink" Target="https://snack.expo.dev/@nadout/surprised-raisin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nack.expo.dev/@nadout/bold-french-fri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native.dev/docs/scrollview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snack.expo.dev/@nadout/surprised-raisins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nack.expo.dev/@hannahlee/groceries-starte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reactnative.dev/docs/flatlist" TargetMode="External"/><Relationship Id="rId4" Type="http://schemas.openxmlformats.org/officeDocument/2006/relationships/hyperlink" Target="https://snack.expo.dev/@hannahlee/grocerie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nack.expo.dev/@hannahlee/groceries-starter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reactnative.dev/docs/flatlist" TargetMode="External"/><Relationship Id="rId4" Type="http://schemas.openxmlformats.org/officeDocument/2006/relationships/hyperlink" Target="https://snack.expo.dev/@hannahlee/grocerie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native.dev/docs/flatlis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nack.expo.dev/@hannahlee/hungry-hippo-starte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reactnative.dev/docs/sectionlist" TargetMode="External"/><Relationship Id="rId4" Type="http://schemas.openxmlformats.org/officeDocument/2006/relationships/hyperlink" Target="https://snack.expo.dev/@hannahlee/hungry-hippo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nack.expo.dev/@hannahlee/hungry-hippo-starter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reactnative.dev/docs/sectionlist" TargetMode="External"/><Relationship Id="rId4" Type="http://schemas.openxmlformats.org/officeDocument/2006/relationships/hyperlink" Target="https://snack.expo.dev/@hannahlee/hungry-hippo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reactnative.dev/docs/sectionlis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nack.expo.dev/@nadout/happy-popcorn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hyperlink" Target="https://snack.expo.dev/@nadout/smiling-bacon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native.dev/docs/components-and-api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expo.dev/workflow/using-libraries/" TargetMode="External"/><Relationship Id="rId3" Type="http://schemas.openxmlformats.org/officeDocument/2006/relationships/hyperlink" Target="https://docs.expo.dev/versions/latest/" TargetMode="External"/><Relationship Id="rId7" Type="http://schemas.openxmlformats.org/officeDocument/2006/relationships/hyperlink" Target="https://reactnativeelements.com/doc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nativepaper.com/" TargetMode="External"/><Relationship Id="rId5" Type="http://schemas.openxmlformats.org/officeDocument/2006/relationships/hyperlink" Target="https://www.npmjs.com/search?q=keywords%3Areact-native&amp;page=1&amp;perPage=20" TargetMode="External"/><Relationship Id="rId4" Type="http://schemas.openxmlformats.org/officeDocument/2006/relationships/hyperlink" Target="https://reactnative.directory/?expo=true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xpo.dev/workflow/using-libraries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racealwan/thirdPartyComponents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icons.expo.fyi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gracealwan/thirdPartyComponents" TargetMode="External"/><Relationship Id="rId4" Type="http://schemas.openxmlformats.org/officeDocument/2006/relationships/hyperlink" Target="https://docs.expo.dev/guides/icons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xpo.dev/guides/icons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gracealwan/thirdPartyComponents" TargetMode="Externa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gracealwan/thirdPartyComponents" TargetMode="External"/><Relationship Id="rId4" Type="http://schemas.openxmlformats.org/officeDocument/2006/relationships/hyperlink" Target="https://github.com/react-native-maps/react-native-map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02650" y="1702675"/>
            <a:ext cx="72549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latin typeface="Helvetica Neue"/>
                <a:ea typeface="Helvetica Neue"/>
                <a:cs typeface="Helvetica Neue"/>
                <a:sym typeface="Helvetica Neue"/>
              </a:rPr>
              <a:t>SWE 4637</a:t>
            </a:r>
            <a:r>
              <a:rPr lang="en" sz="2400" dirty="0">
                <a:latin typeface="Helvetica Neue"/>
                <a:ea typeface="Helvetica Neue"/>
                <a:cs typeface="Helvetica Neue"/>
                <a:sym typeface="Helvetica Neue"/>
              </a:rPr>
              <a:t>: Cross-Platform Mobile Development</a:t>
            </a: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36549" y="2119025"/>
            <a:ext cx="63402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8E8E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Functional Components, Third Party Components, and Navigation</a:t>
            </a:r>
            <a:endParaRPr sz="1800" dirty="0">
              <a:solidFill>
                <a:srgbClr val="8E8E9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 🗺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Review of props &amp; state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Learn about new components!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TextInput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ScrollView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FlatList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SectionList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Props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Short for properties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Object argument with data and is passed into React components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Like arguments passed into a function!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Passed from parent to child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Props</a:t>
            </a:r>
            <a:endParaRPr/>
          </a:p>
        </p:txBody>
      </p:sp>
      <p:pic>
        <p:nvPicPr>
          <p:cNvPr id="75" name="Google Shape;75;p16" descr="&lt;Comment&#10;commentUser={firstComment.commentUser}&#10;commentText={firstComment.commentText}&#10;timeStamp={firstComment.timeStamp}&#10;/&gt;&#10;&lt;Comment&#10;commentUser={secondComment.commentUser}&#10;commentText={secondComment.commentText}&#10;timeStamp={secondComment.timeStamp}&#10;/&gt;" title="code snippet showing prop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288" y="1079625"/>
            <a:ext cx="5753425" cy="36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State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Whereas </a:t>
            </a:r>
            <a:r>
              <a:rPr lang="en">
                <a:highlight>
                  <a:srgbClr val="EFEFEF"/>
                </a:highlight>
              </a:rPr>
              <a:t>props</a:t>
            </a:r>
            <a:r>
              <a:rPr lang="en"/>
              <a:t> is an object that is </a:t>
            </a:r>
            <a:r>
              <a:rPr lang="en" u="sng"/>
              <a:t>passed</a:t>
            </a:r>
            <a:r>
              <a:rPr lang="en"/>
              <a:t> to a component, </a:t>
            </a:r>
            <a:r>
              <a:rPr lang="en">
                <a:highlight>
                  <a:srgbClr val="EFEFEF"/>
                </a:highlight>
              </a:rPr>
              <a:t>state</a:t>
            </a:r>
            <a:r>
              <a:rPr lang="en"/>
              <a:t> is managed </a:t>
            </a:r>
            <a:r>
              <a:rPr lang="en" u="sng"/>
              <a:t>within</a:t>
            </a:r>
            <a:r>
              <a:rPr lang="en"/>
              <a:t> the component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only way to update state variables is through </a:t>
            </a:r>
            <a:r>
              <a:rPr lang="en">
                <a:highlight>
                  <a:srgbClr val="EFEFEF"/>
                </a:highlight>
              </a:rPr>
              <a:t>setState</a:t>
            </a:r>
            <a:endParaRPr>
              <a:highlight>
                <a:srgbClr val="EFEFEF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setState to update state causes a </a:t>
            </a:r>
            <a:r>
              <a:rPr lang="en" u="sng"/>
              <a:t>re-render</a:t>
            </a:r>
            <a:r>
              <a:rPr lang="en"/>
              <a:t> of the screen (aka return function fires again)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State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575" y="1347013"/>
            <a:ext cx="5585475" cy="463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1812000" y="1960338"/>
            <a:ext cx="5585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Deconstructing this line of code:</a:t>
            </a:r>
            <a:endParaRPr sz="1800">
              <a:solidFill>
                <a:srgbClr val="666666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-"/>
            </a:pPr>
            <a:r>
              <a:rPr lang="en" sz="1800" b="1">
                <a:solidFill>
                  <a:srgbClr val="666666"/>
                </a:solidFill>
                <a:highlight>
                  <a:schemeClr val="lt2"/>
                </a:highlight>
                <a:latin typeface="Inconsolata"/>
                <a:ea typeface="Inconsolata"/>
                <a:cs typeface="Inconsolata"/>
                <a:sym typeface="Inconsolata"/>
              </a:rPr>
              <a:t>price</a:t>
            </a:r>
            <a:r>
              <a:rPr lang="en" sz="1800" b="1">
                <a:solidFill>
                  <a:srgbClr val="666666"/>
                </a:solidFill>
              </a:rPr>
              <a:t> </a:t>
            </a:r>
            <a:r>
              <a:rPr lang="en" sz="1800">
                <a:solidFill>
                  <a:srgbClr val="666666"/>
                </a:solidFill>
              </a:rPr>
              <a:t>is the name of our variable</a:t>
            </a:r>
            <a:endParaRPr sz="1800">
              <a:solidFill>
                <a:srgbClr val="666666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-"/>
            </a:pPr>
            <a:r>
              <a:rPr lang="en" sz="1800" b="1">
                <a:solidFill>
                  <a:srgbClr val="666666"/>
                </a:solidFill>
                <a:highlight>
                  <a:schemeClr val="lt2"/>
                </a:highlight>
                <a:latin typeface="Inconsolata"/>
                <a:ea typeface="Inconsolata"/>
                <a:cs typeface="Inconsolata"/>
                <a:sym typeface="Inconsolata"/>
              </a:rPr>
              <a:t>setPrice</a:t>
            </a:r>
            <a:r>
              <a:rPr lang="en" sz="1800" b="1">
                <a:solidFill>
                  <a:srgbClr val="666666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800">
                <a:solidFill>
                  <a:srgbClr val="666666"/>
                </a:solidFill>
              </a:rPr>
              <a:t>is the function we call to update </a:t>
            </a:r>
            <a:r>
              <a:rPr lang="en" sz="1800" b="1">
                <a:solidFill>
                  <a:srgbClr val="666666"/>
                </a:solidFill>
                <a:highlight>
                  <a:schemeClr val="lt2"/>
                </a:highlight>
                <a:latin typeface="Inconsolata"/>
                <a:ea typeface="Inconsolata"/>
                <a:cs typeface="Inconsolata"/>
                <a:sym typeface="Inconsolata"/>
              </a:rPr>
              <a:t>price</a:t>
            </a:r>
            <a:endParaRPr sz="1800" b="1">
              <a:solidFill>
                <a:srgbClr val="666666"/>
              </a:solidFill>
              <a:highlight>
                <a:schemeClr val="lt2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-"/>
            </a:pPr>
            <a:r>
              <a:rPr lang="en" sz="1800" b="1">
                <a:solidFill>
                  <a:srgbClr val="666666"/>
                </a:solidFill>
                <a:highlight>
                  <a:schemeClr val="lt2"/>
                </a:highlight>
                <a:latin typeface="Inconsolata"/>
                <a:ea typeface="Inconsolata"/>
                <a:cs typeface="Inconsolata"/>
                <a:sym typeface="Inconsolata"/>
              </a:rPr>
              <a:t>price</a:t>
            </a:r>
            <a:r>
              <a:rPr lang="en" sz="1800" b="1">
                <a:solidFill>
                  <a:srgbClr val="666666"/>
                </a:solidFill>
              </a:rPr>
              <a:t> </a:t>
            </a:r>
            <a:r>
              <a:rPr lang="en" sz="1800">
                <a:solidFill>
                  <a:srgbClr val="666666"/>
                </a:solidFill>
              </a:rPr>
              <a:t>starts with an initial value of 0</a:t>
            </a:r>
            <a:endParaRPr sz="180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Adding a variable to a component’s state always follows this general pattern</a:t>
            </a:r>
            <a:endParaRPr sz="1800">
              <a:solidFill>
                <a:srgbClr val="666666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666666"/>
              </a:solidFill>
              <a:highlight>
                <a:schemeClr val="lt2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Props vs. State</a:t>
            </a:r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b="1"/>
              <a:t>Props</a:t>
            </a:r>
            <a:r>
              <a:rPr lang="en"/>
              <a:t> are passed in by the parent and are fixed throughout the component’s lifetime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b="1"/>
              <a:t>State </a:t>
            </a:r>
            <a:r>
              <a:rPr lang="en"/>
              <a:t>is managed within the component and can be modified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data that is going to change, use State!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45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https://snack.expo.dev/@hannahlee/fun-stuff-starter</a:t>
            </a:r>
            <a:endParaRPr dirty="0"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950" y="671739"/>
            <a:ext cx="4350350" cy="38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TextInput </a:t>
            </a:r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4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Allows us to get text input from the user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Username/password log-in fields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Typing in a new to-do item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etc.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Two notable props: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b="1" dirty="0"/>
              <a:t>value </a:t>
            </a:r>
            <a:r>
              <a:rPr lang="en" dirty="0"/>
              <a:t>is the text that the textInput displays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b="1" dirty="0"/>
              <a:t>onChangeText </a:t>
            </a:r>
            <a:r>
              <a:rPr lang="en" dirty="0"/>
              <a:t>is called when the text is updated by the user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Demo: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final product</a:t>
            </a:r>
            <a:endParaRPr dirty="0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8537" y="3492550"/>
            <a:ext cx="3563751" cy="85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1949" y="962650"/>
            <a:ext cx="1736925" cy="2043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21"/>
          <p:cNvCxnSpPr/>
          <p:nvPr/>
        </p:nvCxnSpPr>
        <p:spPr>
          <a:xfrm flipH="1">
            <a:off x="6290175" y="1480150"/>
            <a:ext cx="191100" cy="193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" name="Google Shape;111;p21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Docs: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https://reactnative.dev/docs/textinput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ScrollView 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6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Like a View, but… scrollable!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Renders all the components within the ScrollView at once, even if they’re not currently displayed on the screen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This means slow performance and a lot of memory usage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Best to display a small number of things of limited size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Demo: </a:t>
            </a:r>
            <a:r>
              <a:rPr lang="en" u="sng">
                <a:solidFill>
                  <a:schemeClr val="hlink"/>
                </a:solidFill>
                <a:hlinkClick r:id="rId3"/>
              </a:rPr>
              <a:t>follow-along</a:t>
            </a:r>
            <a:r>
              <a:rPr lang="en"/>
              <a:t> / </a:t>
            </a:r>
            <a:r>
              <a:rPr lang="en" u="sng">
                <a:solidFill>
                  <a:schemeClr val="hlink"/>
                </a:solidFill>
                <a:hlinkClick r:id="rId4"/>
              </a:rPr>
              <a:t>final product</a:t>
            </a:r>
            <a:endParaRPr sz="1600"/>
          </a:p>
        </p:txBody>
      </p:sp>
      <p:sp>
        <p:nvSpPr>
          <p:cNvPr id="118" name="Google Shape;118;p22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Docs: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https://reactnative.dev/docs/scrollview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ScrollView </a:t>
            </a:r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6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Like a View, but… scrollable!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Renders all the components within the ScrollView at once, even if they’re not currently displayed on the screen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This means slow performance and a lot of memory usage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Best to display a small number of things of limited size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Demo: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follow-along</a:t>
            </a:r>
            <a:r>
              <a:rPr lang="en"/>
              <a:t> /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final product</a:t>
            </a:r>
            <a:endParaRPr sz="1600"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9175" y="606513"/>
            <a:ext cx="1698550" cy="3930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23"/>
          <p:cNvCxnSpPr/>
          <p:nvPr/>
        </p:nvCxnSpPr>
        <p:spPr>
          <a:xfrm rot="10800000" flipH="1">
            <a:off x="6075125" y="4470275"/>
            <a:ext cx="1213500" cy="18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27" name="Google Shape;127;p23"/>
          <p:cNvSpPr txBox="1"/>
          <p:nvPr/>
        </p:nvSpPr>
        <p:spPr>
          <a:xfrm>
            <a:off x="4814700" y="4360675"/>
            <a:ext cx="150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more content down here!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Docs: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https://reactnative.dev/docs/scrollview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Native Lists</a:t>
            </a:r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 us to present lists of data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Only renders the elements currently visible on the screen, not all at once = better than ScrollView for long lists ✅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Built-in scrolling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Today we will learn about </a:t>
            </a:r>
            <a:r>
              <a:rPr lang="en" b="1"/>
              <a:t>FlatList </a:t>
            </a:r>
            <a:r>
              <a:rPr lang="en"/>
              <a:t>and </a:t>
            </a:r>
            <a:r>
              <a:rPr lang="en" b="1"/>
              <a:t>SectionList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FlatList </a:t>
            </a:r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516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Fully cross-platform, offers header/footer support, pull to refresh, scrollable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Three notable props:</a:t>
            </a:r>
            <a:endParaRPr sz="17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data </a:t>
            </a:r>
            <a:r>
              <a:rPr lang="en" sz="1300"/>
              <a:t>is the array of data that the list displays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renderItem </a:t>
            </a:r>
            <a:r>
              <a:rPr lang="en" sz="1300"/>
              <a:t>is a function that takes in an item from the data and renders it</a:t>
            </a:r>
            <a:endParaRPr sz="1300"/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this is where we specify the UI layout for each element in the list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keyExtractor </a:t>
            </a:r>
            <a:r>
              <a:rPr lang="en" sz="1300"/>
              <a:t>is a function that returns a unique key for each element in the list</a:t>
            </a:r>
            <a:endParaRPr sz="1300"/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very important &amp; common cause of errors!</a:t>
            </a:r>
            <a:endParaRPr sz="13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Demo: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follow-along</a:t>
            </a:r>
            <a:r>
              <a:rPr lang="en" sz="1700"/>
              <a:t> / </a:t>
            </a:r>
            <a:r>
              <a:rPr lang="en" sz="1700" u="sng">
                <a:solidFill>
                  <a:schemeClr val="hlink"/>
                </a:solidFill>
                <a:hlinkClick r:id="rId4"/>
              </a:rPr>
              <a:t>final product</a:t>
            </a:r>
            <a:endParaRPr sz="1600"/>
          </a:p>
        </p:txBody>
      </p:sp>
      <p:sp>
        <p:nvSpPr>
          <p:cNvPr id="141" name="Google Shape;141;p25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Docs: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https://reactnative.dev/docs/flatlist</a:t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 rotWithShape="1">
          <a:blip r:embed="rId6">
            <a:alphaModFix/>
          </a:blip>
          <a:srcRect t="1323" b="1333"/>
          <a:stretch/>
        </p:blipFill>
        <p:spPr>
          <a:xfrm>
            <a:off x="6342451" y="412112"/>
            <a:ext cx="1876975" cy="4319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FlatList </a:t>
            </a:r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6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Fully cross-platform, offers header/footer support, pull to refresh, scrollable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Three notable props:</a:t>
            </a:r>
            <a:endParaRPr sz="17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data </a:t>
            </a:r>
            <a:r>
              <a:rPr lang="en" sz="1300"/>
              <a:t>is the array of data that the list displays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renderItem </a:t>
            </a:r>
            <a:r>
              <a:rPr lang="en" sz="1300"/>
              <a:t>is a function that takes in an item from the data and renders it</a:t>
            </a:r>
            <a:endParaRPr sz="1300"/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this is where we specify the UI layout for each element in the list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keyExtractor </a:t>
            </a:r>
            <a:r>
              <a:rPr lang="en" sz="1300"/>
              <a:t>is a function that returns a unique key for each element in the list</a:t>
            </a:r>
            <a:endParaRPr sz="1300"/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very important &amp; common cause of errors!</a:t>
            </a:r>
            <a:endParaRPr sz="13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Demo: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follow-along</a:t>
            </a:r>
            <a:r>
              <a:rPr lang="en" sz="1700"/>
              <a:t> / </a:t>
            </a:r>
            <a:r>
              <a:rPr lang="en" sz="1700" u="sng">
                <a:solidFill>
                  <a:schemeClr val="hlink"/>
                </a:solidFill>
                <a:hlinkClick r:id="rId4"/>
              </a:rPr>
              <a:t>final product</a:t>
            </a:r>
            <a:endParaRPr sz="1600"/>
          </a:p>
        </p:txBody>
      </p:sp>
      <p:sp>
        <p:nvSpPr>
          <p:cNvPr id="149" name="Google Shape;149;p26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Docs: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https://reactnative.dev/docs/flatlist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 rotWithShape="1">
          <a:blip r:embed="rId6">
            <a:alphaModFix/>
          </a:blip>
          <a:srcRect t="1323" b="1333"/>
          <a:stretch/>
        </p:blipFill>
        <p:spPr>
          <a:xfrm>
            <a:off x="6333476" y="249600"/>
            <a:ext cx="1876975" cy="4319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75025" y="3872075"/>
            <a:ext cx="3182400" cy="8968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FlatList </a:t>
            </a:r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Docs: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https://reactnative.dev/docs/flatlist</a:t>
            </a:r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 rotWithShape="1">
          <a:blip r:embed="rId4">
            <a:alphaModFix/>
          </a:blip>
          <a:srcRect t="1323" b="1333"/>
          <a:stretch/>
        </p:blipFill>
        <p:spPr>
          <a:xfrm>
            <a:off x="6333476" y="249600"/>
            <a:ext cx="1876975" cy="4319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000" y="1069375"/>
            <a:ext cx="3182400" cy="8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000" y="2191899"/>
            <a:ext cx="3785599" cy="2005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7"/>
          <p:cNvCxnSpPr/>
          <p:nvPr/>
        </p:nvCxnSpPr>
        <p:spPr>
          <a:xfrm flipH="1">
            <a:off x="5793200" y="1009900"/>
            <a:ext cx="626400" cy="10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2" name="Google Shape;162;p27"/>
          <p:cNvSpPr txBox="1"/>
          <p:nvPr/>
        </p:nvSpPr>
        <p:spPr>
          <a:xfrm>
            <a:off x="3981950" y="915975"/>
            <a:ext cx="1968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each of these rows is a GroceryItem component, rendered using </a:t>
            </a:r>
            <a:r>
              <a:rPr lang="en" sz="1200" b="1">
                <a:solidFill>
                  <a:schemeClr val="dk2"/>
                </a:solidFill>
              </a:rPr>
              <a:t>renderItem</a:t>
            </a:r>
            <a:endParaRPr sz="12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SectionList</a:t>
            </a:r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4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Like FlatList, but with sections!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Four notable props:</a:t>
            </a:r>
            <a:endParaRPr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 i="1"/>
              <a:t>(same as FlatList)</a:t>
            </a:r>
            <a:endParaRPr sz="1300" b="1" i="1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renderItem </a:t>
            </a:r>
            <a:r>
              <a:rPr lang="en" sz="1300"/>
              <a:t>is a function that takes in an item from the data and renders it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keyExtractor </a:t>
            </a:r>
            <a:r>
              <a:rPr lang="en" sz="1300"/>
              <a:t>is a function that returns a unique key for each element in the list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 i="1"/>
              <a:t>(new)</a:t>
            </a:r>
            <a:endParaRPr sz="1300" b="1" i="1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sections </a:t>
            </a:r>
            <a:r>
              <a:rPr lang="en" sz="1300"/>
              <a:t>is an array that maps each section to the data within it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renderSectionHeader </a:t>
            </a:r>
            <a:r>
              <a:rPr lang="en" sz="1300"/>
              <a:t>lets you render the layout for each section header</a:t>
            </a:r>
            <a:endParaRPr sz="13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Demo: </a:t>
            </a:r>
            <a:r>
              <a:rPr lang="en" u="sng">
                <a:solidFill>
                  <a:schemeClr val="hlink"/>
                </a:solidFill>
                <a:hlinkClick r:id="rId3"/>
              </a:rPr>
              <a:t>follow-along</a:t>
            </a:r>
            <a:r>
              <a:rPr lang="en"/>
              <a:t> / </a:t>
            </a:r>
            <a:r>
              <a:rPr lang="en" u="sng">
                <a:solidFill>
                  <a:schemeClr val="hlink"/>
                </a:solidFill>
                <a:hlinkClick r:id="rId4"/>
              </a:rPr>
              <a:t>final product</a:t>
            </a:r>
            <a:endParaRPr sz="1300"/>
          </a:p>
        </p:txBody>
      </p:sp>
      <p:sp>
        <p:nvSpPr>
          <p:cNvPr id="169" name="Google Shape;169;p28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Docs: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https://reactnative.dev/docs/sectionlist</a:t>
            </a:r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 rotWithShape="1">
          <a:blip r:embed="rId6">
            <a:alphaModFix/>
          </a:blip>
          <a:srcRect t="1475" b="1475"/>
          <a:stretch/>
        </p:blipFill>
        <p:spPr>
          <a:xfrm>
            <a:off x="6347950" y="381950"/>
            <a:ext cx="1876975" cy="437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SectionList </a:t>
            </a:r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4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Like FlatList, but with sections!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Four notable props:</a:t>
            </a:r>
            <a:endParaRPr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 i="1"/>
              <a:t>(same as FlatList)</a:t>
            </a:r>
            <a:endParaRPr sz="1300" b="1" i="1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renderItem </a:t>
            </a:r>
            <a:r>
              <a:rPr lang="en" sz="1300"/>
              <a:t>is a function that takes in an item from the data and renders it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keyExtractor </a:t>
            </a:r>
            <a:r>
              <a:rPr lang="en" sz="1300"/>
              <a:t>is a function that returns a unique key for each element in the list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 i="1"/>
              <a:t>(new)</a:t>
            </a:r>
            <a:endParaRPr sz="1300" b="1" i="1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sections </a:t>
            </a:r>
            <a:r>
              <a:rPr lang="en" sz="1300"/>
              <a:t>is an array that maps each section to the data within it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 b="1"/>
              <a:t>renderSectionHeader </a:t>
            </a:r>
            <a:r>
              <a:rPr lang="en" sz="1300"/>
              <a:t>lets you render the layout for each section header</a:t>
            </a:r>
            <a:endParaRPr sz="13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Demo: </a:t>
            </a:r>
            <a:r>
              <a:rPr lang="en" u="sng">
                <a:solidFill>
                  <a:schemeClr val="hlink"/>
                </a:solidFill>
                <a:hlinkClick r:id="rId3"/>
              </a:rPr>
              <a:t>follow-along</a:t>
            </a:r>
            <a:r>
              <a:rPr lang="en"/>
              <a:t> / </a:t>
            </a:r>
            <a:r>
              <a:rPr lang="en" u="sng">
                <a:solidFill>
                  <a:schemeClr val="hlink"/>
                </a:solidFill>
                <a:hlinkClick r:id="rId4"/>
              </a:rPr>
              <a:t>final product</a:t>
            </a:r>
            <a:endParaRPr sz="1300"/>
          </a:p>
        </p:txBody>
      </p:sp>
      <p:sp>
        <p:nvSpPr>
          <p:cNvPr id="177" name="Google Shape;177;p29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Docs: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https://reactnative.dev/docs/sectionlist</a:t>
            </a:r>
            <a:endParaRPr/>
          </a:p>
        </p:txBody>
      </p:sp>
      <p:pic>
        <p:nvPicPr>
          <p:cNvPr id="178" name="Google Shape;178;p29"/>
          <p:cNvPicPr preferRelativeResize="0"/>
          <p:nvPr/>
        </p:nvPicPr>
        <p:blipFill rotWithShape="1">
          <a:blip r:embed="rId6">
            <a:alphaModFix/>
          </a:blip>
          <a:srcRect t="1475" b="1475"/>
          <a:stretch/>
        </p:blipFill>
        <p:spPr>
          <a:xfrm>
            <a:off x="6347950" y="381950"/>
            <a:ext cx="1876975" cy="437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50675" y="3581600"/>
            <a:ext cx="3538525" cy="12418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0"/>
          <p:cNvPicPr preferRelativeResize="0"/>
          <p:nvPr/>
        </p:nvPicPr>
        <p:blipFill rotWithShape="1">
          <a:blip r:embed="rId3">
            <a:alphaModFix/>
          </a:blip>
          <a:srcRect t="1475" b="1475"/>
          <a:stretch/>
        </p:blipFill>
        <p:spPr>
          <a:xfrm>
            <a:off x="6347950" y="381950"/>
            <a:ext cx="1876975" cy="437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SectionList</a:t>
            </a:r>
            <a:endParaRPr/>
          </a:p>
        </p:txBody>
      </p:sp>
      <p:sp>
        <p:nvSpPr>
          <p:cNvPr id="186" name="Google Shape;186;p30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Docs: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https://reactnative.dev/docs/sectionlist</a:t>
            </a: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225" y="1115250"/>
            <a:ext cx="3538525" cy="1241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30"/>
          <p:cNvCxnSpPr/>
          <p:nvPr/>
        </p:nvCxnSpPr>
        <p:spPr>
          <a:xfrm flipH="1">
            <a:off x="5824500" y="1742275"/>
            <a:ext cx="626400" cy="10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9" name="Google Shape;189;p30"/>
          <p:cNvSpPr txBox="1"/>
          <p:nvPr/>
        </p:nvSpPr>
        <p:spPr>
          <a:xfrm>
            <a:off x="4013250" y="1648350"/>
            <a:ext cx="1968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each of these rows is a MenuItem component, rendered using </a:t>
            </a:r>
            <a:r>
              <a:rPr lang="en" sz="1200" b="1">
                <a:solidFill>
                  <a:schemeClr val="dk2"/>
                </a:solidFill>
              </a:rPr>
              <a:t>renderItem</a:t>
            </a:r>
            <a:endParaRPr sz="1200" b="1">
              <a:solidFill>
                <a:schemeClr val="dk2"/>
              </a:solidFill>
            </a:endParaRPr>
          </a:p>
        </p:txBody>
      </p:sp>
      <p:cxnSp>
        <p:nvCxnSpPr>
          <p:cNvPr id="190" name="Google Shape;190;p30"/>
          <p:cNvCxnSpPr/>
          <p:nvPr/>
        </p:nvCxnSpPr>
        <p:spPr>
          <a:xfrm flipH="1">
            <a:off x="5748300" y="3757925"/>
            <a:ext cx="626400" cy="10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1" name="Google Shape;191;p30"/>
          <p:cNvSpPr txBox="1"/>
          <p:nvPr/>
        </p:nvSpPr>
        <p:spPr>
          <a:xfrm>
            <a:off x="3501550" y="3740200"/>
            <a:ext cx="232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each of these rows is a section header, rendered using </a:t>
            </a:r>
            <a:r>
              <a:rPr lang="en" sz="1200" b="1">
                <a:solidFill>
                  <a:schemeClr val="dk2"/>
                </a:solidFill>
              </a:rPr>
              <a:t>renderSectionHeader</a:t>
            </a:r>
            <a:endParaRPr sz="1200" b="1">
              <a:solidFill>
                <a:schemeClr val="dk2"/>
              </a:solidFill>
            </a:endParaRPr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8225" y="2607050"/>
            <a:ext cx="3943275" cy="109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9625" y="1888875"/>
            <a:ext cx="1689675" cy="21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4100" y="1903254"/>
            <a:ext cx="1302750" cy="28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FlatList vs. SectionList Data </a:t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425" y="1205600"/>
            <a:ext cx="1928590" cy="305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3173" y="1205600"/>
            <a:ext cx="4425400" cy="305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/>
          <p:cNvSpPr txBox="1"/>
          <p:nvPr/>
        </p:nvSpPr>
        <p:spPr>
          <a:xfrm>
            <a:off x="573975" y="4358675"/>
            <a:ext cx="243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FlatList – no sections, just items</a:t>
            </a:r>
            <a:endParaRPr sz="1200" b="1">
              <a:solidFill>
                <a:schemeClr val="dk2"/>
              </a:solidFill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3893175" y="4358675"/>
            <a:ext cx="442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SectionList – section titles map to arrays of items</a:t>
            </a:r>
            <a:endParaRPr sz="12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it all together!</a:t>
            </a:r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To-do list app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Starter code: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https://snack.expo.dev/@nadout/happy-popcorn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Solution</a:t>
            </a:r>
            <a:r>
              <a:rPr lang="en"/>
              <a:t> – don’t look until you’ve tried it yourself :)  </a:t>
            </a:r>
            <a:endParaRPr/>
          </a:p>
        </p:txBody>
      </p:sp>
      <p:pic>
        <p:nvPicPr>
          <p:cNvPr id="210" name="Google Shape;21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2600" y="659575"/>
            <a:ext cx="1634725" cy="38243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221" name="Google Shape;221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React Native </a:t>
            </a:r>
            <a:r>
              <a:rPr lang="en" u="sng">
                <a:solidFill>
                  <a:schemeClr val="hlink"/>
                </a:solidFill>
                <a:hlinkClick r:id="rId3"/>
              </a:rPr>
              <a:t>core components</a:t>
            </a:r>
            <a:r>
              <a:rPr lang="en"/>
              <a:t> (View, Text, Image, FlatList, etc.)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There are more components that we haven’t covered in lecture, so definitely go through this list at some point to check out what other components you can use!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 ImageBackground, TouchableOpacity, ActivityIndicator, Switch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Custom components (e.g. GroceryItem from today)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b="1"/>
              <a:t>Third-party components</a:t>
            </a:r>
            <a:r>
              <a:rPr lang="en"/>
              <a:t> → now!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Third-Party Components</a:t>
            </a:r>
            <a:endParaRPr/>
          </a:p>
        </p:txBody>
      </p:sp>
      <p:sp>
        <p:nvSpPr>
          <p:cNvPr id="227" name="Google Shape;22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need to re-invent the wheel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Developers have already implemented many different libraries with components / interactions you might want to include in your app 🤩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few examples: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Calendar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Chat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Swiping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Maps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Custom UI components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Don’t be shy about using third-party components – they will make your life a lot easier! 🤗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Third-Party Components</a:t>
            </a:r>
            <a:endParaRPr/>
          </a:p>
        </p:txBody>
      </p:sp>
      <p:sp>
        <p:nvSpPr>
          <p:cNvPr id="240" name="Google Shape;24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can we find third-party components to use in our apps?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Expo SDK</a:t>
            </a:r>
            <a:r>
              <a:rPr lang="en"/>
              <a:t> (see list on the left sidebar)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React Native Directory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npm registry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of my favs: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React Native Paper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React Native Elements</a:t>
            </a:r>
            <a:endParaRPr/>
          </a:p>
        </p:txBody>
      </p:sp>
      <p:sp>
        <p:nvSpPr>
          <p:cNvPr id="241" name="Google Shape;241;p37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Useful link: </a:t>
            </a:r>
            <a:r>
              <a:rPr lang="en" u="sng">
                <a:solidFill>
                  <a:schemeClr val="hlink"/>
                </a:solidFill>
                <a:hlinkClick r:id="rId8"/>
              </a:rPr>
              <a:t>https://docs.expo.dev/workflow/using-libraries/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Third-Party Components</a:t>
            </a:r>
            <a:endParaRPr/>
          </a:p>
        </p:txBody>
      </p:sp>
      <p:sp>
        <p:nvSpPr>
          <p:cNvPr id="247" name="Google Shape;247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Word of warning: Not all libraries you find online will be compatible with React Native and/or Expo ⚠️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 React Native Directory, check for the </a:t>
            </a:r>
            <a:r>
              <a:rPr lang="en">
                <a:highlight>
                  <a:schemeClr val="lt2"/>
                </a:highlight>
              </a:rPr>
              <a:t>✔️ Expo Go</a:t>
            </a:r>
            <a:r>
              <a:rPr lang="en"/>
              <a:t> flag (link above is already filtered)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Otherwise, check the GitHub repo for the library for the following: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Is there an 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ios/</a:t>
            </a:r>
            <a:r>
              <a:rPr lang="en"/>
              <a:t> or 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android/</a:t>
            </a:r>
            <a:r>
              <a:rPr lang="en"/>
              <a:t> directory?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Does the README mention linking (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react-native link</a:t>
            </a:r>
            <a:r>
              <a:rPr lang="en"/>
              <a:t>)?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Is it built specifically for Node.js, the web, electron, or some other platform?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If you answered yes to any of these, the library may be incompatible with Expo.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You can always try installing the library and using it to confirm whether or not it is compatible!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48" name="Google Shape;248;p38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Useful 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https://docs.expo.dev/workflow/using-libraries/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Third-Party Components</a:t>
            </a:r>
            <a:endParaRPr/>
          </a:p>
        </p:txBody>
      </p:sp>
      <p:sp>
        <p:nvSpPr>
          <p:cNvPr id="254" name="Google Shape;254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</a:t>
            </a:r>
            <a:r>
              <a:rPr lang="en" b="1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npx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expo install</a:t>
            </a:r>
            <a:r>
              <a:rPr lang="en"/>
              <a:t> as opposed to 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npm install</a:t>
            </a:r>
            <a:r>
              <a:rPr lang="en"/>
              <a:t> or 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yarn add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This command allows Expo to pick a compatible version of the library and will also warn you about any known incompatibilities!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Generally fine to use even if installation instructions say 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npm install</a:t>
            </a:r>
            <a:r>
              <a:rPr lang="en" sz="1800"/>
              <a:t> </a:t>
            </a:r>
            <a:r>
              <a:rPr lang="en"/>
              <a:t>(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npx expo install</a:t>
            </a:r>
            <a:r>
              <a:rPr lang="en"/>
              <a:t> is basically just 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npm install</a:t>
            </a:r>
            <a:r>
              <a:rPr lang="en"/>
              <a:t> under the hood with some extra checks)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sure to run installation commands in the project directory!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Follow any other commands outlined in the README for setup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55" name="Google Shape;255;p39"/>
          <p:cNvSpPr txBox="1"/>
          <p:nvPr/>
        </p:nvSpPr>
        <p:spPr>
          <a:xfrm>
            <a:off x="430500" y="3264625"/>
            <a:ext cx="8401800" cy="9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✨ </a:t>
            </a:r>
            <a:r>
              <a:rPr lang="en" sz="1800">
                <a:solidFill>
                  <a:schemeClr val="dk2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cd [APP-DIRECTORY] 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✨ </a:t>
            </a:r>
            <a:r>
              <a:rPr lang="en" sz="1800">
                <a:solidFill>
                  <a:schemeClr val="dk2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npx expo install [LIBRARY-NAME]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Third-Party Components</a:t>
            </a:r>
            <a:endParaRPr/>
          </a:p>
        </p:txBody>
      </p:sp>
      <p:sp>
        <p:nvSpPr>
          <p:cNvPr id="261" name="Google Shape;261;p40"/>
          <p:cNvSpPr txBox="1"/>
          <p:nvPr/>
        </p:nvSpPr>
        <p:spPr>
          <a:xfrm>
            <a:off x="2039400" y="4008425"/>
            <a:ext cx="506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Example output of installing the expo-image-picker library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62" name="Google Shape;2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375" y="1398725"/>
            <a:ext cx="6143250" cy="24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Third-Party Components</a:t>
            </a:r>
            <a:endParaRPr/>
          </a:p>
        </p:txBody>
      </p:sp>
      <p:pic>
        <p:nvPicPr>
          <p:cNvPr id="268" name="Google Shape;2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375" y="1398725"/>
            <a:ext cx="6143250" cy="24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1"/>
          <p:cNvSpPr/>
          <p:nvPr/>
        </p:nvSpPr>
        <p:spPr>
          <a:xfrm>
            <a:off x="1500375" y="1398725"/>
            <a:ext cx="3006900" cy="2441100"/>
          </a:xfrm>
          <a:prstGeom prst="rect">
            <a:avLst/>
          </a:prstGeom>
          <a:solidFill>
            <a:srgbClr val="000000">
              <a:alpha val="67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1"/>
          <p:cNvSpPr txBox="1"/>
          <p:nvPr/>
        </p:nvSpPr>
        <p:spPr>
          <a:xfrm>
            <a:off x="2039400" y="4008425"/>
            <a:ext cx="506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Example output of installing the expo-image-picker library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1" name="Google Shape;271;p41"/>
          <p:cNvSpPr/>
          <p:nvPr/>
        </p:nvSpPr>
        <p:spPr>
          <a:xfrm>
            <a:off x="4507275" y="1583216"/>
            <a:ext cx="2695500" cy="2244600"/>
          </a:xfrm>
          <a:prstGeom prst="rect">
            <a:avLst/>
          </a:prstGeom>
          <a:solidFill>
            <a:srgbClr val="000000">
              <a:alpha val="67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 txBox="1">
            <a:spLocks noGrp="1"/>
          </p:cNvSpPr>
          <p:nvPr>
            <p:ph type="title"/>
          </p:nvPr>
        </p:nvSpPr>
        <p:spPr>
          <a:xfrm>
            <a:off x="311700" y="1269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Demo! </a:t>
            </a:r>
            <a:r>
              <a:rPr lang="en" sz="3355"/>
              <a:t>🦍</a:t>
            </a:r>
            <a:endParaRPr sz="3355"/>
          </a:p>
        </p:txBody>
      </p:sp>
      <p:sp>
        <p:nvSpPr>
          <p:cNvPr id="277" name="Google Shape;277;p42"/>
          <p:cNvSpPr txBox="1"/>
          <p:nvPr/>
        </p:nvSpPr>
        <p:spPr>
          <a:xfrm>
            <a:off x="1863900" y="2068675"/>
            <a:ext cx="541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https://github.com/gracealwan/thirdPartyComponents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– Icons</a:t>
            </a:r>
            <a:endParaRPr/>
          </a:p>
        </p:txBody>
      </p:sp>
      <p:sp>
        <p:nvSpPr>
          <p:cNvPr id="283" name="Google Shape;283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@expo/vector-icons library is installed by default in projects created using 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npx expo init icon-demo</a:t>
            </a:r>
            <a:endParaRPr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Browse icons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https://icons.expo.fyi/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Follow directions to display icon component in your app</a:t>
            </a:r>
            <a:endParaRPr/>
          </a:p>
        </p:txBody>
      </p:sp>
      <p:sp>
        <p:nvSpPr>
          <p:cNvPr id="284" name="Google Shape;284;p43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Useful link: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https://docs.expo.dev/guides/icons/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85" name="Google Shape;285;p43"/>
          <p:cNvSpPr txBox="1"/>
          <p:nvPr/>
        </p:nvSpPr>
        <p:spPr>
          <a:xfrm>
            <a:off x="6620775" y="2905550"/>
            <a:ext cx="261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Demo Code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– Icons</a:t>
            </a:r>
            <a:endParaRPr/>
          </a:p>
        </p:txBody>
      </p:sp>
      <p:sp>
        <p:nvSpPr>
          <p:cNvPr id="291" name="Google Shape;291;p44"/>
          <p:cNvSpPr txBox="1"/>
          <p:nvPr/>
        </p:nvSpPr>
        <p:spPr>
          <a:xfrm>
            <a:off x="311700" y="4423275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Useful 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https://docs.expo.dev/guides/icons/</a:t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292" name="Google Shape;2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426" y="1214375"/>
            <a:ext cx="7407150" cy="2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4"/>
          <p:cNvSpPr txBox="1"/>
          <p:nvPr/>
        </p:nvSpPr>
        <p:spPr>
          <a:xfrm>
            <a:off x="6529800" y="394925"/>
            <a:ext cx="261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Demo Code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– react-native-maps</a:t>
            </a:r>
            <a:endParaRPr/>
          </a:p>
        </p:txBody>
      </p:sp>
      <p:sp>
        <p:nvSpPr>
          <p:cNvPr id="299" name="Google Shape;299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035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React Native Map components for iOS + Android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Install using </a:t>
            </a:r>
            <a:r>
              <a:rPr lang="en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npx expo install react-native-maps</a:t>
            </a:r>
            <a:endParaRPr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use Apple Maps or Google Maps for iOS, must use Google Maps for Android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Need a Google API key to use Google Maps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MapView, Marker, and other components</a:t>
            </a:r>
            <a:endParaRPr/>
          </a:p>
        </p:txBody>
      </p:sp>
      <p:pic>
        <p:nvPicPr>
          <p:cNvPr id="300" name="Google Shape;30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8925" y="661263"/>
            <a:ext cx="176496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5"/>
          <p:cNvSpPr txBox="1"/>
          <p:nvPr/>
        </p:nvSpPr>
        <p:spPr>
          <a:xfrm>
            <a:off x="311700" y="4423275"/>
            <a:ext cx="555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GitHub link: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https://github.com/react-native-maps/react-native-maps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302" name="Google Shape;302;p45"/>
          <p:cNvSpPr txBox="1"/>
          <p:nvPr/>
        </p:nvSpPr>
        <p:spPr>
          <a:xfrm>
            <a:off x="6488150" y="206850"/>
            <a:ext cx="261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Demo Code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1534</Words>
  <Application>Microsoft Office PowerPoint</Application>
  <PresentationFormat>On-screen Show (16:9)</PresentationFormat>
  <Paragraphs>186</Paragraphs>
  <Slides>31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Helvetica Neue</vt:lpstr>
      <vt:lpstr>Consolas</vt:lpstr>
      <vt:lpstr>Inconsolata</vt:lpstr>
      <vt:lpstr>Simple Light</vt:lpstr>
      <vt:lpstr>PowerPoint Presentation</vt:lpstr>
      <vt:lpstr>Roadmap 🗺</vt:lpstr>
      <vt:lpstr>Review: Props</vt:lpstr>
      <vt:lpstr>Review: Props</vt:lpstr>
      <vt:lpstr>Review: State</vt:lpstr>
      <vt:lpstr>Review: State</vt:lpstr>
      <vt:lpstr>Review: Props vs. State</vt:lpstr>
      <vt:lpstr>Demo</vt:lpstr>
      <vt:lpstr>TextInput </vt:lpstr>
      <vt:lpstr>ScrollView </vt:lpstr>
      <vt:lpstr>ScrollView </vt:lpstr>
      <vt:lpstr>React Native Lists</vt:lpstr>
      <vt:lpstr>FlatList </vt:lpstr>
      <vt:lpstr>FlatList </vt:lpstr>
      <vt:lpstr>FlatList </vt:lpstr>
      <vt:lpstr>SectionList</vt:lpstr>
      <vt:lpstr>SectionList </vt:lpstr>
      <vt:lpstr>SectionList</vt:lpstr>
      <vt:lpstr>FlatList vs. SectionList Data </vt:lpstr>
      <vt:lpstr>Put it all together!</vt:lpstr>
      <vt:lpstr>Components</vt:lpstr>
      <vt:lpstr>Third-Party Components</vt:lpstr>
      <vt:lpstr>Third-Party Components</vt:lpstr>
      <vt:lpstr>Third-Party Components</vt:lpstr>
      <vt:lpstr>Third-Party Components</vt:lpstr>
      <vt:lpstr>Third-Party Components</vt:lpstr>
      <vt:lpstr>Third-Party Components</vt:lpstr>
      <vt:lpstr>Demo! 🦍</vt:lpstr>
      <vt:lpstr>Demo – Icons</vt:lpstr>
      <vt:lpstr>Demo – Icons</vt:lpstr>
      <vt:lpstr>Demo – react-native-maps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Youssouf</cp:lastModifiedBy>
  <cp:revision>3</cp:revision>
  <dcterms:modified xsi:type="dcterms:W3CDTF">2025-08-08T09:32:12Z</dcterms:modified>
</cp:coreProperties>
</file>