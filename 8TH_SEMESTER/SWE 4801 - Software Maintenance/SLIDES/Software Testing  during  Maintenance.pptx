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2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3" d="100"/>
          <a:sy n="103" d="100"/>
        </p:scale>
        <p:origin x="874" y="77"/>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g3711e3efaec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 name="Google Shape;58;g3711e3efaec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p:cNvGrpSpPr/>
        <p:nvPr/>
      </p:nvGrpSpPr>
      <p:grpSpPr>
        <a:xfrm>
          <a:off x="0" y="0"/>
          <a:ext cx="0" cy="0"/>
          <a:chOff x="0" y="0"/>
          <a:chExt cx="0" cy="0"/>
        </a:xfrm>
      </p:grpSpPr>
      <p:sp>
        <p:nvSpPr>
          <p:cNvPr id="63" name="Google Shape;63;g3712059b7e2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 name="Google Shape;64;g3712059b7e2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p:cNvGrpSpPr/>
        <p:nvPr/>
      </p:nvGrpSpPr>
      <p:grpSpPr>
        <a:xfrm>
          <a:off x="0" y="0"/>
          <a:ext cx="0" cy="0"/>
          <a:chOff x="0" y="0"/>
          <a:chExt cx="0" cy="0"/>
        </a:xfrm>
      </p:grpSpPr>
      <p:sp>
        <p:nvSpPr>
          <p:cNvPr id="69" name="Google Shape;69;g3712059b7e2_0_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 name="Google Shape;70;g3712059b7e2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p:cNvGrpSpPr/>
        <p:nvPr/>
      </p:nvGrpSpPr>
      <p:grpSpPr>
        <a:xfrm>
          <a:off x="0" y="0"/>
          <a:ext cx="0" cy="0"/>
          <a:chOff x="0" y="0"/>
          <a:chExt cx="0" cy="0"/>
        </a:xfrm>
      </p:grpSpPr>
      <p:sp>
        <p:nvSpPr>
          <p:cNvPr id="75" name="Google Shape;75;g3712059b7e2_0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6" name="Google Shape;76;g3712059b7e2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p:cNvGrpSpPr/>
        <p:nvPr/>
      </p:nvGrpSpPr>
      <p:grpSpPr>
        <a:xfrm>
          <a:off x="0" y="0"/>
          <a:ext cx="0" cy="0"/>
          <a:chOff x="0" y="0"/>
          <a:chExt cx="0" cy="0"/>
        </a:xfrm>
      </p:grpSpPr>
      <p:sp>
        <p:nvSpPr>
          <p:cNvPr id="82" name="Google Shape;82;g3712059b7e2_0_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 name="Google Shape;83;g3712059b7e2_0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g3f02f2d3d7c_0_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 name="Google Shape;89;g3f02f2d3d7c_0_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g3f02f2d3d7c_0_4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 name="Google Shape;96;g3f02f2d3d7c_0_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g3712059b7e2_0_3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2" name="Google Shape;102;g3712059b7e2_0_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g3f2cd6e8a6d_1_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8" name="Google Shape;108;g3f2cd6e8a6d_1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3f2cd6e8a6d_1_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 name="Google Shape;115;g3f2cd6e8a6d_1_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g3f2cd6e8a6d_1_1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 name="Google Shape;121;g3f2cd6e8a6d_1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g3f2cd6e8a6d_1_2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7" name="Google Shape;127;g3f2cd6e8a6d_1_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g3f00df15012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3" name="Google Shape;133;g3f00df15012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g3f00df15012_0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9" name="Google Shape;139;g3f00df15012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
        <p:cNvGrpSpPr/>
        <p:nvPr/>
      </p:nvGrpSpPr>
      <p:grpSpPr>
        <a:xfrm>
          <a:off x="0" y="0"/>
          <a:ext cx="0" cy="0"/>
          <a:chOff x="0" y="0"/>
          <a:chExt cx="0" cy="0"/>
        </a:xfrm>
      </p:grpSpPr>
      <p:sp>
        <p:nvSpPr>
          <p:cNvPr id="145" name="Google Shape;145;g3f00df15012_0_1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6" name="Google Shape;146;g3f00df15012_0_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g3f2ddffe584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2" name="Google Shape;152;g3f2ddffe584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p:cNvGrpSpPr/>
        <p:nvPr/>
      </p:nvGrpSpPr>
      <p:grpSpPr>
        <a:xfrm>
          <a:off x="0" y="0"/>
          <a:ext cx="0" cy="0"/>
          <a:chOff x="0" y="0"/>
          <a:chExt cx="0" cy="0"/>
        </a:xfrm>
      </p:grpSpPr>
      <p:sp>
        <p:nvSpPr>
          <p:cNvPr id="157" name="Google Shape;157;g3f2ddffe584_0_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8" name="Google Shape;158;g3f2ddffe584_0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g3f02f2d3d7c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4" name="Google Shape;164;g3f02f2d3d7c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Google Shape;169;g3f02f2d3d7c_0_1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0" name="Google Shape;170;g3f02f2d3d7c_0_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g3f02f2d3d7c_0_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6" name="Google Shape;176;g3f02f2d3d7c_0_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
        <p:cNvGrpSpPr/>
        <p:nvPr/>
      </p:nvGrpSpPr>
      <p:grpSpPr>
        <a:xfrm>
          <a:off x="0" y="0"/>
          <a:ext cx="0" cy="0"/>
          <a:chOff x="0" y="0"/>
          <a:chExt cx="0" cy="0"/>
        </a:xfrm>
      </p:grpSpPr>
      <p:sp>
        <p:nvSpPr>
          <p:cNvPr id="181" name="Google Shape;181;g3f02f2d3d7c_0_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2" name="Google Shape;182;g3f02f2d3d7c_0_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p:cNvGrpSpPr/>
        <p:nvPr/>
      </p:nvGrpSpPr>
      <p:grpSpPr>
        <a:xfrm>
          <a:off x="0" y="0"/>
          <a:ext cx="0" cy="0"/>
          <a:chOff x="0" y="0"/>
          <a:chExt cx="0" cy="0"/>
        </a:xfrm>
      </p:grpSpPr>
      <p:sp>
        <p:nvSpPr>
          <p:cNvPr id="188" name="Google Shape;188;g3f02f2d3d7c_0_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9" name="Google Shape;189;g3f02f2d3d7c_0_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
        <p:cNvGrpSpPr/>
        <p:nvPr/>
      </p:nvGrpSpPr>
      <p:grpSpPr>
        <a:xfrm>
          <a:off x="0" y="0"/>
          <a:ext cx="0" cy="0"/>
          <a:chOff x="0" y="0"/>
          <a:chExt cx="0" cy="0"/>
        </a:xfrm>
      </p:grpSpPr>
      <p:sp>
        <p:nvSpPr>
          <p:cNvPr id="194" name="Google Shape;194;g3f05afb10db_0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5" name="Google Shape;195;g3f05afb10db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hyperlink" Target="https://www.slideshare.net/slideshow/software-testing-ppt/13936763#3" TargetMode="External"/><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3"/>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r>
              <a:rPr lang="en" sz="3200" b="1">
                <a:solidFill>
                  <a:schemeClr val="dk2"/>
                </a:solidFill>
              </a:rPr>
              <a:t>Software Testing</a:t>
            </a:r>
            <a:endParaRPr sz="3200" b="1">
              <a:solidFill>
                <a:schemeClr val="dk2"/>
              </a:solidFill>
            </a:endParaRPr>
          </a:p>
          <a:p>
            <a:pPr marL="0" lvl="0" indent="0" algn="ctr" rtl="0">
              <a:spcBef>
                <a:spcPts val="0"/>
              </a:spcBef>
              <a:spcAft>
                <a:spcPts val="0"/>
              </a:spcAft>
              <a:buNone/>
            </a:pPr>
            <a:r>
              <a:rPr lang="en" sz="3200" b="1">
                <a:solidFill>
                  <a:schemeClr val="dk2"/>
                </a:solidFill>
              </a:rPr>
              <a:t> during </a:t>
            </a:r>
            <a:endParaRPr sz="3200" b="1">
              <a:solidFill>
                <a:schemeClr val="dk2"/>
              </a:solidFill>
            </a:endParaRPr>
          </a:p>
          <a:p>
            <a:pPr marL="0" lvl="0" indent="0" algn="ctr" rtl="0">
              <a:spcBef>
                <a:spcPts val="0"/>
              </a:spcBef>
              <a:spcAft>
                <a:spcPts val="0"/>
              </a:spcAft>
              <a:buNone/>
            </a:pPr>
            <a:r>
              <a:rPr lang="en" sz="3200" b="1">
                <a:solidFill>
                  <a:schemeClr val="dk2"/>
                </a:solidFill>
              </a:rPr>
              <a:t>Maintenance</a:t>
            </a:r>
            <a:endParaRPr sz="5600" b="1"/>
          </a:p>
        </p:txBody>
      </p:sp>
      <p:sp>
        <p:nvSpPr>
          <p:cNvPr id="55" name="Google Shape;55;p13"/>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fontScale="92500" lnSpcReduction="20000"/>
          </a:bodyPr>
          <a:lstStyle/>
          <a:p>
            <a:pPr marL="0" lvl="0" indent="0" algn="l" rtl="0">
              <a:spcBef>
                <a:spcPts val="0"/>
              </a:spcBef>
              <a:spcAft>
                <a:spcPts val="0"/>
              </a:spcAft>
              <a:buClr>
                <a:schemeClr val="dk1"/>
              </a:buClr>
              <a:buSzPct val="91667"/>
              <a:buFont typeface="Arial"/>
              <a:buNone/>
            </a:pPr>
            <a:r>
              <a:rPr lang="en" sz="1200">
                <a:solidFill>
                  <a:schemeClr val="dk1"/>
                </a:solidFill>
                <a:latin typeface="Times New Roman"/>
                <a:ea typeface="Times New Roman"/>
                <a:cs typeface="Times New Roman"/>
                <a:sym typeface="Times New Roman"/>
              </a:rPr>
              <a:t>(Chapter 8: Software Testing)</a:t>
            </a:r>
            <a:endParaRPr sz="1200">
              <a:solidFill>
                <a:schemeClr val="dk1"/>
              </a:solidFill>
              <a:latin typeface="Times New Roman"/>
              <a:ea typeface="Times New Roman"/>
              <a:cs typeface="Times New Roman"/>
              <a:sym typeface="Times New Roman"/>
            </a:endParaRPr>
          </a:p>
          <a:p>
            <a:pPr marL="0" lvl="0" indent="0" algn="l" rtl="0">
              <a:spcBef>
                <a:spcPts val="0"/>
              </a:spcBef>
              <a:spcAft>
                <a:spcPts val="0"/>
              </a:spcAft>
              <a:buClr>
                <a:schemeClr val="dk1"/>
              </a:buClr>
              <a:buSzPct val="91667"/>
              <a:buFont typeface="Arial"/>
              <a:buNone/>
            </a:pPr>
            <a:r>
              <a:rPr lang="en" sz="1200">
                <a:solidFill>
                  <a:schemeClr val="dk1"/>
                </a:solidFill>
                <a:latin typeface="Times New Roman"/>
                <a:ea typeface="Times New Roman"/>
                <a:cs typeface="Times New Roman"/>
                <a:sym typeface="Times New Roman"/>
              </a:rPr>
              <a:t>Book: Software Engineering,  Ian sommerville, 9th Edition</a:t>
            </a:r>
            <a:endParaRPr sz="1200">
              <a:solidFill>
                <a:schemeClr val="dk1"/>
              </a:solidFill>
              <a:latin typeface="Times New Roman"/>
              <a:ea typeface="Times New Roman"/>
              <a:cs typeface="Times New Roman"/>
              <a:sym typeface="Times New Roman"/>
            </a:endParaRPr>
          </a:p>
          <a:p>
            <a:pPr marL="0" lvl="0" indent="0" algn="ctr" rtl="0">
              <a:spcBef>
                <a:spcPts val="0"/>
              </a:spcBef>
              <a:spcAft>
                <a:spcPts val="0"/>
              </a:spcAft>
              <a:buNone/>
            </a:pP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9"/>
        <p:cNvGrpSpPr/>
        <p:nvPr/>
      </p:nvGrpSpPr>
      <p:grpSpPr>
        <a:xfrm>
          <a:off x="0" y="0"/>
          <a:ext cx="0" cy="0"/>
          <a:chOff x="0" y="0"/>
          <a:chExt cx="0" cy="0"/>
        </a:xfrm>
      </p:grpSpPr>
      <p:sp>
        <p:nvSpPr>
          <p:cNvPr id="60" name="Google Shape;60;p1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INTRODUCTION</a:t>
            </a:r>
            <a:endParaRPr/>
          </a:p>
        </p:txBody>
      </p:sp>
      <p:sp>
        <p:nvSpPr>
          <p:cNvPr id="61" name="Google Shape;61;p1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609600" marR="152400" lvl="0" indent="-228600" algn="l" rtl="0">
              <a:lnSpc>
                <a:spcPct val="140000"/>
              </a:lnSpc>
              <a:spcBef>
                <a:spcPts val="0"/>
              </a:spcBef>
              <a:spcAft>
                <a:spcPts val="0"/>
              </a:spcAft>
              <a:buClr>
                <a:schemeClr val="dk1"/>
              </a:buClr>
              <a:buSzPts val="1050"/>
              <a:buNone/>
            </a:pPr>
            <a:endParaRPr sz="1050">
              <a:solidFill>
                <a:schemeClr val="dk1"/>
              </a:solidFill>
              <a:highlight>
                <a:srgbClr val="FFFFFF"/>
              </a:highlight>
            </a:endParaRPr>
          </a:p>
          <a:p>
            <a:pPr marL="457200" marR="152400" lvl="0" indent="-295275" algn="l" rtl="0">
              <a:lnSpc>
                <a:spcPct val="140000"/>
              </a:lnSpc>
              <a:spcBef>
                <a:spcPts val="0"/>
              </a:spcBef>
              <a:spcAft>
                <a:spcPts val="0"/>
              </a:spcAft>
              <a:buClr>
                <a:schemeClr val="dk1"/>
              </a:buClr>
              <a:buSzPts val="1050"/>
              <a:buChar char="●"/>
            </a:pPr>
            <a:r>
              <a:rPr lang="en" sz="1050">
                <a:solidFill>
                  <a:schemeClr val="dk1"/>
                </a:solidFill>
                <a:highlight>
                  <a:srgbClr val="FFFFFF"/>
                </a:highlight>
              </a:rPr>
              <a:t>The process used to identify the correctness, completeness and quality of developed computer software. </a:t>
            </a:r>
            <a:endParaRPr sz="1050">
              <a:solidFill>
                <a:schemeClr val="dk1"/>
              </a:solidFill>
              <a:highlight>
                <a:srgbClr val="FFFFFF"/>
              </a:highlight>
            </a:endParaRPr>
          </a:p>
          <a:p>
            <a:pPr marL="457200" marR="152400" lvl="0" indent="-295275" algn="l" rtl="0">
              <a:lnSpc>
                <a:spcPct val="140000"/>
              </a:lnSpc>
              <a:spcBef>
                <a:spcPts val="0"/>
              </a:spcBef>
              <a:spcAft>
                <a:spcPts val="0"/>
              </a:spcAft>
              <a:buClr>
                <a:schemeClr val="dk1"/>
              </a:buClr>
              <a:buSzPts val="1050"/>
              <a:buChar char="●"/>
            </a:pPr>
            <a:r>
              <a:rPr lang="en" sz="1050">
                <a:solidFill>
                  <a:schemeClr val="dk1"/>
                </a:solidFill>
                <a:highlight>
                  <a:srgbClr val="FFFFFF"/>
                </a:highlight>
              </a:rPr>
              <a:t>It is the process of executing a program/application under positive and negative conditions by manual or automated means. </a:t>
            </a:r>
            <a:endParaRPr sz="1050">
              <a:solidFill>
                <a:schemeClr val="dk1"/>
              </a:solidFill>
              <a:highlight>
                <a:srgbClr val="FFFFFF"/>
              </a:highlight>
            </a:endParaRPr>
          </a:p>
          <a:p>
            <a:pPr marL="457200" marR="152400" lvl="0" indent="-295275" algn="l" rtl="0">
              <a:lnSpc>
                <a:spcPct val="140000"/>
              </a:lnSpc>
              <a:spcBef>
                <a:spcPts val="0"/>
              </a:spcBef>
              <a:spcAft>
                <a:spcPts val="0"/>
              </a:spcAft>
              <a:buClr>
                <a:schemeClr val="dk1"/>
              </a:buClr>
              <a:buSzPts val="1050"/>
              <a:buChar char="●"/>
            </a:pPr>
            <a:r>
              <a:rPr lang="en" sz="1050">
                <a:solidFill>
                  <a:schemeClr val="dk1"/>
                </a:solidFill>
                <a:highlight>
                  <a:srgbClr val="FFFFFF"/>
                </a:highlight>
              </a:rPr>
              <a:t>It checks for the -</a:t>
            </a:r>
            <a:endParaRPr sz="1050">
              <a:solidFill>
                <a:schemeClr val="dk1"/>
              </a:solidFill>
              <a:highlight>
                <a:srgbClr val="FFFFFF"/>
              </a:highlight>
            </a:endParaRPr>
          </a:p>
          <a:p>
            <a:pPr marL="914400" marR="152400" lvl="1" indent="-295275" algn="l" rtl="0">
              <a:lnSpc>
                <a:spcPct val="140000"/>
              </a:lnSpc>
              <a:spcBef>
                <a:spcPts val="0"/>
              </a:spcBef>
              <a:spcAft>
                <a:spcPts val="0"/>
              </a:spcAft>
              <a:buClr>
                <a:schemeClr val="dk1"/>
              </a:buClr>
              <a:buSzPts val="1050"/>
              <a:buChar char="○"/>
            </a:pPr>
            <a:r>
              <a:rPr lang="en" sz="1050">
                <a:solidFill>
                  <a:schemeClr val="dk1"/>
                </a:solidFill>
                <a:highlight>
                  <a:srgbClr val="FFFFFF"/>
                </a:highlight>
              </a:rPr>
              <a:t>Specification  </a:t>
            </a:r>
            <a:endParaRPr sz="1050">
              <a:solidFill>
                <a:schemeClr val="dk1"/>
              </a:solidFill>
              <a:highlight>
                <a:srgbClr val="FFFFFF"/>
              </a:highlight>
            </a:endParaRPr>
          </a:p>
          <a:p>
            <a:pPr marL="914400" marR="152400" lvl="1" indent="-295275" algn="l" rtl="0">
              <a:lnSpc>
                <a:spcPct val="140000"/>
              </a:lnSpc>
              <a:spcBef>
                <a:spcPts val="0"/>
              </a:spcBef>
              <a:spcAft>
                <a:spcPts val="0"/>
              </a:spcAft>
              <a:buClr>
                <a:schemeClr val="dk1"/>
              </a:buClr>
              <a:buSzPts val="1050"/>
              <a:buChar char="○"/>
            </a:pPr>
            <a:r>
              <a:rPr lang="en" sz="1050">
                <a:solidFill>
                  <a:schemeClr val="dk1"/>
                </a:solidFill>
                <a:highlight>
                  <a:srgbClr val="FFFFFF"/>
                </a:highlight>
              </a:rPr>
              <a:t>Functionality  </a:t>
            </a:r>
            <a:endParaRPr sz="1050">
              <a:solidFill>
                <a:schemeClr val="dk1"/>
              </a:solidFill>
              <a:highlight>
                <a:srgbClr val="FFFFFF"/>
              </a:highlight>
            </a:endParaRPr>
          </a:p>
          <a:p>
            <a:pPr marL="914400" marR="152400" lvl="1" indent="-295275" algn="l" rtl="0">
              <a:lnSpc>
                <a:spcPct val="140000"/>
              </a:lnSpc>
              <a:spcBef>
                <a:spcPts val="0"/>
              </a:spcBef>
              <a:spcAft>
                <a:spcPts val="0"/>
              </a:spcAft>
              <a:buClr>
                <a:schemeClr val="dk1"/>
              </a:buClr>
              <a:buSzPts val="1050"/>
              <a:buChar char="○"/>
            </a:pPr>
            <a:r>
              <a:rPr lang="en" sz="1050">
                <a:solidFill>
                  <a:schemeClr val="dk1"/>
                </a:solidFill>
                <a:highlight>
                  <a:srgbClr val="FFFFFF"/>
                </a:highlight>
              </a:rPr>
              <a:t>Performance</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5"/>
        <p:cNvGrpSpPr/>
        <p:nvPr/>
      </p:nvGrpSpPr>
      <p:grpSpPr>
        <a:xfrm>
          <a:off x="0" y="0"/>
          <a:ext cx="0" cy="0"/>
          <a:chOff x="0" y="0"/>
          <a:chExt cx="0" cy="0"/>
        </a:xfrm>
      </p:grpSpPr>
      <p:sp>
        <p:nvSpPr>
          <p:cNvPr id="66" name="Google Shape;66;p1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OBJECTIVES</a:t>
            </a:r>
            <a:endParaRPr/>
          </a:p>
        </p:txBody>
      </p:sp>
      <p:sp>
        <p:nvSpPr>
          <p:cNvPr id="67" name="Google Shape;67;p15"/>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marR="152400" lvl="0" indent="-295275" algn="l" rtl="0">
              <a:lnSpc>
                <a:spcPct val="140000"/>
              </a:lnSpc>
              <a:spcBef>
                <a:spcPts val="0"/>
              </a:spcBef>
              <a:spcAft>
                <a:spcPts val="0"/>
              </a:spcAft>
              <a:buSzPts val="1050"/>
              <a:buChar char="●"/>
            </a:pPr>
            <a:r>
              <a:rPr lang="en" sz="1050">
                <a:solidFill>
                  <a:schemeClr val="dk1"/>
                </a:solidFill>
                <a:highlight>
                  <a:schemeClr val="lt1"/>
                </a:highlight>
              </a:rPr>
              <a:t>Uncover</a:t>
            </a:r>
            <a:r>
              <a:rPr lang="en" sz="1050" b="1">
                <a:solidFill>
                  <a:srgbClr val="027EB0"/>
                </a:solidFill>
                <a:highlight>
                  <a:schemeClr val="lt1"/>
                </a:highlight>
                <a:uFill>
                  <a:noFill/>
                </a:uFill>
                <a:hlinkClick r:id="rId3">
                  <a:extLst>
                    <a:ext uri="{A12FA001-AC4F-418D-AE19-62706E023703}">
                      <ahyp:hlinkClr xmlns:ahyp="http://schemas.microsoft.com/office/drawing/2018/hyperlinkcolor" val="tx"/>
                    </a:ext>
                  </a:extLst>
                </a:hlinkClick>
              </a:rPr>
              <a:t> </a:t>
            </a:r>
            <a:r>
              <a:rPr lang="en" sz="1050">
                <a:solidFill>
                  <a:schemeClr val="dk1"/>
                </a:solidFill>
                <a:highlight>
                  <a:schemeClr val="lt1"/>
                </a:highlight>
              </a:rPr>
              <a:t>as many as errors (or bugs) as possible in a given product. </a:t>
            </a:r>
            <a:endParaRPr sz="1050">
              <a:solidFill>
                <a:schemeClr val="dk1"/>
              </a:solidFill>
              <a:highlight>
                <a:schemeClr val="lt1"/>
              </a:highlight>
            </a:endParaRPr>
          </a:p>
          <a:p>
            <a:pPr marL="457200" marR="152400" lvl="0" indent="-295275" algn="l" rtl="0">
              <a:lnSpc>
                <a:spcPct val="140000"/>
              </a:lnSpc>
              <a:spcBef>
                <a:spcPts val="0"/>
              </a:spcBef>
              <a:spcAft>
                <a:spcPts val="0"/>
              </a:spcAft>
              <a:buClr>
                <a:schemeClr val="dk1"/>
              </a:buClr>
              <a:buSzPts val="1050"/>
              <a:buChar char="●"/>
            </a:pPr>
            <a:r>
              <a:rPr lang="en" sz="1050">
                <a:solidFill>
                  <a:schemeClr val="dk1"/>
                </a:solidFill>
                <a:highlight>
                  <a:schemeClr val="lt1"/>
                </a:highlight>
              </a:rPr>
              <a:t>Demonstrate a given software product matching its requirement specifications. </a:t>
            </a:r>
            <a:endParaRPr sz="1050">
              <a:solidFill>
                <a:schemeClr val="dk1"/>
              </a:solidFill>
              <a:highlight>
                <a:schemeClr val="lt1"/>
              </a:highlight>
            </a:endParaRPr>
          </a:p>
          <a:p>
            <a:pPr marL="457200" marR="152400" lvl="0" indent="-295275" algn="l" rtl="0">
              <a:lnSpc>
                <a:spcPct val="140000"/>
              </a:lnSpc>
              <a:spcBef>
                <a:spcPts val="0"/>
              </a:spcBef>
              <a:spcAft>
                <a:spcPts val="0"/>
              </a:spcAft>
              <a:buClr>
                <a:schemeClr val="dk1"/>
              </a:buClr>
              <a:buSzPts val="1050"/>
              <a:buChar char="●"/>
            </a:pPr>
            <a:r>
              <a:rPr lang="en" sz="1050">
                <a:solidFill>
                  <a:schemeClr val="dk1"/>
                </a:solidFill>
                <a:highlight>
                  <a:schemeClr val="lt1"/>
                </a:highlight>
              </a:rPr>
              <a:t>Validate the quality of a software testing using the minimum cost and efforts.</a:t>
            </a:r>
            <a:endParaRPr sz="1050">
              <a:solidFill>
                <a:schemeClr val="dk1"/>
              </a:solidFill>
              <a:highlight>
                <a:schemeClr val="lt1"/>
              </a:highlight>
            </a:endParaRPr>
          </a:p>
          <a:p>
            <a:pPr marL="457200" marR="152400" lvl="0" indent="-295275" algn="l" rtl="0">
              <a:lnSpc>
                <a:spcPct val="140000"/>
              </a:lnSpc>
              <a:spcBef>
                <a:spcPts val="0"/>
              </a:spcBef>
              <a:spcAft>
                <a:spcPts val="0"/>
              </a:spcAft>
              <a:buClr>
                <a:schemeClr val="dk1"/>
              </a:buClr>
              <a:buSzPts val="1050"/>
              <a:buChar char="●"/>
            </a:pPr>
            <a:r>
              <a:rPr lang="en" sz="1050">
                <a:solidFill>
                  <a:schemeClr val="dk1"/>
                </a:solidFill>
                <a:highlight>
                  <a:schemeClr val="lt1"/>
                </a:highlight>
              </a:rPr>
              <a:t>Generate high quality test cases, perform effective tests, and issue correct and helpful problem reports.</a:t>
            </a:r>
            <a:endParaRPr sz="1050">
              <a:solidFill>
                <a:schemeClr val="dk1"/>
              </a:solidFill>
              <a:highlight>
                <a:schemeClr val="lt1"/>
              </a:highlight>
            </a:endParaRPr>
          </a:p>
          <a:p>
            <a:pPr marL="457200" lvl="0" indent="0" algn="l" rtl="0">
              <a:spcBef>
                <a:spcPts val="0"/>
              </a:spcBef>
              <a:spcAft>
                <a:spcPts val="1200"/>
              </a:spcAft>
              <a:buNone/>
            </a:pP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1"/>
        <p:cNvGrpSpPr/>
        <p:nvPr/>
      </p:nvGrpSpPr>
      <p:grpSpPr>
        <a:xfrm>
          <a:off x="0" y="0"/>
          <a:ext cx="0" cy="0"/>
          <a:chOff x="0" y="0"/>
          <a:chExt cx="0" cy="0"/>
        </a:xfrm>
      </p:grpSpPr>
      <p:sp>
        <p:nvSpPr>
          <p:cNvPr id="72" name="Google Shape;72;p1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Error, Bug, Fault &amp; Failure</a:t>
            </a:r>
            <a:endParaRPr/>
          </a:p>
        </p:txBody>
      </p:sp>
      <p:sp>
        <p:nvSpPr>
          <p:cNvPr id="73" name="Google Shape;73;p16"/>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marR="152400" lvl="0" indent="0" algn="l" rtl="0">
              <a:lnSpc>
                <a:spcPct val="140000"/>
              </a:lnSpc>
              <a:spcBef>
                <a:spcPts val="0"/>
              </a:spcBef>
              <a:spcAft>
                <a:spcPts val="0"/>
              </a:spcAft>
              <a:buNone/>
            </a:pPr>
            <a:endParaRPr sz="1050">
              <a:solidFill>
                <a:schemeClr val="dk1"/>
              </a:solidFill>
              <a:highlight>
                <a:schemeClr val="lt1"/>
              </a:highlight>
            </a:endParaRPr>
          </a:p>
          <a:p>
            <a:pPr marL="609600" marR="152400" lvl="0" indent="-228600" algn="l" rtl="0">
              <a:lnSpc>
                <a:spcPct val="140000"/>
              </a:lnSpc>
              <a:spcBef>
                <a:spcPts val="0"/>
              </a:spcBef>
              <a:spcAft>
                <a:spcPts val="0"/>
              </a:spcAft>
              <a:buClr>
                <a:schemeClr val="dk1"/>
              </a:buClr>
              <a:buSzPts val="1050"/>
              <a:buNone/>
            </a:pPr>
            <a:r>
              <a:rPr lang="en" sz="1050" b="1">
                <a:solidFill>
                  <a:schemeClr val="dk1"/>
                </a:solidFill>
                <a:highlight>
                  <a:schemeClr val="lt1"/>
                </a:highlight>
              </a:rPr>
              <a:t>Error :</a:t>
            </a:r>
            <a:r>
              <a:rPr lang="en" sz="1050">
                <a:solidFill>
                  <a:schemeClr val="dk1"/>
                </a:solidFill>
                <a:highlight>
                  <a:schemeClr val="lt1"/>
                </a:highlight>
              </a:rPr>
              <a:t> It is a human action that produces the incorrect result that produces a fault. </a:t>
            </a:r>
            <a:endParaRPr sz="1050">
              <a:solidFill>
                <a:schemeClr val="dk1"/>
              </a:solidFill>
              <a:highlight>
                <a:schemeClr val="lt1"/>
              </a:highlight>
            </a:endParaRPr>
          </a:p>
          <a:p>
            <a:pPr marL="609600" marR="152400" lvl="0" indent="-228600" algn="l" rtl="0">
              <a:lnSpc>
                <a:spcPct val="140000"/>
              </a:lnSpc>
              <a:spcBef>
                <a:spcPts val="0"/>
              </a:spcBef>
              <a:spcAft>
                <a:spcPts val="0"/>
              </a:spcAft>
              <a:buClr>
                <a:schemeClr val="dk1"/>
              </a:buClr>
              <a:buSzPts val="1050"/>
              <a:buNone/>
            </a:pPr>
            <a:r>
              <a:rPr lang="en" sz="1050" b="1">
                <a:solidFill>
                  <a:schemeClr val="dk1"/>
                </a:solidFill>
                <a:highlight>
                  <a:schemeClr val="lt1"/>
                </a:highlight>
              </a:rPr>
              <a:t>Bug : </a:t>
            </a:r>
            <a:r>
              <a:rPr lang="en" sz="1050">
                <a:solidFill>
                  <a:schemeClr val="dk1"/>
                </a:solidFill>
                <a:highlight>
                  <a:schemeClr val="lt1"/>
                </a:highlight>
              </a:rPr>
              <a:t>The presence of error at the time of execution of the software. </a:t>
            </a:r>
            <a:endParaRPr sz="1050">
              <a:solidFill>
                <a:schemeClr val="dk1"/>
              </a:solidFill>
              <a:highlight>
                <a:schemeClr val="lt1"/>
              </a:highlight>
            </a:endParaRPr>
          </a:p>
          <a:p>
            <a:pPr marL="609600" marR="152400" lvl="0" indent="-228600" algn="l" rtl="0">
              <a:lnSpc>
                <a:spcPct val="140000"/>
              </a:lnSpc>
              <a:spcBef>
                <a:spcPts val="0"/>
              </a:spcBef>
              <a:spcAft>
                <a:spcPts val="0"/>
              </a:spcAft>
              <a:buClr>
                <a:schemeClr val="dk1"/>
              </a:buClr>
              <a:buSzPts val="1050"/>
              <a:buNone/>
            </a:pPr>
            <a:r>
              <a:rPr lang="en" sz="1050" b="1">
                <a:solidFill>
                  <a:schemeClr val="dk1"/>
                </a:solidFill>
                <a:highlight>
                  <a:schemeClr val="lt1"/>
                </a:highlight>
              </a:rPr>
              <a:t>Fault : </a:t>
            </a:r>
            <a:r>
              <a:rPr lang="en" sz="1050">
                <a:solidFill>
                  <a:schemeClr val="dk1"/>
                </a:solidFill>
                <a:highlight>
                  <a:schemeClr val="lt1"/>
                </a:highlight>
              </a:rPr>
              <a:t>State of software caused by an error. </a:t>
            </a:r>
            <a:endParaRPr sz="1050">
              <a:solidFill>
                <a:schemeClr val="dk1"/>
              </a:solidFill>
              <a:highlight>
                <a:schemeClr val="lt1"/>
              </a:highlight>
            </a:endParaRPr>
          </a:p>
          <a:p>
            <a:pPr marL="609600" marR="152400" lvl="0" indent="-228600" algn="l" rtl="0">
              <a:lnSpc>
                <a:spcPct val="140000"/>
              </a:lnSpc>
              <a:spcBef>
                <a:spcPts val="0"/>
              </a:spcBef>
              <a:spcAft>
                <a:spcPts val="0"/>
              </a:spcAft>
              <a:buClr>
                <a:schemeClr val="dk1"/>
              </a:buClr>
              <a:buSzPts val="1050"/>
              <a:buNone/>
            </a:pPr>
            <a:r>
              <a:rPr lang="en" sz="1050" b="1">
                <a:solidFill>
                  <a:schemeClr val="dk1"/>
                </a:solidFill>
                <a:highlight>
                  <a:schemeClr val="lt1"/>
                </a:highlight>
              </a:rPr>
              <a:t>Failure : </a:t>
            </a:r>
            <a:r>
              <a:rPr lang="en" sz="1050">
                <a:solidFill>
                  <a:schemeClr val="dk1"/>
                </a:solidFill>
                <a:highlight>
                  <a:schemeClr val="lt1"/>
                </a:highlight>
              </a:rPr>
              <a:t>Deviation of the software from its expected result. It is an event.</a:t>
            </a:r>
            <a:endParaRPr/>
          </a:p>
          <a:p>
            <a:pPr marL="0" lvl="0" indent="0" algn="l" rtl="0">
              <a:spcBef>
                <a:spcPts val="0"/>
              </a:spcBef>
              <a:spcAft>
                <a:spcPts val="1200"/>
              </a:spcAft>
              <a:buNone/>
            </a:pP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7"/>
        <p:cNvGrpSpPr/>
        <p:nvPr/>
      </p:nvGrpSpPr>
      <p:grpSpPr>
        <a:xfrm>
          <a:off x="0" y="0"/>
          <a:ext cx="0" cy="0"/>
          <a:chOff x="0" y="0"/>
          <a:chExt cx="0" cy="0"/>
        </a:xfrm>
      </p:grpSpPr>
      <p:sp>
        <p:nvSpPr>
          <p:cNvPr id="78" name="Google Shape;78;p1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Software Testing Life Cycle</a:t>
            </a:r>
            <a:endParaRPr/>
          </a:p>
        </p:txBody>
      </p:sp>
      <p:pic>
        <p:nvPicPr>
          <p:cNvPr id="80" name="Google Shape;80;p17"/>
          <p:cNvPicPr preferRelativeResize="0"/>
          <p:nvPr/>
        </p:nvPicPr>
        <p:blipFill>
          <a:blip r:embed="rId3">
            <a:alphaModFix/>
          </a:blip>
          <a:stretch>
            <a:fillRect/>
          </a:stretch>
        </p:blipFill>
        <p:spPr>
          <a:xfrm>
            <a:off x="1103275" y="1017725"/>
            <a:ext cx="6278832" cy="34576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4"/>
        <p:cNvGrpSpPr/>
        <p:nvPr/>
      </p:nvGrpSpPr>
      <p:grpSpPr>
        <a:xfrm>
          <a:off x="0" y="0"/>
          <a:ext cx="0" cy="0"/>
          <a:chOff x="0" y="0"/>
          <a:chExt cx="0" cy="0"/>
        </a:xfrm>
      </p:grpSpPr>
      <p:sp>
        <p:nvSpPr>
          <p:cNvPr id="85" name="Google Shape;85;p1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Clr>
                <a:schemeClr val="dk1"/>
              </a:buClr>
              <a:buSzPct val="39286"/>
              <a:buFont typeface="Arial"/>
              <a:buNone/>
            </a:pPr>
            <a:r>
              <a:rPr lang="en" dirty="0"/>
              <a:t>Software Testing Life Cycle</a:t>
            </a:r>
            <a:endParaRPr dirty="0"/>
          </a:p>
          <a:p>
            <a:pPr marL="0" lvl="0" indent="0" algn="l" rtl="0">
              <a:spcBef>
                <a:spcPts val="0"/>
              </a:spcBef>
              <a:spcAft>
                <a:spcPts val="0"/>
              </a:spcAft>
              <a:buNone/>
            </a:pPr>
            <a:endParaRPr dirty="0"/>
          </a:p>
        </p:txBody>
      </p:sp>
      <p:sp>
        <p:nvSpPr>
          <p:cNvPr id="86" name="Google Shape;86;p18"/>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marR="152400" lvl="0" indent="0" algn="l" rtl="0">
              <a:lnSpc>
                <a:spcPct val="140000"/>
              </a:lnSpc>
              <a:spcBef>
                <a:spcPts val="0"/>
              </a:spcBef>
              <a:spcAft>
                <a:spcPts val="0"/>
              </a:spcAft>
              <a:buNone/>
            </a:pPr>
            <a:r>
              <a:rPr lang="en" sz="1200" b="1" dirty="0">
                <a:solidFill>
                  <a:schemeClr val="dk1"/>
                </a:solidFill>
                <a:highlight>
                  <a:schemeClr val="lt1"/>
                </a:highlight>
              </a:rPr>
              <a:t>Test Plan:</a:t>
            </a:r>
            <a:r>
              <a:rPr lang="en" sz="1200" dirty="0">
                <a:solidFill>
                  <a:schemeClr val="dk1"/>
                </a:solidFill>
                <a:highlight>
                  <a:schemeClr val="lt1"/>
                </a:highlight>
              </a:rPr>
              <a:t> A systematic approach to test a system. The plan typically contains a detailed understanding of what the eventual testing workflow will be.</a:t>
            </a:r>
            <a:endParaRPr sz="1200" dirty="0">
              <a:solidFill>
                <a:schemeClr val="dk1"/>
              </a:solidFill>
              <a:highlight>
                <a:schemeClr val="lt1"/>
              </a:highlight>
            </a:endParaRPr>
          </a:p>
          <a:p>
            <a:pPr marL="0" marR="152400" lvl="0" indent="0" algn="l" rtl="0">
              <a:lnSpc>
                <a:spcPct val="140000"/>
              </a:lnSpc>
              <a:spcBef>
                <a:spcPts val="0"/>
              </a:spcBef>
              <a:spcAft>
                <a:spcPts val="0"/>
              </a:spcAft>
              <a:buNone/>
            </a:pPr>
            <a:r>
              <a:rPr lang="en" sz="1200" b="1" dirty="0">
                <a:solidFill>
                  <a:schemeClr val="dk1"/>
                </a:solidFill>
                <a:highlight>
                  <a:schemeClr val="lt1"/>
                </a:highlight>
              </a:rPr>
              <a:t>Test Case: </a:t>
            </a:r>
            <a:r>
              <a:rPr lang="en" sz="1200" dirty="0">
                <a:solidFill>
                  <a:schemeClr val="dk1"/>
                </a:solidFill>
                <a:highlight>
                  <a:schemeClr val="lt1"/>
                </a:highlight>
              </a:rPr>
              <a:t>It</a:t>
            </a:r>
            <a:r>
              <a:rPr lang="en" sz="1200" b="1" dirty="0">
                <a:solidFill>
                  <a:schemeClr val="dk1"/>
                </a:solidFill>
                <a:highlight>
                  <a:schemeClr val="lt1"/>
                </a:highlight>
              </a:rPr>
              <a:t> </a:t>
            </a:r>
            <a:r>
              <a:rPr lang="en" sz="1200" dirty="0">
                <a:solidFill>
                  <a:schemeClr val="dk1"/>
                </a:solidFill>
                <a:highlight>
                  <a:schemeClr val="lt1"/>
                </a:highlight>
              </a:rPr>
              <a:t>is a specific procedure of testing a particular requirement. It will include - </a:t>
            </a:r>
            <a:endParaRPr sz="1200" dirty="0">
              <a:solidFill>
                <a:schemeClr val="dk1"/>
              </a:solidFill>
              <a:highlight>
                <a:schemeClr val="lt1"/>
              </a:highlight>
            </a:endParaRPr>
          </a:p>
          <a:p>
            <a:pPr marL="457200" marR="152400" lvl="0" indent="-295275" algn="l" rtl="0">
              <a:lnSpc>
                <a:spcPct val="140000"/>
              </a:lnSpc>
              <a:spcBef>
                <a:spcPts val="0"/>
              </a:spcBef>
              <a:spcAft>
                <a:spcPts val="0"/>
              </a:spcAft>
              <a:buClr>
                <a:schemeClr val="dk1"/>
              </a:buClr>
              <a:buSzPts val="1050"/>
              <a:buChar char="●"/>
            </a:pPr>
            <a:r>
              <a:rPr lang="en" sz="1200" dirty="0">
                <a:solidFill>
                  <a:schemeClr val="dk1"/>
                </a:solidFill>
                <a:highlight>
                  <a:schemeClr val="lt1"/>
                </a:highlight>
              </a:rPr>
              <a:t>Identification of specific requirement tested</a:t>
            </a:r>
            <a:endParaRPr sz="1200" dirty="0">
              <a:solidFill>
                <a:schemeClr val="dk1"/>
              </a:solidFill>
              <a:highlight>
                <a:schemeClr val="lt1"/>
              </a:highlight>
            </a:endParaRPr>
          </a:p>
          <a:p>
            <a:pPr marL="457200" marR="152400" lvl="0" indent="-295275" algn="l" rtl="0">
              <a:lnSpc>
                <a:spcPct val="140000"/>
              </a:lnSpc>
              <a:spcBef>
                <a:spcPts val="0"/>
              </a:spcBef>
              <a:spcAft>
                <a:spcPts val="0"/>
              </a:spcAft>
              <a:buClr>
                <a:schemeClr val="dk1"/>
              </a:buClr>
              <a:buSzPts val="1050"/>
              <a:buChar char="●"/>
            </a:pPr>
            <a:r>
              <a:rPr lang="en" sz="1200" dirty="0">
                <a:solidFill>
                  <a:schemeClr val="dk1"/>
                </a:solidFill>
                <a:highlight>
                  <a:schemeClr val="lt1"/>
                </a:highlight>
              </a:rPr>
              <a:t>Test case success/failure criteria </a:t>
            </a:r>
            <a:endParaRPr sz="1200" dirty="0">
              <a:solidFill>
                <a:schemeClr val="dk1"/>
              </a:solidFill>
              <a:highlight>
                <a:schemeClr val="lt1"/>
              </a:highlight>
            </a:endParaRPr>
          </a:p>
          <a:p>
            <a:pPr marL="457200" marR="152400" lvl="0" indent="-295275" algn="l" rtl="0">
              <a:lnSpc>
                <a:spcPct val="140000"/>
              </a:lnSpc>
              <a:spcBef>
                <a:spcPts val="0"/>
              </a:spcBef>
              <a:spcAft>
                <a:spcPts val="0"/>
              </a:spcAft>
              <a:buClr>
                <a:schemeClr val="dk1"/>
              </a:buClr>
              <a:buSzPts val="1050"/>
              <a:buChar char="●"/>
            </a:pPr>
            <a:r>
              <a:rPr lang="en" sz="1200" dirty="0">
                <a:solidFill>
                  <a:schemeClr val="dk1"/>
                </a:solidFill>
                <a:highlight>
                  <a:schemeClr val="lt1"/>
                </a:highlight>
              </a:rPr>
              <a:t>Specific steps to execute test Test data</a:t>
            </a:r>
            <a:endParaRPr sz="1200" dirty="0">
              <a:solidFill>
                <a:schemeClr val="dk1"/>
              </a:solidFill>
              <a:highlight>
                <a:schemeClr val="lt1"/>
              </a:highlight>
            </a:endParaRPr>
          </a:p>
          <a:p>
            <a:pPr marL="0" marR="152400" lvl="0" indent="0" algn="l" rtl="0">
              <a:lnSpc>
                <a:spcPct val="140000"/>
              </a:lnSpc>
              <a:spcBef>
                <a:spcPts val="0"/>
              </a:spcBef>
              <a:spcAft>
                <a:spcPts val="0"/>
              </a:spcAft>
              <a:buNone/>
            </a:pPr>
            <a:r>
              <a:rPr lang="en" sz="1200" b="1" dirty="0">
                <a:solidFill>
                  <a:schemeClr val="dk1"/>
                </a:solidFill>
                <a:highlight>
                  <a:schemeClr val="lt1"/>
                </a:highlight>
              </a:rPr>
              <a:t>Verification vs Validation </a:t>
            </a:r>
            <a:endParaRPr sz="1200" dirty="0">
              <a:solidFill>
                <a:schemeClr val="dk1"/>
              </a:solidFill>
              <a:highlight>
                <a:schemeClr val="lt1"/>
              </a:highlight>
            </a:endParaRPr>
          </a:p>
          <a:p>
            <a:pPr marL="457200" marR="152400" lvl="0" indent="-295275" algn="l" rtl="0">
              <a:lnSpc>
                <a:spcPct val="140000"/>
              </a:lnSpc>
              <a:spcBef>
                <a:spcPts val="0"/>
              </a:spcBef>
              <a:spcAft>
                <a:spcPts val="0"/>
              </a:spcAft>
              <a:buClr>
                <a:schemeClr val="dk1"/>
              </a:buClr>
              <a:buSzPts val="1050"/>
              <a:buChar char="●"/>
            </a:pPr>
            <a:r>
              <a:rPr lang="en" sz="1200" b="1" dirty="0">
                <a:solidFill>
                  <a:schemeClr val="dk1"/>
                </a:solidFill>
                <a:highlight>
                  <a:schemeClr val="lt1"/>
                </a:highlight>
              </a:rPr>
              <a:t>Verification:</a:t>
            </a:r>
            <a:r>
              <a:rPr lang="en" sz="1200" dirty="0">
                <a:solidFill>
                  <a:schemeClr val="dk1"/>
                </a:solidFill>
                <a:highlight>
                  <a:schemeClr val="lt1"/>
                </a:highlight>
              </a:rPr>
              <a:t> The software should confirm to its specification (Are we building the product right?) </a:t>
            </a:r>
            <a:endParaRPr sz="1200" dirty="0">
              <a:solidFill>
                <a:schemeClr val="dk1"/>
              </a:solidFill>
              <a:highlight>
                <a:schemeClr val="lt1"/>
              </a:highlight>
            </a:endParaRPr>
          </a:p>
          <a:p>
            <a:pPr marL="457200" marR="152400" lvl="0" indent="-295275" algn="l" rtl="0">
              <a:lnSpc>
                <a:spcPct val="140000"/>
              </a:lnSpc>
              <a:spcBef>
                <a:spcPts val="0"/>
              </a:spcBef>
              <a:spcAft>
                <a:spcPts val="0"/>
              </a:spcAft>
              <a:buClr>
                <a:schemeClr val="dk1"/>
              </a:buClr>
              <a:buSzPts val="1050"/>
              <a:buChar char="●"/>
            </a:pPr>
            <a:r>
              <a:rPr lang="en" sz="1200" b="1" dirty="0">
                <a:solidFill>
                  <a:schemeClr val="dk1"/>
                </a:solidFill>
                <a:highlight>
                  <a:schemeClr val="lt1"/>
                </a:highlight>
              </a:rPr>
              <a:t>Validation:</a:t>
            </a:r>
            <a:r>
              <a:rPr lang="en" sz="1200" dirty="0">
                <a:solidFill>
                  <a:schemeClr val="dk1"/>
                </a:solidFill>
                <a:highlight>
                  <a:schemeClr val="lt1"/>
                </a:highlight>
              </a:rPr>
              <a:t> The software should do what the user really requires (Are we building the right product?)</a:t>
            </a:r>
            <a:endParaRPr sz="1200" dirty="0">
              <a:solidFill>
                <a:schemeClr val="dk1"/>
              </a:solidFill>
              <a:highlight>
                <a:schemeClr val="lt1"/>
              </a:highlight>
            </a:endParaRPr>
          </a:p>
          <a:p>
            <a:pPr marL="0" marR="152400" lvl="0" indent="0" algn="l" rtl="0">
              <a:lnSpc>
                <a:spcPct val="140000"/>
              </a:lnSpc>
              <a:spcBef>
                <a:spcPts val="0"/>
              </a:spcBef>
              <a:spcAft>
                <a:spcPts val="0"/>
              </a:spcAft>
              <a:buNone/>
            </a:pPr>
            <a:r>
              <a:rPr lang="en" sz="1200" b="1" dirty="0">
                <a:solidFill>
                  <a:schemeClr val="dk1"/>
                </a:solidFill>
                <a:highlight>
                  <a:schemeClr val="lt1"/>
                </a:highlight>
              </a:rPr>
              <a:t>Testing Methodologies</a:t>
            </a:r>
            <a:endParaRPr sz="1200" b="1" dirty="0">
              <a:solidFill>
                <a:schemeClr val="dk1"/>
              </a:solidFill>
              <a:highlight>
                <a:schemeClr val="lt1"/>
              </a:highlight>
            </a:endParaRPr>
          </a:p>
          <a:p>
            <a:pPr marL="457200" marR="152400" lvl="0" indent="-295275" algn="l" rtl="0">
              <a:lnSpc>
                <a:spcPct val="140000"/>
              </a:lnSpc>
              <a:spcBef>
                <a:spcPts val="0"/>
              </a:spcBef>
              <a:spcAft>
                <a:spcPts val="0"/>
              </a:spcAft>
              <a:buSzPts val="1050"/>
              <a:buChar char="●"/>
            </a:pPr>
            <a:r>
              <a:rPr lang="en" sz="1200" dirty="0">
                <a:solidFill>
                  <a:schemeClr val="dk1"/>
                </a:solidFill>
                <a:highlight>
                  <a:schemeClr val="lt1"/>
                </a:highlight>
              </a:rPr>
              <a:t>Black box</a:t>
            </a:r>
            <a:r>
              <a:rPr lang="en" sz="1200" b="1" dirty="0">
                <a:highlight>
                  <a:schemeClr val="lt1"/>
                </a:highlight>
              </a:rPr>
              <a:t> </a:t>
            </a:r>
            <a:r>
              <a:rPr lang="en" sz="1200" dirty="0">
                <a:solidFill>
                  <a:schemeClr val="dk1"/>
                </a:solidFill>
                <a:highlight>
                  <a:schemeClr val="lt1"/>
                </a:highlight>
              </a:rPr>
              <a:t>testing </a:t>
            </a:r>
            <a:endParaRPr sz="1200" dirty="0">
              <a:solidFill>
                <a:schemeClr val="dk1"/>
              </a:solidFill>
              <a:highlight>
                <a:schemeClr val="lt1"/>
              </a:highlight>
            </a:endParaRPr>
          </a:p>
          <a:p>
            <a:pPr marL="457200" marR="152400" lvl="0" indent="-295275" algn="l" rtl="0">
              <a:lnSpc>
                <a:spcPct val="140000"/>
              </a:lnSpc>
              <a:spcBef>
                <a:spcPts val="0"/>
              </a:spcBef>
              <a:spcAft>
                <a:spcPts val="0"/>
              </a:spcAft>
              <a:buClr>
                <a:schemeClr val="dk1"/>
              </a:buClr>
              <a:buSzPts val="1050"/>
              <a:buChar char="●"/>
            </a:pPr>
            <a:r>
              <a:rPr lang="en" sz="1200" dirty="0">
                <a:solidFill>
                  <a:schemeClr val="dk1"/>
                </a:solidFill>
                <a:highlight>
                  <a:schemeClr val="lt1"/>
                </a:highlight>
              </a:rPr>
              <a:t>White box testing</a:t>
            </a:r>
            <a:endParaRPr sz="1200" dirty="0">
              <a:solidFill>
                <a:schemeClr val="dk1"/>
              </a:solidFill>
              <a:highlight>
                <a:schemeClr val="lt1"/>
              </a:highlight>
            </a:endParaRPr>
          </a:p>
          <a:p>
            <a:pPr marL="0" marR="152400" lvl="0" indent="0" algn="l" rtl="0">
              <a:lnSpc>
                <a:spcPct val="140000"/>
              </a:lnSpc>
              <a:spcBef>
                <a:spcPts val="0"/>
              </a:spcBef>
              <a:spcAft>
                <a:spcPts val="0"/>
              </a:spcAft>
              <a:buNone/>
            </a:pPr>
            <a:endParaRPr sz="1200" dirty="0">
              <a:solidFill>
                <a:schemeClr val="dk1"/>
              </a:solidFill>
              <a:highlight>
                <a:schemeClr val="lt1"/>
              </a:highlight>
            </a:endParaRPr>
          </a:p>
          <a:p>
            <a:pPr marL="0" lvl="0" indent="0" algn="l" rtl="0">
              <a:spcBef>
                <a:spcPts val="0"/>
              </a:spcBef>
              <a:spcAft>
                <a:spcPts val="0"/>
              </a:spcAft>
              <a:buClr>
                <a:schemeClr val="dk1"/>
              </a:buClr>
              <a:buSzPts val="1100"/>
              <a:buFont typeface="Arial"/>
              <a:buNone/>
            </a:pPr>
            <a:endParaRPr sz="1200" dirty="0"/>
          </a:p>
          <a:p>
            <a:pPr marL="0" lvl="0" indent="0" algn="l" rtl="0">
              <a:spcBef>
                <a:spcPts val="1200"/>
              </a:spcBef>
              <a:spcAft>
                <a:spcPts val="1200"/>
              </a:spcAft>
              <a:buNone/>
            </a:pPr>
            <a:endParaRPr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1" name="Google Shape;91;p19"/>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Software Testing Process </a:t>
            </a:r>
            <a:endParaRPr/>
          </a:p>
        </p:txBody>
      </p:sp>
      <p:pic>
        <p:nvPicPr>
          <p:cNvPr id="93" name="Google Shape;93;p19"/>
          <p:cNvPicPr preferRelativeResize="0"/>
          <p:nvPr/>
        </p:nvPicPr>
        <p:blipFill>
          <a:blip r:embed="rId3">
            <a:alphaModFix/>
          </a:blip>
          <a:stretch>
            <a:fillRect/>
          </a:stretch>
        </p:blipFill>
        <p:spPr>
          <a:xfrm>
            <a:off x="69600" y="1527807"/>
            <a:ext cx="9144001" cy="2157486"/>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sp>
        <p:nvSpPr>
          <p:cNvPr id="98" name="Google Shape;98;p2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sz="2400">
                <a:latin typeface="Times New Roman"/>
                <a:ea typeface="Times New Roman"/>
                <a:cs typeface="Times New Roman"/>
                <a:sym typeface="Times New Roman"/>
              </a:rPr>
              <a:t>Types of Testing  </a:t>
            </a:r>
            <a:endParaRPr sz="2400">
              <a:latin typeface="Times New Roman"/>
              <a:ea typeface="Times New Roman"/>
              <a:cs typeface="Times New Roman"/>
              <a:sym typeface="Times New Roman"/>
            </a:endParaRPr>
          </a:p>
          <a:p>
            <a:pPr marL="0" lvl="0" indent="0" algn="l" rtl="0">
              <a:spcBef>
                <a:spcPts val="0"/>
              </a:spcBef>
              <a:spcAft>
                <a:spcPts val="0"/>
              </a:spcAft>
              <a:buNone/>
            </a:pPr>
            <a:endParaRPr sz="1200">
              <a:latin typeface="Times New Roman"/>
              <a:ea typeface="Times New Roman"/>
              <a:cs typeface="Times New Roman"/>
              <a:sym typeface="Times New Roman"/>
            </a:endParaRPr>
          </a:p>
        </p:txBody>
      </p:sp>
      <p:sp>
        <p:nvSpPr>
          <p:cNvPr id="99" name="Google Shape;99;p20"/>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04800" algn="l" rtl="0">
              <a:spcBef>
                <a:spcPts val="0"/>
              </a:spcBef>
              <a:spcAft>
                <a:spcPts val="0"/>
              </a:spcAft>
              <a:buClr>
                <a:schemeClr val="dk1"/>
              </a:buClr>
              <a:buSzPts val="1200"/>
              <a:buFont typeface="Times New Roman"/>
              <a:buAutoNum type="arabicPeriod"/>
            </a:pPr>
            <a:r>
              <a:rPr lang="en" sz="1200" b="1">
                <a:solidFill>
                  <a:schemeClr val="dk1"/>
                </a:solidFill>
                <a:latin typeface="Times New Roman"/>
                <a:ea typeface="Times New Roman"/>
                <a:cs typeface="Times New Roman"/>
                <a:sym typeface="Times New Roman"/>
              </a:rPr>
              <a:t>Development testing: </a:t>
            </a:r>
            <a:r>
              <a:rPr lang="en" sz="1200">
                <a:solidFill>
                  <a:schemeClr val="dk1"/>
                </a:solidFill>
                <a:latin typeface="Times New Roman"/>
                <a:ea typeface="Times New Roman"/>
                <a:cs typeface="Times New Roman"/>
                <a:sym typeface="Times New Roman"/>
              </a:rPr>
              <a:t>where the system is tested during development to discover bugs and defects. </a:t>
            </a:r>
            <a:endParaRPr sz="1200">
              <a:solidFill>
                <a:schemeClr val="dk1"/>
              </a:solidFill>
              <a:latin typeface="Times New Roman"/>
              <a:ea typeface="Times New Roman"/>
              <a:cs typeface="Times New Roman"/>
              <a:sym typeface="Times New Roman"/>
            </a:endParaRPr>
          </a:p>
          <a:p>
            <a:pPr marL="457200" lvl="0" indent="-304800" algn="l" rtl="0">
              <a:spcBef>
                <a:spcPts val="0"/>
              </a:spcBef>
              <a:spcAft>
                <a:spcPts val="0"/>
              </a:spcAft>
              <a:buClr>
                <a:schemeClr val="dk1"/>
              </a:buClr>
              <a:buSzPts val="1200"/>
              <a:buFont typeface="Times New Roman"/>
              <a:buAutoNum type="arabicPeriod"/>
            </a:pPr>
            <a:r>
              <a:rPr lang="en" sz="1200" b="1">
                <a:solidFill>
                  <a:schemeClr val="dk1"/>
                </a:solidFill>
                <a:latin typeface="Times New Roman"/>
                <a:ea typeface="Times New Roman"/>
                <a:cs typeface="Times New Roman"/>
                <a:sym typeface="Times New Roman"/>
              </a:rPr>
              <a:t>Release testing:</a:t>
            </a:r>
            <a:r>
              <a:rPr lang="en" sz="1200">
                <a:solidFill>
                  <a:schemeClr val="dk1"/>
                </a:solidFill>
                <a:latin typeface="Times New Roman"/>
                <a:ea typeface="Times New Roman"/>
                <a:cs typeface="Times New Roman"/>
                <a:sym typeface="Times New Roman"/>
              </a:rPr>
              <a:t> where a separate testing team tests a complete version of the system before it is released to users. The aim of release testing is to check that the system meets the requirements of system stakeholders. </a:t>
            </a:r>
            <a:endParaRPr sz="1200">
              <a:solidFill>
                <a:schemeClr val="dk1"/>
              </a:solidFill>
              <a:latin typeface="Times New Roman"/>
              <a:ea typeface="Times New Roman"/>
              <a:cs typeface="Times New Roman"/>
              <a:sym typeface="Times New Roman"/>
            </a:endParaRPr>
          </a:p>
          <a:p>
            <a:pPr marL="457200" lvl="0" indent="-304800" algn="l" rtl="0">
              <a:spcBef>
                <a:spcPts val="0"/>
              </a:spcBef>
              <a:spcAft>
                <a:spcPts val="0"/>
              </a:spcAft>
              <a:buClr>
                <a:schemeClr val="dk1"/>
              </a:buClr>
              <a:buSzPts val="1200"/>
              <a:buFont typeface="Times New Roman"/>
              <a:buAutoNum type="arabicPeriod"/>
            </a:pPr>
            <a:r>
              <a:rPr lang="en" sz="1200" b="1">
                <a:solidFill>
                  <a:schemeClr val="dk1"/>
                </a:solidFill>
                <a:latin typeface="Times New Roman"/>
                <a:ea typeface="Times New Roman"/>
                <a:cs typeface="Times New Roman"/>
                <a:sym typeface="Times New Roman"/>
              </a:rPr>
              <a:t>User testing:</a:t>
            </a:r>
            <a:r>
              <a:rPr lang="en" sz="1200">
                <a:solidFill>
                  <a:schemeClr val="dk1"/>
                </a:solidFill>
                <a:latin typeface="Times New Roman"/>
                <a:ea typeface="Times New Roman"/>
                <a:cs typeface="Times New Roman"/>
                <a:sym typeface="Times New Roman"/>
              </a:rPr>
              <a:t> where users or potential users of a system test the system in their own environment. For software products, the ‘user’ may be an internal marketing group who decide if the software can be marketed, released, and sold. </a:t>
            </a:r>
            <a:endParaRPr sz="1200">
              <a:solidFill>
                <a:schemeClr val="dk1"/>
              </a:solidFill>
              <a:latin typeface="Times New Roman"/>
              <a:ea typeface="Times New Roman"/>
              <a:cs typeface="Times New Roman"/>
              <a:sym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4" name="Google Shape;104;p21"/>
          <p:cNvSpPr txBox="1">
            <a:spLocks noGrp="1"/>
          </p:cNvSpPr>
          <p:nvPr>
            <p:ph type="title"/>
          </p:nvPr>
        </p:nvSpPr>
        <p:spPr>
          <a:xfrm>
            <a:off x="311700" y="445025"/>
            <a:ext cx="8520600" cy="8328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2400">
                <a:latin typeface="Times New Roman"/>
                <a:ea typeface="Times New Roman"/>
                <a:cs typeface="Times New Roman"/>
                <a:sym typeface="Times New Roman"/>
              </a:rPr>
              <a:t>Development Testing</a:t>
            </a:r>
            <a:endParaRPr sz="2400">
              <a:latin typeface="Times New Roman"/>
              <a:ea typeface="Times New Roman"/>
              <a:cs typeface="Times New Roman"/>
              <a:sym typeface="Times New Roman"/>
            </a:endParaRPr>
          </a:p>
          <a:p>
            <a:pPr marL="0" lvl="0" indent="0" algn="l" rtl="0">
              <a:spcBef>
                <a:spcPts val="0"/>
              </a:spcBef>
              <a:spcAft>
                <a:spcPts val="0"/>
              </a:spcAft>
              <a:buNone/>
            </a:pPr>
            <a:endParaRPr sz="1200">
              <a:latin typeface="Times New Roman"/>
              <a:ea typeface="Times New Roman"/>
              <a:cs typeface="Times New Roman"/>
              <a:sym typeface="Times New Roman"/>
            </a:endParaRPr>
          </a:p>
        </p:txBody>
      </p:sp>
      <p:sp>
        <p:nvSpPr>
          <p:cNvPr id="105" name="Google Shape;105;p21"/>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04800" algn="l" rtl="0">
              <a:spcBef>
                <a:spcPts val="0"/>
              </a:spcBef>
              <a:spcAft>
                <a:spcPts val="0"/>
              </a:spcAft>
              <a:buClr>
                <a:schemeClr val="dk1"/>
              </a:buClr>
              <a:buSzPts val="1200"/>
              <a:buFont typeface="Times New Roman"/>
              <a:buAutoNum type="arabicPeriod"/>
            </a:pPr>
            <a:r>
              <a:rPr lang="en" sz="1200" b="1">
                <a:solidFill>
                  <a:schemeClr val="dk1"/>
                </a:solidFill>
                <a:latin typeface="Times New Roman"/>
                <a:ea typeface="Times New Roman"/>
                <a:cs typeface="Times New Roman"/>
                <a:sym typeface="Times New Roman"/>
              </a:rPr>
              <a:t>Unit testing:</a:t>
            </a:r>
            <a:r>
              <a:rPr lang="en" sz="1200">
                <a:solidFill>
                  <a:schemeClr val="dk1"/>
                </a:solidFill>
                <a:latin typeface="Times New Roman"/>
                <a:ea typeface="Times New Roman"/>
                <a:cs typeface="Times New Roman"/>
                <a:sym typeface="Times New Roman"/>
              </a:rPr>
              <a:t> Where individual program units or object classes are tested. Focuses on testing the </a:t>
            </a:r>
            <a:r>
              <a:rPr lang="en" sz="1200">
                <a:solidFill>
                  <a:srgbClr val="0000FF"/>
                </a:solidFill>
                <a:latin typeface="Times New Roman"/>
                <a:ea typeface="Times New Roman"/>
                <a:cs typeface="Times New Roman"/>
                <a:sym typeface="Times New Roman"/>
              </a:rPr>
              <a:t>functionality</a:t>
            </a:r>
            <a:r>
              <a:rPr lang="en" sz="1200">
                <a:solidFill>
                  <a:schemeClr val="dk1"/>
                </a:solidFill>
                <a:latin typeface="Times New Roman"/>
                <a:ea typeface="Times New Roman"/>
                <a:cs typeface="Times New Roman"/>
                <a:sym typeface="Times New Roman"/>
              </a:rPr>
              <a:t> of objects or methods. </a:t>
            </a:r>
            <a:endParaRPr sz="1200">
              <a:solidFill>
                <a:schemeClr val="dk1"/>
              </a:solidFill>
              <a:latin typeface="Times New Roman"/>
              <a:ea typeface="Times New Roman"/>
              <a:cs typeface="Times New Roman"/>
              <a:sym typeface="Times New Roman"/>
            </a:endParaRPr>
          </a:p>
          <a:p>
            <a:pPr marL="457200" lvl="0" indent="-304800" algn="l" rtl="0">
              <a:spcBef>
                <a:spcPts val="0"/>
              </a:spcBef>
              <a:spcAft>
                <a:spcPts val="0"/>
              </a:spcAft>
              <a:buClr>
                <a:schemeClr val="dk1"/>
              </a:buClr>
              <a:buSzPts val="1200"/>
              <a:buFont typeface="Times New Roman"/>
              <a:buAutoNum type="arabicPeriod"/>
            </a:pPr>
            <a:r>
              <a:rPr lang="en" sz="1200" b="1">
                <a:solidFill>
                  <a:schemeClr val="dk1"/>
                </a:solidFill>
                <a:latin typeface="Times New Roman"/>
                <a:ea typeface="Times New Roman"/>
                <a:cs typeface="Times New Roman"/>
                <a:sym typeface="Times New Roman"/>
              </a:rPr>
              <a:t>Component testing:</a:t>
            </a:r>
            <a:r>
              <a:rPr lang="en" sz="1200">
                <a:solidFill>
                  <a:schemeClr val="dk1"/>
                </a:solidFill>
                <a:latin typeface="Times New Roman"/>
                <a:ea typeface="Times New Roman"/>
                <a:cs typeface="Times New Roman"/>
                <a:sym typeface="Times New Roman"/>
              </a:rPr>
              <a:t> Where several individual units are integrated to create composite components. Focuses on testing component interfaces. </a:t>
            </a:r>
            <a:endParaRPr sz="1200">
              <a:solidFill>
                <a:schemeClr val="dk1"/>
              </a:solidFill>
              <a:latin typeface="Times New Roman"/>
              <a:ea typeface="Times New Roman"/>
              <a:cs typeface="Times New Roman"/>
              <a:sym typeface="Times New Roman"/>
            </a:endParaRPr>
          </a:p>
          <a:p>
            <a:pPr marL="457200" lvl="0" indent="-304800" algn="l" rtl="0">
              <a:spcBef>
                <a:spcPts val="0"/>
              </a:spcBef>
              <a:spcAft>
                <a:spcPts val="0"/>
              </a:spcAft>
              <a:buClr>
                <a:schemeClr val="dk1"/>
              </a:buClr>
              <a:buSzPts val="1200"/>
              <a:buFont typeface="Times New Roman"/>
              <a:buAutoNum type="arabicPeriod"/>
            </a:pPr>
            <a:r>
              <a:rPr lang="en" sz="1200" b="1">
                <a:solidFill>
                  <a:schemeClr val="dk1"/>
                </a:solidFill>
                <a:latin typeface="Times New Roman"/>
                <a:ea typeface="Times New Roman"/>
                <a:cs typeface="Times New Roman"/>
                <a:sym typeface="Times New Roman"/>
              </a:rPr>
              <a:t>System testing:</a:t>
            </a:r>
            <a:r>
              <a:rPr lang="en" sz="1200">
                <a:solidFill>
                  <a:schemeClr val="dk1"/>
                </a:solidFill>
                <a:latin typeface="Times New Roman"/>
                <a:ea typeface="Times New Roman"/>
                <a:cs typeface="Times New Roman"/>
                <a:sym typeface="Times New Roman"/>
              </a:rPr>
              <a:t> Where some or all of the components in a system are integrated and the system is tested as a whole. Focuses on testing component interactions. </a:t>
            </a:r>
            <a:endParaRPr sz="1200">
              <a:solidFill>
                <a:schemeClr val="dk1"/>
              </a:solidFill>
              <a:latin typeface="Times New Roman"/>
              <a:ea typeface="Times New Roman"/>
              <a:cs typeface="Times New Roman"/>
              <a:sym typeface="Times New Roman"/>
            </a:endParaRPr>
          </a:p>
          <a:p>
            <a:pPr marL="0" lvl="0" indent="0" algn="l" rtl="0">
              <a:spcBef>
                <a:spcPts val="1200"/>
              </a:spcBef>
              <a:spcAft>
                <a:spcPts val="1200"/>
              </a:spcAft>
              <a:buNone/>
            </a:pPr>
            <a:r>
              <a:rPr lang="en" sz="1200">
                <a:solidFill>
                  <a:schemeClr val="dk1"/>
                </a:solidFill>
                <a:latin typeface="Times New Roman"/>
                <a:ea typeface="Times New Roman"/>
                <a:cs typeface="Times New Roman"/>
                <a:sym typeface="Times New Roman"/>
              </a:rPr>
              <a:t>Development testing is primarily a defect testing process, where the aim of testing is to discover bugs in the software. It is therefore usually interleaved with debugging— the process of locating problems with the code and changing the program to fix these problems. </a:t>
            </a:r>
            <a:endParaRPr sz="1200">
              <a:solidFill>
                <a:schemeClr val="dk1"/>
              </a:solidFill>
              <a:latin typeface="Times New Roman"/>
              <a:ea typeface="Times New Roman"/>
              <a:cs typeface="Times New Roman"/>
              <a:sym typeface="Times New Roman"/>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Google Shape;110;p22"/>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latin typeface="Times New Roman"/>
                <a:ea typeface="Times New Roman"/>
                <a:cs typeface="Times New Roman"/>
                <a:sym typeface="Times New Roman"/>
              </a:rPr>
              <a:t>Component Testing</a:t>
            </a:r>
            <a:endParaRPr>
              <a:latin typeface="Times New Roman"/>
              <a:ea typeface="Times New Roman"/>
              <a:cs typeface="Times New Roman"/>
              <a:sym typeface="Times New Roman"/>
            </a:endParaRPr>
          </a:p>
        </p:txBody>
      </p:sp>
      <p:sp>
        <p:nvSpPr>
          <p:cNvPr id="111" name="Google Shape;111;p22"/>
          <p:cNvSpPr txBox="1">
            <a:spLocks noGrp="1"/>
          </p:cNvSpPr>
          <p:nvPr>
            <p:ph type="body" idx="1"/>
          </p:nvPr>
        </p:nvSpPr>
        <p:spPr>
          <a:xfrm>
            <a:off x="68100" y="1082875"/>
            <a:ext cx="4357800" cy="3416400"/>
          </a:xfrm>
          <a:prstGeom prst="rect">
            <a:avLst/>
          </a:prstGeom>
        </p:spPr>
        <p:txBody>
          <a:bodyPr spcFirstLastPara="1" wrap="square" lIns="91425" tIns="91425" rIns="91425" bIns="91425" anchor="t" anchorCtr="0">
            <a:normAutofit/>
          </a:bodyPr>
          <a:lstStyle/>
          <a:p>
            <a:pPr marL="457200" lvl="0" indent="-304800" algn="l" rtl="0">
              <a:spcBef>
                <a:spcPts val="0"/>
              </a:spcBef>
              <a:spcAft>
                <a:spcPts val="0"/>
              </a:spcAft>
              <a:buClr>
                <a:schemeClr val="dk1"/>
              </a:buClr>
              <a:buSzPts val="1200"/>
              <a:buFont typeface="Times New Roman"/>
              <a:buChar char="●"/>
            </a:pPr>
            <a:r>
              <a:rPr lang="en" sz="1200">
                <a:solidFill>
                  <a:schemeClr val="dk1"/>
                </a:solidFill>
                <a:latin typeface="Times New Roman"/>
                <a:ea typeface="Times New Roman"/>
                <a:cs typeface="Times New Roman"/>
                <a:sym typeface="Times New Roman"/>
              </a:rPr>
              <a:t>Software components are often composite components that are made up of several interacting objects. </a:t>
            </a:r>
            <a:endParaRPr sz="1200">
              <a:solidFill>
                <a:schemeClr val="dk1"/>
              </a:solidFill>
              <a:latin typeface="Times New Roman"/>
              <a:ea typeface="Times New Roman"/>
              <a:cs typeface="Times New Roman"/>
              <a:sym typeface="Times New Roman"/>
            </a:endParaRPr>
          </a:p>
          <a:p>
            <a:pPr marL="457200" lvl="0" indent="-304800" algn="l" rtl="0">
              <a:spcBef>
                <a:spcPts val="0"/>
              </a:spcBef>
              <a:spcAft>
                <a:spcPts val="0"/>
              </a:spcAft>
              <a:buClr>
                <a:schemeClr val="dk1"/>
              </a:buClr>
              <a:buSzPts val="1200"/>
              <a:buFont typeface="Times New Roman"/>
              <a:buChar char="●"/>
            </a:pPr>
            <a:r>
              <a:rPr lang="en" sz="1200">
                <a:solidFill>
                  <a:schemeClr val="dk1"/>
                </a:solidFill>
                <a:latin typeface="Times New Roman"/>
                <a:ea typeface="Times New Roman"/>
                <a:cs typeface="Times New Roman"/>
                <a:sym typeface="Times New Roman"/>
              </a:rPr>
              <a:t>Focuses on showing that the component interface behaves according to its specification. </a:t>
            </a:r>
            <a:endParaRPr sz="1200">
              <a:solidFill>
                <a:schemeClr val="dk1"/>
              </a:solidFill>
              <a:latin typeface="Times New Roman"/>
              <a:ea typeface="Times New Roman"/>
              <a:cs typeface="Times New Roman"/>
              <a:sym typeface="Times New Roman"/>
            </a:endParaRPr>
          </a:p>
          <a:p>
            <a:pPr marL="457200" lvl="0" indent="-304800" algn="l" rtl="0">
              <a:spcBef>
                <a:spcPts val="0"/>
              </a:spcBef>
              <a:spcAft>
                <a:spcPts val="0"/>
              </a:spcAft>
              <a:buClr>
                <a:schemeClr val="dk1"/>
              </a:buClr>
              <a:buSzPts val="1200"/>
              <a:buFont typeface="Times New Roman"/>
              <a:buChar char="●"/>
            </a:pPr>
            <a:r>
              <a:rPr lang="en" sz="1200">
                <a:solidFill>
                  <a:schemeClr val="dk1"/>
                </a:solidFill>
                <a:latin typeface="Times New Roman"/>
                <a:ea typeface="Times New Roman"/>
                <a:cs typeface="Times New Roman"/>
                <a:sym typeface="Times New Roman"/>
              </a:rPr>
              <a:t>You can assume that unit tests on the individual objects within the component have been completed. </a:t>
            </a:r>
            <a:endParaRPr sz="1200">
              <a:solidFill>
                <a:schemeClr val="dk1"/>
              </a:solidFill>
              <a:latin typeface="Times New Roman"/>
              <a:ea typeface="Times New Roman"/>
              <a:cs typeface="Times New Roman"/>
              <a:sym typeface="Times New Roman"/>
            </a:endParaRPr>
          </a:p>
        </p:txBody>
      </p:sp>
      <p:pic>
        <p:nvPicPr>
          <p:cNvPr id="112" name="Google Shape;112;p22"/>
          <p:cNvPicPr preferRelativeResize="0"/>
          <p:nvPr/>
        </p:nvPicPr>
        <p:blipFill>
          <a:blip r:embed="rId3">
            <a:alphaModFix/>
          </a:blip>
          <a:stretch>
            <a:fillRect/>
          </a:stretch>
        </p:blipFill>
        <p:spPr>
          <a:xfrm>
            <a:off x="4307024" y="1142874"/>
            <a:ext cx="5757450" cy="381825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23"/>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p>
            <a:pPr marL="0" lvl="0" indent="0" algn="l" rtl="0">
              <a:lnSpc>
                <a:spcPct val="115000"/>
              </a:lnSpc>
              <a:spcBef>
                <a:spcPts val="0"/>
              </a:spcBef>
              <a:spcAft>
                <a:spcPts val="1200"/>
              </a:spcAft>
              <a:buClr>
                <a:schemeClr val="dk1"/>
              </a:buClr>
              <a:buSzPts val="1100"/>
              <a:buFont typeface="Arial"/>
              <a:buNone/>
            </a:pPr>
            <a:r>
              <a:rPr lang="en" sz="2400">
                <a:latin typeface="Times New Roman"/>
                <a:ea typeface="Times New Roman"/>
                <a:cs typeface="Times New Roman"/>
                <a:sym typeface="Times New Roman"/>
              </a:rPr>
              <a:t>Types of interface between program components</a:t>
            </a:r>
            <a:endParaRPr sz="2400">
              <a:latin typeface="Times New Roman"/>
              <a:ea typeface="Times New Roman"/>
              <a:cs typeface="Times New Roman"/>
              <a:sym typeface="Times New Roman"/>
            </a:endParaRPr>
          </a:p>
        </p:txBody>
      </p:sp>
      <p:sp>
        <p:nvSpPr>
          <p:cNvPr id="118" name="Google Shape;118;p23"/>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1200" b="1">
                <a:solidFill>
                  <a:schemeClr val="dk1"/>
                </a:solidFill>
                <a:latin typeface="Times New Roman"/>
                <a:ea typeface="Times New Roman"/>
                <a:cs typeface="Times New Roman"/>
                <a:sym typeface="Times New Roman"/>
              </a:rPr>
              <a:t>Parameter interfaces: </a:t>
            </a:r>
            <a:r>
              <a:rPr lang="en" sz="1200">
                <a:solidFill>
                  <a:schemeClr val="dk1"/>
                </a:solidFill>
                <a:latin typeface="Times New Roman"/>
                <a:ea typeface="Times New Roman"/>
                <a:cs typeface="Times New Roman"/>
                <a:sym typeface="Times New Roman"/>
              </a:rPr>
              <a:t>These are interfaces in which data or sometimes function references are passed from one component to another. Methods in an object have a parameter interface. </a:t>
            </a:r>
            <a:endParaRPr sz="1200">
              <a:solidFill>
                <a:schemeClr val="dk1"/>
              </a:solidFill>
              <a:latin typeface="Times New Roman"/>
              <a:ea typeface="Times New Roman"/>
              <a:cs typeface="Times New Roman"/>
              <a:sym typeface="Times New Roman"/>
            </a:endParaRPr>
          </a:p>
          <a:p>
            <a:pPr marL="0" lvl="0" indent="0" algn="l" rtl="0">
              <a:spcBef>
                <a:spcPts val="1200"/>
              </a:spcBef>
              <a:spcAft>
                <a:spcPts val="0"/>
              </a:spcAft>
              <a:buNone/>
            </a:pPr>
            <a:r>
              <a:rPr lang="en" sz="1200" b="1">
                <a:solidFill>
                  <a:schemeClr val="dk1"/>
                </a:solidFill>
                <a:latin typeface="Times New Roman"/>
                <a:ea typeface="Times New Roman"/>
                <a:cs typeface="Times New Roman"/>
                <a:sym typeface="Times New Roman"/>
              </a:rPr>
              <a:t>Shared memory interfaces:</a:t>
            </a:r>
            <a:r>
              <a:rPr lang="en" sz="1200">
                <a:solidFill>
                  <a:schemeClr val="dk1"/>
                </a:solidFill>
                <a:latin typeface="Times New Roman"/>
                <a:ea typeface="Times New Roman"/>
                <a:cs typeface="Times New Roman"/>
                <a:sym typeface="Times New Roman"/>
              </a:rPr>
              <a:t> These are interfaces in which a block of memory is shared between components. Data is placed in the memory by one subsystem and retrieved from there by other subsystems. This type of interface is often used in embedded systems, where sensors create data that is retrieved and processed by other system components. </a:t>
            </a:r>
            <a:endParaRPr sz="1200">
              <a:solidFill>
                <a:schemeClr val="dk1"/>
              </a:solidFill>
              <a:latin typeface="Times New Roman"/>
              <a:ea typeface="Times New Roman"/>
              <a:cs typeface="Times New Roman"/>
              <a:sym typeface="Times New Roman"/>
            </a:endParaRPr>
          </a:p>
          <a:p>
            <a:pPr marL="0" lvl="0" indent="0" algn="l" rtl="0">
              <a:spcBef>
                <a:spcPts val="1200"/>
              </a:spcBef>
              <a:spcAft>
                <a:spcPts val="0"/>
              </a:spcAft>
              <a:buNone/>
            </a:pPr>
            <a:r>
              <a:rPr lang="en" sz="1200" b="1">
                <a:solidFill>
                  <a:schemeClr val="dk1"/>
                </a:solidFill>
                <a:latin typeface="Times New Roman"/>
                <a:ea typeface="Times New Roman"/>
                <a:cs typeface="Times New Roman"/>
                <a:sym typeface="Times New Roman"/>
              </a:rPr>
              <a:t>Procedural interfaces: </a:t>
            </a:r>
            <a:r>
              <a:rPr lang="en" sz="1200">
                <a:solidFill>
                  <a:schemeClr val="dk1"/>
                </a:solidFill>
                <a:latin typeface="Times New Roman"/>
                <a:ea typeface="Times New Roman"/>
                <a:cs typeface="Times New Roman"/>
                <a:sym typeface="Times New Roman"/>
              </a:rPr>
              <a:t>These are interfaces in which one component encapsulates a set of procedures that can be called by other components. Objects and reusable components have this form of interface. </a:t>
            </a:r>
            <a:endParaRPr sz="1200">
              <a:solidFill>
                <a:schemeClr val="dk1"/>
              </a:solidFill>
              <a:latin typeface="Times New Roman"/>
              <a:ea typeface="Times New Roman"/>
              <a:cs typeface="Times New Roman"/>
              <a:sym typeface="Times New Roman"/>
            </a:endParaRPr>
          </a:p>
          <a:p>
            <a:pPr marL="0" lvl="0" indent="0" algn="l" rtl="0">
              <a:spcBef>
                <a:spcPts val="1200"/>
              </a:spcBef>
              <a:spcAft>
                <a:spcPts val="1200"/>
              </a:spcAft>
              <a:buNone/>
            </a:pPr>
            <a:r>
              <a:rPr lang="en" sz="1200" b="1">
                <a:solidFill>
                  <a:schemeClr val="dk1"/>
                </a:solidFill>
                <a:latin typeface="Times New Roman"/>
                <a:ea typeface="Times New Roman"/>
                <a:cs typeface="Times New Roman"/>
                <a:sym typeface="Times New Roman"/>
              </a:rPr>
              <a:t>Message passing interfaces:</a:t>
            </a:r>
            <a:r>
              <a:rPr lang="en" sz="1200">
                <a:solidFill>
                  <a:schemeClr val="dk1"/>
                </a:solidFill>
                <a:latin typeface="Times New Roman"/>
                <a:ea typeface="Times New Roman"/>
                <a:cs typeface="Times New Roman"/>
                <a:sym typeface="Times New Roman"/>
              </a:rPr>
              <a:t> These are interfaces in which one component requests a service from another component by passing a message to it. A return message includes the results of executing the service. Some object-oriented systems have this form of interface, as do client–server systems. </a:t>
            </a:r>
            <a:endParaRPr sz="1200">
              <a:solidFill>
                <a:schemeClr val="dk1"/>
              </a:solidFill>
              <a:latin typeface="Times New Roman"/>
              <a:ea typeface="Times New Roman"/>
              <a:cs typeface="Times New Roman"/>
              <a:sym typeface="Times New Roman"/>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123" name="Google Shape;123;p2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Interface Errors</a:t>
            </a:r>
            <a:endParaRPr/>
          </a:p>
        </p:txBody>
      </p:sp>
      <p:sp>
        <p:nvSpPr>
          <p:cNvPr id="124" name="Google Shape;124;p2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1200" b="1">
                <a:solidFill>
                  <a:schemeClr val="dk1"/>
                </a:solidFill>
                <a:latin typeface="Times New Roman"/>
                <a:ea typeface="Times New Roman"/>
                <a:cs typeface="Times New Roman"/>
                <a:sym typeface="Times New Roman"/>
              </a:rPr>
              <a:t>Interface misuse:</a:t>
            </a:r>
            <a:r>
              <a:rPr lang="en" sz="1200">
                <a:solidFill>
                  <a:schemeClr val="dk1"/>
                </a:solidFill>
                <a:latin typeface="Times New Roman"/>
                <a:ea typeface="Times New Roman"/>
                <a:cs typeface="Times New Roman"/>
                <a:sym typeface="Times New Roman"/>
              </a:rPr>
              <a:t> A calling component calls some other component and makes an error in the use of its interface. This type of error is common with parameter interfaces, where parameters may be of the wrong type or be passed in the wrong order, or the wrong number of parameters may be passed. </a:t>
            </a:r>
            <a:endParaRPr sz="1200">
              <a:solidFill>
                <a:schemeClr val="dk1"/>
              </a:solidFill>
              <a:latin typeface="Times New Roman"/>
              <a:ea typeface="Times New Roman"/>
              <a:cs typeface="Times New Roman"/>
              <a:sym typeface="Times New Roman"/>
            </a:endParaRPr>
          </a:p>
          <a:p>
            <a:pPr marL="0" lvl="0" indent="0" algn="l" rtl="0">
              <a:spcBef>
                <a:spcPts val="1200"/>
              </a:spcBef>
              <a:spcAft>
                <a:spcPts val="0"/>
              </a:spcAft>
              <a:buNone/>
            </a:pPr>
            <a:r>
              <a:rPr lang="en" sz="1200" b="1">
                <a:solidFill>
                  <a:schemeClr val="dk1"/>
                </a:solidFill>
                <a:latin typeface="Times New Roman"/>
                <a:ea typeface="Times New Roman"/>
                <a:cs typeface="Times New Roman"/>
                <a:sym typeface="Times New Roman"/>
              </a:rPr>
              <a:t>Interface misunderstanding: </a:t>
            </a:r>
            <a:r>
              <a:rPr lang="en" sz="1200">
                <a:solidFill>
                  <a:schemeClr val="dk1"/>
                </a:solidFill>
                <a:latin typeface="Times New Roman"/>
                <a:ea typeface="Times New Roman"/>
                <a:cs typeface="Times New Roman"/>
                <a:sym typeface="Times New Roman"/>
              </a:rPr>
              <a:t>A calling component misunderstands the specification of the interface of the called component and makes assumptions about its behavior. The called component does not behave as expected which then causes unexpected behavior in the calling component. For example, a binary search method may be called with a parameter that is an unordered array. The search would then fail. </a:t>
            </a:r>
            <a:endParaRPr sz="1200">
              <a:solidFill>
                <a:schemeClr val="dk1"/>
              </a:solidFill>
              <a:latin typeface="Times New Roman"/>
              <a:ea typeface="Times New Roman"/>
              <a:cs typeface="Times New Roman"/>
              <a:sym typeface="Times New Roman"/>
            </a:endParaRPr>
          </a:p>
          <a:p>
            <a:pPr marL="0" lvl="0" indent="0" algn="l" rtl="0">
              <a:spcBef>
                <a:spcPts val="1200"/>
              </a:spcBef>
              <a:spcAft>
                <a:spcPts val="1200"/>
              </a:spcAft>
              <a:buNone/>
            </a:pPr>
            <a:r>
              <a:rPr lang="en" sz="1200" b="1">
                <a:solidFill>
                  <a:schemeClr val="dk1"/>
                </a:solidFill>
                <a:latin typeface="Times New Roman"/>
                <a:ea typeface="Times New Roman"/>
                <a:cs typeface="Times New Roman"/>
                <a:sym typeface="Times New Roman"/>
              </a:rPr>
              <a:t>Timing errors:</a:t>
            </a:r>
            <a:r>
              <a:rPr lang="en" sz="1200">
                <a:solidFill>
                  <a:schemeClr val="dk1"/>
                </a:solidFill>
                <a:latin typeface="Times New Roman"/>
                <a:ea typeface="Times New Roman"/>
                <a:cs typeface="Times New Roman"/>
                <a:sym typeface="Times New Roman"/>
              </a:rPr>
              <a:t> These occur in real-time systems that use a shared memory or a message-passing interface. The producer of data and the consumer of data may operate at different speeds. Unless particular care is taken in the interface design, the consumer can access out-of-date information because the producer of the information has not updated the shared interface information.  </a:t>
            </a:r>
            <a:endParaRPr sz="1200">
              <a:solidFill>
                <a:schemeClr val="dk1"/>
              </a:solidFill>
              <a:latin typeface="Times New Roman"/>
              <a:ea typeface="Times New Roman"/>
              <a:cs typeface="Times New Roman"/>
              <a:sym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sp>
        <p:nvSpPr>
          <p:cNvPr id="129" name="Google Shape;129;p2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p>
            <a:pPr marL="0" lvl="0" indent="0" algn="l" rtl="0">
              <a:lnSpc>
                <a:spcPct val="115000"/>
              </a:lnSpc>
              <a:spcBef>
                <a:spcPts val="0"/>
              </a:spcBef>
              <a:spcAft>
                <a:spcPts val="1200"/>
              </a:spcAft>
              <a:buClr>
                <a:schemeClr val="dk1"/>
              </a:buClr>
              <a:buSzPts val="1100"/>
              <a:buFont typeface="Arial"/>
              <a:buNone/>
            </a:pPr>
            <a:r>
              <a:rPr lang="en" sz="2400">
                <a:latin typeface="Times New Roman"/>
                <a:ea typeface="Times New Roman"/>
                <a:cs typeface="Times New Roman"/>
                <a:sym typeface="Times New Roman"/>
              </a:rPr>
              <a:t>Some general guidelines for interface testing</a:t>
            </a:r>
            <a:endParaRPr sz="2400">
              <a:latin typeface="Times New Roman"/>
              <a:ea typeface="Times New Roman"/>
              <a:cs typeface="Times New Roman"/>
              <a:sym typeface="Times New Roman"/>
            </a:endParaRPr>
          </a:p>
        </p:txBody>
      </p:sp>
      <p:sp>
        <p:nvSpPr>
          <p:cNvPr id="130" name="Google Shape;130;p25"/>
          <p:cNvSpPr txBox="1">
            <a:spLocks noGrp="1"/>
          </p:cNvSpPr>
          <p:nvPr>
            <p:ph type="body" idx="1"/>
          </p:nvPr>
        </p:nvSpPr>
        <p:spPr>
          <a:xfrm>
            <a:off x="311700" y="957575"/>
            <a:ext cx="8520600" cy="3416400"/>
          </a:xfrm>
          <a:prstGeom prst="rect">
            <a:avLst/>
          </a:prstGeom>
        </p:spPr>
        <p:txBody>
          <a:bodyPr spcFirstLastPara="1" wrap="square" lIns="91425" tIns="91425" rIns="91425" bIns="91425" anchor="t" anchorCtr="0">
            <a:normAutofit/>
          </a:bodyPr>
          <a:lstStyle/>
          <a:p>
            <a:pPr marL="457200" lvl="0" indent="-306705" algn="just" rtl="0">
              <a:lnSpc>
                <a:spcPct val="105000"/>
              </a:lnSpc>
              <a:spcBef>
                <a:spcPts val="0"/>
              </a:spcBef>
              <a:spcAft>
                <a:spcPts val="0"/>
              </a:spcAft>
              <a:buClr>
                <a:schemeClr val="dk1"/>
              </a:buClr>
              <a:buSzPts val="1230"/>
              <a:buFont typeface="Times New Roman"/>
              <a:buAutoNum type="arabicPeriod"/>
            </a:pPr>
            <a:r>
              <a:rPr lang="en" sz="1230">
                <a:solidFill>
                  <a:schemeClr val="dk1"/>
                </a:solidFill>
                <a:latin typeface="Times New Roman"/>
                <a:ea typeface="Times New Roman"/>
                <a:cs typeface="Times New Roman"/>
                <a:sym typeface="Times New Roman"/>
              </a:rPr>
              <a:t>Examine the code to be tested and explicitly list each call to an external component. Design a set of tests in which the values of the parameters to the external components are at the extreme ends of their ranges. These extreme values are most likely to reveal interface inconsistencies. </a:t>
            </a:r>
            <a:endParaRPr sz="1230">
              <a:solidFill>
                <a:schemeClr val="dk1"/>
              </a:solidFill>
              <a:latin typeface="Times New Roman"/>
              <a:ea typeface="Times New Roman"/>
              <a:cs typeface="Times New Roman"/>
              <a:sym typeface="Times New Roman"/>
            </a:endParaRPr>
          </a:p>
          <a:p>
            <a:pPr marL="457200" lvl="0" indent="-306705" algn="just" rtl="0">
              <a:lnSpc>
                <a:spcPct val="105000"/>
              </a:lnSpc>
              <a:spcBef>
                <a:spcPts val="0"/>
              </a:spcBef>
              <a:spcAft>
                <a:spcPts val="0"/>
              </a:spcAft>
              <a:buClr>
                <a:schemeClr val="dk1"/>
              </a:buClr>
              <a:buSzPts val="1230"/>
              <a:buFont typeface="Times New Roman"/>
              <a:buAutoNum type="arabicPeriod"/>
            </a:pPr>
            <a:r>
              <a:rPr lang="en" sz="1230">
                <a:solidFill>
                  <a:schemeClr val="dk1"/>
                </a:solidFill>
                <a:latin typeface="Times New Roman"/>
                <a:ea typeface="Times New Roman"/>
                <a:cs typeface="Times New Roman"/>
                <a:sym typeface="Times New Roman"/>
              </a:rPr>
              <a:t>Where pointers are passed across an interface, always test the interface with null pointer parameters. </a:t>
            </a:r>
            <a:endParaRPr sz="1230">
              <a:solidFill>
                <a:schemeClr val="dk1"/>
              </a:solidFill>
              <a:latin typeface="Times New Roman"/>
              <a:ea typeface="Times New Roman"/>
              <a:cs typeface="Times New Roman"/>
              <a:sym typeface="Times New Roman"/>
            </a:endParaRPr>
          </a:p>
          <a:p>
            <a:pPr marL="457200" lvl="0" indent="-306705" algn="just" rtl="0">
              <a:lnSpc>
                <a:spcPct val="105000"/>
              </a:lnSpc>
              <a:spcBef>
                <a:spcPts val="0"/>
              </a:spcBef>
              <a:spcAft>
                <a:spcPts val="0"/>
              </a:spcAft>
              <a:buClr>
                <a:schemeClr val="dk1"/>
              </a:buClr>
              <a:buSzPts val="1230"/>
              <a:buFont typeface="Times New Roman"/>
              <a:buAutoNum type="arabicPeriod"/>
            </a:pPr>
            <a:r>
              <a:rPr lang="en" sz="1230">
                <a:solidFill>
                  <a:schemeClr val="dk1"/>
                </a:solidFill>
                <a:latin typeface="Times New Roman"/>
                <a:ea typeface="Times New Roman"/>
                <a:cs typeface="Times New Roman"/>
                <a:sym typeface="Times New Roman"/>
              </a:rPr>
              <a:t>Where a component is called through a procedural interface, design tests that deliberately cause the component to fail. Differing failure assumptions are one of the most common specification misunderstandings. </a:t>
            </a:r>
            <a:endParaRPr sz="1230">
              <a:solidFill>
                <a:schemeClr val="dk1"/>
              </a:solidFill>
              <a:latin typeface="Times New Roman"/>
              <a:ea typeface="Times New Roman"/>
              <a:cs typeface="Times New Roman"/>
              <a:sym typeface="Times New Roman"/>
            </a:endParaRPr>
          </a:p>
          <a:p>
            <a:pPr marL="457200" lvl="0" indent="-306705" algn="just" rtl="0">
              <a:lnSpc>
                <a:spcPct val="105000"/>
              </a:lnSpc>
              <a:spcBef>
                <a:spcPts val="0"/>
              </a:spcBef>
              <a:spcAft>
                <a:spcPts val="0"/>
              </a:spcAft>
              <a:buClr>
                <a:schemeClr val="dk1"/>
              </a:buClr>
              <a:buSzPts val="1230"/>
              <a:buFont typeface="Times New Roman"/>
              <a:buAutoNum type="arabicPeriod"/>
            </a:pPr>
            <a:r>
              <a:rPr lang="en" sz="1230">
                <a:solidFill>
                  <a:schemeClr val="dk1"/>
                </a:solidFill>
                <a:latin typeface="Times New Roman"/>
                <a:ea typeface="Times New Roman"/>
                <a:cs typeface="Times New Roman"/>
                <a:sym typeface="Times New Roman"/>
              </a:rPr>
              <a:t>Use stress testing in message passing systems. This means that you should design tests that generate many more messages than are likely to occur in practice. This is an effective way of revealing timing problems. </a:t>
            </a:r>
            <a:endParaRPr sz="1230">
              <a:solidFill>
                <a:schemeClr val="dk1"/>
              </a:solidFill>
              <a:latin typeface="Times New Roman"/>
              <a:ea typeface="Times New Roman"/>
              <a:cs typeface="Times New Roman"/>
              <a:sym typeface="Times New Roman"/>
            </a:endParaRPr>
          </a:p>
          <a:p>
            <a:pPr marL="457200" lvl="0" indent="-306705" algn="just" rtl="0">
              <a:lnSpc>
                <a:spcPct val="105000"/>
              </a:lnSpc>
              <a:spcBef>
                <a:spcPts val="0"/>
              </a:spcBef>
              <a:spcAft>
                <a:spcPts val="0"/>
              </a:spcAft>
              <a:buClr>
                <a:schemeClr val="dk1"/>
              </a:buClr>
              <a:buSzPts val="1230"/>
              <a:buFont typeface="Times New Roman"/>
              <a:buAutoNum type="arabicPeriod"/>
            </a:pPr>
            <a:r>
              <a:rPr lang="en" sz="1230">
                <a:solidFill>
                  <a:schemeClr val="dk1"/>
                </a:solidFill>
                <a:latin typeface="Times New Roman"/>
                <a:ea typeface="Times New Roman"/>
                <a:cs typeface="Times New Roman"/>
                <a:sym typeface="Times New Roman"/>
              </a:rPr>
              <a:t>Where several components interact through shared memory, design tests that vary the order in which these components are activated. These tests may reveal implicit assumptions made by the programmer about the order in which the shared data is produced and consumed </a:t>
            </a:r>
            <a:endParaRPr sz="1230">
              <a:solidFill>
                <a:schemeClr val="dk1"/>
              </a:solidFill>
              <a:latin typeface="Times New Roman"/>
              <a:ea typeface="Times New Roman"/>
              <a:cs typeface="Times New Roman"/>
              <a:sym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sp>
        <p:nvSpPr>
          <p:cNvPr id="135" name="Google Shape;135;p2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p>
            <a:pPr marL="0" lvl="0" indent="0" algn="l" rtl="0">
              <a:lnSpc>
                <a:spcPct val="115000"/>
              </a:lnSpc>
              <a:spcBef>
                <a:spcPts val="0"/>
              </a:spcBef>
              <a:spcAft>
                <a:spcPts val="1200"/>
              </a:spcAft>
              <a:buNone/>
            </a:pPr>
            <a:r>
              <a:rPr lang="en" sz="1800">
                <a:latin typeface="Times New Roman"/>
                <a:ea typeface="Times New Roman"/>
                <a:cs typeface="Times New Roman"/>
                <a:sym typeface="Times New Roman"/>
              </a:rPr>
              <a:t>Test-driven development (TDD)</a:t>
            </a:r>
            <a:endParaRPr>
              <a:latin typeface="Times New Roman"/>
              <a:ea typeface="Times New Roman"/>
              <a:cs typeface="Times New Roman"/>
              <a:sym typeface="Times New Roman"/>
            </a:endParaRPr>
          </a:p>
        </p:txBody>
      </p:sp>
      <p:sp>
        <p:nvSpPr>
          <p:cNvPr id="136" name="Google Shape;136;p26"/>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Clr>
                <a:schemeClr val="dk1"/>
              </a:buClr>
              <a:buSzPts val="1800"/>
              <a:buFont typeface="Times New Roman"/>
              <a:buChar char="●"/>
            </a:pPr>
            <a:r>
              <a:rPr lang="en">
                <a:solidFill>
                  <a:schemeClr val="dk1"/>
                </a:solidFill>
                <a:latin typeface="Times New Roman"/>
                <a:ea typeface="Times New Roman"/>
                <a:cs typeface="Times New Roman"/>
                <a:sym typeface="Times New Roman"/>
              </a:rPr>
              <a:t>Is an approach to program development in which you interleave testing and code development. </a:t>
            </a:r>
            <a:endParaRPr>
              <a:solidFill>
                <a:schemeClr val="dk1"/>
              </a:solidFill>
              <a:latin typeface="Times New Roman"/>
              <a:ea typeface="Times New Roman"/>
              <a:cs typeface="Times New Roman"/>
              <a:sym typeface="Times New Roman"/>
            </a:endParaRPr>
          </a:p>
          <a:p>
            <a:pPr marL="457200" lvl="0" indent="-342900" algn="l" rtl="0">
              <a:spcBef>
                <a:spcPts val="0"/>
              </a:spcBef>
              <a:spcAft>
                <a:spcPts val="0"/>
              </a:spcAft>
              <a:buClr>
                <a:schemeClr val="dk1"/>
              </a:buClr>
              <a:buSzPts val="1800"/>
              <a:buFont typeface="Times New Roman"/>
              <a:buChar char="●"/>
            </a:pPr>
            <a:r>
              <a:rPr lang="en">
                <a:solidFill>
                  <a:schemeClr val="dk1"/>
                </a:solidFill>
                <a:latin typeface="Times New Roman"/>
                <a:ea typeface="Times New Roman"/>
                <a:cs typeface="Times New Roman"/>
                <a:sym typeface="Times New Roman"/>
              </a:rPr>
              <a:t>Essentially, you develop the code incrementally, along with a test for that increment. You don’t move on to the next increment until the code that you have developed passes its test. </a:t>
            </a:r>
            <a:endParaRPr>
              <a:solidFill>
                <a:schemeClr val="dk1"/>
              </a:solidFill>
              <a:latin typeface="Times New Roman"/>
              <a:ea typeface="Times New Roman"/>
              <a:cs typeface="Times New Roman"/>
              <a:sym typeface="Times New Roman"/>
            </a:endParaRPr>
          </a:p>
          <a:p>
            <a:pPr marL="457200" lvl="0" indent="-342900" algn="l" rtl="0">
              <a:spcBef>
                <a:spcPts val="0"/>
              </a:spcBef>
              <a:spcAft>
                <a:spcPts val="0"/>
              </a:spcAft>
              <a:buClr>
                <a:schemeClr val="dk1"/>
              </a:buClr>
              <a:buSzPts val="1800"/>
              <a:buFont typeface="Times New Roman"/>
              <a:buChar char="●"/>
            </a:pPr>
            <a:r>
              <a:rPr lang="en">
                <a:solidFill>
                  <a:schemeClr val="dk1"/>
                </a:solidFill>
                <a:latin typeface="Times New Roman"/>
                <a:ea typeface="Times New Roman"/>
                <a:cs typeface="Times New Roman"/>
                <a:sym typeface="Times New Roman"/>
              </a:rPr>
              <a:t>Test-driven development was introduced as part of agile methods such as Extreme Programming. </a:t>
            </a:r>
            <a:endParaRPr>
              <a:solidFill>
                <a:schemeClr val="dk1"/>
              </a:solidFill>
              <a:latin typeface="Times New Roman"/>
              <a:ea typeface="Times New Roman"/>
              <a:cs typeface="Times New Roman"/>
              <a:sym typeface="Times New Roman"/>
            </a:endParaRPr>
          </a:p>
          <a:p>
            <a:pPr marL="457200" lvl="0" indent="-342900" algn="l" rtl="0">
              <a:spcBef>
                <a:spcPts val="0"/>
              </a:spcBef>
              <a:spcAft>
                <a:spcPts val="0"/>
              </a:spcAft>
              <a:buClr>
                <a:schemeClr val="dk1"/>
              </a:buClr>
              <a:buSzPts val="1800"/>
              <a:buFont typeface="Times New Roman"/>
              <a:buChar char="●"/>
            </a:pPr>
            <a:r>
              <a:rPr lang="en">
                <a:solidFill>
                  <a:schemeClr val="dk1"/>
                </a:solidFill>
                <a:latin typeface="Times New Roman"/>
                <a:ea typeface="Times New Roman"/>
                <a:cs typeface="Times New Roman"/>
                <a:sym typeface="Times New Roman"/>
              </a:rPr>
              <a:t>However, it can also be used in plan-driven development processes. </a:t>
            </a:r>
            <a:endParaRPr>
              <a:solidFill>
                <a:schemeClr val="dk1"/>
              </a:solidFill>
              <a:latin typeface="Times New Roman"/>
              <a:ea typeface="Times New Roman"/>
              <a:cs typeface="Times New Roman"/>
              <a:sym typeface="Times New Roman"/>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40"/>
        <p:cNvGrpSpPr/>
        <p:nvPr/>
      </p:nvGrpSpPr>
      <p:grpSpPr>
        <a:xfrm>
          <a:off x="0" y="0"/>
          <a:ext cx="0" cy="0"/>
          <a:chOff x="0" y="0"/>
          <a:chExt cx="0" cy="0"/>
        </a:xfrm>
      </p:grpSpPr>
      <p:sp>
        <p:nvSpPr>
          <p:cNvPr id="141" name="Google Shape;141;p2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TDD process </a:t>
            </a:r>
            <a:endParaRPr/>
          </a:p>
        </p:txBody>
      </p:sp>
      <p:pic>
        <p:nvPicPr>
          <p:cNvPr id="143" name="Google Shape;143;p27"/>
          <p:cNvPicPr preferRelativeResize="0"/>
          <p:nvPr/>
        </p:nvPicPr>
        <p:blipFill>
          <a:blip r:embed="rId3">
            <a:alphaModFix/>
          </a:blip>
          <a:stretch>
            <a:fillRect/>
          </a:stretch>
        </p:blipFill>
        <p:spPr>
          <a:xfrm>
            <a:off x="1428750" y="1495425"/>
            <a:ext cx="6286500" cy="215265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47"/>
        <p:cNvGrpSpPr/>
        <p:nvPr/>
      </p:nvGrpSpPr>
      <p:grpSpPr>
        <a:xfrm>
          <a:off x="0" y="0"/>
          <a:ext cx="0" cy="0"/>
          <a:chOff x="0" y="0"/>
          <a:chExt cx="0" cy="0"/>
        </a:xfrm>
      </p:grpSpPr>
      <p:sp>
        <p:nvSpPr>
          <p:cNvPr id="148" name="Google Shape;148;p2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p>
            <a:pPr marL="0" lvl="0" indent="0" algn="just" rtl="0">
              <a:lnSpc>
                <a:spcPct val="115000"/>
              </a:lnSpc>
              <a:spcBef>
                <a:spcPts val="0"/>
              </a:spcBef>
              <a:spcAft>
                <a:spcPts val="1200"/>
              </a:spcAft>
              <a:buClr>
                <a:schemeClr val="dk1"/>
              </a:buClr>
              <a:buSzPts val="1100"/>
              <a:buFont typeface="Arial"/>
              <a:buNone/>
            </a:pPr>
            <a:r>
              <a:rPr lang="en" sz="1800">
                <a:latin typeface="Times New Roman"/>
                <a:ea typeface="Times New Roman"/>
                <a:cs typeface="Times New Roman"/>
                <a:sym typeface="Times New Roman"/>
              </a:rPr>
              <a:t>Release testing </a:t>
            </a:r>
            <a:endParaRPr>
              <a:latin typeface="Times New Roman"/>
              <a:ea typeface="Times New Roman"/>
              <a:cs typeface="Times New Roman"/>
              <a:sym typeface="Times New Roman"/>
            </a:endParaRPr>
          </a:p>
        </p:txBody>
      </p:sp>
      <p:sp>
        <p:nvSpPr>
          <p:cNvPr id="149" name="Google Shape;149;p28"/>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04800" algn="just" rtl="0">
              <a:spcBef>
                <a:spcPts val="0"/>
              </a:spcBef>
              <a:spcAft>
                <a:spcPts val="0"/>
              </a:spcAft>
              <a:buClr>
                <a:schemeClr val="dk1"/>
              </a:buClr>
              <a:buSzPts val="1200"/>
              <a:buFont typeface="Times New Roman"/>
              <a:buChar char="●"/>
            </a:pPr>
            <a:r>
              <a:rPr lang="en" sz="1200">
                <a:solidFill>
                  <a:schemeClr val="dk1"/>
                </a:solidFill>
                <a:latin typeface="Times New Roman"/>
                <a:ea typeface="Times New Roman"/>
                <a:cs typeface="Times New Roman"/>
                <a:sym typeface="Times New Roman"/>
              </a:rPr>
              <a:t>Is the process of testing a particular release of a system that is intended for use outside of the development team. </a:t>
            </a:r>
            <a:endParaRPr sz="1200">
              <a:solidFill>
                <a:schemeClr val="dk1"/>
              </a:solidFill>
              <a:latin typeface="Times New Roman"/>
              <a:ea typeface="Times New Roman"/>
              <a:cs typeface="Times New Roman"/>
              <a:sym typeface="Times New Roman"/>
            </a:endParaRPr>
          </a:p>
          <a:p>
            <a:pPr marL="457200" lvl="0" indent="-304800" algn="just" rtl="0">
              <a:spcBef>
                <a:spcPts val="0"/>
              </a:spcBef>
              <a:spcAft>
                <a:spcPts val="0"/>
              </a:spcAft>
              <a:buClr>
                <a:schemeClr val="dk1"/>
              </a:buClr>
              <a:buSzPts val="1200"/>
              <a:buFont typeface="Times New Roman"/>
              <a:buChar char="●"/>
            </a:pPr>
            <a:r>
              <a:rPr lang="en" sz="1200">
                <a:solidFill>
                  <a:schemeClr val="dk1"/>
                </a:solidFill>
                <a:latin typeface="Times New Roman"/>
                <a:ea typeface="Times New Roman"/>
                <a:cs typeface="Times New Roman"/>
                <a:sym typeface="Times New Roman"/>
              </a:rPr>
              <a:t>Normally, the system release is for customers and users. In a complex project, however, the release could be for other teams that are developing related systems. For software products, the release could be for product management who then prepare it for sale. </a:t>
            </a:r>
            <a:endParaRPr sz="1200">
              <a:solidFill>
                <a:schemeClr val="dk1"/>
              </a:solidFill>
              <a:latin typeface="Times New Roman"/>
              <a:ea typeface="Times New Roman"/>
              <a:cs typeface="Times New Roman"/>
              <a:sym typeface="Times New Roman"/>
            </a:endParaRPr>
          </a:p>
          <a:p>
            <a:pPr marL="457200" lvl="0" indent="-304800" algn="just" rtl="0">
              <a:spcBef>
                <a:spcPts val="0"/>
              </a:spcBef>
              <a:spcAft>
                <a:spcPts val="0"/>
              </a:spcAft>
              <a:buClr>
                <a:schemeClr val="dk1"/>
              </a:buClr>
              <a:buSzPts val="1200"/>
              <a:buFont typeface="Times New Roman"/>
              <a:buChar char="●"/>
            </a:pPr>
            <a:r>
              <a:rPr lang="en" sz="1200">
                <a:solidFill>
                  <a:schemeClr val="dk1"/>
                </a:solidFill>
                <a:latin typeface="Times New Roman"/>
                <a:ea typeface="Times New Roman"/>
                <a:cs typeface="Times New Roman"/>
                <a:sym typeface="Times New Roman"/>
              </a:rPr>
              <a:t>There are two important distinctions between release testing and system testing during the development process: </a:t>
            </a:r>
            <a:endParaRPr sz="1200">
              <a:solidFill>
                <a:schemeClr val="dk1"/>
              </a:solidFill>
              <a:latin typeface="Times New Roman"/>
              <a:ea typeface="Times New Roman"/>
              <a:cs typeface="Times New Roman"/>
              <a:sym typeface="Times New Roman"/>
            </a:endParaRPr>
          </a:p>
          <a:p>
            <a:pPr marL="914400" lvl="1" indent="-304800" algn="just" rtl="0">
              <a:spcBef>
                <a:spcPts val="0"/>
              </a:spcBef>
              <a:spcAft>
                <a:spcPts val="0"/>
              </a:spcAft>
              <a:buClr>
                <a:schemeClr val="dk1"/>
              </a:buClr>
              <a:buSzPts val="1200"/>
              <a:buFont typeface="Times New Roman"/>
              <a:buChar char="○"/>
            </a:pPr>
            <a:r>
              <a:rPr lang="en" sz="1200">
                <a:solidFill>
                  <a:schemeClr val="dk1"/>
                </a:solidFill>
                <a:latin typeface="Times New Roman"/>
                <a:ea typeface="Times New Roman"/>
                <a:cs typeface="Times New Roman"/>
                <a:sym typeface="Times New Roman"/>
              </a:rPr>
              <a:t> A separate team that has not been involved in the system development should be responsible for release testing. </a:t>
            </a:r>
            <a:endParaRPr sz="1200">
              <a:solidFill>
                <a:schemeClr val="dk1"/>
              </a:solidFill>
              <a:latin typeface="Times New Roman"/>
              <a:ea typeface="Times New Roman"/>
              <a:cs typeface="Times New Roman"/>
              <a:sym typeface="Times New Roman"/>
            </a:endParaRPr>
          </a:p>
          <a:p>
            <a:pPr marL="914400" lvl="1" indent="-304800" algn="just" rtl="0">
              <a:spcBef>
                <a:spcPts val="0"/>
              </a:spcBef>
              <a:spcAft>
                <a:spcPts val="0"/>
              </a:spcAft>
              <a:buClr>
                <a:schemeClr val="dk1"/>
              </a:buClr>
              <a:buSzPts val="1200"/>
              <a:buFont typeface="Times New Roman"/>
              <a:buChar char="○"/>
            </a:pPr>
            <a:r>
              <a:rPr lang="en" sz="1200">
                <a:solidFill>
                  <a:schemeClr val="dk1"/>
                </a:solidFill>
                <a:latin typeface="Times New Roman"/>
                <a:ea typeface="Times New Roman"/>
                <a:cs typeface="Times New Roman"/>
                <a:sym typeface="Times New Roman"/>
              </a:rPr>
              <a:t>System testing by the development team should focus on discovering bugs in the system (defect testing). The objective of release testing is to check that the system meets its requirements and is good enough for external use (validation testing). </a:t>
            </a:r>
            <a:endParaRPr sz="1200">
              <a:solidFill>
                <a:schemeClr val="dk1"/>
              </a:solidFill>
              <a:latin typeface="Times New Roman"/>
              <a:ea typeface="Times New Roman"/>
              <a:cs typeface="Times New Roman"/>
              <a:sym typeface="Times New Roman"/>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53"/>
        <p:cNvGrpSpPr/>
        <p:nvPr/>
      </p:nvGrpSpPr>
      <p:grpSpPr>
        <a:xfrm>
          <a:off x="0" y="0"/>
          <a:ext cx="0" cy="0"/>
          <a:chOff x="0" y="0"/>
          <a:chExt cx="0" cy="0"/>
        </a:xfrm>
      </p:grpSpPr>
      <p:sp>
        <p:nvSpPr>
          <p:cNvPr id="154" name="Google Shape;154;p29"/>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p>
            <a:pPr marL="0" lvl="0" indent="0" algn="just" rtl="0">
              <a:spcBef>
                <a:spcPts val="0"/>
              </a:spcBef>
              <a:spcAft>
                <a:spcPts val="0"/>
              </a:spcAft>
              <a:buNone/>
            </a:pPr>
            <a:r>
              <a:rPr lang="en" sz="1200">
                <a:latin typeface="Times New Roman"/>
                <a:ea typeface="Times New Roman"/>
                <a:cs typeface="Times New Roman"/>
                <a:sym typeface="Times New Roman"/>
              </a:rPr>
              <a:t>Requirements-based testing </a:t>
            </a:r>
            <a:endParaRPr sz="1200">
              <a:latin typeface="Times New Roman"/>
              <a:ea typeface="Times New Roman"/>
              <a:cs typeface="Times New Roman"/>
              <a:sym typeface="Times New Roman"/>
            </a:endParaRPr>
          </a:p>
        </p:txBody>
      </p:sp>
      <p:sp>
        <p:nvSpPr>
          <p:cNvPr id="155" name="Google Shape;155;p29"/>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04800" algn="just" rtl="0">
              <a:spcBef>
                <a:spcPts val="0"/>
              </a:spcBef>
              <a:spcAft>
                <a:spcPts val="0"/>
              </a:spcAft>
              <a:buClr>
                <a:schemeClr val="dk1"/>
              </a:buClr>
              <a:buSzPts val="1200"/>
              <a:buFont typeface="Times New Roman"/>
              <a:buChar char="●"/>
            </a:pPr>
            <a:r>
              <a:rPr lang="en" sz="1200">
                <a:solidFill>
                  <a:schemeClr val="dk1"/>
                </a:solidFill>
                <a:latin typeface="Times New Roman"/>
                <a:ea typeface="Times New Roman"/>
                <a:cs typeface="Times New Roman"/>
                <a:sym typeface="Times New Roman"/>
              </a:rPr>
              <a:t>A systematic approach to test case design where you consider each requirement and derive a set of tests for it. </a:t>
            </a:r>
            <a:endParaRPr sz="1200">
              <a:solidFill>
                <a:schemeClr val="dk1"/>
              </a:solidFill>
              <a:latin typeface="Times New Roman"/>
              <a:ea typeface="Times New Roman"/>
              <a:cs typeface="Times New Roman"/>
              <a:sym typeface="Times New Roman"/>
            </a:endParaRPr>
          </a:p>
          <a:p>
            <a:pPr marL="457200" lvl="0" indent="-304800" algn="just" rtl="0">
              <a:spcBef>
                <a:spcPts val="0"/>
              </a:spcBef>
              <a:spcAft>
                <a:spcPts val="0"/>
              </a:spcAft>
              <a:buClr>
                <a:schemeClr val="dk1"/>
              </a:buClr>
              <a:buSzPts val="1200"/>
              <a:buFont typeface="Times New Roman"/>
              <a:buChar char="●"/>
            </a:pPr>
            <a:r>
              <a:rPr lang="en" sz="1200">
                <a:solidFill>
                  <a:schemeClr val="dk1"/>
                </a:solidFill>
                <a:latin typeface="Times New Roman"/>
                <a:ea typeface="Times New Roman"/>
                <a:cs typeface="Times New Roman"/>
                <a:sym typeface="Times New Roman"/>
              </a:rPr>
              <a:t>Requirements-based testing is validation rather than defect testing—you are trying to demonstrate that the system has properly implemented its requirements. </a:t>
            </a:r>
            <a:endParaRPr sz="1200">
              <a:solidFill>
                <a:schemeClr val="dk1"/>
              </a:solidFill>
              <a:latin typeface="Times New Roman"/>
              <a:ea typeface="Times New Roman"/>
              <a:cs typeface="Times New Roman"/>
              <a:sym typeface="Times New Roman"/>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59"/>
        <p:cNvGrpSpPr/>
        <p:nvPr/>
      </p:nvGrpSpPr>
      <p:grpSpPr>
        <a:xfrm>
          <a:off x="0" y="0"/>
          <a:ext cx="0" cy="0"/>
          <a:chOff x="0" y="0"/>
          <a:chExt cx="0" cy="0"/>
        </a:xfrm>
      </p:grpSpPr>
      <p:sp>
        <p:nvSpPr>
          <p:cNvPr id="160" name="Google Shape;160;p3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p>
            <a:pPr marL="0" lvl="0" indent="0" algn="just" rtl="0">
              <a:lnSpc>
                <a:spcPct val="115000"/>
              </a:lnSpc>
              <a:spcBef>
                <a:spcPts val="0"/>
              </a:spcBef>
              <a:spcAft>
                <a:spcPts val="1200"/>
              </a:spcAft>
              <a:buClr>
                <a:schemeClr val="dk1"/>
              </a:buClr>
              <a:buSzPts val="1100"/>
              <a:buFont typeface="Arial"/>
              <a:buNone/>
            </a:pPr>
            <a:r>
              <a:rPr lang="en" sz="1200">
                <a:latin typeface="Times New Roman"/>
                <a:ea typeface="Times New Roman"/>
                <a:cs typeface="Times New Roman"/>
                <a:sym typeface="Times New Roman"/>
              </a:rPr>
              <a:t>Scenario testing</a:t>
            </a:r>
            <a:endParaRPr sz="1200">
              <a:latin typeface="Times New Roman"/>
              <a:ea typeface="Times New Roman"/>
              <a:cs typeface="Times New Roman"/>
              <a:sym typeface="Times New Roman"/>
            </a:endParaRPr>
          </a:p>
        </p:txBody>
      </p:sp>
      <p:sp>
        <p:nvSpPr>
          <p:cNvPr id="161" name="Google Shape;161;p30"/>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just" rtl="0">
              <a:spcBef>
                <a:spcPts val="0"/>
              </a:spcBef>
              <a:spcAft>
                <a:spcPts val="1200"/>
              </a:spcAft>
              <a:buNone/>
            </a:pPr>
            <a:r>
              <a:rPr lang="en" sz="1200">
                <a:solidFill>
                  <a:schemeClr val="dk1"/>
                </a:solidFill>
                <a:latin typeface="Times New Roman"/>
                <a:ea typeface="Times New Roman"/>
                <a:cs typeface="Times New Roman"/>
                <a:sym typeface="Times New Roman"/>
              </a:rPr>
              <a:t>is an approach to release testing where you devise typical scenarios of use and use these to develop test cases for the system. </a:t>
            </a:r>
            <a:endParaRPr sz="1200">
              <a:solidFill>
                <a:schemeClr val="dk1"/>
              </a:solidFill>
              <a:latin typeface="Times New Roman"/>
              <a:ea typeface="Times New Roman"/>
              <a:cs typeface="Times New Roman"/>
              <a:sym typeface="Times New Roman"/>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65"/>
        <p:cNvGrpSpPr/>
        <p:nvPr/>
      </p:nvGrpSpPr>
      <p:grpSpPr>
        <a:xfrm>
          <a:off x="0" y="0"/>
          <a:ext cx="0" cy="0"/>
          <a:chOff x="0" y="0"/>
          <a:chExt cx="0" cy="0"/>
        </a:xfrm>
      </p:grpSpPr>
      <p:sp>
        <p:nvSpPr>
          <p:cNvPr id="166" name="Google Shape;166;p31"/>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1200">
                <a:latin typeface="Times New Roman"/>
                <a:ea typeface="Times New Roman"/>
                <a:cs typeface="Times New Roman"/>
                <a:sym typeface="Times New Roman"/>
              </a:rPr>
              <a:t>Performance testing </a:t>
            </a:r>
            <a:endParaRPr sz="1200">
              <a:latin typeface="Times New Roman"/>
              <a:ea typeface="Times New Roman"/>
              <a:cs typeface="Times New Roman"/>
              <a:sym typeface="Times New Roman"/>
            </a:endParaRPr>
          </a:p>
        </p:txBody>
      </p:sp>
      <p:sp>
        <p:nvSpPr>
          <p:cNvPr id="167" name="Google Shape;167;p31"/>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04800" algn="just" rtl="0">
              <a:spcBef>
                <a:spcPts val="0"/>
              </a:spcBef>
              <a:spcAft>
                <a:spcPts val="0"/>
              </a:spcAft>
              <a:buClr>
                <a:schemeClr val="dk1"/>
              </a:buClr>
              <a:buSzPts val="1200"/>
              <a:buFont typeface="Times New Roman"/>
              <a:buChar char="●"/>
            </a:pPr>
            <a:r>
              <a:rPr lang="en" sz="1200">
                <a:solidFill>
                  <a:schemeClr val="dk1"/>
                </a:solidFill>
                <a:latin typeface="Times New Roman"/>
                <a:ea typeface="Times New Roman"/>
                <a:cs typeface="Times New Roman"/>
                <a:sym typeface="Times New Roman"/>
              </a:rPr>
              <a:t>Performance tests have to be designed to ensure that the system can process its intended load. This usually involves running a series of tests where you increase the load until the system performance becomes unacceptable. </a:t>
            </a:r>
            <a:endParaRPr sz="1200">
              <a:solidFill>
                <a:schemeClr val="dk1"/>
              </a:solidFill>
              <a:latin typeface="Times New Roman"/>
              <a:ea typeface="Times New Roman"/>
              <a:cs typeface="Times New Roman"/>
              <a:sym typeface="Times New Roman"/>
            </a:endParaRPr>
          </a:p>
          <a:p>
            <a:pPr marL="457200" lvl="0" indent="-304800" algn="just" rtl="0">
              <a:spcBef>
                <a:spcPts val="0"/>
              </a:spcBef>
              <a:spcAft>
                <a:spcPts val="0"/>
              </a:spcAft>
              <a:buClr>
                <a:schemeClr val="dk1"/>
              </a:buClr>
              <a:buSzPts val="1200"/>
              <a:buFont typeface="Times New Roman"/>
              <a:buChar char="●"/>
            </a:pPr>
            <a:r>
              <a:rPr lang="en" sz="1200">
                <a:solidFill>
                  <a:schemeClr val="dk1"/>
                </a:solidFill>
                <a:latin typeface="Times New Roman"/>
                <a:ea typeface="Times New Roman"/>
                <a:cs typeface="Times New Roman"/>
                <a:sym typeface="Times New Roman"/>
              </a:rPr>
              <a:t>Is concerned both with demonstrating that the system meets its requirements and discovering problems and defects in the system.</a:t>
            </a:r>
            <a:endParaRPr sz="1200">
              <a:solidFill>
                <a:schemeClr val="dk1"/>
              </a:solidFill>
              <a:latin typeface="Times New Roman"/>
              <a:ea typeface="Times New Roman"/>
              <a:cs typeface="Times New Roman"/>
              <a:sym typeface="Times New Roman"/>
            </a:endParaRPr>
          </a:p>
          <a:p>
            <a:pPr marL="457200" lvl="0" indent="-304800" algn="just" rtl="0">
              <a:spcBef>
                <a:spcPts val="0"/>
              </a:spcBef>
              <a:spcAft>
                <a:spcPts val="0"/>
              </a:spcAft>
              <a:buClr>
                <a:schemeClr val="dk1"/>
              </a:buClr>
              <a:buSzPts val="1200"/>
              <a:buFont typeface="Times New Roman"/>
              <a:buChar char="●"/>
            </a:pPr>
            <a:r>
              <a:rPr lang="en" sz="1200">
                <a:solidFill>
                  <a:schemeClr val="dk1"/>
                </a:solidFill>
                <a:latin typeface="Times New Roman"/>
                <a:ea typeface="Times New Roman"/>
                <a:cs typeface="Times New Roman"/>
                <a:sym typeface="Times New Roman"/>
              </a:rPr>
              <a:t>To test whether performance requirements are being achieved, you may have to construct an operational profile. An operational profile (see Chapter 15) is a set of tests that reflect the actual mix of work that will be handled by the system. Therefore, if 90% of the transactions in a system are of type A; 5% of type B; and the remainder of types C, D, and E, then you have to design the operational profile so that the vast majority of tests are of type A. Otherwise, you will not get an accurate test of the operational performance of the system.  </a:t>
            </a:r>
            <a:endParaRPr sz="1200">
              <a:solidFill>
                <a:schemeClr val="dk1"/>
              </a:solidFill>
              <a:latin typeface="Times New Roman"/>
              <a:ea typeface="Times New Roman"/>
              <a:cs typeface="Times New Roman"/>
              <a:sym typeface="Times New Roman"/>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71"/>
        <p:cNvGrpSpPr/>
        <p:nvPr/>
      </p:nvGrpSpPr>
      <p:grpSpPr>
        <a:xfrm>
          <a:off x="0" y="0"/>
          <a:ext cx="0" cy="0"/>
          <a:chOff x="0" y="0"/>
          <a:chExt cx="0" cy="0"/>
        </a:xfrm>
      </p:grpSpPr>
      <p:sp>
        <p:nvSpPr>
          <p:cNvPr id="172" name="Google Shape;172;p32"/>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Types of Performance Test</a:t>
            </a:r>
            <a:endParaRPr/>
          </a:p>
        </p:txBody>
      </p:sp>
      <p:sp>
        <p:nvSpPr>
          <p:cNvPr id="173" name="Google Shape;173;p32"/>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04800" algn="l" rtl="0">
              <a:spcBef>
                <a:spcPts val="0"/>
              </a:spcBef>
              <a:spcAft>
                <a:spcPts val="0"/>
              </a:spcAft>
              <a:buClr>
                <a:schemeClr val="dk1"/>
              </a:buClr>
              <a:buSzPts val="1200"/>
              <a:buFont typeface="Times New Roman"/>
              <a:buChar char="●"/>
            </a:pPr>
            <a:r>
              <a:rPr lang="en" sz="1200">
                <a:solidFill>
                  <a:schemeClr val="dk1"/>
                </a:solidFill>
                <a:latin typeface="Times New Roman"/>
                <a:ea typeface="Times New Roman"/>
                <a:cs typeface="Times New Roman"/>
                <a:sym typeface="Times New Roman"/>
              </a:rPr>
              <a:t>Stress testing</a:t>
            </a:r>
            <a:endParaRPr sz="1200">
              <a:solidFill>
                <a:schemeClr val="dk1"/>
              </a:solidFill>
              <a:latin typeface="Times New Roman"/>
              <a:ea typeface="Times New Roman"/>
              <a:cs typeface="Times New Roman"/>
              <a:sym typeface="Times New Roman"/>
            </a:endParaRPr>
          </a:p>
          <a:p>
            <a:pPr marL="457200" lvl="0" indent="-304800" algn="l" rtl="0">
              <a:spcBef>
                <a:spcPts val="0"/>
              </a:spcBef>
              <a:spcAft>
                <a:spcPts val="0"/>
              </a:spcAft>
              <a:buClr>
                <a:schemeClr val="dk1"/>
              </a:buClr>
              <a:buSzPts val="1200"/>
              <a:buFont typeface="Times New Roman"/>
              <a:buChar char="●"/>
            </a:pPr>
            <a:r>
              <a:rPr lang="en" sz="1200">
                <a:solidFill>
                  <a:schemeClr val="dk1"/>
                </a:solidFill>
                <a:latin typeface="Times New Roman"/>
                <a:ea typeface="Times New Roman"/>
                <a:cs typeface="Times New Roman"/>
                <a:sym typeface="Times New Roman"/>
              </a:rPr>
              <a:t>Load testing</a:t>
            </a:r>
            <a:endParaRPr sz="1200">
              <a:solidFill>
                <a:schemeClr val="dk1"/>
              </a:solidFill>
              <a:latin typeface="Times New Roman"/>
              <a:ea typeface="Times New Roman"/>
              <a:cs typeface="Times New Roman"/>
              <a:sym typeface="Times New Roman"/>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78" name="Google Shape;178;p33"/>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2000" b="1" dirty="0">
                <a:latin typeface="Times New Roman"/>
                <a:ea typeface="Times New Roman"/>
                <a:cs typeface="Times New Roman"/>
                <a:sym typeface="Times New Roman"/>
              </a:rPr>
              <a:t>User testing </a:t>
            </a:r>
            <a:endParaRPr sz="2000" b="1" dirty="0">
              <a:latin typeface="Times New Roman"/>
              <a:ea typeface="Times New Roman"/>
              <a:cs typeface="Times New Roman"/>
              <a:sym typeface="Times New Roman"/>
            </a:endParaRPr>
          </a:p>
        </p:txBody>
      </p:sp>
      <p:sp>
        <p:nvSpPr>
          <p:cNvPr id="179" name="Google Shape;179;p33"/>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lnSpcReduction="10000"/>
          </a:bodyPr>
          <a:lstStyle/>
          <a:p>
            <a:pPr marL="0" lvl="0" indent="0" algn="l" rtl="0">
              <a:spcBef>
                <a:spcPts val="0"/>
              </a:spcBef>
              <a:spcAft>
                <a:spcPts val="0"/>
              </a:spcAft>
              <a:buNone/>
            </a:pPr>
            <a:r>
              <a:rPr lang="en" sz="1600" dirty="0">
                <a:solidFill>
                  <a:schemeClr val="dk1"/>
                </a:solidFill>
                <a:latin typeface="Times New Roman"/>
                <a:ea typeface="Times New Roman"/>
                <a:cs typeface="Times New Roman"/>
                <a:sym typeface="Times New Roman"/>
              </a:rPr>
              <a:t>User or customer testing is a stage in the testing process in which </a:t>
            </a:r>
            <a:r>
              <a:rPr lang="en" sz="1600" dirty="0">
                <a:solidFill>
                  <a:srgbClr val="0000FF"/>
                </a:solidFill>
                <a:latin typeface="Times New Roman"/>
                <a:ea typeface="Times New Roman"/>
                <a:cs typeface="Times New Roman"/>
                <a:sym typeface="Times New Roman"/>
              </a:rPr>
              <a:t>users or customers provide input and advice on system testing.</a:t>
            </a:r>
            <a:r>
              <a:rPr lang="en" sz="1600" dirty="0">
                <a:solidFill>
                  <a:schemeClr val="dk1"/>
                </a:solidFill>
                <a:latin typeface="Times New Roman"/>
                <a:ea typeface="Times New Roman"/>
                <a:cs typeface="Times New Roman"/>
                <a:sym typeface="Times New Roman"/>
              </a:rPr>
              <a:t> User testing is essential, even when comprehensive system and release testing have been carried out. The reason for this is that influences from the user’s </a:t>
            </a:r>
            <a:r>
              <a:rPr lang="en" sz="1600" dirty="0">
                <a:solidFill>
                  <a:srgbClr val="0000FF"/>
                </a:solidFill>
                <a:latin typeface="Times New Roman"/>
                <a:ea typeface="Times New Roman"/>
                <a:cs typeface="Times New Roman"/>
                <a:sym typeface="Times New Roman"/>
              </a:rPr>
              <a:t>working environment </a:t>
            </a:r>
            <a:r>
              <a:rPr lang="en" sz="1600" dirty="0">
                <a:solidFill>
                  <a:schemeClr val="dk1"/>
                </a:solidFill>
                <a:latin typeface="Times New Roman"/>
                <a:ea typeface="Times New Roman"/>
                <a:cs typeface="Times New Roman"/>
                <a:sym typeface="Times New Roman"/>
              </a:rPr>
              <a:t>have a major effect on the reliability, performance, usability, and robustness of a system. </a:t>
            </a:r>
            <a:endParaRPr sz="1600" dirty="0">
              <a:solidFill>
                <a:schemeClr val="dk1"/>
              </a:solidFill>
              <a:latin typeface="Times New Roman"/>
              <a:ea typeface="Times New Roman"/>
              <a:cs typeface="Times New Roman"/>
              <a:sym typeface="Times New Roman"/>
            </a:endParaRPr>
          </a:p>
          <a:p>
            <a:pPr marL="0" lvl="0" indent="0" algn="l" rtl="0">
              <a:spcBef>
                <a:spcPts val="1200"/>
              </a:spcBef>
              <a:spcAft>
                <a:spcPts val="0"/>
              </a:spcAft>
              <a:buNone/>
            </a:pPr>
            <a:r>
              <a:rPr lang="en" sz="1600" dirty="0">
                <a:solidFill>
                  <a:schemeClr val="dk1"/>
                </a:solidFill>
                <a:latin typeface="Times New Roman"/>
                <a:ea typeface="Times New Roman"/>
                <a:cs typeface="Times New Roman"/>
                <a:sym typeface="Times New Roman"/>
              </a:rPr>
              <a:t>In practice, there are three different types of user testing: </a:t>
            </a:r>
            <a:endParaRPr sz="1600" dirty="0">
              <a:solidFill>
                <a:schemeClr val="dk1"/>
              </a:solidFill>
              <a:latin typeface="Times New Roman"/>
              <a:ea typeface="Times New Roman"/>
              <a:cs typeface="Times New Roman"/>
              <a:sym typeface="Times New Roman"/>
            </a:endParaRPr>
          </a:p>
          <a:p>
            <a:pPr marL="457200" lvl="0" indent="-304800" algn="l" rtl="0">
              <a:spcBef>
                <a:spcPts val="1200"/>
              </a:spcBef>
              <a:spcAft>
                <a:spcPts val="0"/>
              </a:spcAft>
              <a:buClr>
                <a:schemeClr val="dk1"/>
              </a:buClr>
              <a:buSzPts val="1200"/>
              <a:buFont typeface="Times New Roman"/>
              <a:buChar char="●"/>
            </a:pPr>
            <a:r>
              <a:rPr lang="en" sz="1600" b="1" dirty="0">
                <a:solidFill>
                  <a:schemeClr val="dk1"/>
                </a:solidFill>
                <a:latin typeface="Times New Roman"/>
                <a:ea typeface="Times New Roman"/>
                <a:cs typeface="Times New Roman"/>
                <a:sym typeface="Times New Roman"/>
              </a:rPr>
              <a:t>Alpha testing:</a:t>
            </a:r>
            <a:r>
              <a:rPr lang="en" sz="1600" dirty="0">
                <a:solidFill>
                  <a:schemeClr val="dk1"/>
                </a:solidFill>
                <a:latin typeface="Times New Roman"/>
                <a:ea typeface="Times New Roman"/>
                <a:cs typeface="Times New Roman"/>
                <a:sym typeface="Times New Roman"/>
              </a:rPr>
              <a:t> where users of the software work with the development team to test the software at the developer’s site. </a:t>
            </a:r>
            <a:endParaRPr sz="1600" dirty="0">
              <a:solidFill>
                <a:schemeClr val="dk1"/>
              </a:solidFill>
              <a:latin typeface="Times New Roman"/>
              <a:ea typeface="Times New Roman"/>
              <a:cs typeface="Times New Roman"/>
              <a:sym typeface="Times New Roman"/>
            </a:endParaRPr>
          </a:p>
          <a:p>
            <a:pPr marL="457200" lvl="0" indent="-304800" algn="l" rtl="0">
              <a:spcBef>
                <a:spcPts val="0"/>
              </a:spcBef>
              <a:spcAft>
                <a:spcPts val="0"/>
              </a:spcAft>
              <a:buClr>
                <a:schemeClr val="dk1"/>
              </a:buClr>
              <a:buSzPts val="1200"/>
              <a:buFont typeface="Times New Roman"/>
              <a:buChar char="●"/>
            </a:pPr>
            <a:r>
              <a:rPr lang="en" sz="1600" b="1" dirty="0">
                <a:solidFill>
                  <a:schemeClr val="dk1"/>
                </a:solidFill>
                <a:latin typeface="Times New Roman"/>
                <a:ea typeface="Times New Roman"/>
                <a:cs typeface="Times New Roman"/>
                <a:sym typeface="Times New Roman"/>
              </a:rPr>
              <a:t>Beta testing:</a:t>
            </a:r>
            <a:r>
              <a:rPr lang="en" sz="1600" dirty="0">
                <a:solidFill>
                  <a:schemeClr val="dk1"/>
                </a:solidFill>
                <a:latin typeface="Times New Roman"/>
                <a:ea typeface="Times New Roman"/>
                <a:cs typeface="Times New Roman"/>
                <a:sym typeface="Times New Roman"/>
              </a:rPr>
              <a:t> where a release of the software is made available to users to allow them to experiment and to raise problems that they discover with the system developers. </a:t>
            </a:r>
            <a:endParaRPr sz="1600" dirty="0">
              <a:solidFill>
                <a:schemeClr val="dk1"/>
              </a:solidFill>
              <a:latin typeface="Times New Roman"/>
              <a:ea typeface="Times New Roman"/>
              <a:cs typeface="Times New Roman"/>
              <a:sym typeface="Times New Roman"/>
            </a:endParaRPr>
          </a:p>
          <a:p>
            <a:pPr marL="457200" lvl="0" indent="-304800" algn="l" rtl="0">
              <a:spcBef>
                <a:spcPts val="0"/>
              </a:spcBef>
              <a:spcAft>
                <a:spcPts val="0"/>
              </a:spcAft>
              <a:buClr>
                <a:schemeClr val="dk1"/>
              </a:buClr>
              <a:buSzPts val="1200"/>
              <a:buFont typeface="Times New Roman"/>
              <a:buChar char="●"/>
            </a:pPr>
            <a:r>
              <a:rPr lang="en" sz="1600" b="1" dirty="0">
                <a:solidFill>
                  <a:schemeClr val="dk1"/>
                </a:solidFill>
                <a:latin typeface="Times New Roman"/>
                <a:ea typeface="Times New Roman"/>
                <a:cs typeface="Times New Roman"/>
                <a:sym typeface="Times New Roman"/>
              </a:rPr>
              <a:t>Acceptance testing:</a:t>
            </a:r>
            <a:r>
              <a:rPr lang="en" sz="1600" dirty="0">
                <a:solidFill>
                  <a:schemeClr val="dk1"/>
                </a:solidFill>
                <a:latin typeface="Times New Roman"/>
                <a:ea typeface="Times New Roman"/>
                <a:cs typeface="Times New Roman"/>
                <a:sym typeface="Times New Roman"/>
              </a:rPr>
              <a:t> where customers test a system to decide whether or not it is ready to be accepted from the system developers and deployed in the customer environment </a:t>
            </a:r>
            <a:endParaRPr sz="1600" dirty="0">
              <a:solidFill>
                <a:schemeClr val="dk1"/>
              </a:solidFill>
              <a:latin typeface="Times New Roman"/>
              <a:ea typeface="Times New Roman"/>
              <a:cs typeface="Times New Roman"/>
              <a:sym typeface="Times New Roman"/>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83"/>
        <p:cNvGrpSpPr/>
        <p:nvPr/>
      </p:nvGrpSpPr>
      <p:grpSpPr>
        <a:xfrm>
          <a:off x="0" y="0"/>
          <a:ext cx="0" cy="0"/>
          <a:chOff x="0" y="0"/>
          <a:chExt cx="0" cy="0"/>
        </a:xfrm>
      </p:grpSpPr>
      <p:sp>
        <p:nvSpPr>
          <p:cNvPr id="184" name="Google Shape;184;p3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p>
            <a:pPr marL="0" lvl="0" indent="0" algn="l" rtl="0">
              <a:lnSpc>
                <a:spcPct val="115000"/>
              </a:lnSpc>
              <a:spcBef>
                <a:spcPts val="0"/>
              </a:spcBef>
              <a:spcAft>
                <a:spcPts val="1200"/>
              </a:spcAft>
              <a:buClr>
                <a:schemeClr val="dk1"/>
              </a:buClr>
              <a:buSzPts val="1100"/>
              <a:buFont typeface="Arial"/>
              <a:buNone/>
            </a:pPr>
            <a:r>
              <a:rPr lang="en" sz="1800">
                <a:solidFill>
                  <a:schemeClr val="dk2"/>
                </a:solidFill>
              </a:rPr>
              <a:t>Acceptance testing Process</a:t>
            </a:r>
            <a:endParaRPr/>
          </a:p>
        </p:txBody>
      </p:sp>
      <p:pic>
        <p:nvPicPr>
          <p:cNvPr id="186" name="Google Shape;186;p34"/>
          <p:cNvPicPr preferRelativeResize="0"/>
          <p:nvPr/>
        </p:nvPicPr>
        <p:blipFill>
          <a:blip r:embed="rId3">
            <a:alphaModFix/>
          </a:blip>
          <a:stretch>
            <a:fillRect/>
          </a:stretch>
        </p:blipFill>
        <p:spPr>
          <a:xfrm>
            <a:off x="0" y="1254391"/>
            <a:ext cx="9143999" cy="2396825"/>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90"/>
        <p:cNvGrpSpPr/>
        <p:nvPr/>
      </p:nvGrpSpPr>
      <p:grpSpPr>
        <a:xfrm>
          <a:off x="0" y="0"/>
          <a:ext cx="0" cy="0"/>
          <a:chOff x="0" y="0"/>
          <a:chExt cx="0" cy="0"/>
        </a:xfrm>
      </p:grpSpPr>
      <p:sp>
        <p:nvSpPr>
          <p:cNvPr id="191" name="Google Shape;191;p3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Acceptance testing process</a:t>
            </a:r>
            <a:endParaRPr/>
          </a:p>
        </p:txBody>
      </p:sp>
      <p:sp>
        <p:nvSpPr>
          <p:cNvPr id="192" name="Google Shape;192;p35"/>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lnSpcReduction="10000"/>
          </a:bodyPr>
          <a:lstStyle/>
          <a:p>
            <a:pPr marL="457200" lvl="0" indent="-304800" algn="l" rtl="0">
              <a:spcBef>
                <a:spcPts val="0"/>
              </a:spcBef>
              <a:spcAft>
                <a:spcPts val="0"/>
              </a:spcAft>
              <a:buClr>
                <a:schemeClr val="dk1"/>
              </a:buClr>
              <a:buSzPts val="1200"/>
              <a:buFont typeface="Times New Roman"/>
              <a:buChar char="●"/>
            </a:pPr>
            <a:r>
              <a:rPr lang="en" sz="1600" b="1" dirty="0">
                <a:solidFill>
                  <a:schemeClr val="dk1"/>
                </a:solidFill>
                <a:latin typeface="Times New Roman"/>
                <a:ea typeface="Times New Roman"/>
                <a:cs typeface="Times New Roman"/>
                <a:sym typeface="Times New Roman"/>
              </a:rPr>
              <a:t>Define acceptance criteria:</a:t>
            </a:r>
            <a:r>
              <a:rPr lang="en" sz="1600" dirty="0">
                <a:solidFill>
                  <a:schemeClr val="dk1"/>
                </a:solidFill>
                <a:latin typeface="Times New Roman"/>
                <a:ea typeface="Times New Roman"/>
                <a:cs typeface="Times New Roman"/>
                <a:sym typeface="Times New Roman"/>
              </a:rPr>
              <a:t> The acceptance criteria should be part of the system contract and be agreed between the customer and the developer. In practice, however, it can be difficult to define criteria so early in the process. Detailed requirements may not be available and there may be sig nificant requirements change during the development process.  </a:t>
            </a:r>
            <a:endParaRPr sz="1600" dirty="0">
              <a:solidFill>
                <a:schemeClr val="dk1"/>
              </a:solidFill>
              <a:latin typeface="Times New Roman"/>
              <a:ea typeface="Times New Roman"/>
              <a:cs typeface="Times New Roman"/>
              <a:sym typeface="Times New Roman"/>
            </a:endParaRPr>
          </a:p>
          <a:p>
            <a:pPr marL="457200" lvl="0" indent="-304800" algn="l" rtl="0">
              <a:spcBef>
                <a:spcPts val="0"/>
              </a:spcBef>
              <a:spcAft>
                <a:spcPts val="0"/>
              </a:spcAft>
              <a:buClr>
                <a:schemeClr val="dk1"/>
              </a:buClr>
              <a:buSzPts val="1200"/>
              <a:buFont typeface="Times New Roman"/>
              <a:buChar char="●"/>
            </a:pPr>
            <a:r>
              <a:rPr lang="en" sz="1600" b="1" dirty="0">
                <a:solidFill>
                  <a:schemeClr val="dk1"/>
                </a:solidFill>
                <a:latin typeface="Times New Roman"/>
                <a:ea typeface="Times New Roman"/>
                <a:cs typeface="Times New Roman"/>
                <a:sym typeface="Times New Roman"/>
              </a:rPr>
              <a:t>Plan acceptance testing: </a:t>
            </a:r>
            <a:r>
              <a:rPr lang="en" sz="1600" dirty="0">
                <a:solidFill>
                  <a:schemeClr val="dk1"/>
                </a:solidFill>
                <a:latin typeface="Times New Roman"/>
                <a:ea typeface="Times New Roman"/>
                <a:cs typeface="Times New Roman"/>
                <a:sym typeface="Times New Roman"/>
              </a:rPr>
              <a:t>This involves deciding on the resources, time, and budget for acceptance testing and establishing a testing schedule. The accep tance test plan should also discuss the required coverage of the requirements and the order in which system features are tested. It should define risks to the testing process, such as system crashes and inadequate performance, and discuss how these risks can be mitigated.</a:t>
            </a:r>
            <a:r>
              <a:rPr lang="en" sz="1600" b="1" dirty="0">
                <a:solidFill>
                  <a:schemeClr val="dk1"/>
                </a:solidFill>
                <a:latin typeface="Times New Roman"/>
                <a:ea typeface="Times New Roman"/>
                <a:cs typeface="Times New Roman"/>
                <a:sym typeface="Times New Roman"/>
              </a:rPr>
              <a:t> </a:t>
            </a:r>
            <a:endParaRPr sz="1600" b="1" dirty="0">
              <a:solidFill>
                <a:schemeClr val="dk1"/>
              </a:solidFill>
              <a:latin typeface="Times New Roman"/>
              <a:ea typeface="Times New Roman"/>
              <a:cs typeface="Times New Roman"/>
              <a:sym typeface="Times New Roman"/>
            </a:endParaRPr>
          </a:p>
          <a:p>
            <a:pPr marL="457200" lvl="0" indent="-304800" algn="l" rtl="0">
              <a:spcBef>
                <a:spcPts val="0"/>
              </a:spcBef>
              <a:spcAft>
                <a:spcPts val="0"/>
              </a:spcAft>
              <a:buClr>
                <a:schemeClr val="dk1"/>
              </a:buClr>
              <a:buSzPts val="1200"/>
              <a:buFont typeface="Times New Roman"/>
              <a:buChar char="●"/>
            </a:pPr>
            <a:r>
              <a:rPr lang="en" sz="1600" b="1" dirty="0">
                <a:solidFill>
                  <a:schemeClr val="dk1"/>
                </a:solidFill>
                <a:latin typeface="Times New Roman"/>
                <a:ea typeface="Times New Roman"/>
                <a:cs typeface="Times New Roman"/>
                <a:sym typeface="Times New Roman"/>
              </a:rPr>
              <a:t>Derive acceptance tests: </a:t>
            </a:r>
            <a:r>
              <a:rPr lang="en" sz="1600" dirty="0">
                <a:solidFill>
                  <a:schemeClr val="dk1"/>
                </a:solidFill>
                <a:latin typeface="Times New Roman"/>
                <a:ea typeface="Times New Roman"/>
                <a:cs typeface="Times New Roman"/>
                <a:sym typeface="Times New Roman"/>
              </a:rPr>
              <a:t>Once acceptance criteria have been established, tests have to be designed to check whether or not a system is acceptable. </a:t>
            </a:r>
            <a:r>
              <a:rPr lang="en" sz="1600" dirty="0">
                <a:solidFill>
                  <a:schemeClr val="dk1"/>
                </a:solidFill>
                <a:highlight>
                  <a:srgbClr val="FFFF00"/>
                </a:highlight>
                <a:latin typeface="Times New Roman"/>
                <a:ea typeface="Times New Roman"/>
                <a:cs typeface="Times New Roman"/>
                <a:sym typeface="Times New Roman"/>
              </a:rPr>
              <a:t>Acceptance tests should aim to test both the functional and non-functional characteristics (e.g., performance) of the system</a:t>
            </a:r>
            <a:r>
              <a:rPr lang="en" sz="1600" dirty="0">
                <a:solidFill>
                  <a:schemeClr val="dk1"/>
                </a:solidFill>
                <a:latin typeface="Times New Roman"/>
                <a:ea typeface="Times New Roman"/>
                <a:cs typeface="Times New Roman"/>
                <a:sym typeface="Times New Roman"/>
              </a:rPr>
              <a:t>. </a:t>
            </a:r>
            <a:endParaRPr sz="1600" dirty="0">
              <a:solidFill>
                <a:schemeClr val="dk1"/>
              </a:solidFill>
              <a:latin typeface="Times New Roman"/>
              <a:ea typeface="Times New Roman"/>
              <a:cs typeface="Times New Roman"/>
              <a:sym typeface="Times New Roman"/>
            </a:endParaRPr>
          </a:p>
          <a:p>
            <a:pPr marL="457200" lvl="0" indent="-304800" algn="l" rtl="0">
              <a:spcBef>
                <a:spcPts val="0"/>
              </a:spcBef>
              <a:spcAft>
                <a:spcPts val="0"/>
              </a:spcAft>
              <a:buClr>
                <a:schemeClr val="dk1"/>
              </a:buClr>
              <a:buSzPts val="1200"/>
              <a:buFont typeface="Times New Roman"/>
              <a:buChar char="●"/>
            </a:pPr>
            <a:endParaRPr sz="1600" dirty="0">
              <a:solidFill>
                <a:schemeClr val="dk1"/>
              </a:solidFill>
              <a:latin typeface="Times New Roman"/>
              <a:ea typeface="Times New Roman"/>
              <a:cs typeface="Times New Roman"/>
              <a:sym typeface="Times New Roman"/>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96"/>
        <p:cNvGrpSpPr/>
        <p:nvPr/>
      </p:nvGrpSpPr>
      <p:grpSpPr>
        <a:xfrm>
          <a:off x="0" y="0"/>
          <a:ext cx="0" cy="0"/>
          <a:chOff x="0" y="0"/>
          <a:chExt cx="0" cy="0"/>
        </a:xfrm>
      </p:grpSpPr>
      <p:sp>
        <p:nvSpPr>
          <p:cNvPr id="197" name="Google Shape;197;p3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Clr>
                <a:schemeClr val="dk1"/>
              </a:buClr>
              <a:buSzPct val="39286"/>
              <a:buFont typeface="Arial"/>
              <a:buNone/>
            </a:pPr>
            <a:r>
              <a:rPr lang="en"/>
              <a:t>Acceptance testing process</a:t>
            </a:r>
            <a:endParaRPr/>
          </a:p>
          <a:p>
            <a:pPr marL="0" lvl="0" indent="0" algn="l" rtl="0">
              <a:spcBef>
                <a:spcPts val="0"/>
              </a:spcBef>
              <a:spcAft>
                <a:spcPts val="0"/>
              </a:spcAft>
              <a:buNone/>
            </a:pPr>
            <a:endParaRPr/>
          </a:p>
        </p:txBody>
      </p:sp>
      <p:sp>
        <p:nvSpPr>
          <p:cNvPr id="198" name="Google Shape;198;p36"/>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04800" algn="l" rtl="0">
              <a:spcBef>
                <a:spcPts val="0"/>
              </a:spcBef>
              <a:spcAft>
                <a:spcPts val="0"/>
              </a:spcAft>
              <a:buClr>
                <a:schemeClr val="dk1"/>
              </a:buClr>
              <a:buSzPts val="1200"/>
              <a:buFont typeface="Times New Roman"/>
              <a:buChar char="●"/>
            </a:pPr>
            <a:r>
              <a:rPr lang="en" sz="1600" b="1" dirty="0">
                <a:solidFill>
                  <a:schemeClr val="dk1"/>
                </a:solidFill>
                <a:latin typeface="Times New Roman"/>
                <a:ea typeface="Times New Roman"/>
                <a:cs typeface="Times New Roman"/>
                <a:sym typeface="Times New Roman"/>
              </a:rPr>
              <a:t>Run acceptance tests: </a:t>
            </a:r>
            <a:r>
              <a:rPr lang="en" sz="1600" dirty="0">
                <a:solidFill>
                  <a:schemeClr val="dk1"/>
                </a:solidFill>
                <a:latin typeface="Times New Roman"/>
                <a:ea typeface="Times New Roman"/>
                <a:cs typeface="Times New Roman"/>
                <a:sym typeface="Times New Roman"/>
              </a:rPr>
              <a:t>The agreed acceptance tests are executed on the system. Ideally, this should take place in the actual environment where the system will be used, but this may be disruptive and impractical. Therefore, a user testing environment may have to be set up to run these tests. </a:t>
            </a:r>
            <a:endParaRPr sz="1600" dirty="0">
              <a:solidFill>
                <a:schemeClr val="dk1"/>
              </a:solidFill>
              <a:latin typeface="Times New Roman"/>
              <a:ea typeface="Times New Roman"/>
              <a:cs typeface="Times New Roman"/>
              <a:sym typeface="Times New Roman"/>
            </a:endParaRPr>
          </a:p>
          <a:p>
            <a:pPr marL="457200" lvl="0" indent="-304800" algn="l" rtl="0">
              <a:spcBef>
                <a:spcPts val="0"/>
              </a:spcBef>
              <a:spcAft>
                <a:spcPts val="0"/>
              </a:spcAft>
              <a:buClr>
                <a:schemeClr val="dk1"/>
              </a:buClr>
              <a:buSzPts val="1200"/>
              <a:buFont typeface="Times New Roman"/>
              <a:buChar char="●"/>
            </a:pPr>
            <a:r>
              <a:rPr lang="en" sz="1600" b="1" dirty="0">
                <a:solidFill>
                  <a:schemeClr val="dk1"/>
                </a:solidFill>
                <a:latin typeface="Times New Roman"/>
                <a:ea typeface="Times New Roman"/>
                <a:cs typeface="Times New Roman"/>
                <a:sym typeface="Times New Roman"/>
              </a:rPr>
              <a:t>Negotiate test results: </a:t>
            </a:r>
            <a:r>
              <a:rPr lang="en" sz="1600" dirty="0">
                <a:solidFill>
                  <a:schemeClr val="dk1"/>
                </a:solidFill>
                <a:latin typeface="Times New Roman"/>
                <a:ea typeface="Times New Roman"/>
                <a:cs typeface="Times New Roman"/>
                <a:sym typeface="Times New Roman"/>
              </a:rPr>
              <a:t>It is very unlikely that all of the defined acceptance tests will pass and that there will be no problems with the system. If this is the case, then acceptance testing is complete and the system can be handed over. More commonly, some problems will be discovered. In such cases, the developer and the customer have to negotiate to decide if the system is good enough to be put into use.</a:t>
            </a:r>
            <a:r>
              <a:rPr lang="en" sz="1600" b="1" dirty="0">
                <a:solidFill>
                  <a:schemeClr val="dk1"/>
                </a:solidFill>
                <a:latin typeface="Times New Roman"/>
                <a:ea typeface="Times New Roman"/>
                <a:cs typeface="Times New Roman"/>
                <a:sym typeface="Times New Roman"/>
              </a:rPr>
              <a:t> </a:t>
            </a:r>
            <a:endParaRPr sz="1600" b="1" dirty="0">
              <a:solidFill>
                <a:schemeClr val="dk1"/>
              </a:solidFill>
              <a:latin typeface="Times New Roman"/>
              <a:ea typeface="Times New Roman"/>
              <a:cs typeface="Times New Roman"/>
              <a:sym typeface="Times New Roman"/>
            </a:endParaRPr>
          </a:p>
          <a:p>
            <a:pPr marL="457200" lvl="0" indent="-304800" algn="l" rtl="0">
              <a:spcBef>
                <a:spcPts val="0"/>
              </a:spcBef>
              <a:spcAft>
                <a:spcPts val="0"/>
              </a:spcAft>
              <a:buClr>
                <a:schemeClr val="dk1"/>
              </a:buClr>
              <a:buSzPts val="1200"/>
              <a:buFont typeface="Times New Roman"/>
              <a:buChar char="●"/>
            </a:pPr>
            <a:r>
              <a:rPr lang="en" sz="1600" b="1" dirty="0">
                <a:solidFill>
                  <a:schemeClr val="dk1"/>
                </a:solidFill>
                <a:latin typeface="Times New Roman"/>
                <a:ea typeface="Times New Roman"/>
                <a:cs typeface="Times New Roman"/>
                <a:sym typeface="Times New Roman"/>
              </a:rPr>
              <a:t>Reject/accept system: </a:t>
            </a:r>
            <a:r>
              <a:rPr lang="en" sz="1600" dirty="0">
                <a:solidFill>
                  <a:schemeClr val="dk1"/>
                </a:solidFill>
                <a:latin typeface="Times New Roman"/>
                <a:ea typeface="Times New Roman"/>
                <a:cs typeface="Times New Roman"/>
                <a:sym typeface="Times New Roman"/>
              </a:rPr>
              <a:t>This stage involves a meeting between the developers and the customer to decide on whether or not the system should be accepted. </a:t>
            </a:r>
            <a:endParaRPr sz="1600" dirty="0">
              <a:solidFill>
                <a:schemeClr val="dk1"/>
              </a:solidFill>
              <a:latin typeface="Times New Roman"/>
              <a:ea typeface="Times New Roman"/>
              <a:cs typeface="Times New Roman"/>
              <a:sym typeface="Times New Roman"/>
            </a:endParaRPr>
          </a:p>
          <a:p>
            <a:pPr marL="0" lvl="0" indent="0" algn="l" rtl="0">
              <a:spcBef>
                <a:spcPts val="1200"/>
              </a:spcBef>
              <a:spcAft>
                <a:spcPts val="1200"/>
              </a:spcAft>
              <a:buNone/>
            </a:pPr>
            <a:endParaRPr sz="2400" dirty="0"/>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TotalTime>
  <Words>2161</Words>
  <Application>Microsoft Office PowerPoint</Application>
  <PresentationFormat>On-screen Show (16:9)</PresentationFormat>
  <Paragraphs>106</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Times New Roman</vt:lpstr>
      <vt:lpstr>Simple Light</vt:lpstr>
      <vt:lpstr>Software Testing  during  Maintenance</vt:lpstr>
      <vt:lpstr>INTRODUCTION</vt:lpstr>
      <vt:lpstr>OBJECTIVES</vt:lpstr>
      <vt:lpstr>Error, Bug, Fault &amp; Failure</vt:lpstr>
      <vt:lpstr>Software Testing Life Cycle</vt:lpstr>
      <vt:lpstr>Software Testing Life Cycle </vt:lpstr>
      <vt:lpstr>Software Testing Process </vt:lpstr>
      <vt:lpstr>Types of Testing   </vt:lpstr>
      <vt:lpstr>Development Testing </vt:lpstr>
      <vt:lpstr>Component Testing</vt:lpstr>
      <vt:lpstr>Types of interface between program components</vt:lpstr>
      <vt:lpstr>Interface Errors</vt:lpstr>
      <vt:lpstr>Some general guidelines for interface testing</vt:lpstr>
      <vt:lpstr>Test-driven development (TDD)</vt:lpstr>
      <vt:lpstr>TDD process </vt:lpstr>
      <vt:lpstr>Release testing </vt:lpstr>
      <vt:lpstr>Requirements-based testing </vt:lpstr>
      <vt:lpstr>Scenario testing</vt:lpstr>
      <vt:lpstr>Performance testing </vt:lpstr>
      <vt:lpstr>Types of Performance Test</vt:lpstr>
      <vt:lpstr>User testing </vt:lpstr>
      <vt:lpstr>Acceptance testing Process</vt:lpstr>
      <vt:lpstr>Acceptance testing process</vt:lpstr>
      <vt:lpstr>Acceptance testing process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Namisa__ __</cp:lastModifiedBy>
  <cp:revision>7</cp:revision>
  <dcterms:modified xsi:type="dcterms:W3CDTF">2026-09-10T00:29:06Z</dcterms:modified>
</cp:coreProperties>
</file>