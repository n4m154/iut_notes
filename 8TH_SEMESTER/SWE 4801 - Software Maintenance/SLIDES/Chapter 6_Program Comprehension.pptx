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57" r:id="rId3"/>
    <p:sldId id="296" r:id="rId4"/>
    <p:sldId id="290" r:id="rId5"/>
    <p:sldId id="297" r:id="rId6"/>
    <p:sldId id="261" r:id="rId7"/>
    <p:sldId id="262" r:id="rId8"/>
    <p:sldId id="263" r:id="rId9"/>
    <p:sldId id="264" r:id="rId10"/>
    <p:sldId id="265" r:id="rId11"/>
    <p:sldId id="267" r:id="rId12"/>
    <p:sldId id="291" r:id="rId13"/>
    <p:sldId id="293" r:id="rId14"/>
    <p:sldId id="292" r:id="rId15"/>
    <p:sldId id="294" r:id="rId16"/>
    <p:sldId id="295"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9144000" cy="5143500" type="screen16x9"/>
  <p:notesSz cx="6858000" cy="9144000"/>
  <p:embeddedFontLst>
    <p:embeddedFont>
      <p:font typeface="Lato" panose="020F0502020204030203" pitchFamily="34" charset="0"/>
      <p:regular r:id="rId41"/>
      <p:bold r:id="rId42"/>
      <p:italic r:id="rId43"/>
      <p:boldItalic r:id="rId44"/>
    </p:embeddedFont>
    <p:embeddedFont>
      <p:font typeface="Raleway"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132F8E-413F-4F89-94CD-4482DC108528}">
  <a:tblStyle styleId="{8F132F8E-413F-4F89-94CD-4482DC10852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63614fb17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63614fb17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063614fb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063614fb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063614fb17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063614fb17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063614fb17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063614fb17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063614fb17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063614fb17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063614fb17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063614fb17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063614fb17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063614fb17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063614fb17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1063614fb17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063614fb17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1063614fb17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063614fb17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063614fb17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63614fb17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063614fb17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103e3df95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103e3df95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071f6443b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071f6443b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071f6443b5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1071f6443b5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071f6443b5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071f6443b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03e3df95e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03e3df95e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071f6443b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1071f6443b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071f6443b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1071f6443b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071f6443b5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071f6443b5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071f6443b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071f6443b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071f6443b5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071f6443b5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071f6443b5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071f6443b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071f6443b5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71f6443b5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071f6443b5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1071f6443b5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071f6443b5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1071f6443b5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071f6443b5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1071f6443b5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071f6443b5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071f6443b5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071f6443b5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071f6443b5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071f6443b5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071f6443b5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Chapter 6</a:t>
            </a:r>
            <a:endParaRPr dirty="0">
              <a:latin typeface="Times New Roman" panose="02020603050405020304" pitchFamily="18" charset="0"/>
              <a:cs typeface="Times New Roman" panose="02020603050405020304" pitchFamily="18" charset="0"/>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latin typeface="Times New Roman" panose="02020603050405020304" pitchFamily="18" charset="0"/>
                <a:cs typeface="Times New Roman" panose="02020603050405020304" pitchFamily="18" charset="0"/>
              </a:rPr>
              <a:t>Program Understanding</a:t>
            </a:r>
            <a:endParaRPr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30237" y="339957"/>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Overview</a:t>
            </a:r>
            <a:endParaRPr sz="2400" dirty="0">
              <a:latin typeface="Times New Roman" panose="02020603050405020304" pitchFamily="18" charset="0"/>
              <a:cs typeface="Times New Roman" panose="02020603050405020304" pitchFamily="18" charset="0"/>
            </a:endParaRPr>
          </a:p>
        </p:txBody>
      </p:sp>
      <p:sp>
        <p:nvSpPr>
          <p:cNvPr id="93" name="Google Shape;93;p14"/>
          <p:cNvSpPr txBox="1">
            <a:spLocks noGrp="1"/>
          </p:cNvSpPr>
          <p:nvPr>
            <p:ph type="body" idx="1"/>
          </p:nvPr>
        </p:nvSpPr>
        <p:spPr>
          <a:xfrm>
            <a:off x="727650" y="1607387"/>
            <a:ext cx="7688700" cy="2261100"/>
          </a:xfrm>
          <a:prstGeom prst="rect">
            <a:avLst/>
          </a:prstGeom>
        </p:spPr>
        <p:txBody>
          <a:bodyPr spcFirstLastPara="1" wrap="square" lIns="91425" tIns="91425" rIns="91425" bIns="91425" anchor="t" anchorCtr="0">
            <a:noAutofit/>
          </a:bodyPr>
          <a:lstStyle/>
          <a:p>
            <a:pPr marL="457200" lvl="0"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Importance and aims of program comprehension</a:t>
            </a:r>
            <a:endParaRPr sz="1200" dirty="0">
              <a:solidFill>
                <a:srgbClr val="000000"/>
              </a:solidFill>
              <a:latin typeface="Times New Roman" panose="02020603050405020304" pitchFamily="18" charset="0"/>
              <a:cs typeface="Times New Roman" panose="02020603050405020304" pitchFamily="18" charset="0"/>
            </a:endParaRPr>
          </a:p>
          <a:p>
            <a:pPr marL="914400" lvl="1"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Program domain, Execution effect, Cause effect relation, Product Environment relation. Decision Support Features</a:t>
            </a:r>
            <a:endParaRPr sz="1200" dirty="0">
              <a:solidFill>
                <a:srgbClr val="000000"/>
              </a:solidFill>
              <a:latin typeface="Times New Roman" panose="02020603050405020304" pitchFamily="18" charset="0"/>
              <a:cs typeface="Times New Roman" panose="02020603050405020304" pitchFamily="18" charset="0"/>
            </a:endParaRPr>
          </a:p>
          <a:p>
            <a:pPr marL="457200" lvl="0"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Maintainers and Their Information Needs</a:t>
            </a:r>
            <a:endParaRPr sz="1200" dirty="0">
              <a:solidFill>
                <a:srgbClr val="000000"/>
              </a:solidFill>
              <a:latin typeface="Times New Roman" panose="02020603050405020304" pitchFamily="18" charset="0"/>
              <a:cs typeface="Times New Roman" panose="02020603050405020304" pitchFamily="18" charset="0"/>
            </a:endParaRPr>
          </a:p>
          <a:p>
            <a:pPr marL="914400" lvl="1"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Managers, Analysts,  Designers, and programmers</a:t>
            </a:r>
            <a:endParaRPr sz="1200" dirty="0">
              <a:solidFill>
                <a:srgbClr val="000000"/>
              </a:solidFill>
              <a:latin typeface="Times New Roman" panose="02020603050405020304" pitchFamily="18" charset="0"/>
              <a:cs typeface="Times New Roman" panose="02020603050405020304" pitchFamily="18" charset="0"/>
            </a:endParaRPr>
          </a:p>
          <a:p>
            <a:pPr marL="457200" lvl="0"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Comprehension Process Models</a:t>
            </a:r>
            <a:endParaRPr sz="1200" dirty="0">
              <a:solidFill>
                <a:srgbClr val="000000"/>
              </a:solidFill>
              <a:latin typeface="Times New Roman" panose="02020603050405020304" pitchFamily="18" charset="0"/>
              <a:cs typeface="Times New Roman" panose="02020603050405020304" pitchFamily="18" charset="0"/>
            </a:endParaRPr>
          </a:p>
          <a:p>
            <a:pPr marL="914400" lvl="1"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Read the program, read the source code and run the program</a:t>
            </a:r>
            <a:endParaRPr sz="1200" dirty="0">
              <a:solidFill>
                <a:srgbClr val="000000"/>
              </a:solidFill>
              <a:latin typeface="Times New Roman" panose="02020603050405020304" pitchFamily="18" charset="0"/>
              <a:cs typeface="Times New Roman" panose="02020603050405020304" pitchFamily="18" charset="0"/>
            </a:endParaRPr>
          </a:p>
          <a:p>
            <a:pPr marL="457200" lvl="0"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Mental Models</a:t>
            </a:r>
            <a:endParaRPr sz="1200" dirty="0">
              <a:solidFill>
                <a:srgbClr val="000000"/>
              </a:solidFill>
              <a:latin typeface="Times New Roman" panose="02020603050405020304" pitchFamily="18" charset="0"/>
              <a:cs typeface="Times New Roman" panose="02020603050405020304" pitchFamily="18" charset="0"/>
            </a:endParaRPr>
          </a:p>
          <a:p>
            <a:pPr marL="457200" lvl="0"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Program Comprehension Strategies</a:t>
            </a:r>
            <a:endParaRPr sz="1200" dirty="0">
              <a:solidFill>
                <a:srgbClr val="000000"/>
              </a:solidFill>
              <a:latin typeface="Times New Roman" panose="02020603050405020304" pitchFamily="18" charset="0"/>
              <a:cs typeface="Times New Roman" panose="02020603050405020304" pitchFamily="18" charset="0"/>
            </a:endParaRPr>
          </a:p>
          <a:p>
            <a:pPr marL="914400" lvl="1"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Top-down</a:t>
            </a:r>
            <a:endParaRPr sz="1200" dirty="0">
              <a:solidFill>
                <a:srgbClr val="000000"/>
              </a:solidFill>
              <a:latin typeface="Times New Roman" panose="02020603050405020304" pitchFamily="18" charset="0"/>
              <a:cs typeface="Times New Roman" panose="02020603050405020304" pitchFamily="18" charset="0"/>
            </a:endParaRPr>
          </a:p>
          <a:p>
            <a:pPr marL="914400" lvl="1"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Bottom up</a:t>
            </a:r>
            <a:endParaRPr sz="1200" dirty="0">
              <a:solidFill>
                <a:srgbClr val="000000"/>
              </a:solidFill>
              <a:latin typeface="Times New Roman" panose="02020603050405020304" pitchFamily="18" charset="0"/>
              <a:cs typeface="Times New Roman" panose="02020603050405020304" pitchFamily="18" charset="0"/>
            </a:endParaRPr>
          </a:p>
          <a:p>
            <a:pPr marL="914400" lvl="1" indent="-300037" algn="l" rtl="0">
              <a:spcBef>
                <a:spcPts val="0"/>
              </a:spcBef>
              <a:spcAft>
                <a:spcPts val="0"/>
              </a:spcAft>
              <a:buClr>
                <a:srgbClr val="000000"/>
              </a:buClr>
              <a:buSzPct val="100000"/>
              <a:buChar char="○"/>
            </a:pPr>
            <a:r>
              <a:rPr lang="en" sz="1200" dirty="0">
                <a:solidFill>
                  <a:srgbClr val="000000"/>
                </a:solidFill>
                <a:latin typeface="Times New Roman" panose="02020603050405020304" pitchFamily="18" charset="0"/>
                <a:cs typeface="Times New Roman" panose="02020603050405020304" pitchFamily="18" charset="0"/>
              </a:rPr>
              <a:t>Opportunistic</a:t>
            </a:r>
            <a:endParaRPr sz="1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CF3CF9-0815-4FF0-8BBA-6761D4870F3B}"/>
              </a:ext>
            </a:extLst>
          </p:cNvPr>
          <p:cNvSpPr>
            <a:spLocks noGrp="1"/>
          </p:cNvSpPr>
          <p:nvPr>
            <p:ph type="body" idx="1"/>
          </p:nvPr>
        </p:nvSpPr>
        <p:spPr>
          <a:xfrm>
            <a:off x="650869" y="1507375"/>
            <a:ext cx="7688700" cy="2261100"/>
          </a:xfrm>
        </p:spPr>
        <p:txBody>
          <a:bodyPr>
            <a:normAutofit/>
          </a:bodyPr>
          <a:lstStyle/>
          <a:p>
            <a:pPr lvl="0" indent="-342900">
              <a:spcBef>
                <a:spcPts val="1200"/>
              </a:spcBef>
              <a:buClr>
                <a:srgbClr val="000000"/>
              </a:buClr>
              <a:buSzPts val="1800"/>
            </a:pPr>
            <a:r>
              <a:rPr lang="en-US" sz="1200" dirty="0">
                <a:solidFill>
                  <a:srgbClr val="000000"/>
                </a:solidFill>
                <a:latin typeface="Times New Roman" panose="02020603050405020304" pitchFamily="18" charset="0"/>
                <a:cs typeface="Times New Roman" panose="02020603050405020304" pitchFamily="18" charset="0"/>
              </a:rPr>
              <a:t>Factors that Affect Understanding</a:t>
            </a:r>
          </a:p>
          <a:p>
            <a:pPr lvl="1" indent="-342900">
              <a:buClr>
                <a:srgbClr val="000000"/>
              </a:buClr>
              <a:buSzPts val="1800"/>
            </a:pPr>
            <a:r>
              <a:rPr lang="en-US" sz="1200" dirty="0">
                <a:solidFill>
                  <a:srgbClr val="000000"/>
                </a:solidFill>
                <a:latin typeface="Times New Roman" panose="02020603050405020304" pitchFamily="18" charset="0"/>
                <a:cs typeface="Times New Roman" panose="02020603050405020304" pitchFamily="18" charset="0"/>
              </a:rPr>
              <a:t>Expertise, Implementation issue, Documentation, Organization and Presentation of Programs, Comprehension support tools.</a:t>
            </a:r>
          </a:p>
          <a:p>
            <a:pPr lvl="0" indent="-342900">
              <a:buClr>
                <a:srgbClr val="000000"/>
              </a:buClr>
              <a:buSzPts val="1800"/>
            </a:pPr>
            <a:r>
              <a:rPr lang="en-US" sz="1200" dirty="0">
                <a:solidFill>
                  <a:srgbClr val="000000"/>
                </a:solidFill>
                <a:latin typeface="Times New Roman" panose="02020603050405020304" pitchFamily="18" charset="0"/>
                <a:cs typeface="Times New Roman" panose="02020603050405020304" pitchFamily="18" charset="0"/>
              </a:rPr>
              <a:t>Implications of Comprehension Theories and Studies</a:t>
            </a:r>
          </a:p>
          <a:p>
            <a:pPr lvl="1" indent="-342900">
              <a:buClr>
                <a:srgbClr val="000000"/>
              </a:buClr>
              <a:buSzPts val="1800"/>
            </a:pPr>
            <a:r>
              <a:rPr lang="en-US" sz="1200" dirty="0">
                <a:solidFill>
                  <a:srgbClr val="000000"/>
                </a:solidFill>
                <a:latin typeface="Times New Roman" panose="02020603050405020304" pitchFamily="18" charset="0"/>
                <a:cs typeface="Times New Roman" panose="02020603050405020304" pitchFamily="18" charset="0"/>
              </a:rPr>
              <a:t>Knowledge acquisition, Education and Training, Design Principles, Guidelines and Recommendations</a:t>
            </a:r>
          </a:p>
          <a:p>
            <a:endParaRPr lang="en-US" sz="1200" dirty="0">
              <a:latin typeface="Times New Roman" panose="02020603050405020304" pitchFamily="18" charset="0"/>
              <a:cs typeface="Times New Roman" panose="02020603050405020304" pitchFamily="18" charset="0"/>
            </a:endParaRPr>
          </a:p>
        </p:txBody>
      </p:sp>
      <p:sp>
        <p:nvSpPr>
          <p:cNvPr id="4" name="Google Shape;92;p14">
            <a:extLst>
              <a:ext uri="{FF2B5EF4-FFF2-40B4-BE49-F238E27FC236}">
                <a16:creationId xmlns:a16="http://schemas.microsoft.com/office/drawing/2014/main" id="{E527655A-F51C-DF89-87B9-F4DE34E6615E}"/>
              </a:ext>
            </a:extLst>
          </p:cNvPr>
          <p:cNvSpPr txBox="1">
            <a:spLocks/>
          </p:cNvSpPr>
          <p:nvPr/>
        </p:nvSpPr>
        <p:spPr>
          <a:xfrm>
            <a:off x="727650" y="663806"/>
            <a:ext cx="7688700" cy="53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2400" dirty="0">
                <a:latin typeface="Times New Roman" panose="02020603050405020304" pitchFamily="18" charset="0"/>
                <a:cs typeface="Times New Roman" panose="02020603050405020304" pitchFamily="18" charset="0"/>
              </a:rPr>
              <a:t>Overview</a:t>
            </a:r>
          </a:p>
        </p:txBody>
      </p:sp>
    </p:spTree>
    <p:extLst>
      <p:ext uri="{BB962C8B-B14F-4D97-AF65-F5344CB8AC3E}">
        <p14:creationId xmlns:p14="http://schemas.microsoft.com/office/powerpoint/2010/main" val="1298039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D43C4-D47E-CA99-7D33-879F0EEB4AFA}"/>
              </a:ext>
            </a:extLst>
          </p:cNvPr>
          <p:cNvSpPr>
            <a:spLocks noGrp="1"/>
          </p:cNvSpPr>
          <p:nvPr>
            <p:ph type="title"/>
          </p:nvPr>
        </p:nvSpPr>
        <p:spPr>
          <a:xfrm>
            <a:off x="727650" y="668568"/>
            <a:ext cx="7688700" cy="535200"/>
          </a:xfrm>
        </p:spPr>
        <p:txBody>
          <a:bodyPr>
            <a:noAutofit/>
          </a:bodyPr>
          <a:lstStyle/>
          <a:p>
            <a:r>
              <a:rPr lang="en-US" sz="2800" dirty="0">
                <a:latin typeface="Times New Roman" panose="02020603050405020304" pitchFamily="18" charset="0"/>
                <a:cs typeface="Times New Roman" panose="02020603050405020304" pitchFamily="18" charset="0"/>
              </a:rPr>
              <a:t>Program Comprehension</a:t>
            </a:r>
          </a:p>
        </p:txBody>
      </p:sp>
      <p:sp>
        <p:nvSpPr>
          <p:cNvPr id="3" name="Text Placeholder 2">
            <a:extLst>
              <a:ext uri="{FF2B5EF4-FFF2-40B4-BE49-F238E27FC236}">
                <a16:creationId xmlns:a16="http://schemas.microsoft.com/office/drawing/2014/main" id="{DF84BDA6-6EC5-9F1B-F542-F2AF569C0F09}"/>
              </a:ext>
            </a:extLst>
          </p:cNvPr>
          <p:cNvSpPr>
            <a:spLocks noGrp="1"/>
          </p:cNvSpPr>
          <p:nvPr>
            <p:ph type="body" idx="1"/>
          </p:nvPr>
        </p:nvSpPr>
        <p:spPr>
          <a:xfrm>
            <a:off x="719494" y="1535950"/>
            <a:ext cx="7688700" cy="2261100"/>
          </a:xfrm>
        </p:spPr>
        <p:txBody>
          <a:bodyPr>
            <a:noAutofit/>
          </a:bodyPr>
          <a:lstStyle/>
          <a:p>
            <a:pPr>
              <a:buFontTx/>
              <a:buChar char="-"/>
            </a:pPr>
            <a:r>
              <a:rPr lang="en-IN" sz="1400" b="1" dirty="0">
                <a:solidFill>
                  <a:schemeClr val="bg2"/>
                </a:solidFill>
                <a:latin typeface="Times New Roman" panose="02020603050405020304" pitchFamily="18" charset="0"/>
                <a:cs typeface="Times New Roman" panose="02020603050405020304" pitchFamily="18" charset="0"/>
              </a:rPr>
              <a:t>Prior to implementing any change, it is essential to understand the software product as a whole and the programs affected by the change in particular</a:t>
            </a:r>
          </a:p>
          <a:p>
            <a:pPr>
              <a:buFontTx/>
              <a:buChar char="-"/>
            </a:pPr>
            <a:r>
              <a:rPr lang="en-US" sz="1400" dirty="0">
                <a:solidFill>
                  <a:schemeClr val="bg2"/>
                </a:solidFill>
                <a:latin typeface="Times New Roman" panose="02020603050405020304" pitchFamily="18" charset="0"/>
                <a:cs typeface="Times New Roman" panose="02020603050405020304" pitchFamily="18" charset="0"/>
              </a:rPr>
              <a:t>Program comprehension is the process of reconstructing knowledge and relationship between </a:t>
            </a:r>
            <a:r>
              <a:rPr lang="en-US" sz="1400" b="1" dirty="0">
                <a:solidFill>
                  <a:schemeClr val="tx1"/>
                </a:solidFill>
                <a:latin typeface="Times New Roman" panose="02020603050405020304" pitchFamily="18" charset="0"/>
                <a:cs typeface="Times New Roman" panose="02020603050405020304" pitchFamily="18" charset="0"/>
              </a:rPr>
              <a:t>problem and programming domains</a:t>
            </a:r>
            <a:r>
              <a:rPr lang="en-US" sz="1400" dirty="0">
                <a:solidFill>
                  <a:schemeClr val="bg2"/>
                </a:solidFill>
                <a:latin typeface="Times New Roman" panose="02020603050405020304" pitchFamily="18" charset="0"/>
                <a:cs typeface="Times New Roman" panose="02020603050405020304" pitchFamily="18" charset="0"/>
              </a:rPr>
              <a:t>.</a:t>
            </a:r>
          </a:p>
          <a:p>
            <a:pPr>
              <a:buFontTx/>
              <a:buChar char="-"/>
            </a:pPr>
            <a:r>
              <a:rPr lang="en-IN" sz="1400" dirty="0">
                <a:solidFill>
                  <a:schemeClr val="bg2"/>
                </a:solidFill>
                <a:latin typeface="Times New Roman" panose="02020603050405020304" pitchFamily="18" charset="0"/>
                <a:cs typeface="Times New Roman" panose="02020603050405020304" pitchFamily="18" charset="0"/>
              </a:rPr>
              <a:t>Program Comprehension involves: </a:t>
            </a:r>
          </a:p>
          <a:p>
            <a:pPr lvl="1"/>
            <a:r>
              <a:rPr lang="en-IN" sz="1400" dirty="0">
                <a:solidFill>
                  <a:schemeClr val="bg2"/>
                </a:solidFill>
                <a:latin typeface="Times New Roman" panose="02020603050405020304" pitchFamily="18" charset="0"/>
                <a:cs typeface="Times New Roman" panose="02020603050405020304" pitchFamily="18" charset="0"/>
              </a:rPr>
              <a:t>having a general knowledge of what the software system does and how it relates to its environment; </a:t>
            </a:r>
          </a:p>
          <a:p>
            <a:pPr lvl="1"/>
            <a:r>
              <a:rPr lang="en-IN" sz="1400" dirty="0">
                <a:solidFill>
                  <a:schemeClr val="bg2"/>
                </a:solidFill>
                <a:latin typeface="Times New Roman" panose="02020603050405020304" pitchFamily="18" charset="0"/>
                <a:cs typeface="Times New Roman" panose="02020603050405020304" pitchFamily="18" charset="0"/>
              </a:rPr>
              <a:t>identifying where in the system changes are to be effected; and </a:t>
            </a:r>
          </a:p>
          <a:p>
            <a:pPr lvl="1"/>
            <a:r>
              <a:rPr lang="en-IN" sz="1400" dirty="0">
                <a:solidFill>
                  <a:schemeClr val="bg2"/>
                </a:solidFill>
                <a:latin typeface="Times New Roman" panose="02020603050405020304" pitchFamily="18" charset="0"/>
                <a:cs typeface="Times New Roman" panose="02020603050405020304" pitchFamily="18" charset="0"/>
              </a:rPr>
              <a:t>having an in-depth knowledge of how the parts to be corrected or modified work. </a:t>
            </a:r>
          </a:p>
          <a:p>
            <a:pPr>
              <a:buFontTx/>
              <a:buChar char="-"/>
            </a:pPr>
            <a:endParaRPr lang="en-US" sz="1400" dirty="0">
              <a:solidFill>
                <a:schemeClr val="bg2"/>
              </a:solidFill>
              <a:latin typeface="Times New Roman" panose="02020603050405020304" pitchFamily="18" charset="0"/>
              <a:cs typeface="Times New Roman" panose="02020603050405020304" pitchFamily="18" charset="0"/>
            </a:endParaRPr>
          </a:p>
          <a:p>
            <a:pPr>
              <a:buFontTx/>
              <a:buChar char="-"/>
            </a:pPr>
            <a:endParaRPr lang="en-IN" sz="1400" dirty="0">
              <a:solidFill>
                <a:schemeClr val="bg2"/>
              </a:solidFill>
              <a:latin typeface="Times New Roman" panose="02020603050405020304" pitchFamily="18" charset="0"/>
              <a:cs typeface="Times New Roman" panose="02020603050405020304" pitchFamily="18" charset="0"/>
            </a:endParaRPr>
          </a:p>
          <a:p>
            <a:pPr marL="146050" indent="0">
              <a:buNone/>
            </a:pPr>
            <a:endParaRPr lang="en-US" sz="1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123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56817-ECAD-FD07-C9BA-F724A68A5FFA}"/>
              </a:ext>
            </a:extLst>
          </p:cNvPr>
          <p:cNvSpPr>
            <a:spLocks noGrp="1"/>
          </p:cNvSpPr>
          <p:nvPr>
            <p:ph type="title"/>
          </p:nvPr>
        </p:nvSpPr>
        <p:spPr>
          <a:xfrm>
            <a:off x="443700" y="216004"/>
            <a:ext cx="7688700" cy="535200"/>
          </a:xfrm>
        </p:spPr>
        <p:txBody>
          <a:bodyPr>
            <a:normAutofit fontScale="90000"/>
          </a:bodyPr>
          <a:lstStyle/>
          <a:p>
            <a:r>
              <a:rPr lang="en-IN" sz="2400" dirty="0">
                <a:latin typeface="Times New Roman" panose="02020603050405020304" pitchFamily="18" charset="0"/>
                <a:cs typeface="Times New Roman" panose="02020603050405020304" pitchFamily="18" charset="0"/>
              </a:rPr>
              <a:t>Features of a software product and their importance to understanding</a:t>
            </a:r>
            <a:br>
              <a:rPr lang="en-US" sz="2400" dirty="0"/>
            </a:br>
            <a:endParaRPr lang="en-US" dirty="0"/>
          </a:p>
        </p:txBody>
      </p:sp>
      <p:sp>
        <p:nvSpPr>
          <p:cNvPr id="3" name="Text Placeholder 2">
            <a:extLst>
              <a:ext uri="{FF2B5EF4-FFF2-40B4-BE49-F238E27FC236}">
                <a16:creationId xmlns:a16="http://schemas.microsoft.com/office/drawing/2014/main" id="{119C59A5-B0D7-2D64-42A8-BDE3F91A9C9C}"/>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4FD88710-85C2-F685-5C62-1291C159DEE4}"/>
              </a:ext>
            </a:extLst>
          </p:cNvPr>
          <p:cNvPicPr>
            <a:picLocks noChangeAspect="1"/>
          </p:cNvPicPr>
          <p:nvPr/>
        </p:nvPicPr>
        <p:blipFill>
          <a:blip r:embed="rId2"/>
          <a:stretch>
            <a:fillRect/>
          </a:stretch>
        </p:blipFill>
        <p:spPr>
          <a:xfrm>
            <a:off x="443700" y="1083242"/>
            <a:ext cx="7623326" cy="3638777"/>
          </a:xfrm>
          <a:prstGeom prst="rect">
            <a:avLst/>
          </a:prstGeom>
        </p:spPr>
      </p:pic>
    </p:spTree>
    <p:extLst>
      <p:ext uri="{BB962C8B-B14F-4D97-AF65-F5344CB8AC3E}">
        <p14:creationId xmlns:p14="http://schemas.microsoft.com/office/powerpoint/2010/main" val="3647809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18"/>
          <p:cNvSpPr txBox="1">
            <a:spLocks noGrp="1"/>
          </p:cNvSpPr>
          <p:nvPr>
            <p:ph type="body" idx="1"/>
          </p:nvPr>
        </p:nvSpPr>
        <p:spPr>
          <a:xfrm>
            <a:off x="521925" y="1441204"/>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rgbClr val="000000"/>
                </a:solidFill>
                <a:latin typeface="Times New Roman"/>
                <a:ea typeface="Times New Roman"/>
                <a:cs typeface="Times New Roman"/>
                <a:sym typeface="Times New Roman"/>
              </a:rPr>
              <a:t>The ultimate purpose of reading and comprehending programs is to be able successfully to implement requested changes. </a:t>
            </a:r>
            <a:endParaRPr sz="1600" dirty="0">
              <a:solidFill>
                <a:srgbClr val="000000"/>
              </a:solidFill>
              <a:latin typeface="Times New Roman"/>
              <a:ea typeface="Times New Roman"/>
              <a:cs typeface="Times New Roman"/>
              <a:sym typeface="Times New Roman"/>
            </a:endParaRPr>
          </a:p>
          <a:p>
            <a:pPr marL="457200" lvl="0" indent="-330200" algn="l" rtl="0">
              <a:spcBef>
                <a:spcPts val="1200"/>
              </a:spcBef>
              <a:spcAft>
                <a:spcPts val="0"/>
              </a:spcAft>
              <a:buClr>
                <a:srgbClr val="000000"/>
              </a:buClr>
              <a:buSzPts val="1600"/>
              <a:buFont typeface="Times New Roman"/>
              <a:buAutoNum type="arabicPeriod"/>
            </a:pPr>
            <a:r>
              <a:rPr lang="en" sz="1600" dirty="0">
                <a:solidFill>
                  <a:srgbClr val="000000"/>
                </a:solidFill>
                <a:latin typeface="Times New Roman"/>
                <a:ea typeface="Times New Roman"/>
                <a:cs typeface="Times New Roman"/>
                <a:sym typeface="Times New Roman"/>
              </a:rPr>
              <a:t>Problem Domain:</a:t>
            </a:r>
            <a:endParaRPr sz="1600" dirty="0">
              <a:solidFill>
                <a:srgbClr val="000000"/>
              </a:solidFill>
              <a:latin typeface="Times New Roman"/>
              <a:ea typeface="Times New Roman"/>
              <a:cs typeface="Times New Roman"/>
              <a:sym typeface="Times New Roman"/>
            </a:endParaRPr>
          </a:p>
          <a:p>
            <a:pPr marL="914400" lvl="1" indent="-330200" algn="l" rtl="0">
              <a:spcBef>
                <a:spcPts val="0"/>
              </a:spcBef>
              <a:spcAft>
                <a:spcPts val="0"/>
              </a:spcAft>
              <a:buClr>
                <a:srgbClr val="000000"/>
              </a:buClr>
              <a:buSzPts val="1600"/>
              <a:buFont typeface="Times New Roman"/>
              <a:buAutoNum type="alphaLcPeriod"/>
            </a:pPr>
            <a:r>
              <a:rPr lang="en" sz="1600" dirty="0">
                <a:solidFill>
                  <a:srgbClr val="000000"/>
                </a:solidFill>
                <a:latin typeface="Times New Roman"/>
                <a:ea typeface="Times New Roman"/>
                <a:cs typeface="Times New Roman"/>
                <a:sym typeface="Times New Roman"/>
              </a:rPr>
              <a:t>Selection of personnel with the appropriate level of expertise and skills </a:t>
            </a:r>
            <a:endParaRPr sz="1600" dirty="0">
              <a:solidFill>
                <a:srgbClr val="000000"/>
              </a:solidFill>
              <a:latin typeface="Times New Roman"/>
              <a:ea typeface="Times New Roman"/>
              <a:cs typeface="Times New Roman"/>
              <a:sym typeface="Times New Roman"/>
            </a:endParaRPr>
          </a:p>
          <a:p>
            <a:pPr marL="914400" lvl="1" indent="-330200" algn="l" rtl="0">
              <a:spcBef>
                <a:spcPts val="0"/>
              </a:spcBef>
              <a:spcAft>
                <a:spcPts val="0"/>
              </a:spcAft>
              <a:buClr>
                <a:srgbClr val="000000"/>
              </a:buClr>
              <a:buSzPts val="1600"/>
              <a:buFont typeface="Times New Roman"/>
              <a:buAutoNum type="alphaLcPeriod"/>
            </a:pPr>
            <a:r>
              <a:rPr lang="en" sz="1600" dirty="0">
                <a:solidFill>
                  <a:srgbClr val="000000"/>
                </a:solidFill>
                <a:latin typeface="Times New Roman"/>
                <a:ea typeface="Times New Roman"/>
                <a:cs typeface="Times New Roman"/>
                <a:sym typeface="Times New Roman"/>
              </a:rPr>
              <a:t>To direct maintenance personnel in the choice of suitable algorithms, methodologies and tools</a:t>
            </a:r>
            <a:endParaRPr sz="1600" dirty="0">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Clr>
                <a:srgbClr val="000000"/>
              </a:buClr>
              <a:buSzPts val="1600"/>
              <a:buFont typeface="Times New Roman"/>
              <a:buAutoNum type="arabicPeriod"/>
            </a:pPr>
            <a:r>
              <a:rPr lang="en" sz="1600" dirty="0">
                <a:solidFill>
                  <a:srgbClr val="000000"/>
                </a:solidFill>
                <a:latin typeface="Times New Roman"/>
                <a:ea typeface="Times New Roman"/>
                <a:cs typeface="Times New Roman"/>
                <a:sym typeface="Times New Roman"/>
              </a:rPr>
              <a:t>Execution Effect</a:t>
            </a:r>
            <a:endParaRPr sz="1600" dirty="0">
              <a:solidFill>
                <a:srgbClr val="000000"/>
              </a:solidFill>
              <a:latin typeface="Times New Roman"/>
              <a:ea typeface="Times New Roman"/>
              <a:cs typeface="Times New Roman"/>
              <a:sym typeface="Times New Roman"/>
            </a:endParaRPr>
          </a:p>
          <a:p>
            <a:pPr marL="914400" lvl="1" indent="-330200" algn="l" rtl="0">
              <a:spcBef>
                <a:spcPts val="0"/>
              </a:spcBef>
              <a:spcAft>
                <a:spcPts val="0"/>
              </a:spcAft>
              <a:buClr>
                <a:srgbClr val="000000"/>
              </a:buClr>
              <a:buSzPts val="1600"/>
              <a:buFont typeface="Times New Roman"/>
              <a:buAutoNum type="alphaLcPeriod"/>
            </a:pPr>
            <a:r>
              <a:rPr lang="en" sz="1600" dirty="0">
                <a:solidFill>
                  <a:srgbClr val="000000"/>
                </a:solidFill>
                <a:latin typeface="Times New Roman"/>
                <a:ea typeface="Times New Roman"/>
                <a:cs typeface="Times New Roman"/>
                <a:sym typeface="Times New Roman"/>
              </a:rPr>
              <a:t>Maintenance personnel need to know (or be able to predict) what results the program will produce for a given input </a:t>
            </a:r>
            <a:endParaRPr sz="1600" dirty="0">
              <a:solidFill>
                <a:srgbClr val="000000"/>
              </a:solidFill>
              <a:latin typeface="Times New Roman"/>
              <a:ea typeface="Times New Roman"/>
              <a:cs typeface="Times New Roman"/>
              <a:sym typeface="Times New Roman"/>
            </a:endParaRPr>
          </a:p>
          <a:p>
            <a:pPr marL="914400" lvl="1" indent="-330200" algn="l" rtl="0">
              <a:spcBef>
                <a:spcPts val="0"/>
              </a:spcBef>
              <a:spcAft>
                <a:spcPts val="0"/>
              </a:spcAft>
              <a:buClr>
                <a:srgbClr val="000000"/>
              </a:buClr>
              <a:buSzPts val="1600"/>
              <a:buFont typeface="Times New Roman"/>
              <a:buAutoNum type="alphaLcPeriod"/>
            </a:pPr>
            <a:r>
              <a:rPr lang="en" sz="1600" dirty="0">
                <a:solidFill>
                  <a:srgbClr val="000000"/>
                </a:solidFill>
                <a:latin typeface="Times New Roman"/>
                <a:ea typeface="Times New Roman"/>
                <a:cs typeface="Times New Roman"/>
                <a:sym typeface="Times New Roman"/>
              </a:rPr>
              <a:t>It can assist the maintenance personnel to determine whether an implemented change achieved the desired effect</a:t>
            </a:r>
            <a:endParaRPr sz="1600"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41F11AA9-F09B-1BD2-5951-7FD33197D90A}"/>
              </a:ext>
            </a:extLst>
          </p:cNvPr>
          <p:cNvSpPr txBox="1"/>
          <p:nvPr/>
        </p:nvSpPr>
        <p:spPr>
          <a:xfrm>
            <a:off x="210412" y="267282"/>
            <a:ext cx="8000213" cy="95410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Features of a software product and their importance to understanding</a:t>
            </a:r>
            <a:endParaRPr lang="en-US" sz="2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p19"/>
          <p:cNvSpPr txBox="1">
            <a:spLocks noGrp="1"/>
          </p:cNvSpPr>
          <p:nvPr>
            <p:ph type="body" idx="1"/>
          </p:nvPr>
        </p:nvSpPr>
        <p:spPr>
          <a:xfrm>
            <a:off x="579431" y="1528806"/>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000000"/>
                </a:solidFill>
                <a:latin typeface="Times New Roman"/>
                <a:ea typeface="Times New Roman"/>
                <a:cs typeface="Times New Roman"/>
                <a:sym typeface="Times New Roman"/>
              </a:rPr>
              <a:t>3. Cause-Effect Relation: </a:t>
            </a:r>
            <a:endParaRPr sz="1800" dirty="0">
              <a:solidFill>
                <a:srgbClr val="000000"/>
              </a:solidFill>
              <a:latin typeface="Times New Roman"/>
              <a:ea typeface="Times New Roman"/>
              <a:cs typeface="Times New Roman"/>
              <a:sym typeface="Times New Roman"/>
            </a:endParaRPr>
          </a:p>
          <a:p>
            <a:pPr marL="457200" lvl="0" indent="-342900" algn="l" rtl="0">
              <a:spcBef>
                <a:spcPts val="120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To reason about how components of a software product interact during execution.</a:t>
            </a:r>
            <a:endParaRPr sz="1800" dirty="0">
              <a:solidFill>
                <a:srgbClr val="000000"/>
              </a:solidFill>
              <a:latin typeface="Times New Roman"/>
              <a:ea typeface="Times New Roman"/>
              <a:cs typeface="Times New Roman"/>
              <a:sym typeface="Times New Roman"/>
            </a:endParaRPr>
          </a:p>
          <a:p>
            <a:pPr marL="457200" lvl="0" indent="-342900" algn="l" rtl="0">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To predict the scope of a change and any knock-on effect that may arise from the change.</a:t>
            </a:r>
            <a:endParaRPr sz="1800" dirty="0">
              <a:solidFill>
                <a:srgbClr val="000000"/>
              </a:solidFill>
              <a:latin typeface="Times New Roman"/>
              <a:ea typeface="Times New Roman"/>
              <a:cs typeface="Times New Roman"/>
              <a:sym typeface="Times New Roman"/>
            </a:endParaRPr>
          </a:p>
          <a:p>
            <a:pPr marL="457200" lvl="0" indent="-342900" algn="l" rtl="0">
              <a:spcBef>
                <a:spcPts val="0"/>
              </a:spcBef>
              <a:spcAft>
                <a:spcPts val="0"/>
              </a:spcAft>
              <a:buClr>
                <a:srgbClr val="000000"/>
              </a:buClr>
              <a:buSzPts val="1800"/>
              <a:buFont typeface="Times New Roman"/>
              <a:buChar char="●"/>
            </a:pPr>
            <a:r>
              <a:rPr lang="en" sz="1800" dirty="0">
                <a:solidFill>
                  <a:srgbClr val="000000"/>
                </a:solidFill>
                <a:latin typeface="Times New Roman"/>
                <a:ea typeface="Times New Roman"/>
                <a:cs typeface="Times New Roman"/>
                <a:sym typeface="Times New Roman"/>
              </a:rPr>
              <a:t>To trace the flow of information through the program. The point in the program where there is an unusual interruption of this flow may signal the source of a bug</a:t>
            </a:r>
            <a:endParaRPr sz="1800" dirty="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1800" dirty="0">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6292439-4D46-7AD4-DF00-E174F40B5504}"/>
              </a:ext>
            </a:extLst>
          </p:cNvPr>
          <p:cNvSpPr txBox="1"/>
          <p:nvPr/>
        </p:nvSpPr>
        <p:spPr>
          <a:xfrm>
            <a:off x="210412" y="267282"/>
            <a:ext cx="8000213" cy="95410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Features of a software product and their importance to understanding</a:t>
            </a:r>
            <a:endParaRPr lang="en-US" sz="28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9" name="Google Shape;129;p20"/>
          <p:cNvSpPr txBox="1">
            <a:spLocks noGrp="1"/>
          </p:cNvSpPr>
          <p:nvPr>
            <p:ph type="body" idx="1"/>
          </p:nvPr>
        </p:nvSpPr>
        <p:spPr>
          <a:xfrm>
            <a:off x="521925" y="144120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solidFill>
                  <a:srgbClr val="000000"/>
                </a:solidFill>
                <a:latin typeface="Times New Roman"/>
                <a:ea typeface="Times New Roman"/>
                <a:cs typeface="Times New Roman"/>
                <a:sym typeface="Times New Roman"/>
              </a:rPr>
              <a:t>4. Product-Environment Relation: </a:t>
            </a:r>
            <a:endParaRPr sz="1700" dirty="0">
              <a:solidFill>
                <a:srgbClr val="000000"/>
              </a:solidFill>
              <a:latin typeface="Times New Roman"/>
              <a:ea typeface="Times New Roman"/>
              <a:cs typeface="Times New Roman"/>
              <a:sym typeface="Times New Roman"/>
            </a:endParaRPr>
          </a:p>
          <a:p>
            <a:pPr marL="457200" lvl="0" indent="-336550" algn="l" rtl="0">
              <a:spcBef>
                <a:spcPts val="1200"/>
              </a:spcBef>
              <a:spcAft>
                <a:spcPts val="0"/>
              </a:spcAft>
              <a:buClr>
                <a:srgbClr val="000000"/>
              </a:buClr>
              <a:buSzPts val="1700"/>
              <a:buFont typeface="Times New Roman"/>
              <a:buChar char="●"/>
            </a:pPr>
            <a:r>
              <a:rPr lang="en" sz="1700" dirty="0">
                <a:solidFill>
                  <a:srgbClr val="000000"/>
                </a:solidFill>
                <a:latin typeface="Times New Roman"/>
                <a:ea typeface="Times New Roman"/>
                <a:cs typeface="Times New Roman"/>
                <a:sym typeface="Times New Roman"/>
              </a:rPr>
              <a:t>To predict how changes in these elements will affect the product in general and the underlying programs in particular</a:t>
            </a:r>
            <a:endParaRPr sz="1700"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00" dirty="0">
                <a:solidFill>
                  <a:srgbClr val="000000"/>
                </a:solidFill>
                <a:latin typeface="Times New Roman"/>
                <a:ea typeface="Times New Roman"/>
                <a:cs typeface="Times New Roman"/>
                <a:sym typeface="Times New Roman"/>
              </a:rPr>
              <a:t> 5. Decision-Support Features:</a:t>
            </a:r>
            <a:endParaRPr sz="1700" dirty="0">
              <a:solidFill>
                <a:srgbClr val="000000"/>
              </a:solidFill>
              <a:latin typeface="Times New Roman"/>
              <a:ea typeface="Times New Roman"/>
              <a:cs typeface="Times New Roman"/>
              <a:sym typeface="Times New Roman"/>
            </a:endParaRPr>
          </a:p>
          <a:p>
            <a:pPr marL="457200" lvl="0" indent="-336550" algn="l" rtl="0">
              <a:spcBef>
                <a:spcPts val="1200"/>
              </a:spcBef>
              <a:spcAft>
                <a:spcPts val="0"/>
              </a:spcAft>
              <a:buClr>
                <a:srgbClr val="000000"/>
              </a:buClr>
              <a:buSzPts val="1700"/>
              <a:buFont typeface="Times New Roman"/>
              <a:buChar char="●"/>
            </a:pPr>
            <a:r>
              <a:rPr lang="en" sz="1700" dirty="0">
                <a:solidFill>
                  <a:srgbClr val="000000"/>
                </a:solidFill>
                <a:latin typeface="Times New Roman"/>
                <a:ea typeface="Times New Roman"/>
                <a:cs typeface="Times New Roman"/>
                <a:sym typeface="Times New Roman"/>
              </a:rPr>
              <a:t>Can guide maintenance personnel in technical and management decision-making processes like option analysis, decision making, budgeting and resource allocation</a:t>
            </a:r>
            <a:endParaRPr sz="1700" dirty="0">
              <a:solidFill>
                <a:srgbClr val="000000"/>
              </a:solidFill>
              <a:latin typeface="Times New Roman"/>
              <a:ea typeface="Times New Roman"/>
              <a:cs typeface="Times New Roman"/>
              <a:sym typeface="Times New Roman"/>
            </a:endParaRPr>
          </a:p>
          <a:p>
            <a:pPr marL="457200" lvl="0" indent="-336550" algn="l" rtl="0">
              <a:spcBef>
                <a:spcPts val="0"/>
              </a:spcBef>
              <a:spcAft>
                <a:spcPts val="0"/>
              </a:spcAft>
              <a:buClr>
                <a:srgbClr val="000000"/>
              </a:buClr>
              <a:buSzPts val="1700"/>
              <a:buFont typeface="Times New Roman"/>
              <a:buChar char="●"/>
            </a:pPr>
            <a:r>
              <a:rPr lang="en" sz="1700" dirty="0">
                <a:solidFill>
                  <a:srgbClr val="000000"/>
                </a:solidFill>
                <a:latin typeface="Times New Roman"/>
                <a:ea typeface="Times New Roman"/>
                <a:cs typeface="Times New Roman"/>
                <a:sym typeface="Times New Roman"/>
              </a:rPr>
              <a:t>To determine which components of the system require more resource for testing.</a:t>
            </a:r>
            <a:endParaRPr sz="1700" dirty="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1700"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22363D6B-B6F6-2215-71F8-1911F2E34D46}"/>
              </a:ext>
            </a:extLst>
          </p:cNvPr>
          <p:cNvSpPr txBox="1"/>
          <p:nvPr/>
        </p:nvSpPr>
        <p:spPr>
          <a:xfrm>
            <a:off x="210412" y="267282"/>
            <a:ext cx="8000213" cy="95410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Features of a software product and their importance to understanding</a:t>
            </a:r>
            <a:endParaRPr lang="en-US"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727650" y="5359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Times New Roman" panose="02020603050405020304" pitchFamily="18" charset="0"/>
                <a:cs typeface="Times New Roman" panose="02020603050405020304" pitchFamily="18" charset="0"/>
              </a:rPr>
              <a:t>Maintainers and Their Information Needs</a:t>
            </a:r>
            <a:endParaRPr sz="2800" dirty="0">
              <a:latin typeface="Times New Roman" panose="02020603050405020304" pitchFamily="18" charset="0"/>
              <a:cs typeface="Times New Roman" panose="02020603050405020304" pitchFamily="18" charset="0"/>
            </a:endParaRPr>
          </a:p>
        </p:txBody>
      </p:sp>
      <p:sp>
        <p:nvSpPr>
          <p:cNvPr id="135" name="Google Shape;135;p21"/>
          <p:cNvSpPr txBox="1">
            <a:spLocks noGrp="1"/>
          </p:cNvSpPr>
          <p:nvPr>
            <p:ph type="body" idx="1"/>
          </p:nvPr>
        </p:nvSpPr>
        <p:spPr>
          <a:xfrm>
            <a:off x="629437" y="1514519"/>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rgbClr val="000000"/>
                </a:solidFill>
                <a:latin typeface="Times New Roman" panose="02020603050405020304" pitchFamily="18" charset="0"/>
                <a:cs typeface="Times New Roman" panose="02020603050405020304" pitchFamily="18" charset="0"/>
              </a:rPr>
              <a:t>Maintenance team - managers, analysts, designers and programmers - all have different comprehension or information needs depending on the level at which they function </a:t>
            </a:r>
            <a:endParaRPr sz="1600" dirty="0">
              <a:solidFill>
                <a:srgbClr val="000000"/>
              </a:solidFill>
              <a:latin typeface="Times New Roman" panose="02020603050405020304" pitchFamily="18" charset="0"/>
              <a:cs typeface="Times New Roman" panose="02020603050405020304" pitchFamily="18" charset="0"/>
            </a:endParaRPr>
          </a:p>
          <a:p>
            <a:pPr marL="457200" lvl="0" indent="-323850" algn="l" rtl="0">
              <a:spcBef>
                <a:spcPts val="1200"/>
              </a:spcBef>
              <a:spcAft>
                <a:spcPts val="0"/>
              </a:spcAft>
              <a:buClr>
                <a:srgbClr val="000000"/>
              </a:buClr>
              <a:buSzPts val="1500"/>
              <a:buAutoNum type="arabicPeriod"/>
            </a:pPr>
            <a:r>
              <a:rPr lang="en" sz="1600" b="1" dirty="0">
                <a:solidFill>
                  <a:srgbClr val="000000"/>
                </a:solidFill>
                <a:latin typeface="Times New Roman" panose="02020603050405020304" pitchFamily="18" charset="0"/>
                <a:cs typeface="Times New Roman" panose="02020603050405020304" pitchFamily="18" charset="0"/>
              </a:rPr>
              <a:t>Managers:</a:t>
            </a:r>
            <a:endParaRPr sz="1600" b="1" dirty="0">
              <a:solidFill>
                <a:srgbClr val="000000"/>
              </a:solidFill>
              <a:latin typeface="Times New Roman" panose="02020603050405020304" pitchFamily="18" charset="0"/>
              <a:cs typeface="Times New Roman" panose="02020603050405020304" pitchFamily="18" charset="0"/>
            </a:endParaRPr>
          </a:p>
          <a:p>
            <a:pPr marL="876300" lvl="1" indent="-285750">
              <a:buClr>
                <a:srgbClr val="000000"/>
              </a:buClr>
              <a:buSzPts val="1500"/>
            </a:pPr>
            <a:r>
              <a:rPr lang="en" sz="1600" dirty="0">
                <a:solidFill>
                  <a:srgbClr val="000000"/>
                </a:solidFill>
                <a:latin typeface="Times New Roman" panose="02020603050405020304" pitchFamily="18" charset="0"/>
                <a:cs typeface="Times New Roman" panose="02020603050405020304" pitchFamily="18" charset="0"/>
              </a:rPr>
              <a:t>To make informed decisions</a:t>
            </a:r>
            <a:endParaRPr sz="1600" dirty="0">
              <a:solidFill>
                <a:srgbClr val="000000"/>
              </a:solidFill>
              <a:latin typeface="Times New Roman" panose="02020603050405020304" pitchFamily="18" charset="0"/>
              <a:cs typeface="Times New Roman" panose="02020603050405020304" pitchFamily="18" charset="0"/>
            </a:endParaRPr>
          </a:p>
          <a:p>
            <a:pPr marL="876300" lvl="1" indent="-285750">
              <a:buClr>
                <a:srgbClr val="000000"/>
              </a:buClr>
              <a:buSzPts val="1500"/>
            </a:pPr>
            <a:r>
              <a:rPr lang="en" sz="1600" dirty="0">
                <a:solidFill>
                  <a:srgbClr val="000000"/>
                </a:solidFill>
                <a:latin typeface="Times New Roman" panose="02020603050405020304" pitchFamily="18" charset="0"/>
                <a:cs typeface="Times New Roman" panose="02020603050405020304" pitchFamily="18" charset="0"/>
              </a:rPr>
              <a:t>To estimate the cost and duration of a major enhancement</a:t>
            </a:r>
            <a:endParaRPr sz="1600" dirty="0">
              <a:solidFill>
                <a:srgbClr val="000000"/>
              </a:solidFill>
              <a:latin typeface="Times New Roman" panose="02020603050405020304" pitchFamily="18" charset="0"/>
              <a:cs typeface="Times New Roman" panose="02020603050405020304" pitchFamily="18" charset="0"/>
            </a:endParaRPr>
          </a:p>
          <a:p>
            <a:pPr marL="457200" lvl="0" indent="-323850" algn="l" rtl="0">
              <a:spcBef>
                <a:spcPts val="0"/>
              </a:spcBef>
              <a:spcAft>
                <a:spcPts val="0"/>
              </a:spcAft>
              <a:buClr>
                <a:srgbClr val="000000"/>
              </a:buClr>
              <a:buSzPts val="1500"/>
              <a:buAutoNum type="arabicPeriod"/>
            </a:pPr>
            <a:r>
              <a:rPr lang="en" sz="1600" b="1" dirty="0">
                <a:solidFill>
                  <a:srgbClr val="000000"/>
                </a:solidFill>
                <a:latin typeface="Times New Roman" panose="02020603050405020304" pitchFamily="18" charset="0"/>
                <a:cs typeface="Times New Roman" panose="02020603050405020304" pitchFamily="18" charset="0"/>
              </a:rPr>
              <a:t> Analysts:</a:t>
            </a:r>
            <a:endParaRPr sz="1600" b="1" dirty="0">
              <a:solidFill>
                <a:srgbClr val="000000"/>
              </a:solidFill>
              <a:latin typeface="Times New Roman" panose="02020603050405020304" pitchFamily="18" charset="0"/>
              <a:cs typeface="Times New Roman" panose="02020603050405020304" pitchFamily="18" charset="0"/>
            </a:endParaRPr>
          </a:p>
          <a:p>
            <a:pPr lvl="1" indent="-323850">
              <a:buClr>
                <a:srgbClr val="000000"/>
              </a:buClr>
              <a:buSzPts val="1500"/>
            </a:pPr>
            <a:r>
              <a:rPr lang="en" sz="1600" dirty="0">
                <a:solidFill>
                  <a:srgbClr val="000000"/>
                </a:solidFill>
                <a:latin typeface="Times New Roman" panose="02020603050405020304" pitchFamily="18" charset="0"/>
                <a:cs typeface="Times New Roman" panose="02020603050405020304" pitchFamily="18" charset="0"/>
              </a:rPr>
              <a:t>To determine the functional and non-functional requirements, and to establish the relationship between the system the elements of its environment.</a:t>
            </a:r>
            <a:endParaRPr sz="1600" dirty="0">
              <a:solidFill>
                <a:srgbClr val="000000"/>
              </a:solidFill>
              <a:latin typeface="Times New Roman" panose="02020603050405020304" pitchFamily="18" charset="0"/>
              <a:cs typeface="Times New Roman" panose="02020603050405020304" pitchFamily="18" charset="0"/>
            </a:endParaRPr>
          </a:p>
          <a:p>
            <a:pPr lvl="1" indent="-323850">
              <a:buClr>
                <a:srgbClr val="000000"/>
              </a:buClr>
              <a:buSzPts val="1500"/>
            </a:pPr>
            <a:r>
              <a:rPr lang="en" sz="1600" dirty="0">
                <a:solidFill>
                  <a:srgbClr val="000000"/>
                </a:solidFill>
                <a:latin typeface="Times New Roman" panose="02020603050405020304" pitchFamily="18" charset="0"/>
                <a:cs typeface="Times New Roman" panose="02020603050405020304" pitchFamily="18" charset="0"/>
              </a:rPr>
              <a:t>To determine the implications of change (using context diagrams) on the performance of a system.</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7650" y="5899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Maintainers and Their Information Needs</a:t>
            </a:r>
            <a:endParaRPr dirty="0"/>
          </a:p>
        </p:txBody>
      </p:sp>
      <p:sp>
        <p:nvSpPr>
          <p:cNvPr id="141" name="Google Shape;141;p22"/>
          <p:cNvSpPr txBox="1">
            <a:spLocks noGrp="1"/>
          </p:cNvSpPr>
          <p:nvPr>
            <p:ph type="body" idx="1"/>
          </p:nvPr>
        </p:nvSpPr>
        <p:spPr>
          <a:xfrm>
            <a:off x="636582" y="1533112"/>
            <a:ext cx="7688700" cy="3020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600" b="1" dirty="0">
                <a:solidFill>
                  <a:srgbClr val="000000"/>
                </a:solidFill>
                <a:latin typeface="Times New Roman" panose="02020603050405020304" pitchFamily="18" charset="0"/>
                <a:cs typeface="Times New Roman" panose="02020603050405020304" pitchFamily="18" charset="0"/>
              </a:rPr>
              <a:t>3. Designers:</a:t>
            </a:r>
            <a:endParaRPr sz="1600" b="1" dirty="0">
              <a:solidFill>
                <a:srgbClr val="000000"/>
              </a:solidFill>
              <a:latin typeface="Times New Roman" panose="02020603050405020304" pitchFamily="18" charset="0"/>
              <a:cs typeface="Times New Roman" panose="02020603050405020304" pitchFamily="18" charset="0"/>
            </a:endParaRPr>
          </a:p>
          <a:p>
            <a:pPr marL="0" lvl="0" indent="0" algn="just" rtl="0">
              <a:spcBef>
                <a:spcPts val="1200"/>
              </a:spcBef>
              <a:spcAft>
                <a:spcPts val="0"/>
              </a:spcAft>
              <a:buNone/>
            </a:pPr>
            <a:r>
              <a:rPr lang="en" sz="1600" dirty="0">
                <a:solidFill>
                  <a:srgbClr val="000000"/>
                </a:solidFill>
                <a:latin typeface="Times New Roman" panose="02020603050405020304" pitchFamily="18" charset="0"/>
                <a:cs typeface="Times New Roman" panose="02020603050405020304" pitchFamily="18" charset="0"/>
              </a:rPr>
              <a:t>The design process of a software system can take place at two levels:</a:t>
            </a:r>
            <a:endParaRPr sz="1600" dirty="0">
              <a:solidFill>
                <a:srgbClr val="000000"/>
              </a:solidFill>
              <a:latin typeface="Times New Roman" panose="02020603050405020304" pitchFamily="18" charset="0"/>
              <a:cs typeface="Times New Roman" panose="02020603050405020304" pitchFamily="18" charset="0"/>
            </a:endParaRPr>
          </a:p>
          <a:p>
            <a:pPr marL="419100" indent="-285750" algn="just">
              <a:spcBef>
                <a:spcPts val="1200"/>
              </a:spcBef>
              <a:buClr>
                <a:srgbClr val="000000"/>
              </a:buClr>
              <a:buSzPts val="1500"/>
              <a:buFont typeface="Courier New" panose="02070309020205020404" pitchFamily="49" charset="0"/>
              <a:buChar char="o"/>
            </a:pPr>
            <a:r>
              <a:rPr lang="en" sz="1600" b="1" dirty="0">
                <a:solidFill>
                  <a:srgbClr val="000000"/>
                </a:solidFill>
                <a:latin typeface="Times New Roman" panose="02020603050405020304" pitchFamily="18" charset="0"/>
                <a:cs typeface="Times New Roman" panose="02020603050405020304" pitchFamily="18" charset="0"/>
              </a:rPr>
              <a:t>Architectural design </a:t>
            </a:r>
            <a:r>
              <a:rPr lang="en" sz="1600" dirty="0">
                <a:solidFill>
                  <a:srgbClr val="000000"/>
                </a:solidFill>
                <a:latin typeface="Times New Roman" panose="02020603050405020304" pitchFamily="18" charset="0"/>
                <a:cs typeface="Times New Roman" panose="02020603050405020304" pitchFamily="18" charset="0"/>
              </a:rPr>
              <a:t>results in the production of functional components, conceptual data structures and the interconnection between various components. </a:t>
            </a:r>
            <a:endParaRPr sz="1600" dirty="0">
              <a:solidFill>
                <a:srgbClr val="000000"/>
              </a:solidFill>
              <a:latin typeface="Times New Roman" panose="02020603050405020304" pitchFamily="18" charset="0"/>
              <a:cs typeface="Times New Roman" panose="02020603050405020304" pitchFamily="18" charset="0"/>
            </a:endParaRPr>
          </a:p>
          <a:p>
            <a:pPr marL="419100" indent="-285750" algn="just">
              <a:buClr>
                <a:srgbClr val="000000"/>
              </a:buClr>
              <a:buSzPts val="1500"/>
              <a:buFont typeface="Courier New" panose="02070309020205020404" pitchFamily="49" charset="0"/>
              <a:buChar char="o"/>
            </a:pPr>
            <a:r>
              <a:rPr lang="en" sz="1600" b="1" dirty="0">
                <a:solidFill>
                  <a:srgbClr val="000000"/>
                </a:solidFill>
                <a:latin typeface="Times New Roman" panose="02020603050405020304" pitchFamily="18" charset="0"/>
                <a:cs typeface="Times New Roman" panose="02020603050405020304" pitchFamily="18" charset="0"/>
              </a:rPr>
              <a:t>Detailed design </a:t>
            </a:r>
            <a:r>
              <a:rPr lang="en" sz="1600" dirty="0">
                <a:solidFill>
                  <a:srgbClr val="000000"/>
                </a:solidFill>
                <a:latin typeface="Times New Roman" panose="02020603050405020304" pitchFamily="18" charset="0"/>
                <a:cs typeface="Times New Roman" panose="02020603050405020304" pitchFamily="18" charset="0"/>
              </a:rPr>
              <a:t>results in the detailed algorithms, data representations, data structures and interfaces between procedures or routines.</a:t>
            </a:r>
            <a:endParaRPr sz="1600" dirty="0">
              <a:solidFill>
                <a:srgbClr val="000000"/>
              </a:solidFill>
              <a:latin typeface="Times New Roman" panose="02020603050405020304" pitchFamily="18" charset="0"/>
              <a:cs typeface="Times New Roman" panose="02020603050405020304" pitchFamily="18" charset="0"/>
            </a:endParaRPr>
          </a:p>
          <a:p>
            <a:pPr marL="0" indent="0" algn="just">
              <a:spcBef>
                <a:spcPts val="1200"/>
              </a:spcBef>
              <a:buNone/>
            </a:pPr>
            <a:r>
              <a:rPr lang="en-US" sz="1600" dirty="0">
                <a:solidFill>
                  <a:srgbClr val="000000"/>
                </a:solidFill>
                <a:latin typeface="Times New Roman" panose="02020603050405020304" pitchFamily="18" charset="0"/>
                <a:cs typeface="Times New Roman" panose="02020603050405020304" pitchFamily="18" charset="0"/>
              </a:rPr>
              <a:t>Data flow diagrams, control flow diagrams, structure charts and hierarchy process input/output (HIPO) charts can help the designer </a:t>
            </a:r>
          </a:p>
          <a:p>
            <a:pPr marL="0" lvl="0" indent="0" algn="just" rtl="0">
              <a:spcBef>
                <a:spcPts val="1200"/>
              </a:spcBef>
              <a:spcAft>
                <a:spcPts val="0"/>
              </a:spcAft>
              <a:buNone/>
            </a:pPr>
            <a:endParaRPr sz="1600" dirty="0">
              <a:solidFill>
                <a:srgbClr val="000000"/>
              </a:solidFill>
              <a:latin typeface="Times New Roman" panose="02020603050405020304" pitchFamily="18" charset="0"/>
              <a:cs typeface="Times New Roman" panose="02020603050405020304" pitchFamily="18" charset="0"/>
            </a:endParaRPr>
          </a:p>
          <a:p>
            <a:pPr marL="457200" lvl="0" indent="0" algn="just" rtl="0">
              <a:spcBef>
                <a:spcPts val="1200"/>
              </a:spcBef>
              <a:spcAft>
                <a:spcPts val="0"/>
              </a:spcAft>
              <a:buNone/>
            </a:pPr>
            <a:endParaRPr sz="1600" dirty="0">
              <a:solidFill>
                <a:srgbClr val="000000"/>
              </a:solidFill>
              <a:latin typeface="Times New Roman" panose="02020603050405020304" pitchFamily="18" charset="0"/>
              <a:cs typeface="Times New Roman" panose="02020603050405020304" pitchFamily="18" charset="0"/>
            </a:endParaRPr>
          </a:p>
          <a:p>
            <a:pPr marL="0" lvl="0" indent="0" algn="just" rtl="0">
              <a:spcBef>
                <a:spcPts val="1200"/>
              </a:spcBef>
              <a:spcAft>
                <a:spcPts val="1200"/>
              </a:spcAft>
              <a:buNone/>
            </a:pP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4614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Maintainers and Their Information Needs</a:t>
            </a:r>
            <a:endParaRPr sz="2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2400" dirty="0">
              <a:latin typeface="Times New Roman" panose="02020603050405020304" pitchFamily="18" charset="0"/>
              <a:cs typeface="Times New Roman" panose="02020603050405020304" pitchFamily="18" charset="0"/>
            </a:endParaRPr>
          </a:p>
        </p:txBody>
      </p:sp>
      <p:sp>
        <p:nvSpPr>
          <p:cNvPr id="153" name="Google Shape;153;p24"/>
          <p:cNvSpPr txBox="1">
            <a:spLocks noGrp="1"/>
          </p:cNvSpPr>
          <p:nvPr>
            <p:ph type="body" idx="1"/>
          </p:nvPr>
        </p:nvSpPr>
        <p:spPr>
          <a:xfrm>
            <a:off x="730237" y="1441200"/>
            <a:ext cx="7688700" cy="2261100"/>
          </a:xfrm>
          <a:prstGeom prst="rect">
            <a:avLst/>
          </a:prstGeom>
        </p:spPr>
        <p:txBody>
          <a:bodyPr spcFirstLastPara="1" wrap="square" lIns="91425" tIns="91425" rIns="91425" bIns="91425" anchor="t" anchorCtr="0">
            <a:noAutofit/>
          </a:bodyPr>
          <a:lstStyle/>
          <a:p>
            <a:pPr marL="0" indent="0">
              <a:lnSpc>
                <a:spcPct val="95000"/>
              </a:lnSpc>
              <a:buSzPts val="1018"/>
              <a:buNone/>
            </a:pPr>
            <a:r>
              <a:rPr lang="en" sz="1602" dirty="0">
                <a:solidFill>
                  <a:srgbClr val="000000"/>
                </a:solidFill>
                <a:latin typeface="Times New Roman" panose="02020603050405020304" pitchFamily="18" charset="0"/>
                <a:cs typeface="Times New Roman" panose="02020603050405020304" pitchFamily="18" charset="0"/>
              </a:rPr>
              <a:t>4. </a:t>
            </a:r>
            <a:r>
              <a:rPr lang="en" sz="1602" b="1" dirty="0">
                <a:solidFill>
                  <a:srgbClr val="000000"/>
                </a:solidFill>
                <a:latin typeface="Times New Roman" panose="02020603050405020304" pitchFamily="18" charset="0"/>
                <a:cs typeface="Times New Roman" panose="02020603050405020304" pitchFamily="18" charset="0"/>
              </a:rPr>
              <a:t>Programmers:</a:t>
            </a:r>
            <a:br>
              <a:rPr lang="en" sz="1602" dirty="0">
                <a:solidFill>
                  <a:srgbClr val="000000"/>
                </a:solidFill>
                <a:latin typeface="Times New Roman" panose="02020603050405020304" pitchFamily="18" charset="0"/>
                <a:cs typeface="Times New Roman" panose="02020603050405020304" pitchFamily="18" charset="0"/>
              </a:rPr>
            </a:br>
            <a:r>
              <a:rPr lang="en" sz="1602" dirty="0">
                <a:solidFill>
                  <a:srgbClr val="000000"/>
                </a:solidFill>
                <a:latin typeface="Times New Roman" panose="02020603050405020304" pitchFamily="18" charset="0"/>
                <a:cs typeface="Times New Roman" panose="02020603050405020304" pitchFamily="18" charset="0"/>
              </a:rPr>
              <a:t>Programmer needs to know the function of individual components of the system and their causal relation. </a:t>
            </a:r>
            <a:endParaRPr sz="1602" dirty="0">
              <a:solidFill>
                <a:srgbClr val="000000"/>
              </a:solidFill>
              <a:latin typeface="Times New Roman" panose="02020603050405020304" pitchFamily="18" charset="0"/>
              <a:cs typeface="Times New Roman" panose="02020603050405020304" pitchFamily="18" charset="0"/>
            </a:endParaRPr>
          </a:p>
          <a:p>
            <a:pPr marL="412592" indent="-285750">
              <a:lnSpc>
                <a:spcPct val="95000"/>
              </a:lnSpc>
              <a:spcBef>
                <a:spcPts val="1200"/>
              </a:spcBef>
              <a:buClr>
                <a:srgbClr val="000000"/>
              </a:buClr>
              <a:buSzPts val="1603"/>
              <a:buFont typeface="Courier New" panose="02070309020205020404" pitchFamily="49" charset="0"/>
              <a:buChar char="o"/>
            </a:pPr>
            <a:r>
              <a:rPr lang="en" sz="1602" dirty="0">
                <a:solidFill>
                  <a:srgbClr val="000000"/>
                </a:solidFill>
                <a:latin typeface="Times New Roman" panose="02020603050405020304" pitchFamily="18" charset="0"/>
                <a:cs typeface="Times New Roman" panose="02020603050405020304" pitchFamily="18" charset="0"/>
              </a:rPr>
              <a:t>To decide on whether to restructure or rewrite specific code segments;</a:t>
            </a:r>
            <a:endParaRPr sz="1602" dirty="0">
              <a:solidFill>
                <a:srgbClr val="000000"/>
              </a:solidFill>
              <a:latin typeface="Times New Roman" panose="02020603050405020304" pitchFamily="18" charset="0"/>
              <a:cs typeface="Times New Roman" panose="02020603050405020304" pitchFamily="18" charset="0"/>
            </a:endParaRPr>
          </a:p>
          <a:p>
            <a:pPr marL="412592" indent="-285750">
              <a:lnSpc>
                <a:spcPct val="95000"/>
              </a:lnSpc>
              <a:buClr>
                <a:srgbClr val="000000"/>
              </a:buClr>
              <a:buSzPts val="1603"/>
              <a:buFont typeface="Courier New" panose="02070309020205020404" pitchFamily="49" charset="0"/>
              <a:buChar char="o"/>
            </a:pPr>
            <a:r>
              <a:rPr lang="en" sz="1602" dirty="0">
                <a:solidFill>
                  <a:srgbClr val="000000"/>
                </a:solidFill>
                <a:latin typeface="Times New Roman" panose="02020603050405020304" pitchFamily="18" charset="0"/>
                <a:cs typeface="Times New Roman" panose="02020603050405020304" pitchFamily="18" charset="0"/>
              </a:rPr>
              <a:t>To predict more easily any knock-on effect when making changes that are likely to affect other parts of the system;</a:t>
            </a:r>
            <a:endParaRPr sz="1602" dirty="0">
              <a:solidFill>
                <a:srgbClr val="000000"/>
              </a:solidFill>
              <a:latin typeface="Times New Roman" panose="02020603050405020304" pitchFamily="18" charset="0"/>
              <a:cs typeface="Times New Roman" panose="02020603050405020304" pitchFamily="18" charset="0"/>
            </a:endParaRPr>
          </a:p>
          <a:p>
            <a:pPr marL="412592" indent="-285750">
              <a:lnSpc>
                <a:spcPct val="95000"/>
              </a:lnSpc>
              <a:buClr>
                <a:srgbClr val="000000"/>
              </a:buClr>
              <a:buSzPts val="1603"/>
              <a:buFont typeface="Courier New" panose="02070309020205020404" pitchFamily="49" charset="0"/>
              <a:buChar char="o"/>
            </a:pPr>
            <a:r>
              <a:rPr lang="en" sz="1602" dirty="0">
                <a:solidFill>
                  <a:srgbClr val="000000"/>
                </a:solidFill>
                <a:latin typeface="Times New Roman" panose="02020603050405020304" pitchFamily="18" charset="0"/>
                <a:cs typeface="Times New Roman" panose="02020603050405020304" pitchFamily="18" charset="0"/>
              </a:rPr>
              <a:t>To hypothesise the location and causes of error.</a:t>
            </a:r>
            <a:endParaRPr sz="1602" dirty="0">
              <a:solidFill>
                <a:srgbClr val="000000"/>
              </a:solidFill>
              <a:latin typeface="Times New Roman" panose="02020603050405020304" pitchFamily="18" charset="0"/>
              <a:cs typeface="Times New Roman" panose="02020603050405020304" pitchFamily="18" charset="0"/>
            </a:endParaRPr>
          </a:p>
          <a:p>
            <a:pPr marL="412592" indent="-285750">
              <a:lnSpc>
                <a:spcPct val="95000"/>
              </a:lnSpc>
              <a:buClr>
                <a:srgbClr val="000000"/>
              </a:buClr>
              <a:buSzPts val="1603"/>
              <a:buFont typeface="Courier New" panose="02070309020205020404" pitchFamily="49" charset="0"/>
              <a:buChar char="o"/>
            </a:pPr>
            <a:r>
              <a:rPr lang="en" sz="1602" dirty="0">
                <a:solidFill>
                  <a:srgbClr val="000000"/>
                </a:solidFill>
                <a:latin typeface="Times New Roman" panose="02020603050405020304" pitchFamily="18" charset="0"/>
                <a:cs typeface="Times New Roman" panose="02020603050405020304" pitchFamily="18" charset="0"/>
              </a:rPr>
              <a:t>To determine the feasibility of proposed changes and notify management of any anticipated problems.</a:t>
            </a:r>
            <a:endParaRPr sz="1602" dirty="0">
              <a:solidFill>
                <a:srgbClr val="000000"/>
              </a:solidFill>
              <a:latin typeface="Times New Roman" panose="02020603050405020304" pitchFamily="18" charset="0"/>
              <a:cs typeface="Times New Roman" panose="02020603050405020304" pitchFamily="18" charset="0"/>
            </a:endParaRPr>
          </a:p>
          <a:p>
            <a:pPr marL="0" indent="0">
              <a:lnSpc>
                <a:spcPct val="95000"/>
              </a:lnSpc>
              <a:spcBef>
                <a:spcPts val="1200"/>
              </a:spcBef>
              <a:buSzPts val="1018"/>
              <a:buNone/>
            </a:pPr>
            <a:endParaRPr sz="1602" dirty="0">
              <a:solidFill>
                <a:srgbClr val="000000"/>
              </a:solidFill>
              <a:latin typeface="Times New Roman" panose="02020603050405020304" pitchFamily="18" charset="0"/>
              <a:cs typeface="Times New Roman" panose="02020603050405020304" pitchFamily="18" charset="0"/>
            </a:endParaRPr>
          </a:p>
          <a:p>
            <a:pPr marL="0" indent="0">
              <a:lnSpc>
                <a:spcPct val="95000"/>
              </a:lnSpc>
              <a:spcBef>
                <a:spcPts val="1200"/>
              </a:spcBef>
              <a:spcAft>
                <a:spcPts val="1200"/>
              </a:spcAft>
              <a:buSzPts val="1018"/>
              <a:buNone/>
            </a:pPr>
            <a:endParaRPr sz="1602"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16B8-1B0B-9F70-340B-ECE57FFBE274}"/>
              </a:ext>
            </a:extLst>
          </p:cNvPr>
          <p:cNvSpPr>
            <a:spLocks noGrp="1"/>
          </p:cNvSpPr>
          <p:nvPr>
            <p:ph type="title"/>
          </p:nvPr>
        </p:nvSpPr>
        <p:spPr>
          <a:xfrm>
            <a:off x="672300" y="589987"/>
            <a:ext cx="7688700" cy="535200"/>
          </a:xfrm>
        </p:spPr>
        <p:txBody>
          <a:bodyPr>
            <a:noAutofit/>
          </a:bodyPr>
          <a:lstStyle/>
          <a:p>
            <a:r>
              <a:rPr lang="en-US" sz="2400" dirty="0">
                <a:latin typeface="Times New Roman" panose="02020603050405020304" pitchFamily="18" charset="0"/>
                <a:cs typeface="Times New Roman" panose="02020603050405020304" pitchFamily="18" charset="0"/>
              </a:rPr>
              <a:t>Key Activities of Program Comprehension</a:t>
            </a:r>
          </a:p>
        </p:txBody>
      </p:sp>
      <p:sp>
        <p:nvSpPr>
          <p:cNvPr id="3" name="Text Placeholder 2">
            <a:extLst>
              <a:ext uri="{FF2B5EF4-FFF2-40B4-BE49-F238E27FC236}">
                <a16:creationId xmlns:a16="http://schemas.microsoft.com/office/drawing/2014/main" id="{01D1D615-76A0-270C-7222-1098AB253A27}"/>
              </a:ext>
            </a:extLst>
          </p:cNvPr>
          <p:cNvSpPr>
            <a:spLocks noGrp="1"/>
          </p:cNvSpPr>
          <p:nvPr>
            <p:ph type="body" idx="1"/>
          </p:nvPr>
        </p:nvSpPr>
        <p:spPr>
          <a:xfrm>
            <a:off x="727650" y="1234031"/>
            <a:ext cx="7688700" cy="2261100"/>
          </a:xfrm>
        </p:spPr>
        <p:txBody>
          <a:bodyPr>
            <a:noAutofit/>
          </a:bodyPr>
          <a:lstStyle/>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Code Reading</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Documentation Review</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Identifying Software Architecture</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Control Flow Analysis</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Data Flow Analysis</a:t>
            </a:r>
          </a:p>
          <a:p>
            <a:pPr marL="488950" indent="-342900">
              <a:buFont typeface="+mj-lt"/>
              <a:buAutoNum type="arabicPeriod"/>
            </a:pPr>
            <a:r>
              <a:rPr lang="en-US" sz="1600" dirty="0">
                <a:solidFill>
                  <a:srgbClr val="FFC000"/>
                </a:solidFill>
                <a:latin typeface="Times New Roman" panose="02020603050405020304" pitchFamily="18" charset="0"/>
                <a:cs typeface="Times New Roman" panose="02020603050405020304" pitchFamily="18" charset="0"/>
              </a:rPr>
              <a:t>Static Analysis</a:t>
            </a:r>
          </a:p>
          <a:p>
            <a:pPr marL="488950" indent="-342900">
              <a:buFont typeface="+mj-lt"/>
              <a:buAutoNum type="arabicPeriod"/>
            </a:pPr>
            <a:r>
              <a:rPr lang="en-US" sz="1600" dirty="0">
                <a:solidFill>
                  <a:srgbClr val="FFC000"/>
                </a:solidFill>
                <a:latin typeface="Times New Roman" panose="02020603050405020304" pitchFamily="18" charset="0"/>
                <a:cs typeface="Times New Roman" panose="02020603050405020304" pitchFamily="18" charset="0"/>
              </a:rPr>
              <a:t>Dynamic Analysis</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Reverse Engineering</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Mental Model Building</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Tool Utilization</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Code Refactoring for Clarity</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Traceability Mapping</a:t>
            </a:r>
          </a:p>
          <a:p>
            <a:pPr marL="488950" indent="-342900">
              <a:buFont typeface="+mj-lt"/>
              <a:buAutoNum type="arabicPeriod"/>
            </a:pPr>
            <a:r>
              <a:rPr lang="en-US" sz="1600" dirty="0">
                <a:solidFill>
                  <a:schemeClr val="bg2"/>
                </a:solidFill>
                <a:latin typeface="Times New Roman" panose="02020603050405020304" pitchFamily="18" charset="0"/>
                <a:cs typeface="Times New Roman" panose="02020603050405020304" pitchFamily="18" charset="0"/>
              </a:rPr>
              <a:t>Collaborative Code Review</a:t>
            </a:r>
          </a:p>
        </p:txBody>
      </p:sp>
    </p:spTree>
    <p:extLst>
      <p:ext uri="{BB962C8B-B14F-4D97-AF65-F5344CB8AC3E}">
        <p14:creationId xmlns:p14="http://schemas.microsoft.com/office/powerpoint/2010/main" val="3916459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1A45-2C74-6C70-ACA9-6C972A22C273}"/>
              </a:ext>
            </a:extLst>
          </p:cNvPr>
          <p:cNvSpPr>
            <a:spLocks noGrp="1"/>
          </p:cNvSpPr>
          <p:nvPr>
            <p:ph type="title"/>
          </p:nvPr>
        </p:nvSpPr>
        <p:spPr>
          <a:xfrm>
            <a:off x="727650" y="661425"/>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Static Analysis</a:t>
            </a:r>
          </a:p>
        </p:txBody>
      </p:sp>
      <p:sp>
        <p:nvSpPr>
          <p:cNvPr id="3" name="Text Placeholder 2">
            <a:extLst>
              <a:ext uri="{FF2B5EF4-FFF2-40B4-BE49-F238E27FC236}">
                <a16:creationId xmlns:a16="http://schemas.microsoft.com/office/drawing/2014/main" id="{AFF3FD12-FAC7-8F72-250B-A2C41BB60408}"/>
              </a:ext>
            </a:extLst>
          </p:cNvPr>
          <p:cNvSpPr>
            <a:spLocks noGrp="1"/>
          </p:cNvSpPr>
          <p:nvPr>
            <p:ph type="body" idx="1"/>
          </p:nvPr>
        </p:nvSpPr>
        <p:spPr>
          <a:xfrm>
            <a:off x="727650" y="1528807"/>
            <a:ext cx="7688700" cy="2261100"/>
          </a:xfrm>
        </p:spPr>
        <p:txBody>
          <a:bodyPr/>
          <a:lstStyle/>
          <a:p>
            <a:r>
              <a:rPr lang="en-US" dirty="0">
                <a:solidFill>
                  <a:schemeClr val="bg2"/>
                </a:solidFill>
                <a:latin typeface="Times New Roman" panose="02020603050405020304" pitchFamily="18" charset="0"/>
                <a:cs typeface="Times New Roman" panose="02020603050405020304" pitchFamily="18" charset="0"/>
              </a:rPr>
              <a:t>Analysis without executing the program.</a:t>
            </a:r>
          </a:p>
          <a:p>
            <a:r>
              <a:rPr lang="en-US" dirty="0">
                <a:solidFill>
                  <a:schemeClr val="bg2"/>
                </a:solidFill>
                <a:latin typeface="Times New Roman" panose="02020603050405020304" pitchFamily="18" charset="0"/>
                <a:cs typeface="Times New Roman" panose="02020603050405020304" pitchFamily="18" charset="0"/>
              </a:rPr>
              <a:t>Based on source code, intermediate code, or bytecode.</a:t>
            </a:r>
          </a:p>
          <a:p>
            <a:r>
              <a:rPr lang="en-US" dirty="0">
                <a:solidFill>
                  <a:schemeClr val="bg2"/>
                </a:solidFill>
                <a:latin typeface="Times New Roman" panose="02020603050405020304" pitchFamily="18" charset="0"/>
                <a:cs typeface="Times New Roman" panose="02020603050405020304" pitchFamily="18" charset="0"/>
              </a:rPr>
              <a:t>Performed early in development.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434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D142-BA01-ADE3-D696-A20FB92AEAFF}"/>
              </a:ext>
            </a:extLst>
          </p:cNvPr>
          <p:cNvSpPr>
            <a:spLocks noGrp="1"/>
          </p:cNvSpPr>
          <p:nvPr>
            <p:ph type="title"/>
          </p:nvPr>
        </p:nvSpPr>
        <p:spPr>
          <a:xfrm>
            <a:off x="672300" y="482831"/>
            <a:ext cx="7688700" cy="535200"/>
          </a:xfrm>
        </p:spPr>
        <p:txBody>
          <a:bodyPr>
            <a:normAutofit fontScale="90000"/>
          </a:bodyPr>
          <a:lstStyle/>
          <a:p>
            <a:r>
              <a:rPr lang="en-US" dirty="0"/>
              <a:t>Key Activities of Static Analysis</a:t>
            </a:r>
          </a:p>
        </p:txBody>
      </p:sp>
      <p:sp>
        <p:nvSpPr>
          <p:cNvPr id="3" name="Text Placeholder 2">
            <a:extLst>
              <a:ext uri="{FF2B5EF4-FFF2-40B4-BE49-F238E27FC236}">
                <a16:creationId xmlns:a16="http://schemas.microsoft.com/office/drawing/2014/main" id="{27519346-DD36-873F-569E-44D0E181448C}"/>
              </a:ext>
            </a:extLst>
          </p:cNvPr>
          <p:cNvSpPr>
            <a:spLocks noGrp="1"/>
          </p:cNvSpPr>
          <p:nvPr>
            <p:ph type="body" idx="1"/>
          </p:nvPr>
        </p:nvSpPr>
        <p:spPr>
          <a:xfrm>
            <a:off x="672300" y="1564525"/>
            <a:ext cx="7688700" cy="2261100"/>
          </a:xfrm>
        </p:spPr>
        <p:txBody>
          <a:bodyPr>
            <a:normAutofit/>
          </a:bodyPr>
          <a:lstStyle/>
          <a:p>
            <a:r>
              <a:rPr lang="en-US" b="1" dirty="0">
                <a:solidFill>
                  <a:schemeClr val="bg2"/>
                </a:solidFill>
                <a:latin typeface="Times New Roman" panose="02020603050405020304" pitchFamily="18" charset="0"/>
                <a:cs typeface="Times New Roman" panose="02020603050405020304" pitchFamily="18" charset="0"/>
              </a:rPr>
              <a:t>Lexical Analysis </a:t>
            </a:r>
            <a:r>
              <a:rPr lang="en-US" dirty="0">
                <a:solidFill>
                  <a:schemeClr val="bg2"/>
                </a:solidFill>
                <a:latin typeface="Times New Roman" panose="02020603050405020304" pitchFamily="18" charset="0"/>
                <a:cs typeface="Times New Roman" panose="02020603050405020304" pitchFamily="18" charset="0"/>
              </a:rPr>
              <a:t>- Tokenizing source code into identifiers, literals, operators, etc.</a:t>
            </a:r>
          </a:p>
          <a:p>
            <a:r>
              <a:rPr lang="en-US" b="1" dirty="0">
                <a:solidFill>
                  <a:schemeClr val="bg2"/>
                </a:solidFill>
                <a:latin typeface="Times New Roman" panose="02020603050405020304" pitchFamily="18" charset="0"/>
                <a:cs typeface="Times New Roman" panose="02020603050405020304" pitchFamily="18" charset="0"/>
              </a:rPr>
              <a:t>Syntax Analysis</a:t>
            </a:r>
            <a:r>
              <a:rPr lang="en-US" dirty="0">
                <a:solidFill>
                  <a:schemeClr val="bg2"/>
                </a:solidFill>
                <a:latin typeface="Times New Roman" panose="02020603050405020304" pitchFamily="18" charset="0"/>
                <a:cs typeface="Times New Roman" panose="02020603050405020304" pitchFamily="18" charset="0"/>
              </a:rPr>
              <a:t> – Verifying grammar rules and structure (parse trees).</a:t>
            </a:r>
          </a:p>
          <a:p>
            <a:r>
              <a:rPr lang="en-US" b="1" dirty="0">
                <a:solidFill>
                  <a:schemeClr val="bg2"/>
                </a:solidFill>
                <a:latin typeface="Times New Roman" panose="02020603050405020304" pitchFamily="18" charset="0"/>
                <a:cs typeface="Times New Roman" panose="02020603050405020304" pitchFamily="18" charset="0"/>
              </a:rPr>
              <a:t>Semantic Analysis</a:t>
            </a:r>
            <a:r>
              <a:rPr lang="en-US" dirty="0">
                <a:solidFill>
                  <a:schemeClr val="bg2"/>
                </a:solidFill>
                <a:latin typeface="Times New Roman" panose="02020603050405020304" pitchFamily="18" charset="0"/>
                <a:cs typeface="Times New Roman" panose="02020603050405020304" pitchFamily="18" charset="0"/>
              </a:rPr>
              <a:t> – Checking for type correctness, scope resolution, and meaning.</a:t>
            </a:r>
          </a:p>
          <a:p>
            <a:r>
              <a:rPr lang="en-US" b="1" dirty="0">
                <a:solidFill>
                  <a:schemeClr val="bg2"/>
                </a:solidFill>
                <a:latin typeface="Times New Roman" panose="02020603050405020304" pitchFamily="18" charset="0"/>
                <a:cs typeface="Times New Roman" panose="02020603050405020304" pitchFamily="18" charset="0"/>
              </a:rPr>
              <a:t>Control Flow Analysis </a:t>
            </a:r>
            <a:r>
              <a:rPr lang="en-US" dirty="0">
                <a:solidFill>
                  <a:schemeClr val="bg2"/>
                </a:solidFill>
                <a:latin typeface="Times New Roman" panose="02020603050405020304" pitchFamily="18" charset="0"/>
                <a:cs typeface="Times New Roman" panose="02020603050405020304" pitchFamily="18" charset="0"/>
              </a:rPr>
              <a:t>- Identifying all possible paths through a program.</a:t>
            </a:r>
          </a:p>
          <a:p>
            <a:r>
              <a:rPr lang="en-US" b="1" dirty="0">
                <a:solidFill>
                  <a:schemeClr val="bg2"/>
                </a:solidFill>
                <a:latin typeface="Times New Roman" panose="02020603050405020304" pitchFamily="18" charset="0"/>
                <a:cs typeface="Times New Roman" panose="02020603050405020304" pitchFamily="18" charset="0"/>
              </a:rPr>
              <a:t>Data Flow Analysis </a:t>
            </a:r>
            <a:r>
              <a:rPr lang="en-US" dirty="0">
                <a:solidFill>
                  <a:schemeClr val="bg2"/>
                </a:solidFill>
                <a:latin typeface="Times New Roman" panose="02020603050405020304" pitchFamily="18" charset="0"/>
                <a:cs typeface="Times New Roman" panose="02020603050405020304" pitchFamily="18" charset="0"/>
              </a:rPr>
              <a:t>- Tracking variable usage (definitions, uses, lifetimes).</a:t>
            </a:r>
          </a:p>
          <a:p>
            <a:r>
              <a:rPr lang="en-US" b="1" dirty="0">
                <a:solidFill>
                  <a:schemeClr val="bg2"/>
                </a:solidFill>
                <a:latin typeface="Times New Roman" panose="02020603050405020304" pitchFamily="18" charset="0"/>
                <a:cs typeface="Times New Roman" panose="02020603050405020304" pitchFamily="18" charset="0"/>
              </a:rPr>
              <a:t>Dependency Analysis</a:t>
            </a:r>
            <a:r>
              <a:rPr lang="en-US" dirty="0">
                <a:solidFill>
                  <a:schemeClr val="bg2"/>
                </a:solidFill>
                <a:latin typeface="Times New Roman" panose="02020603050405020304" pitchFamily="18" charset="0"/>
                <a:cs typeface="Times New Roman" panose="02020603050405020304" pitchFamily="18" charset="0"/>
              </a:rPr>
              <a:t> – Discovering module, function, and variable interdependencies.</a:t>
            </a:r>
          </a:p>
          <a:p>
            <a:r>
              <a:rPr lang="en-US" b="1" dirty="0">
                <a:solidFill>
                  <a:schemeClr val="bg2"/>
                </a:solidFill>
                <a:latin typeface="Times New Roman" panose="02020603050405020304" pitchFamily="18" charset="0"/>
                <a:cs typeface="Times New Roman" panose="02020603050405020304" pitchFamily="18" charset="0"/>
              </a:rPr>
              <a:t>Style Checking </a:t>
            </a:r>
            <a:r>
              <a:rPr lang="en-US" dirty="0">
                <a:solidFill>
                  <a:schemeClr val="bg2"/>
                </a:solidFill>
                <a:latin typeface="Times New Roman" panose="02020603050405020304" pitchFamily="18" charset="0"/>
                <a:cs typeface="Times New Roman" panose="02020603050405020304" pitchFamily="18" charset="0"/>
              </a:rPr>
              <a:t>- Verifying adherence to coding standards and conventions.</a:t>
            </a:r>
          </a:p>
          <a:p>
            <a:r>
              <a:rPr lang="en-US" b="1" dirty="0">
                <a:solidFill>
                  <a:schemeClr val="bg2"/>
                </a:solidFill>
                <a:latin typeface="Times New Roman" panose="02020603050405020304" pitchFamily="18" charset="0"/>
                <a:cs typeface="Times New Roman" panose="02020603050405020304" pitchFamily="18" charset="0"/>
              </a:rPr>
              <a:t>Security Flaw Detection </a:t>
            </a:r>
            <a:r>
              <a:rPr lang="en-US" dirty="0">
                <a:solidFill>
                  <a:schemeClr val="bg2"/>
                </a:solidFill>
                <a:latin typeface="Times New Roman" panose="02020603050405020304" pitchFamily="18" charset="0"/>
                <a:cs typeface="Times New Roman" panose="02020603050405020304" pitchFamily="18" charset="0"/>
              </a:rPr>
              <a:t>- Identifying common security flaws (e.g., buffer overflows, injection)</a:t>
            </a:r>
          </a:p>
          <a:p>
            <a:r>
              <a:rPr lang="en-US" b="1" dirty="0">
                <a:solidFill>
                  <a:schemeClr val="bg2"/>
                </a:solidFill>
                <a:latin typeface="Times New Roman" panose="02020603050405020304" pitchFamily="18" charset="0"/>
                <a:cs typeface="Times New Roman" panose="02020603050405020304" pitchFamily="18" charset="0"/>
              </a:rPr>
              <a:t>Metrics Calculation -  </a:t>
            </a:r>
            <a:r>
              <a:rPr lang="en-US" dirty="0">
                <a:solidFill>
                  <a:schemeClr val="bg2"/>
                </a:solidFill>
                <a:latin typeface="Times New Roman" panose="02020603050405020304" pitchFamily="18" charset="0"/>
                <a:cs typeface="Times New Roman" panose="02020603050405020304" pitchFamily="18" charset="0"/>
              </a:rPr>
              <a:t>calculating</a:t>
            </a:r>
            <a:r>
              <a:rPr lang="en-US" b="1" dirty="0">
                <a:solidFill>
                  <a:schemeClr val="bg2"/>
                </a:solidFill>
                <a:latin typeface="Times New Roman" panose="02020603050405020304" pitchFamily="18" charset="0"/>
                <a:cs typeface="Times New Roman" panose="02020603050405020304" pitchFamily="18" charset="0"/>
              </a:rPr>
              <a:t> </a:t>
            </a:r>
            <a:r>
              <a:rPr lang="en-US" dirty="0">
                <a:solidFill>
                  <a:schemeClr val="bg2"/>
                </a:solidFill>
                <a:latin typeface="Times New Roman" panose="02020603050405020304" pitchFamily="18" charset="0"/>
                <a:cs typeface="Times New Roman" panose="02020603050405020304" pitchFamily="18" charset="0"/>
              </a:rPr>
              <a:t>LOC, complexity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8560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4BEA-EC56-502A-226C-E09E3680E4E3}"/>
              </a:ext>
            </a:extLst>
          </p:cNvPr>
          <p:cNvSpPr>
            <a:spLocks noGrp="1"/>
          </p:cNvSpPr>
          <p:nvPr>
            <p:ph type="title"/>
          </p:nvPr>
        </p:nvSpPr>
        <p:spPr>
          <a:xfrm>
            <a:off x="786600" y="625706"/>
            <a:ext cx="7688700" cy="535200"/>
          </a:xfrm>
        </p:spPr>
        <p:txBody>
          <a:bodyPr>
            <a:normAutofit fontScale="90000"/>
          </a:bodyPr>
          <a:lstStyle/>
          <a:p>
            <a:r>
              <a:rPr lang="en-US" dirty="0"/>
              <a:t>Dynamic Analysis</a:t>
            </a:r>
          </a:p>
        </p:txBody>
      </p:sp>
      <p:sp>
        <p:nvSpPr>
          <p:cNvPr id="3" name="Text Placeholder 2">
            <a:extLst>
              <a:ext uri="{FF2B5EF4-FFF2-40B4-BE49-F238E27FC236}">
                <a16:creationId xmlns:a16="http://schemas.microsoft.com/office/drawing/2014/main" id="{371DFB45-9926-927E-6F78-28CABD428D3E}"/>
              </a:ext>
            </a:extLst>
          </p:cNvPr>
          <p:cNvSpPr>
            <a:spLocks noGrp="1"/>
          </p:cNvSpPr>
          <p:nvPr>
            <p:ph type="body" idx="1"/>
          </p:nvPr>
        </p:nvSpPr>
        <p:spPr>
          <a:xfrm>
            <a:off x="658012" y="1385931"/>
            <a:ext cx="7688700" cy="2261100"/>
          </a:xfrm>
        </p:spPr>
        <p:txBody>
          <a:bodyPr/>
          <a:lstStyle/>
          <a:p>
            <a:r>
              <a:rPr lang="en-US" dirty="0">
                <a:solidFill>
                  <a:schemeClr val="bg2"/>
                </a:solidFill>
                <a:latin typeface="Times New Roman" panose="02020603050405020304" pitchFamily="18" charset="0"/>
                <a:cs typeface="Times New Roman" panose="02020603050405020304" pitchFamily="18" charset="0"/>
              </a:rPr>
              <a:t>Analysis during execution of the program.</a:t>
            </a:r>
          </a:p>
          <a:p>
            <a:r>
              <a:rPr lang="en-US" dirty="0">
                <a:solidFill>
                  <a:schemeClr val="bg2"/>
                </a:solidFill>
                <a:latin typeface="Times New Roman" panose="02020603050405020304" pitchFamily="18" charset="0"/>
                <a:cs typeface="Times New Roman" panose="02020603050405020304" pitchFamily="18" charset="0"/>
              </a:rPr>
              <a:t>Observes actual behavior and performance.</a:t>
            </a:r>
          </a:p>
          <a:p>
            <a:r>
              <a:rPr lang="en-US" dirty="0">
                <a:solidFill>
                  <a:schemeClr val="bg2"/>
                </a:solidFill>
                <a:latin typeface="Times New Roman" panose="02020603050405020304" pitchFamily="18" charset="0"/>
                <a:cs typeface="Times New Roman" panose="02020603050405020304" pitchFamily="18" charset="0"/>
              </a:rPr>
              <a:t>Requires input data and test environments.</a:t>
            </a:r>
          </a:p>
        </p:txBody>
      </p:sp>
    </p:spTree>
    <p:extLst>
      <p:ext uri="{BB962C8B-B14F-4D97-AF65-F5344CB8AC3E}">
        <p14:creationId xmlns:p14="http://schemas.microsoft.com/office/powerpoint/2010/main" val="285490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9AEC8-0A63-37BC-F454-7B49F7053CF6}"/>
              </a:ext>
            </a:extLst>
          </p:cNvPr>
          <p:cNvSpPr>
            <a:spLocks noGrp="1"/>
          </p:cNvSpPr>
          <p:nvPr>
            <p:ph type="title"/>
          </p:nvPr>
        </p:nvSpPr>
        <p:spPr>
          <a:xfrm>
            <a:off x="586575" y="535925"/>
            <a:ext cx="7688700" cy="535200"/>
          </a:xfrm>
        </p:spPr>
        <p:txBody>
          <a:bodyPr>
            <a:normAutofit fontScale="90000"/>
          </a:bodyPr>
          <a:lstStyle/>
          <a:p>
            <a:r>
              <a:rPr lang="en-US" dirty="0"/>
              <a:t>Key Activities of Dynamic Analysis</a:t>
            </a:r>
          </a:p>
        </p:txBody>
      </p:sp>
      <p:sp>
        <p:nvSpPr>
          <p:cNvPr id="3" name="Text Placeholder 2">
            <a:extLst>
              <a:ext uri="{FF2B5EF4-FFF2-40B4-BE49-F238E27FC236}">
                <a16:creationId xmlns:a16="http://schemas.microsoft.com/office/drawing/2014/main" id="{A2FDEF1A-8B84-F4C3-A25A-17435070B745}"/>
              </a:ext>
            </a:extLst>
          </p:cNvPr>
          <p:cNvSpPr>
            <a:spLocks noGrp="1"/>
          </p:cNvSpPr>
          <p:nvPr>
            <p:ph type="body" idx="1"/>
          </p:nvPr>
        </p:nvSpPr>
        <p:spPr>
          <a:xfrm>
            <a:off x="672300" y="1364500"/>
            <a:ext cx="7688700" cy="2261100"/>
          </a:xfrm>
        </p:spPr>
        <p:txBody>
          <a:bodyPr>
            <a:normAutofit fontScale="92500"/>
          </a:bodyPr>
          <a:lstStyle/>
          <a:p>
            <a:r>
              <a:rPr lang="en-US" b="1" dirty="0">
                <a:solidFill>
                  <a:schemeClr val="bg2"/>
                </a:solidFill>
                <a:latin typeface="Times New Roman" panose="02020603050405020304" pitchFamily="18" charset="0"/>
                <a:cs typeface="Times New Roman" panose="02020603050405020304" pitchFamily="18" charset="0"/>
              </a:rPr>
              <a:t>Memory Leak Detection </a:t>
            </a:r>
            <a:r>
              <a:rPr lang="en-US" dirty="0">
                <a:solidFill>
                  <a:schemeClr val="bg2"/>
                </a:solidFill>
                <a:latin typeface="Times New Roman" panose="02020603050405020304" pitchFamily="18" charset="0"/>
                <a:cs typeface="Times New Roman" panose="02020603050405020304" pitchFamily="18" charset="0"/>
              </a:rPr>
              <a:t>- Identifies unused memory that is not released, leading to potential performance issues.</a:t>
            </a:r>
          </a:p>
          <a:p>
            <a:r>
              <a:rPr lang="en-US" b="1" dirty="0">
                <a:solidFill>
                  <a:schemeClr val="bg2"/>
                </a:solidFill>
                <a:latin typeface="Times New Roman" panose="02020603050405020304" pitchFamily="18" charset="0"/>
                <a:cs typeface="Times New Roman" panose="02020603050405020304" pitchFamily="18" charset="0"/>
              </a:rPr>
              <a:t>Profiling (CPU, memory usage) </a:t>
            </a:r>
            <a:r>
              <a:rPr lang="en-US" dirty="0">
                <a:solidFill>
                  <a:schemeClr val="bg2"/>
                </a:solidFill>
                <a:latin typeface="Times New Roman" panose="02020603050405020304" pitchFamily="18" charset="0"/>
                <a:cs typeface="Times New Roman" panose="02020603050405020304" pitchFamily="18" charset="0"/>
              </a:rPr>
              <a:t>- Measures resource usage (like CPU time and memory) to optimize performance.</a:t>
            </a:r>
          </a:p>
          <a:p>
            <a:r>
              <a:rPr lang="en-US" b="1" dirty="0">
                <a:solidFill>
                  <a:schemeClr val="bg2"/>
                </a:solidFill>
                <a:latin typeface="Times New Roman" panose="02020603050405020304" pitchFamily="18" charset="0"/>
                <a:cs typeface="Times New Roman" panose="02020603050405020304" pitchFamily="18" charset="0"/>
              </a:rPr>
              <a:t>Code Coverage </a:t>
            </a:r>
            <a:r>
              <a:rPr lang="en-US" dirty="0">
                <a:solidFill>
                  <a:schemeClr val="bg2"/>
                </a:solidFill>
                <a:latin typeface="Times New Roman" panose="02020603050405020304" pitchFamily="18" charset="0"/>
                <a:cs typeface="Times New Roman" panose="02020603050405020304" pitchFamily="18" charset="0"/>
              </a:rPr>
              <a:t>- Analyzes which parts of the code are executed during testing to ensure sufficient test coverage.</a:t>
            </a:r>
          </a:p>
          <a:p>
            <a:r>
              <a:rPr lang="en-US" b="1" dirty="0">
                <a:solidFill>
                  <a:schemeClr val="bg2"/>
                </a:solidFill>
                <a:latin typeface="Times New Roman" panose="02020603050405020304" pitchFamily="18" charset="0"/>
                <a:cs typeface="Times New Roman" panose="02020603050405020304" pitchFamily="18" charset="0"/>
              </a:rPr>
              <a:t>Runtime Error Detection </a:t>
            </a:r>
            <a:r>
              <a:rPr lang="en-US" dirty="0">
                <a:solidFill>
                  <a:schemeClr val="bg2"/>
                </a:solidFill>
                <a:latin typeface="Times New Roman" panose="02020603050405020304" pitchFamily="18" charset="0"/>
                <a:cs typeface="Times New Roman" panose="02020603050405020304" pitchFamily="18" charset="0"/>
              </a:rPr>
              <a:t>- Detects errors that occur during program execution, such as null pointer exceptions.</a:t>
            </a:r>
          </a:p>
          <a:p>
            <a:r>
              <a:rPr lang="en-US" b="1" dirty="0">
                <a:solidFill>
                  <a:schemeClr val="bg2"/>
                </a:solidFill>
                <a:latin typeface="Times New Roman" panose="02020603050405020304" pitchFamily="18" charset="0"/>
                <a:cs typeface="Times New Roman" panose="02020603050405020304" pitchFamily="18" charset="0"/>
              </a:rPr>
              <a:t>Behavior Monitoring </a:t>
            </a:r>
            <a:r>
              <a:rPr lang="en-US" dirty="0">
                <a:solidFill>
                  <a:schemeClr val="bg2"/>
                </a:solidFill>
                <a:latin typeface="Times New Roman" panose="02020603050405020304" pitchFamily="18" charset="0"/>
                <a:cs typeface="Times New Roman" panose="02020603050405020304" pitchFamily="18" charset="0"/>
              </a:rPr>
              <a:t>- Observes how the application behaves under different conditions to detect anomalies.</a:t>
            </a:r>
          </a:p>
          <a:p>
            <a:r>
              <a:rPr lang="en-US" b="1" dirty="0">
                <a:solidFill>
                  <a:schemeClr val="bg2"/>
                </a:solidFill>
                <a:latin typeface="Times New Roman" panose="02020603050405020304" pitchFamily="18" charset="0"/>
                <a:cs typeface="Times New Roman" panose="02020603050405020304" pitchFamily="18" charset="0"/>
              </a:rPr>
              <a:t>Execution Tracing </a:t>
            </a:r>
            <a:r>
              <a:rPr lang="en-US" dirty="0">
                <a:solidFill>
                  <a:schemeClr val="bg2"/>
                </a:solidFill>
                <a:latin typeface="Times New Roman" panose="02020603050405020304" pitchFamily="18" charset="0"/>
                <a:cs typeface="Times New Roman" panose="02020603050405020304" pitchFamily="18" charset="0"/>
              </a:rPr>
              <a:t>- Records the sequence of executed instructions or function calls to help in debugging and understanding flow</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92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727650" y="5505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Comprehension Process Models</a:t>
            </a:r>
            <a:endParaRPr dirty="0"/>
          </a:p>
        </p:txBody>
      </p:sp>
      <p:sp>
        <p:nvSpPr>
          <p:cNvPr id="159" name="Google Shape;159;p25"/>
          <p:cNvSpPr txBox="1">
            <a:spLocks noGrp="1"/>
          </p:cNvSpPr>
          <p:nvPr>
            <p:ph type="body" idx="1"/>
          </p:nvPr>
        </p:nvSpPr>
        <p:spPr>
          <a:xfrm>
            <a:off x="725850" y="1441200"/>
            <a:ext cx="7688700" cy="2261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852"/>
              <a:buNone/>
            </a:pPr>
            <a:r>
              <a:rPr lang="en" sz="1607" dirty="0">
                <a:solidFill>
                  <a:srgbClr val="000000"/>
                </a:solidFill>
              </a:rPr>
              <a:t>Three actions involved in the understanding of a program are: reading about the program, reading its source code, and running it.</a:t>
            </a:r>
            <a:endParaRPr sz="1607" dirty="0">
              <a:solidFill>
                <a:srgbClr val="000000"/>
              </a:solidFill>
            </a:endParaRPr>
          </a:p>
          <a:p>
            <a:pPr marL="0" lvl="0" indent="0" algn="l" rtl="0">
              <a:lnSpc>
                <a:spcPct val="105000"/>
              </a:lnSpc>
              <a:spcBef>
                <a:spcPts val="1200"/>
              </a:spcBef>
              <a:spcAft>
                <a:spcPts val="1200"/>
              </a:spcAft>
              <a:buSzPts val="852"/>
              <a:buNone/>
            </a:pPr>
            <a:endParaRPr sz="1607" dirty="0">
              <a:solidFill>
                <a:srgbClr val="000000"/>
              </a:solidFill>
            </a:endParaRPr>
          </a:p>
        </p:txBody>
      </p:sp>
      <p:pic>
        <p:nvPicPr>
          <p:cNvPr id="160" name="Google Shape;160;p25"/>
          <p:cNvPicPr preferRelativeResize="0"/>
          <p:nvPr/>
        </p:nvPicPr>
        <p:blipFill>
          <a:blip r:embed="rId3">
            <a:alphaModFix/>
          </a:blip>
          <a:stretch>
            <a:fillRect/>
          </a:stretch>
        </p:blipFill>
        <p:spPr>
          <a:xfrm>
            <a:off x="725850" y="2144650"/>
            <a:ext cx="6940225" cy="2713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658013" y="5359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Comprehension Process Models</a:t>
            </a:r>
            <a:endParaRPr dirty="0">
              <a:latin typeface="Times New Roman" panose="02020603050405020304" pitchFamily="18" charset="0"/>
              <a:cs typeface="Times New Roman" panose="02020603050405020304" pitchFamily="18" charset="0"/>
            </a:endParaRPr>
          </a:p>
        </p:txBody>
      </p:sp>
      <p:sp>
        <p:nvSpPr>
          <p:cNvPr id="166" name="Google Shape;166;p26"/>
          <p:cNvSpPr txBox="1">
            <a:spLocks noGrp="1"/>
          </p:cNvSpPr>
          <p:nvPr>
            <p:ph type="body" idx="1"/>
          </p:nvPr>
        </p:nvSpPr>
        <p:spPr>
          <a:xfrm>
            <a:off x="658013" y="1441200"/>
            <a:ext cx="7688700" cy="2261100"/>
          </a:xfrm>
          <a:prstGeom prst="rect">
            <a:avLst/>
          </a:prstGeom>
        </p:spPr>
        <p:txBody>
          <a:bodyPr spcFirstLastPara="1" wrap="square" lIns="91425" tIns="91425" rIns="91425" bIns="91425" anchor="t" anchorCtr="0">
            <a:noAutofit/>
          </a:bodyPr>
          <a:lstStyle/>
          <a:p>
            <a:pPr marL="342900" lvl="0" indent="-342900" algn="l" rtl="0">
              <a:lnSpc>
                <a:spcPct val="105000"/>
              </a:lnSpc>
              <a:spcBef>
                <a:spcPts val="0"/>
              </a:spcBef>
              <a:spcAft>
                <a:spcPts val="0"/>
              </a:spcAft>
              <a:buAutoNum type="arabicPeriod"/>
            </a:pPr>
            <a:r>
              <a:rPr lang="en" sz="1607" b="1" dirty="0">
                <a:solidFill>
                  <a:srgbClr val="000000"/>
                </a:solidFill>
                <a:latin typeface="Times New Roman" panose="02020603050405020304" pitchFamily="18" charset="0"/>
                <a:cs typeface="Times New Roman" panose="02020603050405020304" pitchFamily="18" charset="0"/>
              </a:rPr>
              <a:t>Read about the program:</a:t>
            </a:r>
          </a:p>
          <a:p>
            <a:pPr marL="742950" lvl="1" indent="-285750">
              <a:lnSpc>
                <a:spcPct val="105000"/>
              </a:lnSpc>
            </a:pPr>
            <a:r>
              <a:rPr lang="en" sz="1407" dirty="0">
                <a:solidFill>
                  <a:srgbClr val="000000"/>
                </a:solidFill>
                <a:latin typeface="Times New Roman" panose="02020603050405020304" pitchFamily="18" charset="0"/>
                <a:cs typeface="Times New Roman" panose="02020603050405020304" pitchFamily="18" charset="0"/>
              </a:rPr>
              <a:t>The ‘understander' browses, peruses different sources of information such as the system documentation - specification and design documents - to develop an overview or overall understanding of the system.</a:t>
            </a:r>
          </a:p>
          <a:p>
            <a:pPr marL="742950" lvl="1" indent="-285750">
              <a:lnSpc>
                <a:spcPct val="105000"/>
              </a:lnSpc>
            </a:pPr>
            <a:r>
              <a:rPr lang="en" sz="1407" dirty="0">
                <a:solidFill>
                  <a:srgbClr val="000000"/>
                </a:solidFill>
                <a:latin typeface="Times New Roman" panose="02020603050405020304" pitchFamily="18" charset="0"/>
                <a:cs typeface="Times New Roman" panose="02020603050405020304" pitchFamily="18" charset="0"/>
              </a:rPr>
              <a:t>If system information (for many large, complex and old systems) is not accurate, this phase may be omitted</a:t>
            </a:r>
            <a:endParaRPr sz="1407"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1200"/>
              </a:spcAft>
              <a:buSzPts val="852"/>
              <a:buNone/>
            </a:pPr>
            <a:endParaRPr sz="1607"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727650" y="5359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Comprehension Process Models</a:t>
            </a:r>
            <a:endParaRPr dirty="0"/>
          </a:p>
        </p:txBody>
      </p:sp>
      <p:sp>
        <p:nvSpPr>
          <p:cNvPr id="172" name="Google Shape;172;p27"/>
          <p:cNvSpPr txBox="1">
            <a:spLocks noGrp="1"/>
          </p:cNvSpPr>
          <p:nvPr>
            <p:ph type="body" idx="1"/>
          </p:nvPr>
        </p:nvSpPr>
        <p:spPr>
          <a:xfrm>
            <a:off x="672301" y="1307349"/>
            <a:ext cx="7688700" cy="2261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None/>
            </a:pPr>
            <a:r>
              <a:rPr lang="en" sz="1607" b="1" dirty="0">
                <a:solidFill>
                  <a:srgbClr val="000000"/>
                </a:solidFill>
                <a:latin typeface="Times New Roman" panose="02020603050405020304" pitchFamily="18" charset="0"/>
                <a:cs typeface="Times New Roman" panose="02020603050405020304" pitchFamily="18" charset="0"/>
              </a:rPr>
              <a:t>2. Read the source code:</a:t>
            </a:r>
            <a:br>
              <a:rPr lang="en" sz="1607" dirty="0">
                <a:solidFill>
                  <a:srgbClr val="000000"/>
                </a:solidFill>
                <a:latin typeface="Times New Roman" panose="02020603050405020304" pitchFamily="18" charset="0"/>
                <a:cs typeface="Times New Roman" panose="02020603050405020304" pitchFamily="18" charset="0"/>
              </a:rPr>
            </a:br>
            <a:r>
              <a:rPr lang="en" sz="1607" dirty="0">
                <a:solidFill>
                  <a:srgbClr val="000000"/>
                </a:solidFill>
                <a:latin typeface="Times New Roman" panose="02020603050405020304" pitchFamily="18" charset="0"/>
                <a:cs typeface="Times New Roman" panose="02020603050405020304" pitchFamily="18" charset="0"/>
              </a:rPr>
              <a:t>The global and local views of the program can be obtained in this phase.</a:t>
            </a:r>
            <a:endParaRPr sz="1607" dirty="0">
              <a:solidFill>
                <a:srgbClr val="000000"/>
              </a:solidFill>
              <a:latin typeface="Times New Roman" panose="02020603050405020304" pitchFamily="18" charset="0"/>
              <a:cs typeface="Times New Roman" panose="02020603050405020304" pitchFamily="18" charset="0"/>
            </a:endParaRPr>
          </a:p>
          <a:p>
            <a:pPr marL="457200" lvl="0" indent="-330676" algn="l" rtl="0">
              <a:lnSpc>
                <a:spcPct val="105000"/>
              </a:lnSpc>
              <a:spcBef>
                <a:spcPts val="1200"/>
              </a:spcBef>
              <a:spcAft>
                <a:spcPts val="0"/>
              </a:spcAft>
              <a:buClr>
                <a:srgbClr val="000000"/>
              </a:buClr>
              <a:buSzPts val="1608"/>
              <a:buChar char="●"/>
            </a:pPr>
            <a:r>
              <a:rPr lang="en" sz="1607" b="1" dirty="0">
                <a:solidFill>
                  <a:srgbClr val="000000"/>
                </a:solidFill>
                <a:latin typeface="Times New Roman" panose="02020603050405020304" pitchFamily="18" charset="0"/>
                <a:cs typeface="Times New Roman" panose="02020603050405020304" pitchFamily="18" charset="0"/>
              </a:rPr>
              <a:t>Global view </a:t>
            </a:r>
            <a:r>
              <a:rPr lang="en" sz="1607" dirty="0">
                <a:solidFill>
                  <a:srgbClr val="000000"/>
                </a:solidFill>
                <a:latin typeface="Times New Roman" panose="02020603050405020304" pitchFamily="18" charset="0"/>
                <a:cs typeface="Times New Roman" panose="02020603050405020304" pitchFamily="18" charset="0"/>
              </a:rPr>
              <a:t>is used to gain a </a:t>
            </a:r>
            <a:r>
              <a:rPr lang="en" sz="1607" dirty="0">
                <a:solidFill>
                  <a:schemeClr val="tx1"/>
                </a:solidFill>
                <a:latin typeface="Times New Roman" panose="02020603050405020304" pitchFamily="18" charset="0"/>
                <a:cs typeface="Times New Roman" panose="02020603050405020304" pitchFamily="18" charset="0"/>
              </a:rPr>
              <a:t>top-level understanding </a:t>
            </a:r>
            <a:r>
              <a:rPr lang="en" sz="1607" dirty="0">
                <a:solidFill>
                  <a:srgbClr val="000000"/>
                </a:solidFill>
                <a:latin typeface="Times New Roman" panose="02020603050405020304" pitchFamily="18" charset="0"/>
                <a:cs typeface="Times New Roman" panose="02020603050405020304" pitchFamily="18" charset="0"/>
              </a:rPr>
              <a:t>of the system and to know effect a change might have on other parts of the system</a:t>
            </a:r>
            <a:endParaRPr sz="1607" dirty="0">
              <a:solidFill>
                <a:srgbClr val="000000"/>
              </a:solidFill>
              <a:latin typeface="Times New Roman" panose="02020603050405020304" pitchFamily="18" charset="0"/>
              <a:cs typeface="Times New Roman" panose="02020603050405020304" pitchFamily="18" charset="0"/>
            </a:endParaRPr>
          </a:p>
          <a:p>
            <a:pPr marL="457200" lvl="0" indent="-330676" algn="l" rtl="0">
              <a:lnSpc>
                <a:spcPct val="105000"/>
              </a:lnSpc>
              <a:spcBef>
                <a:spcPts val="0"/>
              </a:spcBef>
              <a:spcAft>
                <a:spcPts val="0"/>
              </a:spcAft>
              <a:buClr>
                <a:srgbClr val="000000"/>
              </a:buClr>
              <a:buSzPts val="1608"/>
              <a:buChar char="●"/>
            </a:pPr>
            <a:r>
              <a:rPr lang="en" sz="1607" b="1" dirty="0">
                <a:solidFill>
                  <a:srgbClr val="000000"/>
                </a:solidFill>
                <a:latin typeface="Times New Roman" panose="02020603050405020304" pitchFamily="18" charset="0"/>
                <a:cs typeface="Times New Roman" panose="02020603050405020304" pitchFamily="18" charset="0"/>
              </a:rPr>
              <a:t>Local view </a:t>
            </a:r>
            <a:r>
              <a:rPr lang="en" sz="1607" dirty="0">
                <a:solidFill>
                  <a:srgbClr val="000000"/>
                </a:solidFill>
                <a:latin typeface="Times New Roman" panose="02020603050405020304" pitchFamily="18" charset="0"/>
                <a:cs typeface="Times New Roman" panose="02020603050405020304" pitchFamily="18" charset="0"/>
              </a:rPr>
              <a:t>allows programmers to focus their attention on a </a:t>
            </a:r>
            <a:r>
              <a:rPr lang="en" sz="1607" dirty="0">
                <a:solidFill>
                  <a:schemeClr val="tx1"/>
                </a:solidFill>
                <a:latin typeface="Times New Roman" panose="02020603050405020304" pitchFamily="18" charset="0"/>
                <a:cs typeface="Times New Roman" panose="02020603050405020304" pitchFamily="18" charset="0"/>
              </a:rPr>
              <a:t>specific part </a:t>
            </a:r>
            <a:r>
              <a:rPr lang="en" sz="1607" dirty="0">
                <a:solidFill>
                  <a:srgbClr val="000000"/>
                </a:solidFill>
                <a:latin typeface="Times New Roman" panose="02020603050405020304" pitchFamily="18" charset="0"/>
                <a:cs typeface="Times New Roman" panose="02020603050405020304" pitchFamily="18" charset="0"/>
              </a:rPr>
              <a:t>of the system. It gives detail about system's structure, data types and algorithmic patterns </a:t>
            </a:r>
            <a:endParaRPr sz="1607"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r>
              <a:rPr lang="en" sz="1607" dirty="0">
                <a:solidFill>
                  <a:srgbClr val="000000"/>
                </a:solidFill>
                <a:latin typeface="Times New Roman" panose="02020603050405020304" pitchFamily="18" charset="0"/>
                <a:cs typeface="Times New Roman" panose="02020603050405020304" pitchFamily="18" charset="0"/>
              </a:rPr>
              <a:t>Tools such as static analysers - used to examine source code - are employed during this phase</a:t>
            </a:r>
            <a:endParaRPr sz="1607"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endParaRPr sz="1607" b="1"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endParaRPr sz="1607"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1200"/>
              </a:spcAft>
              <a:buNone/>
            </a:pPr>
            <a:endParaRPr sz="1607"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643725" y="5359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Comprehension Process Models</a:t>
            </a:r>
            <a:endParaRPr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178" name="Google Shape;178;p28"/>
          <p:cNvSpPr txBox="1">
            <a:spLocks noGrp="1"/>
          </p:cNvSpPr>
          <p:nvPr>
            <p:ph type="body" idx="1"/>
          </p:nvPr>
        </p:nvSpPr>
        <p:spPr>
          <a:xfrm>
            <a:off x="643725" y="144120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dirty="0">
                <a:solidFill>
                  <a:srgbClr val="000000"/>
                </a:solidFill>
                <a:latin typeface="Times New Roman" panose="02020603050405020304" pitchFamily="18" charset="0"/>
                <a:cs typeface="Times New Roman" panose="02020603050405020304" pitchFamily="18" charset="0"/>
              </a:rPr>
              <a:t>3. Run the program: </a:t>
            </a:r>
            <a:endParaRPr sz="1600" b="1" dirty="0">
              <a:solidFill>
                <a:srgbClr val="000000"/>
              </a:solidFill>
              <a:latin typeface="Times New Roman" panose="02020603050405020304" pitchFamily="18" charset="0"/>
              <a:cs typeface="Times New Roman" panose="02020603050405020304" pitchFamily="18" charset="0"/>
            </a:endParaRPr>
          </a:p>
          <a:p>
            <a:pPr marL="285750" indent="-285750">
              <a:spcBef>
                <a:spcPts val="1200"/>
              </a:spcBef>
            </a:pPr>
            <a:r>
              <a:rPr lang="en" sz="1600" dirty="0">
                <a:solidFill>
                  <a:srgbClr val="000000"/>
                </a:solidFill>
                <a:latin typeface="Times New Roman" panose="02020603050405020304" pitchFamily="18" charset="0"/>
                <a:cs typeface="Times New Roman" panose="02020603050405020304" pitchFamily="18" charset="0"/>
              </a:rPr>
              <a:t>Study the dynamic behaviour of the program in action, including executing the program and obtaining trace data. </a:t>
            </a:r>
          </a:p>
          <a:p>
            <a:pPr marL="285750" indent="-285750">
              <a:spcBef>
                <a:spcPts val="1200"/>
              </a:spcBef>
            </a:pPr>
            <a:r>
              <a:rPr lang="en" sz="1600" dirty="0">
                <a:solidFill>
                  <a:srgbClr val="000000"/>
                </a:solidFill>
                <a:latin typeface="Times New Roman" panose="02020603050405020304" pitchFamily="18" charset="0"/>
                <a:cs typeface="Times New Roman" panose="02020603050405020304" pitchFamily="18" charset="0"/>
              </a:rPr>
              <a:t>The benefit of running the program is that it can reveal some characteristics of the system which are difficult to obtain by just reading the source code.</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672300" y="618562"/>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Mental Models</a:t>
            </a:r>
            <a:endParaRPr dirty="0">
              <a:latin typeface="Times New Roman" panose="02020603050405020304" pitchFamily="18" charset="0"/>
              <a:cs typeface="Times New Roman" panose="02020603050405020304" pitchFamily="18" charset="0"/>
            </a:endParaRPr>
          </a:p>
        </p:txBody>
      </p:sp>
      <p:sp>
        <p:nvSpPr>
          <p:cNvPr id="184" name="Google Shape;184;p29"/>
          <p:cNvSpPr txBox="1">
            <a:spLocks noGrp="1"/>
          </p:cNvSpPr>
          <p:nvPr>
            <p:ph type="body" idx="1"/>
          </p:nvPr>
        </p:nvSpPr>
        <p:spPr>
          <a:xfrm>
            <a:off x="672300" y="1650250"/>
            <a:ext cx="7688700" cy="2261100"/>
          </a:xfrm>
          <a:prstGeom prst="rect">
            <a:avLst/>
          </a:prstGeom>
        </p:spPr>
        <p:txBody>
          <a:bodyPr spcFirstLastPara="1" wrap="square" lIns="91425" tIns="91425" rIns="91425" bIns="91425" anchor="t" anchorCtr="0">
            <a:noAutofit/>
          </a:bodyPr>
          <a:lstStyle/>
          <a:p>
            <a:pPr marL="285750" indent="-285750" algn="just">
              <a:lnSpc>
                <a:spcPct val="105000"/>
              </a:lnSpc>
              <a:buFont typeface="Courier New" panose="02070309020205020404" pitchFamily="49" charset="0"/>
              <a:buChar char="o"/>
            </a:pPr>
            <a:r>
              <a:rPr lang="en" sz="1510" dirty="0">
                <a:solidFill>
                  <a:srgbClr val="000000"/>
                </a:solidFill>
                <a:latin typeface="Times New Roman" panose="02020603050405020304" pitchFamily="18" charset="0"/>
                <a:cs typeface="Times New Roman" panose="02020603050405020304" pitchFamily="18" charset="0"/>
              </a:rPr>
              <a:t>Understanding how a system works, the behaviour of different parts, an algorithm, is known as the target system, and its mental representation is called a mental model.</a:t>
            </a:r>
          </a:p>
          <a:p>
            <a:pPr marL="285750" indent="-285750" algn="just">
              <a:lnSpc>
                <a:spcPct val="105000"/>
              </a:lnSpc>
              <a:buFont typeface="Courier New" panose="02070309020205020404" pitchFamily="49" charset="0"/>
              <a:buChar char="o"/>
            </a:pPr>
            <a:r>
              <a:rPr lang="en" sz="1510" dirty="0">
                <a:solidFill>
                  <a:srgbClr val="000000"/>
                </a:solidFill>
                <a:latin typeface="Times New Roman" panose="02020603050405020304" pitchFamily="18" charset="0"/>
                <a:cs typeface="Times New Roman" panose="02020603050405020304" pitchFamily="18" charset="0"/>
              </a:rPr>
              <a:t>Completeness and accuracy of the model depends to a large extent on its users' information needs.</a:t>
            </a:r>
          </a:p>
          <a:p>
            <a:pPr marL="285750" indent="-285750" algn="just">
              <a:lnSpc>
                <a:spcPct val="105000"/>
              </a:lnSpc>
              <a:buFont typeface="Courier New" panose="02070309020205020404" pitchFamily="49" charset="0"/>
              <a:buChar char="o"/>
            </a:pPr>
            <a:r>
              <a:rPr lang="en" sz="1510" dirty="0">
                <a:solidFill>
                  <a:srgbClr val="000000"/>
                </a:solidFill>
                <a:latin typeface="Times New Roman" panose="02020603050405020304" pitchFamily="18" charset="0"/>
                <a:cs typeface="Times New Roman" panose="02020603050405020304" pitchFamily="18" charset="0"/>
              </a:rPr>
              <a:t>Research in the area of programmers' cognitive behaviour during maintenance suggests that there are variations in the strategies that programmers use to understand (or form mental models of) programs.</a:t>
            </a:r>
            <a:endParaRPr sz="151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05000"/>
              </a:lnSpc>
              <a:spcBef>
                <a:spcPts val="1200"/>
              </a:spcBef>
              <a:buSzPts val="770"/>
              <a:buFont typeface="Courier New" panose="02070309020205020404" pitchFamily="49" charset="0"/>
              <a:buChar char="o"/>
            </a:pPr>
            <a:endParaRPr sz="151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05000"/>
              </a:lnSpc>
              <a:spcBef>
                <a:spcPts val="1200"/>
              </a:spcBef>
              <a:buSzPts val="770"/>
              <a:buFont typeface="Courier New" panose="02070309020205020404" pitchFamily="49" charset="0"/>
              <a:buChar char="o"/>
            </a:pPr>
            <a:endParaRPr sz="151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05000"/>
              </a:lnSpc>
              <a:spcBef>
                <a:spcPts val="1200"/>
              </a:spcBef>
              <a:spcAft>
                <a:spcPts val="1200"/>
              </a:spcAft>
              <a:buSzPts val="770"/>
              <a:buFont typeface="Courier New" panose="02070309020205020404" pitchFamily="49" charset="0"/>
              <a:buChar char="o"/>
            </a:pPr>
            <a:endParaRPr sz="151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Program Comprehension</a:t>
            </a:r>
            <a:endParaRPr dirty="0">
              <a:latin typeface="Times New Roman" panose="02020603050405020304" pitchFamily="18" charset="0"/>
              <a:cs typeface="Times New Roman" panose="02020603050405020304" pitchFamily="18" charset="0"/>
            </a:endParaRPr>
          </a:p>
        </p:txBody>
      </p:sp>
      <p:sp>
        <p:nvSpPr>
          <p:cNvPr id="190" name="Google Shape;190;p30"/>
          <p:cNvSpPr txBox="1">
            <a:spLocks noGrp="1"/>
          </p:cNvSpPr>
          <p:nvPr>
            <p:ph type="body" idx="1"/>
          </p:nvPr>
        </p:nvSpPr>
        <p:spPr>
          <a:xfrm>
            <a:off x="729450" y="1316875"/>
            <a:ext cx="7688700" cy="3609300"/>
          </a:xfrm>
          <a:prstGeom prst="rect">
            <a:avLst/>
          </a:prstGeom>
        </p:spPr>
        <p:txBody>
          <a:bodyPr spcFirstLastPara="1" wrap="square" lIns="91425" tIns="91425" rIns="91425" bIns="91425" anchor="t" anchorCtr="0">
            <a:noAutofit/>
          </a:bodyPr>
          <a:lstStyle/>
          <a:p>
            <a:pPr marL="0" lvl="0" indent="0" algn="just" rtl="0">
              <a:lnSpc>
                <a:spcPct val="95000"/>
              </a:lnSpc>
              <a:spcBef>
                <a:spcPts val="0"/>
              </a:spcBef>
              <a:spcAft>
                <a:spcPts val="0"/>
              </a:spcAft>
              <a:buSzPts val="935"/>
              <a:buNone/>
            </a:pPr>
            <a:r>
              <a:rPr lang="en" sz="1604" b="1" dirty="0">
                <a:solidFill>
                  <a:srgbClr val="000000"/>
                </a:solidFill>
                <a:latin typeface="Times New Roman" panose="02020603050405020304" pitchFamily="18" charset="0"/>
                <a:cs typeface="Times New Roman" panose="02020603050405020304" pitchFamily="18" charset="0"/>
              </a:rPr>
              <a:t>Def: Program comprehension is the process of reconstructing knowledge and relationship between problem and programming domains.</a:t>
            </a:r>
            <a:endParaRPr sz="1604" b="1" dirty="0">
              <a:solidFill>
                <a:srgbClr val="000000"/>
              </a:solidFill>
              <a:latin typeface="Times New Roman" panose="02020603050405020304" pitchFamily="18" charset="0"/>
              <a:cs typeface="Times New Roman" panose="02020603050405020304" pitchFamily="18" charset="0"/>
            </a:endParaRPr>
          </a:p>
          <a:p>
            <a:pPr marL="0" lvl="0" indent="0" algn="just" rtl="0">
              <a:lnSpc>
                <a:spcPct val="95000"/>
              </a:lnSpc>
              <a:spcBef>
                <a:spcPts val="1200"/>
              </a:spcBef>
              <a:spcAft>
                <a:spcPts val="0"/>
              </a:spcAft>
              <a:buSzPts val="935"/>
              <a:buNone/>
            </a:pPr>
            <a:r>
              <a:rPr lang="en" sz="1604" dirty="0">
                <a:solidFill>
                  <a:srgbClr val="000000"/>
                </a:solidFill>
                <a:latin typeface="Times New Roman" panose="02020603050405020304" pitchFamily="18" charset="0"/>
                <a:cs typeface="Times New Roman" panose="02020603050405020304" pitchFamily="18" charset="0"/>
              </a:rPr>
              <a:t>Software development in its entirety can be considered to be a design task which consists of two fundamental processes. </a:t>
            </a:r>
            <a:endParaRPr sz="1604" dirty="0">
              <a:solidFill>
                <a:srgbClr val="000000"/>
              </a:solidFill>
              <a:latin typeface="Times New Roman" panose="02020603050405020304" pitchFamily="18" charset="0"/>
              <a:cs typeface="Times New Roman" panose="02020603050405020304" pitchFamily="18" charset="0"/>
            </a:endParaRPr>
          </a:p>
          <a:p>
            <a:pPr marL="457200" lvl="0" indent="-330517" algn="just" rtl="0">
              <a:lnSpc>
                <a:spcPct val="95000"/>
              </a:lnSpc>
              <a:spcBef>
                <a:spcPts val="1200"/>
              </a:spcBef>
              <a:spcAft>
                <a:spcPts val="0"/>
              </a:spcAft>
              <a:buClr>
                <a:srgbClr val="000000"/>
              </a:buClr>
              <a:buSzPts val="1605"/>
              <a:buAutoNum type="arabicPeriod"/>
            </a:pPr>
            <a:r>
              <a:rPr lang="en" sz="1604" b="1" dirty="0">
                <a:solidFill>
                  <a:srgbClr val="000000"/>
                </a:solidFill>
                <a:latin typeface="Times New Roman" panose="02020603050405020304" pitchFamily="18" charset="0"/>
                <a:cs typeface="Times New Roman" panose="02020603050405020304" pitchFamily="18" charset="0"/>
              </a:rPr>
              <a:t>Composition</a:t>
            </a:r>
            <a:r>
              <a:rPr lang="en" sz="1604" dirty="0">
                <a:solidFill>
                  <a:srgbClr val="000000"/>
                </a:solidFill>
                <a:latin typeface="Times New Roman" panose="02020603050405020304" pitchFamily="18" charset="0"/>
                <a:cs typeface="Times New Roman" panose="02020603050405020304" pitchFamily="18" charset="0"/>
              </a:rPr>
              <a:t>: It represents production of a design.  Composition entails mapping what the program does in the problem domain, into a collection of computer instructions of how it works in the programming domain, using a programming language. </a:t>
            </a:r>
            <a:endParaRPr sz="1604" dirty="0">
              <a:solidFill>
                <a:srgbClr val="000000"/>
              </a:solidFill>
              <a:latin typeface="Times New Roman" panose="02020603050405020304" pitchFamily="18" charset="0"/>
              <a:cs typeface="Times New Roman" panose="02020603050405020304" pitchFamily="18" charset="0"/>
            </a:endParaRPr>
          </a:p>
          <a:p>
            <a:pPr marL="457200" lvl="0" indent="-330517" algn="just" rtl="0">
              <a:lnSpc>
                <a:spcPct val="95000"/>
              </a:lnSpc>
              <a:spcBef>
                <a:spcPts val="0"/>
              </a:spcBef>
              <a:spcAft>
                <a:spcPts val="0"/>
              </a:spcAft>
              <a:buClr>
                <a:srgbClr val="000000"/>
              </a:buClr>
              <a:buSzPts val="1605"/>
              <a:buAutoNum type="arabicPeriod"/>
            </a:pPr>
            <a:r>
              <a:rPr lang="en" sz="1604" b="1" dirty="0">
                <a:solidFill>
                  <a:srgbClr val="000000"/>
                </a:solidFill>
                <a:latin typeface="Times New Roman" panose="02020603050405020304" pitchFamily="18" charset="0"/>
                <a:cs typeface="Times New Roman" panose="02020603050405020304" pitchFamily="18" charset="0"/>
              </a:rPr>
              <a:t>Comprehension</a:t>
            </a:r>
            <a:r>
              <a:rPr lang="en" sz="1604" dirty="0">
                <a:solidFill>
                  <a:srgbClr val="000000"/>
                </a:solidFill>
                <a:latin typeface="Times New Roman" panose="02020603050405020304" pitchFamily="18" charset="0"/>
                <a:cs typeface="Times New Roman" panose="02020603050405020304" pitchFamily="18" charset="0"/>
              </a:rPr>
              <a:t>: It is understanding the design produced by composition. It is a transformation from the programming domain to the problem domain involving the reconstruction of knowledge about these domains and the relationship between them.</a:t>
            </a:r>
            <a:endParaRPr sz="1604" dirty="0">
              <a:solidFill>
                <a:srgbClr val="000000"/>
              </a:solidFill>
              <a:latin typeface="Times New Roman" panose="02020603050405020304" pitchFamily="18" charset="0"/>
              <a:cs typeface="Times New Roman" panose="02020603050405020304" pitchFamily="18" charset="0"/>
            </a:endParaRPr>
          </a:p>
          <a:p>
            <a:pPr marL="0" lvl="0" indent="0" algn="just" rtl="0">
              <a:lnSpc>
                <a:spcPct val="95000"/>
              </a:lnSpc>
              <a:spcBef>
                <a:spcPts val="1200"/>
              </a:spcBef>
              <a:spcAft>
                <a:spcPts val="1200"/>
              </a:spcAft>
              <a:buSzPts val="935"/>
              <a:buNone/>
            </a:pPr>
            <a:endParaRPr sz="1604"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777525" y="4951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Program Comprehension</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 name="Google Shape;196;p31"/>
          <p:cNvSpPr txBox="1">
            <a:spLocks noGrp="1"/>
          </p:cNvSpPr>
          <p:nvPr>
            <p:ph type="body" idx="1"/>
          </p:nvPr>
        </p:nvSpPr>
        <p:spPr>
          <a:xfrm>
            <a:off x="729450" y="1358675"/>
            <a:ext cx="2709600" cy="3784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solidFill>
                  <a:srgbClr val="000000"/>
                </a:solidFill>
                <a:latin typeface="Times New Roman" panose="02020603050405020304" pitchFamily="18" charset="0"/>
                <a:cs typeface="Times New Roman" panose="02020603050405020304" pitchFamily="18" charset="0"/>
              </a:rPr>
              <a:t>It commences with the inception of a vague and general hypothesis, known as the primary hypothesis. </a:t>
            </a:r>
            <a:br>
              <a:rPr lang="en" sz="1500">
                <a:solidFill>
                  <a:srgbClr val="000000"/>
                </a:solidFill>
                <a:latin typeface="Times New Roman" panose="02020603050405020304" pitchFamily="18" charset="0"/>
                <a:cs typeface="Times New Roman" panose="02020603050405020304" pitchFamily="18" charset="0"/>
              </a:rPr>
            </a:b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dirty="0">
                <a:solidFill>
                  <a:srgbClr val="000000"/>
                </a:solidFill>
                <a:latin typeface="Times New Roman" panose="02020603050405020304" pitchFamily="18" charset="0"/>
                <a:cs typeface="Times New Roman" panose="02020603050405020304" pitchFamily="18" charset="0"/>
              </a:rPr>
              <a:t>This is then confirmed and further refined on acquisition of more information about the system from the program text and other sources such as the system documentation.</a:t>
            </a: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500" dirty="0">
              <a:solidFill>
                <a:srgbClr val="000000"/>
              </a:solidFill>
              <a:latin typeface="Times New Roman" panose="02020603050405020304" pitchFamily="18" charset="0"/>
              <a:cs typeface="Times New Roman" panose="02020603050405020304" pitchFamily="18" charset="0"/>
            </a:endParaRPr>
          </a:p>
        </p:txBody>
      </p:sp>
      <p:pic>
        <p:nvPicPr>
          <p:cNvPr id="197" name="Google Shape;197;p31"/>
          <p:cNvPicPr preferRelativeResize="0"/>
          <p:nvPr/>
        </p:nvPicPr>
        <p:blipFill>
          <a:blip r:embed="rId3">
            <a:alphaModFix/>
          </a:blip>
          <a:stretch>
            <a:fillRect/>
          </a:stretch>
        </p:blipFill>
        <p:spPr>
          <a:xfrm>
            <a:off x="3564050" y="1205100"/>
            <a:ext cx="5482225" cy="3938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Beacons in Program Comprehension</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 name="Google Shape;203;p32"/>
          <p:cNvSpPr txBox="1">
            <a:spLocks noGrp="1"/>
          </p:cNvSpPr>
          <p:nvPr>
            <p:ph type="body" idx="1"/>
          </p:nvPr>
        </p:nvSpPr>
        <p:spPr>
          <a:xfrm>
            <a:off x="729450" y="1253900"/>
            <a:ext cx="7688700" cy="300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solidFill>
                  <a:srgbClr val="000000"/>
                </a:solidFill>
                <a:latin typeface="Times New Roman" panose="02020603050405020304" pitchFamily="18" charset="0"/>
                <a:cs typeface="Times New Roman" panose="02020603050405020304" pitchFamily="18" charset="0"/>
              </a:rPr>
              <a:t>The information required for hypothesis generation and refinement is manifested in key features - internal and external to the program - known as beacons.</a:t>
            </a:r>
            <a:endParaRPr sz="150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500">
              <a:solidFill>
                <a:srgbClr val="000000"/>
              </a:solidFill>
              <a:latin typeface="Times New Roman" panose="02020603050405020304" pitchFamily="18" charset="0"/>
              <a:cs typeface="Times New Roman" panose="02020603050405020304" pitchFamily="18" charset="0"/>
            </a:endParaRPr>
          </a:p>
        </p:txBody>
      </p:sp>
      <p:pic>
        <p:nvPicPr>
          <p:cNvPr id="204" name="Google Shape;204;p32"/>
          <p:cNvPicPr preferRelativeResize="0"/>
          <p:nvPr/>
        </p:nvPicPr>
        <p:blipFill>
          <a:blip r:embed="rId3">
            <a:alphaModFix/>
          </a:blip>
          <a:stretch>
            <a:fillRect/>
          </a:stretch>
        </p:blipFill>
        <p:spPr>
          <a:xfrm>
            <a:off x="1037125" y="1902075"/>
            <a:ext cx="6132550" cy="3135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3"/>
          <p:cNvSpPr txBox="1">
            <a:spLocks noGrp="1"/>
          </p:cNvSpPr>
          <p:nvPr>
            <p:ph type="title"/>
          </p:nvPr>
        </p:nvSpPr>
        <p:spPr>
          <a:xfrm>
            <a:off x="727650" y="50426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Program Comprehension Strategies</a:t>
            </a:r>
            <a:endParaRPr dirty="0">
              <a:latin typeface="Times New Roman" panose="02020603050405020304" pitchFamily="18" charset="0"/>
              <a:cs typeface="Times New Roman" panose="02020603050405020304" pitchFamily="18" charset="0"/>
            </a:endParaRPr>
          </a:p>
        </p:txBody>
      </p:sp>
      <p:sp>
        <p:nvSpPr>
          <p:cNvPr id="210" name="Google Shape;210;p33"/>
          <p:cNvSpPr txBox="1">
            <a:spLocks noGrp="1"/>
          </p:cNvSpPr>
          <p:nvPr>
            <p:ph type="body" idx="1"/>
          </p:nvPr>
        </p:nvSpPr>
        <p:spPr>
          <a:xfrm>
            <a:off x="665156" y="1457369"/>
            <a:ext cx="7688700" cy="30108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None/>
            </a:pPr>
            <a:r>
              <a:rPr lang="en" sz="1600" dirty="0">
                <a:solidFill>
                  <a:srgbClr val="000000"/>
                </a:solidFill>
                <a:latin typeface="Times New Roman" panose="02020603050405020304" pitchFamily="18" charset="0"/>
                <a:cs typeface="Times New Roman" panose="02020603050405020304" pitchFamily="18" charset="0"/>
              </a:rPr>
              <a:t>A program comprehension strategy is a technique used to form a mental model of the target program.</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r>
              <a:rPr lang="en" sz="1600" dirty="0">
                <a:solidFill>
                  <a:srgbClr val="000000"/>
                </a:solidFill>
                <a:latin typeface="Times New Roman" panose="02020603050405020304" pitchFamily="18" charset="0"/>
                <a:cs typeface="Times New Roman" panose="02020603050405020304" pitchFamily="18" charset="0"/>
              </a:rPr>
              <a:t>The mental model is constructed by combining information contained in the source code and documentation with the assistance of the expertise and domain knowledge that the programmer brings to the task.</a:t>
            </a:r>
            <a:br>
              <a:rPr lang="en" sz="1600" dirty="0">
                <a:solidFill>
                  <a:srgbClr val="000000"/>
                </a:solidFill>
                <a:latin typeface="Times New Roman" panose="02020603050405020304" pitchFamily="18" charset="0"/>
                <a:cs typeface="Times New Roman" panose="02020603050405020304" pitchFamily="18" charset="0"/>
              </a:rPr>
            </a:br>
            <a:br>
              <a:rPr lang="en" sz="1600" dirty="0">
                <a:solidFill>
                  <a:srgbClr val="000000"/>
                </a:solidFill>
                <a:latin typeface="Times New Roman" panose="02020603050405020304" pitchFamily="18" charset="0"/>
                <a:cs typeface="Times New Roman" panose="02020603050405020304" pitchFamily="18" charset="0"/>
              </a:rPr>
            </a:br>
            <a:r>
              <a:rPr lang="en" sz="1600" dirty="0">
                <a:solidFill>
                  <a:srgbClr val="000000"/>
                </a:solidFill>
                <a:latin typeface="Times New Roman" panose="02020603050405020304" pitchFamily="18" charset="0"/>
                <a:cs typeface="Times New Roman" panose="02020603050405020304" pitchFamily="18" charset="0"/>
              </a:rPr>
              <a:t>Some models of how programmers go about understanding program are:</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l" rtl="0">
              <a:lnSpc>
                <a:spcPct val="105000"/>
              </a:lnSpc>
              <a:spcBef>
                <a:spcPts val="1200"/>
              </a:spcBef>
              <a:spcAft>
                <a:spcPts val="0"/>
              </a:spcAft>
              <a:buClr>
                <a:srgbClr val="000000"/>
              </a:buClr>
              <a:buSzPts val="1600"/>
              <a:buChar char="●"/>
            </a:pPr>
            <a:r>
              <a:rPr lang="en" sz="1600" dirty="0">
                <a:solidFill>
                  <a:srgbClr val="000000"/>
                </a:solidFill>
                <a:latin typeface="Times New Roman" panose="02020603050405020304" pitchFamily="18" charset="0"/>
                <a:cs typeface="Times New Roman" panose="02020603050405020304" pitchFamily="18" charset="0"/>
              </a:rPr>
              <a:t>Top-down</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l" rtl="0">
              <a:lnSpc>
                <a:spcPct val="105000"/>
              </a:lnSpc>
              <a:spcBef>
                <a:spcPts val="0"/>
              </a:spcBef>
              <a:spcAft>
                <a:spcPts val="0"/>
              </a:spcAft>
              <a:buClr>
                <a:srgbClr val="000000"/>
              </a:buClr>
              <a:buSzPts val="1600"/>
              <a:buChar char="●"/>
            </a:pPr>
            <a:r>
              <a:rPr lang="en" sz="1600" dirty="0">
                <a:solidFill>
                  <a:srgbClr val="000000"/>
                </a:solidFill>
                <a:latin typeface="Times New Roman" panose="02020603050405020304" pitchFamily="18" charset="0"/>
                <a:cs typeface="Times New Roman" panose="02020603050405020304" pitchFamily="18" charset="0"/>
              </a:rPr>
              <a:t>Bottom-up</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l" rtl="0">
              <a:lnSpc>
                <a:spcPct val="105000"/>
              </a:lnSpc>
              <a:spcBef>
                <a:spcPts val="0"/>
              </a:spcBef>
              <a:spcAft>
                <a:spcPts val="0"/>
              </a:spcAft>
              <a:buClr>
                <a:srgbClr val="000000"/>
              </a:buClr>
              <a:buSzPts val="1600"/>
              <a:buChar char="●"/>
            </a:pPr>
            <a:r>
              <a:rPr lang="en" sz="1600" dirty="0">
                <a:solidFill>
                  <a:srgbClr val="000000"/>
                </a:solidFill>
                <a:latin typeface="Times New Roman" panose="02020603050405020304" pitchFamily="18" charset="0"/>
                <a:cs typeface="Times New Roman" panose="02020603050405020304" pitchFamily="18" charset="0"/>
              </a:rPr>
              <a:t>Opportunistic</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1200"/>
              </a:spcAft>
              <a:buNone/>
            </a:pP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4"/>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Program Comprehension Strategies</a:t>
            </a:r>
            <a:endParaRPr>
              <a:latin typeface="Times New Roman" panose="02020603050405020304" pitchFamily="18" charset="0"/>
              <a:cs typeface="Times New Roman" panose="02020603050405020304" pitchFamily="18" charset="0"/>
            </a:endParaRPr>
          </a:p>
        </p:txBody>
      </p:sp>
      <p:sp>
        <p:nvSpPr>
          <p:cNvPr id="216" name="Google Shape;216;p34"/>
          <p:cNvSpPr txBox="1">
            <a:spLocks noGrp="1"/>
          </p:cNvSpPr>
          <p:nvPr>
            <p:ph type="body" idx="1"/>
          </p:nvPr>
        </p:nvSpPr>
        <p:spPr>
          <a:xfrm>
            <a:off x="729450" y="1316875"/>
            <a:ext cx="7688700" cy="3010800"/>
          </a:xfrm>
          <a:prstGeom prst="rect">
            <a:avLst/>
          </a:prstGeom>
        </p:spPr>
        <p:txBody>
          <a:bodyPr spcFirstLastPara="1" wrap="square" lIns="91425" tIns="91425" rIns="91425" bIns="91425" anchor="t" anchorCtr="0">
            <a:noAutofit/>
          </a:bodyPr>
          <a:lstStyle/>
          <a:p>
            <a:pPr marL="457200" lvl="0" indent="-342900" algn="just" rtl="0">
              <a:lnSpc>
                <a:spcPct val="105000"/>
              </a:lnSpc>
              <a:spcBef>
                <a:spcPts val="0"/>
              </a:spcBef>
              <a:spcAft>
                <a:spcPts val="0"/>
              </a:spcAft>
              <a:buClr>
                <a:srgbClr val="000000"/>
              </a:buClr>
              <a:buSzPts val="1800"/>
              <a:buAutoNum type="arabicPeriod"/>
            </a:pPr>
            <a:r>
              <a:rPr lang="en" sz="1800" b="1" dirty="0">
                <a:solidFill>
                  <a:srgbClr val="000000"/>
                </a:solidFill>
                <a:latin typeface="Times New Roman" panose="02020603050405020304" pitchFamily="18" charset="0"/>
                <a:cs typeface="Times New Roman" panose="02020603050405020304" pitchFamily="18" charset="0"/>
              </a:rPr>
              <a:t>Top-down Model: </a:t>
            </a:r>
            <a:endParaRPr sz="1800" b="1" dirty="0">
              <a:solidFill>
                <a:srgbClr val="000000"/>
              </a:solidFill>
              <a:latin typeface="Times New Roman" panose="02020603050405020304" pitchFamily="18" charset="0"/>
              <a:cs typeface="Times New Roman" panose="02020603050405020304" pitchFamily="18" charset="0"/>
            </a:endParaRPr>
          </a:p>
          <a:p>
            <a:pPr marL="457200" lvl="0" indent="-330200" algn="just" rtl="0">
              <a:lnSpc>
                <a:spcPct val="105000"/>
              </a:lnSpc>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Tenet of the model:</a:t>
            </a:r>
            <a:r>
              <a:rPr lang="en" sz="1600" dirty="0">
                <a:solidFill>
                  <a:srgbClr val="000000"/>
                </a:solidFill>
                <a:latin typeface="Times New Roman" panose="02020603050405020304" pitchFamily="18" charset="0"/>
                <a:cs typeface="Times New Roman" panose="02020603050405020304" pitchFamily="18" charset="0"/>
              </a:rPr>
              <a:t> Understander starts by comprehending the top-level details of a program, such as what it does when it executes, and gradually works towards understanding the low-level details such as data types, control and data flows and algorithmic patterns in a top-down fashion</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just" rtl="0">
              <a:lnSpc>
                <a:spcPct val="105000"/>
              </a:lnSpc>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Cognitive Process:</a:t>
            </a:r>
            <a:r>
              <a:rPr lang="en" sz="1600" dirty="0">
                <a:solidFill>
                  <a:srgbClr val="000000"/>
                </a:solidFill>
                <a:latin typeface="Times New Roman" panose="02020603050405020304" pitchFamily="18" charset="0"/>
                <a:cs typeface="Times New Roman" panose="02020603050405020304" pitchFamily="18" charset="0"/>
              </a:rPr>
              <a:t> Top-down reconstruction of Knowledge domains and their mappings. Reconstruction is based on hypothesis creation, confirmation and refinement cycle. </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just" rtl="0">
              <a:lnSpc>
                <a:spcPct val="105000"/>
              </a:lnSpc>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Cognitive Structure:</a:t>
            </a:r>
            <a:r>
              <a:rPr lang="en" sz="1600" dirty="0">
                <a:solidFill>
                  <a:srgbClr val="000000"/>
                </a:solidFill>
                <a:latin typeface="Times New Roman" panose="02020603050405020304" pitchFamily="18" charset="0"/>
                <a:cs typeface="Times New Roman" panose="02020603050405020304" pitchFamily="18" charset="0"/>
              </a:rPr>
              <a:t> Problem and Programming domain knowledge. Potential Intermediate knowledge. Multiple layers of domain knowledge.</a:t>
            </a: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Program Comprehension Strategies</a:t>
            </a:r>
            <a:endParaRPr>
              <a:latin typeface="Times New Roman" panose="02020603050405020304" pitchFamily="18" charset="0"/>
              <a:cs typeface="Times New Roman" panose="02020603050405020304" pitchFamily="18" charset="0"/>
            </a:endParaRPr>
          </a:p>
        </p:txBody>
      </p:sp>
      <p:sp>
        <p:nvSpPr>
          <p:cNvPr id="222" name="Google Shape;222;p35"/>
          <p:cNvSpPr txBox="1">
            <a:spLocks noGrp="1"/>
          </p:cNvSpPr>
          <p:nvPr>
            <p:ph type="body" idx="1"/>
          </p:nvPr>
        </p:nvSpPr>
        <p:spPr>
          <a:xfrm>
            <a:off x="729450" y="1240675"/>
            <a:ext cx="3555600" cy="3010800"/>
          </a:xfrm>
          <a:prstGeom prst="rect">
            <a:avLst/>
          </a:prstGeom>
        </p:spPr>
        <p:txBody>
          <a:bodyPr spcFirstLastPara="1" wrap="square" lIns="91425" tIns="91425" rIns="91425" bIns="91425" anchor="t" anchorCtr="0">
            <a:noAutofit/>
          </a:bodyPr>
          <a:lstStyle/>
          <a:p>
            <a:pPr marL="0" lvl="0" indent="0" algn="just" rtl="0">
              <a:lnSpc>
                <a:spcPct val="105000"/>
              </a:lnSpc>
              <a:spcBef>
                <a:spcPts val="0"/>
              </a:spcBef>
              <a:spcAft>
                <a:spcPts val="0"/>
              </a:spcAft>
              <a:buNone/>
            </a:pPr>
            <a:r>
              <a:rPr lang="en" sz="1800" b="1" dirty="0">
                <a:solidFill>
                  <a:srgbClr val="000000"/>
                </a:solidFill>
                <a:latin typeface="Times New Roman" panose="02020603050405020304" pitchFamily="18" charset="0"/>
                <a:cs typeface="Times New Roman" panose="02020603050405020304" pitchFamily="18" charset="0"/>
              </a:rPr>
              <a:t>2. Bottom-Up / Chunking Model: </a:t>
            </a:r>
            <a:endParaRPr sz="1800" b="1" dirty="0">
              <a:solidFill>
                <a:srgbClr val="000000"/>
              </a:solidFill>
              <a:latin typeface="Times New Roman" panose="02020603050405020304" pitchFamily="18" charset="0"/>
              <a:cs typeface="Times New Roman" panose="02020603050405020304" pitchFamily="18" charset="0"/>
            </a:endParaRPr>
          </a:p>
          <a:p>
            <a:pPr marL="457200" lvl="0" indent="-330200" algn="just" rtl="0">
              <a:lnSpc>
                <a:spcPct val="105000"/>
              </a:lnSpc>
              <a:spcBef>
                <a:spcPts val="120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Tenet of the model:</a:t>
            </a:r>
            <a:r>
              <a:rPr lang="en" sz="1600" dirty="0">
                <a:solidFill>
                  <a:srgbClr val="000000"/>
                </a:solidFill>
                <a:latin typeface="Times New Roman" panose="02020603050405020304" pitchFamily="18" charset="0"/>
                <a:cs typeface="Times New Roman" panose="02020603050405020304" pitchFamily="18" charset="0"/>
              </a:rPr>
              <a:t> Programmer successively recognises patterns in the program and group them iteratively into high-level, semantically more meaningful structure.</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just" rtl="0">
              <a:lnSpc>
                <a:spcPct val="105000"/>
              </a:lnSpc>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Cognitive Process:</a:t>
            </a:r>
            <a:r>
              <a:rPr lang="en" sz="1600" dirty="0">
                <a:solidFill>
                  <a:srgbClr val="000000"/>
                </a:solidFill>
                <a:latin typeface="Times New Roman" panose="02020603050405020304" pitchFamily="18" charset="0"/>
                <a:cs typeface="Times New Roman" panose="02020603050405020304" pitchFamily="18" charset="0"/>
              </a:rPr>
              <a:t> Chunking recognised pattern into high level semantic structure.</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just" rtl="0">
              <a:lnSpc>
                <a:spcPct val="105000"/>
              </a:lnSpc>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Cognitive Structure:</a:t>
            </a:r>
            <a:r>
              <a:rPr lang="en" sz="1600" dirty="0">
                <a:solidFill>
                  <a:srgbClr val="000000"/>
                </a:solidFill>
                <a:latin typeface="Times New Roman" panose="02020603050405020304" pitchFamily="18" charset="0"/>
                <a:cs typeface="Times New Roman" panose="02020603050405020304" pitchFamily="18" charset="0"/>
              </a:rPr>
              <a:t> Mapping between knowledge domains.</a:t>
            </a:r>
            <a:endParaRPr sz="1600" dirty="0">
              <a:solidFill>
                <a:srgbClr val="000000"/>
              </a:solidFill>
              <a:latin typeface="Times New Roman" panose="02020603050405020304" pitchFamily="18" charset="0"/>
              <a:cs typeface="Times New Roman" panose="02020603050405020304" pitchFamily="18" charset="0"/>
            </a:endParaRPr>
          </a:p>
        </p:txBody>
      </p:sp>
      <p:pic>
        <p:nvPicPr>
          <p:cNvPr id="223" name="Google Shape;223;p35"/>
          <p:cNvPicPr preferRelativeResize="0"/>
          <p:nvPr/>
        </p:nvPicPr>
        <p:blipFill>
          <a:blip r:embed="rId3">
            <a:alphaModFix/>
          </a:blip>
          <a:stretch>
            <a:fillRect/>
          </a:stretch>
        </p:blipFill>
        <p:spPr>
          <a:xfrm>
            <a:off x="4179525" y="1203350"/>
            <a:ext cx="4913201" cy="3684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6"/>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Program Comprehension Strategies</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9" name="Google Shape;229;p36"/>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523"/>
              <a:buNone/>
            </a:pPr>
            <a:r>
              <a:rPr lang="en" sz="1617" b="1" dirty="0">
                <a:solidFill>
                  <a:srgbClr val="000000"/>
                </a:solidFill>
                <a:latin typeface="Times New Roman" panose="02020603050405020304" pitchFamily="18" charset="0"/>
                <a:cs typeface="Times New Roman" panose="02020603050405020304" pitchFamily="18" charset="0"/>
              </a:rPr>
              <a:t>Weaknesses of both the Top-down and Bottom-up comprehension strategies are:</a:t>
            </a:r>
            <a:endParaRPr sz="1617" b="1" dirty="0">
              <a:solidFill>
                <a:srgbClr val="000000"/>
              </a:solidFill>
              <a:latin typeface="Times New Roman" panose="02020603050405020304" pitchFamily="18" charset="0"/>
              <a:cs typeface="Times New Roman" panose="02020603050405020304" pitchFamily="18" charset="0"/>
            </a:endParaRPr>
          </a:p>
          <a:p>
            <a:pPr marL="457200" lvl="0" indent="-331311" algn="l" rtl="0">
              <a:lnSpc>
                <a:spcPct val="95000"/>
              </a:lnSpc>
              <a:spcBef>
                <a:spcPts val="1200"/>
              </a:spcBef>
              <a:spcAft>
                <a:spcPts val="0"/>
              </a:spcAft>
              <a:buClr>
                <a:srgbClr val="000000"/>
              </a:buClr>
              <a:buSzPts val="1617"/>
              <a:buChar char="●"/>
            </a:pPr>
            <a:r>
              <a:rPr lang="en" sz="1617" dirty="0">
                <a:solidFill>
                  <a:srgbClr val="000000"/>
                </a:solidFill>
                <a:latin typeface="Times New Roman" panose="02020603050405020304" pitchFamily="18" charset="0"/>
                <a:cs typeface="Times New Roman" panose="02020603050405020304" pitchFamily="18" charset="0"/>
              </a:rPr>
              <a:t>Failure to take into consideration the contribution that other factors such as the available support tools make to understanding.</a:t>
            </a:r>
            <a:endParaRPr sz="1617" dirty="0">
              <a:solidFill>
                <a:srgbClr val="000000"/>
              </a:solidFill>
              <a:latin typeface="Times New Roman" panose="02020603050405020304" pitchFamily="18" charset="0"/>
              <a:cs typeface="Times New Roman" panose="02020603050405020304" pitchFamily="18" charset="0"/>
            </a:endParaRPr>
          </a:p>
          <a:p>
            <a:pPr marL="457200" lvl="0" indent="-331311" algn="l" rtl="0">
              <a:lnSpc>
                <a:spcPct val="95000"/>
              </a:lnSpc>
              <a:spcBef>
                <a:spcPts val="0"/>
              </a:spcBef>
              <a:spcAft>
                <a:spcPts val="0"/>
              </a:spcAft>
              <a:buClr>
                <a:srgbClr val="000000"/>
              </a:buClr>
              <a:buSzPts val="1617"/>
              <a:buChar char="●"/>
            </a:pPr>
            <a:r>
              <a:rPr lang="en" sz="1617" dirty="0">
                <a:solidFill>
                  <a:srgbClr val="000000"/>
                </a:solidFill>
                <a:latin typeface="Times New Roman" panose="02020603050405020304" pitchFamily="18" charset="0"/>
                <a:cs typeface="Times New Roman" panose="02020603050405020304" pitchFamily="18" charset="0"/>
              </a:rPr>
              <a:t>The fact that the process of understanding a program rarely takes place in such a well-defined fashion as these models portray. On the contrary, programmers tend to take advantage of any clues they come across in an opportunistic way.</a:t>
            </a:r>
            <a:endParaRPr sz="1617" dirty="0">
              <a:solidFill>
                <a:srgbClr val="000000"/>
              </a:solidFill>
              <a:latin typeface="Times New Roman" panose="02020603050405020304" pitchFamily="18" charset="0"/>
              <a:cs typeface="Times New Roman" panose="02020603050405020304" pitchFamily="18" charset="0"/>
            </a:endParaRPr>
          </a:p>
          <a:p>
            <a:pPr marL="0" lvl="0" indent="0" algn="l" rtl="0">
              <a:lnSpc>
                <a:spcPct val="95000"/>
              </a:lnSpc>
              <a:spcBef>
                <a:spcPts val="1200"/>
              </a:spcBef>
              <a:spcAft>
                <a:spcPts val="1200"/>
              </a:spcAft>
              <a:buSzPts val="523"/>
              <a:buNone/>
            </a:pPr>
            <a:endParaRPr sz="1617"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7"/>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Program Comprehension Strategies</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5" name="Google Shape;235;p37"/>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523"/>
              <a:buNone/>
            </a:pPr>
            <a:r>
              <a:rPr lang="en" sz="1617" b="1">
                <a:solidFill>
                  <a:srgbClr val="000000"/>
                </a:solidFill>
                <a:latin typeface="Times New Roman" panose="02020603050405020304" pitchFamily="18" charset="0"/>
                <a:cs typeface="Times New Roman" panose="02020603050405020304" pitchFamily="18" charset="0"/>
              </a:rPr>
              <a:t>3. Opportunistic Model:</a:t>
            </a:r>
            <a:endParaRPr sz="1617" b="1">
              <a:solidFill>
                <a:srgbClr val="000000"/>
              </a:solidFill>
              <a:latin typeface="Times New Roman" panose="02020603050405020304" pitchFamily="18" charset="0"/>
              <a:cs typeface="Times New Roman" panose="02020603050405020304" pitchFamily="18" charset="0"/>
            </a:endParaRPr>
          </a:p>
          <a:p>
            <a:pPr marL="457200" lvl="0" indent="-311150" algn="l" rtl="0">
              <a:lnSpc>
                <a:spcPct val="95000"/>
              </a:lnSpc>
              <a:spcBef>
                <a:spcPts val="1200"/>
              </a:spcBef>
              <a:spcAft>
                <a:spcPts val="0"/>
              </a:spcAft>
              <a:buClr>
                <a:srgbClr val="000000"/>
              </a:buClr>
              <a:buSzPts val="1300"/>
              <a:buChar char="●"/>
            </a:pPr>
            <a:r>
              <a:rPr lang="en" sz="1600" b="1">
                <a:solidFill>
                  <a:srgbClr val="000000"/>
                </a:solidFill>
                <a:latin typeface="Times New Roman" panose="02020603050405020304" pitchFamily="18" charset="0"/>
                <a:cs typeface="Times New Roman" panose="02020603050405020304" pitchFamily="18" charset="0"/>
              </a:rPr>
              <a:t>Tenet of the model:</a:t>
            </a:r>
            <a:r>
              <a:rPr lang="en" sz="1617" b="1">
                <a:solidFill>
                  <a:srgbClr val="000000"/>
                </a:solidFill>
                <a:latin typeface="Times New Roman" panose="02020603050405020304" pitchFamily="18" charset="0"/>
                <a:cs typeface="Times New Roman" panose="02020603050405020304" pitchFamily="18" charset="0"/>
              </a:rPr>
              <a:t> </a:t>
            </a:r>
            <a:r>
              <a:rPr lang="en" sz="1617">
                <a:solidFill>
                  <a:srgbClr val="000000"/>
                </a:solidFill>
                <a:latin typeface="Times New Roman" panose="02020603050405020304" pitchFamily="18" charset="0"/>
                <a:cs typeface="Times New Roman" panose="02020603050405020304" pitchFamily="18" charset="0"/>
              </a:rPr>
              <a:t>Understander makes use of both bottom-up and top-down strategies. </a:t>
            </a:r>
            <a:br>
              <a:rPr lang="en" sz="1617">
                <a:solidFill>
                  <a:srgbClr val="000000"/>
                </a:solidFill>
                <a:latin typeface="Times New Roman" panose="02020603050405020304" pitchFamily="18" charset="0"/>
                <a:cs typeface="Times New Roman" panose="02020603050405020304" pitchFamily="18" charset="0"/>
              </a:rPr>
            </a:br>
            <a:r>
              <a:rPr lang="en" sz="1617">
                <a:solidFill>
                  <a:srgbClr val="000000"/>
                </a:solidFill>
                <a:latin typeface="Times New Roman" panose="02020603050405020304" pitchFamily="18" charset="0"/>
                <a:cs typeface="Times New Roman" panose="02020603050405020304" pitchFamily="18" charset="0"/>
              </a:rPr>
              <a:t>According to this model, comprehension hinges on three key and complementary features - a knowledge base, a mental model and an assimilation process:</a:t>
            </a:r>
            <a:endParaRPr sz="1617">
              <a:solidFill>
                <a:srgbClr val="000000"/>
              </a:solidFill>
              <a:latin typeface="Times New Roman" panose="02020603050405020304" pitchFamily="18" charset="0"/>
              <a:cs typeface="Times New Roman" panose="02020603050405020304" pitchFamily="18" charset="0"/>
            </a:endParaRPr>
          </a:p>
          <a:p>
            <a:pPr marL="914400" lvl="1" indent="-298450" algn="l" rtl="0">
              <a:lnSpc>
                <a:spcPct val="95000"/>
              </a:lnSpc>
              <a:spcBef>
                <a:spcPts val="0"/>
              </a:spcBef>
              <a:spcAft>
                <a:spcPts val="0"/>
              </a:spcAft>
              <a:buClr>
                <a:srgbClr val="000000"/>
              </a:buClr>
              <a:buSzPts val="1100"/>
              <a:buChar char="○"/>
            </a:pPr>
            <a:r>
              <a:rPr lang="en" sz="1617">
                <a:solidFill>
                  <a:srgbClr val="000000"/>
                </a:solidFill>
                <a:latin typeface="Times New Roman" panose="02020603050405020304" pitchFamily="18" charset="0"/>
                <a:cs typeface="Times New Roman" panose="02020603050405020304" pitchFamily="18" charset="0"/>
              </a:rPr>
              <a:t>A knowledge base: This represents the expertise and background knowledge that the maintainer brings to the understanding task.</a:t>
            </a:r>
            <a:endParaRPr sz="1617">
              <a:solidFill>
                <a:srgbClr val="000000"/>
              </a:solidFill>
              <a:latin typeface="Times New Roman" panose="02020603050405020304" pitchFamily="18" charset="0"/>
              <a:cs typeface="Times New Roman" panose="02020603050405020304" pitchFamily="18" charset="0"/>
            </a:endParaRPr>
          </a:p>
          <a:p>
            <a:pPr marL="914400" lvl="1" indent="-298450" algn="l" rtl="0">
              <a:lnSpc>
                <a:spcPct val="95000"/>
              </a:lnSpc>
              <a:spcBef>
                <a:spcPts val="0"/>
              </a:spcBef>
              <a:spcAft>
                <a:spcPts val="0"/>
              </a:spcAft>
              <a:buClr>
                <a:srgbClr val="000000"/>
              </a:buClr>
              <a:buSzPts val="1100"/>
              <a:buChar char="○"/>
            </a:pPr>
            <a:r>
              <a:rPr lang="en" sz="1617">
                <a:solidFill>
                  <a:srgbClr val="000000"/>
                </a:solidFill>
                <a:latin typeface="Times New Roman" panose="02020603050405020304" pitchFamily="18" charset="0"/>
                <a:cs typeface="Times New Roman" panose="02020603050405020304" pitchFamily="18" charset="0"/>
              </a:rPr>
              <a:t>A mental model: This expresses the programmer's current understanding of the target program. </a:t>
            </a:r>
            <a:endParaRPr sz="1617">
              <a:solidFill>
                <a:srgbClr val="000000"/>
              </a:solidFill>
              <a:latin typeface="Times New Roman" panose="02020603050405020304" pitchFamily="18" charset="0"/>
              <a:cs typeface="Times New Roman" panose="02020603050405020304" pitchFamily="18" charset="0"/>
            </a:endParaRPr>
          </a:p>
          <a:p>
            <a:pPr marL="914400" lvl="1" indent="-298450" algn="l" rtl="0">
              <a:lnSpc>
                <a:spcPct val="95000"/>
              </a:lnSpc>
              <a:spcBef>
                <a:spcPts val="0"/>
              </a:spcBef>
              <a:spcAft>
                <a:spcPts val="0"/>
              </a:spcAft>
              <a:buClr>
                <a:srgbClr val="000000"/>
              </a:buClr>
              <a:buSzPts val="1100"/>
              <a:buChar char="○"/>
            </a:pPr>
            <a:r>
              <a:rPr lang="en" sz="1617">
                <a:solidFill>
                  <a:srgbClr val="000000"/>
                </a:solidFill>
                <a:latin typeface="Times New Roman" panose="02020603050405020304" pitchFamily="18" charset="0"/>
                <a:cs typeface="Times New Roman" panose="02020603050405020304" pitchFamily="18" charset="0"/>
              </a:rPr>
              <a:t>An assimilation process: This describes the procedure used to obtain information from various sources such as source code and system documentation.</a:t>
            </a:r>
            <a:endParaRPr sz="1617">
              <a:solidFill>
                <a:srgbClr val="000000"/>
              </a:solidFill>
              <a:latin typeface="Times New Roman" panose="02020603050405020304" pitchFamily="18" charset="0"/>
              <a:cs typeface="Times New Roman" panose="02020603050405020304" pitchFamily="18" charset="0"/>
            </a:endParaRPr>
          </a:p>
          <a:p>
            <a:pPr marL="457200" lvl="0" indent="0" algn="l" rtl="0">
              <a:lnSpc>
                <a:spcPct val="95000"/>
              </a:lnSpc>
              <a:spcBef>
                <a:spcPts val="1200"/>
              </a:spcBef>
              <a:spcAft>
                <a:spcPts val="1200"/>
              </a:spcAft>
              <a:buNone/>
            </a:pPr>
            <a:endParaRPr sz="1617">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8"/>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p:txBody>
      </p:sp>
      <p:sp>
        <p:nvSpPr>
          <p:cNvPr id="241" name="Google Shape;241;p38"/>
          <p:cNvSpPr txBox="1">
            <a:spLocks noGrp="1"/>
          </p:cNvSpPr>
          <p:nvPr>
            <p:ph type="body" idx="1"/>
          </p:nvPr>
        </p:nvSpPr>
        <p:spPr>
          <a:xfrm>
            <a:off x="729450" y="1393075"/>
            <a:ext cx="3842400" cy="2261100"/>
          </a:xfrm>
          <a:prstGeom prst="rect">
            <a:avLst/>
          </a:prstGeom>
        </p:spPr>
        <p:txBody>
          <a:bodyPr spcFirstLastPara="1" wrap="square" lIns="91425" tIns="91425" rIns="91425" bIns="91425" anchor="t" anchorCtr="0">
            <a:noAutofit/>
          </a:bodyPr>
          <a:lstStyle/>
          <a:p>
            <a:pPr marL="457200" lvl="0" indent="0" algn="l" rtl="0">
              <a:lnSpc>
                <a:spcPct val="95000"/>
              </a:lnSpc>
              <a:spcBef>
                <a:spcPts val="0"/>
              </a:spcBef>
              <a:spcAft>
                <a:spcPts val="0"/>
              </a:spcAft>
              <a:buNone/>
            </a:pPr>
            <a:r>
              <a:rPr lang="en" sz="1617">
                <a:solidFill>
                  <a:srgbClr val="000000"/>
                </a:solidFill>
                <a:latin typeface="Times New Roman" panose="02020603050405020304" pitchFamily="18" charset="0"/>
                <a:cs typeface="Times New Roman" panose="02020603050405020304" pitchFamily="18" charset="0"/>
              </a:rPr>
              <a:t>Following factors can affect formation of mental models of a program, and their accuracy, correctness and completeness.</a:t>
            </a:r>
            <a:endParaRPr sz="1617">
              <a:solidFill>
                <a:srgbClr val="000000"/>
              </a:solidFill>
              <a:latin typeface="Times New Roman" panose="02020603050405020304" pitchFamily="18" charset="0"/>
              <a:cs typeface="Times New Roman" panose="02020603050405020304" pitchFamily="18" charset="0"/>
            </a:endParaRPr>
          </a:p>
          <a:p>
            <a:pPr marL="457200" lvl="0" indent="-331311" algn="l" rtl="0">
              <a:lnSpc>
                <a:spcPct val="95000"/>
              </a:lnSpc>
              <a:spcBef>
                <a:spcPts val="1200"/>
              </a:spcBef>
              <a:spcAft>
                <a:spcPts val="0"/>
              </a:spcAft>
              <a:buClr>
                <a:srgbClr val="000000"/>
              </a:buClr>
              <a:buSzPts val="1617"/>
              <a:buAutoNum type="arabicPeriod"/>
            </a:pPr>
            <a:r>
              <a:rPr lang="en" sz="1617" b="1">
                <a:solidFill>
                  <a:srgbClr val="000000"/>
                </a:solidFill>
                <a:latin typeface="Times New Roman" panose="02020603050405020304" pitchFamily="18" charset="0"/>
                <a:cs typeface="Times New Roman" panose="02020603050405020304" pitchFamily="18" charset="0"/>
              </a:rPr>
              <a:t>Expertise: </a:t>
            </a:r>
            <a:br>
              <a:rPr lang="en" sz="1617">
                <a:solidFill>
                  <a:srgbClr val="000000"/>
                </a:solidFill>
                <a:latin typeface="Times New Roman" panose="02020603050405020304" pitchFamily="18" charset="0"/>
                <a:cs typeface="Times New Roman" panose="02020603050405020304" pitchFamily="18" charset="0"/>
              </a:rPr>
            </a:br>
            <a:r>
              <a:rPr lang="en" sz="1617">
                <a:solidFill>
                  <a:srgbClr val="000000"/>
                </a:solidFill>
                <a:latin typeface="Times New Roman" panose="02020603050405020304" pitchFamily="18" charset="0"/>
                <a:cs typeface="Times New Roman" panose="02020603050405020304" pitchFamily="18" charset="0"/>
              </a:rPr>
              <a:t>There is a psychological argument that this expertise has a significant impact on comprehension.  In many of these studies the performance of experts is compared with that of nonexperts (or novices). The expert tends to perform better than the novice.</a:t>
            </a:r>
            <a:endParaRPr sz="1617">
              <a:solidFill>
                <a:srgbClr val="000000"/>
              </a:solidFill>
              <a:latin typeface="Times New Roman" panose="02020603050405020304" pitchFamily="18" charset="0"/>
              <a:cs typeface="Times New Roman" panose="02020603050405020304" pitchFamily="18" charset="0"/>
            </a:endParaRPr>
          </a:p>
          <a:p>
            <a:pPr marL="457200" lvl="0" indent="0" algn="l" rtl="0">
              <a:lnSpc>
                <a:spcPct val="95000"/>
              </a:lnSpc>
              <a:spcBef>
                <a:spcPts val="1200"/>
              </a:spcBef>
              <a:spcAft>
                <a:spcPts val="1200"/>
              </a:spcAft>
              <a:buNone/>
            </a:pPr>
            <a:endParaRPr sz="1617">
              <a:solidFill>
                <a:srgbClr val="000000"/>
              </a:solidFill>
              <a:latin typeface="Times New Roman" panose="02020603050405020304" pitchFamily="18" charset="0"/>
              <a:cs typeface="Times New Roman" panose="02020603050405020304" pitchFamily="18" charset="0"/>
            </a:endParaRPr>
          </a:p>
        </p:txBody>
      </p:sp>
      <p:pic>
        <p:nvPicPr>
          <p:cNvPr id="242" name="Google Shape;242;p38"/>
          <p:cNvPicPr preferRelativeResize="0"/>
          <p:nvPr/>
        </p:nvPicPr>
        <p:blipFill rotWithShape="1">
          <a:blip r:embed="rId3">
            <a:alphaModFix/>
          </a:blip>
          <a:srcRect l="-13915" t="-2450" r="5455" b="2450"/>
          <a:stretch/>
        </p:blipFill>
        <p:spPr>
          <a:xfrm>
            <a:off x="3999245" y="1189463"/>
            <a:ext cx="4877125" cy="163236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9"/>
          <p:cNvSpPr txBox="1">
            <a:spLocks noGrp="1"/>
          </p:cNvSpPr>
          <p:nvPr>
            <p:ph type="title"/>
          </p:nvPr>
        </p:nvSpPr>
        <p:spPr>
          <a:xfrm>
            <a:off x="727650" y="5189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8" name="Google Shape;248;p39"/>
          <p:cNvSpPr txBox="1">
            <a:spLocks noGrp="1"/>
          </p:cNvSpPr>
          <p:nvPr>
            <p:ph type="body" idx="1"/>
          </p:nvPr>
        </p:nvSpPr>
        <p:spPr>
          <a:xfrm>
            <a:off x="729450" y="1316875"/>
            <a:ext cx="3132600" cy="2261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1018"/>
              <a:buNone/>
            </a:pPr>
            <a:r>
              <a:rPr lang="en" sz="1502">
                <a:solidFill>
                  <a:srgbClr val="000000"/>
                </a:solidFill>
                <a:latin typeface="Times New Roman" panose="02020603050405020304" pitchFamily="18" charset="0"/>
                <a:cs typeface="Times New Roman" panose="02020603050405020304" pitchFamily="18" charset="0"/>
              </a:rPr>
              <a:t>2. </a:t>
            </a:r>
            <a:r>
              <a:rPr lang="en" sz="1502" b="1">
                <a:solidFill>
                  <a:srgbClr val="000000"/>
                </a:solidFill>
                <a:latin typeface="Times New Roman" panose="02020603050405020304" pitchFamily="18" charset="0"/>
                <a:cs typeface="Times New Roman" panose="02020603050405020304" pitchFamily="18" charset="0"/>
              </a:rPr>
              <a:t>Implementation Issues:</a:t>
            </a:r>
            <a:br>
              <a:rPr lang="en" sz="1502">
                <a:solidFill>
                  <a:srgbClr val="000000"/>
                </a:solidFill>
                <a:latin typeface="Times New Roman" panose="02020603050405020304" pitchFamily="18" charset="0"/>
                <a:cs typeface="Times New Roman" panose="02020603050405020304" pitchFamily="18" charset="0"/>
              </a:rPr>
            </a:br>
            <a:r>
              <a:rPr lang="en" sz="1502">
                <a:solidFill>
                  <a:srgbClr val="000000"/>
                </a:solidFill>
                <a:latin typeface="Times New Roman" panose="02020603050405020304" pitchFamily="18" charset="0"/>
                <a:cs typeface="Times New Roman" panose="02020603050405020304" pitchFamily="18" charset="0"/>
              </a:rPr>
              <a:t>There are several implementation issues that can affect the ease and extent to which a maintainer understands a program</a:t>
            </a:r>
            <a:endParaRPr sz="1502">
              <a:solidFill>
                <a:srgbClr val="000000"/>
              </a:solidFill>
              <a:latin typeface="Times New Roman" panose="02020603050405020304" pitchFamily="18" charset="0"/>
              <a:cs typeface="Times New Roman" panose="02020603050405020304" pitchFamily="18" charset="0"/>
            </a:endParaRPr>
          </a:p>
          <a:p>
            <a:pPr marL="457200" lvl="0" indent="-324008" algn="l" rtl="0">
              <a:lnSpc>
                <a:spcPct val="105000"/>
              </a:lnSpc>
              <a:spcBef>
                <a:spcPts val="1200"/>
              </a:spcBef>
              <a:spcAft>
                <a:spcPts val="0"/>
              </a:spcAft>
              <a:buClr>
                <a:srgbClr val="000000"/>
              </a:buClr>
              <a:buSzPts val="1503"/>
              <a:buChar char="●"/>
            </a:pPr>
            <a:r>
              <a:rPr lang="en" sz="1502" b="1">
                <a:solidFill>
                  <a:srgbClr val="000000"/>
                </a:solidFill>
                <a:latin typeface="Times New Roman" panose="02020603050405020304" pitchFamily="18" charset="0"/>
                <a:cs typeface="Times New Roman" panose="02020603050405020304" pitchFamily="18" charset="0"/>
              </a:rPr>
              <a:t>Naming Style:</a:t>
            </a:r>
            <a:r>
              <a:rPr lang="en" sz="1502">
                <a:solidFill>
                  <a:srgbClr val="000000"/>
                </a:solidFill>
                <a:latin typeface="Times New Roman" panose="02020603050405020304" pitchFamily="18" charset="0"/>
                <a:cs typeface="Times New Roman" panose="02020603050405020304" pitchFamily="18" charset="0"/>
              </a:rPr>
              <a:t> Identifier names should be as informative, concise and unambiguous as possible.</a:t>
            </a:r>
            <a:endParaRPr sz="1502">
              <a:solidFill>
                <a:srgbClr val="000000"/>
              </a:solidFill>
              <a:latin typeface="Times New Roman" panose="02020603050405020304" pitchFamily="18" charset="0"/>
              <a:cs typeface="Times New Roman" panose="02020603050405020304" pitchFamily="18" charset="0"/>
            </a:endParaRPr>
          </a:p>
          <a:p>
            <a:pPr marL="457200" lvl="0" indent="-324008" algn="l" rtl="0">
              <a:lnSpc>
                <a:spcPct val="105000"/>
              </a:lnSpc>
              <a:spcBef>
                <a:spcPts val="0"/>
              </a:spcBef>
              <a:spcAft>
                <a:spcPts val="0"/>
              </a:spcAft>
              <a:buClr>
                <a:srgbClr val="000000"/>
              </a:buClr>
              <a:buSzPts val="1503"/>
              <a:buChar char="●"/>
            </a:pPr>
            <a:r>
              <a:rPr lang="en" sz="1502" b="1">
                <a:solidFill>
                  <a:srgbClr val="000000"/>
                </a:solidFill>
                <a:latin typeface="Times New Roman" panose="02020603050405020304" pitchFamily="18" charset="0"/>
                <a:cs typeface="Times New Roman" panose="02020603050405020304" pitchFamily="18" charset="0"/>
              </a:rPr>
              <a:t>Comments: </a:t>
            </a:r>
            <a:r>
              <a:rPr lang="en" sz="1502">
                <a:solidFill>
                  <a:srgbClr val="000000"/>
                </a:solidFill>
                <a:latin typeface="Times New Roman" panose="02020603050405020304" pitchFamily="18" charset="0"/>
                <a:cs typeface="Times New Roman" panose="02020603050405020304" pitchFamily="18" charset="0"/>
              </a:rPr>
              <a:t>Programs with high-level comments were easier to modify. Comments in programs can be useful only if they provide additional information. </a:t>
            </a:r>
            <a:endParaRPr sz="1502">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1200"/>
              </a:spcAft>
              <a:buSzPts val="1018"/>
              <a:buNone/>
            </a:pPr>
            <a:endParaRPr sz="1502">
              <a:solidFill>
                <a:srgbClr val="000000"/>
              </a:solidFill>
              <a:latin typeface="Times New Roman" panose="02020603050405020304" pitchFamily="18" charset="0"/>
              <a:cs typeface="Times New Roman" panose="02020603050405020304" pitchFamily="18" charset="0"/>
            </a:endParaRPr>
          </a:p>
        </p:txBody>
      </p:sp>
      <p:pic>
        <p:nvPicPr>
          <p:cNvPr id="249" name="Google Shape;249;p39"/>
          <p:cNvPicPr preferRelativeResize="0"/>
          <p:nvPr/>
        </p:nvPicPr>
        <p:blipFill>
          <a:blip r:embed="rId3">
            <a:alphaModFix/>
          </a:blip>
          <a:stretch>
            <a:fillRect/>
          </a:stretch>
        </p:blipFill>
        <p:spPr>
          <a:xfrm>
            <a:off x="3987075" y="1256250"/>
            <a:ext cx="4961425" cy="24391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727650" y="5189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5" name="Google Shape;255;p40"/>
          <p:cNvSpPr txBox="1">
            <a:spLocks noGrp="1"/>
          </p:cNvSpPr>
          <p:nvPr>
            <p:ph type="body" idx="1"/>
          </p:nvPr>
        </p:nvSpPr>
        <p:spPr>
          <a:xfrm>
            <a:off x="0" y="1316875"/>
            <a:ext cx="3862200" cy="2261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1018"/>
              <a:buNone/>
            </a:pPr>
            <a:r>
              <a:rPr lang="en" sz="1502">
                <a:solidFill>
                  <a:srgbClr val="000000"/>
                </a:solidFill>
                <a:latin typeface="Times New Roman" panose="02020603050405020304" pitchFamily="18" charset="0"/>
                <a:cs typeface="Times New Roman" panose="02020603050405020304" pitchFamily="18" charset="0"/>
              </a:rPr>
              <a:t>2. </a:t>
            </a:r>
            <a:r>
              <a:rPr lang="en" sz="1502" b="1">
                <a:solidFill>
                  <a:srgbClr val="000000"/>
                </a:solidFill>
                <a:latin typeface="Times New Roman" panose="02020603050405020304" pitchFamily="18" charset="0"/>
                <a:cs typeface="Times New Roman" panose="02020603050405020304" pitchFamily="18" charset="0"/>
              </a:rPr>
              <a:t>Implementation Issues:</a:t>
            </a:r>
            <a:endParaRPr sz="1502">
              <a:solidFill>
                <a:srgbClr val="000000"/>
              </a:solidFill>
              <a:latin typeface="Times New Roman" panose="02020603050405020304" pitchFamily="18" charset="0"/>
              <a:cs typeface="Times New Roman" panose="02020603050405020304" pitchFamily="18" charset="0"/>
            </a:endParaRPr>
          </a:p>
          <a:p>
            <a:pPr marL="457200" lvl="0" indent="-324008" algn="l" rtl="0">
              <a:lnSpc>
                <a:spcPct val="105000"/>
              </a:lnSpc>
              <a:spcBef>
                <a:spcPts val="1200"/>
              </a:spcBef>
              <a:spcAft>
                <a:spcPts val="0"/>
              </a:spcAft>
              <a:buClr>
                <a:srgbClr val="000000"/>
              </a:buClr>
              <a:buSzPts val="1503"/>
              <a:buChar char="●"/>
            </a:pPr>
            <a:r>
              <a:rPr lang="en" sz="1502" b="1">
                <a:solidFill>
                  <a:srgbClr val="000000"/>
                </a:solidFill>
                <a:latin typeface="Times New Roman" panose="02020603050405020304" pitchFamily="18" charset="0"/>
                <a:cs typeface="Times New Roman" panose="02020603050405020304" pitchFamily="18" charset="0"/>
              </a:rPr>
              <a:t>Decomposition Mechanism:</a:t>
            </a:r>
            <a:r>
              <a:rPr lang="en" sz="1502">
                <a:solidFill>
                  <a:srgbClr val="000000"/>
                </a:solidFill>
                <a:latin typeface="Times New Roman" panose="02020603050405020304" pitchFamily="18" charset="0"/>
                <a:cs typeface="Times New Roman" panose="02020603050405020304" pitchFamily="18" charset="0"/>
              </a:rPr>
              <a:t> Comprehensibility depends to some extent on how the entire software system has been decomposed</a:t>
            </a:r>
            <a:endParaRPr sz="1502">
              <a:solidFill>
                <a:srgbClr val="000000"/>
              </a:solidFill>
              <a:latin typeface="Times New Roman" panose="02020603050405020304" pitchFamily="18" charset="0"/>
              <a:cs typeface="Times New Roman" panose="02020603050405020304" pitchFamily="18" charset="0"/>
            </a:endParaRPr>
          </a:p>
          <a:p>
            <a:pPr marL="914400" lvl="1" indent="-324008" algn="l" rtl="0">
              <a:lnSpc>
                <a:spcPct val="105000"/>
              </a:lnSpc>
              <a:spcBef>
                <a:spcPts val="0"/>
              </a:spcBef>
              <a:spcAft>
                <a:spcPts val="0"/>
              </a:spcAft>
              <a:buClr>
                <a:srgbClr val="000000"/>
              </a:buClr>
              <a:buSzPts val="1503"/>
              <a:buChar char="○"/>
            </a:pPr>
            <a:r>
              <a:rPr lang="en" sz="1502" b="1">
                <a:solidFill>
                  <a:srgbClr val="000000"/>
                </a:solidFill>
                <a:latin typeface="Times New Roman" panose="02020603050405020304" pitchFamily="18" charset="0"/>
                <a:cs typeface="Times New Roman" panose="02020603050405020304" pitchFamily="18" charset="0"/>
              </a:rPr>
              <a:t>Modular decomposition:</a:t>
            </a:r>
            <a:r>
              <a:rPr lang="en" sz="1502">
                <a:solidFill>
                  <a:srgbClr val="000000"/>
                </a:solidFill>
                <a:latin typeface="Times New Roman" panose="02020603050405020304" pitchFamily="18" charset="0"/>
                <a:cs typeface="Times New Roman" panose="02020603050405020304" pitchFamily="18" charset="0"/>
              </a:rPr>
              <a:t> It is a a technique for dividing large software systems into manageable components - called modules</a:t>
            </a:r>
            <a:endParaRPr sz="1502">
              <a:solidFill>
                <a:srgbClr val="000000"/>
              </a:solidFill>
              <a:latin typeface="Times New Roman" panose="02020603050405020304" pitchFamily="18" charset="0"/>
              <a:cs typeface="Times New Roman" panose="02020603050405020304" pitchFamily="18" charset="0"/>
            </a:endParaRPr>
          </a:p>
          <a:p>
            <a:pPr marL="914400" lvl="1" indent="-324008" algn="l" rtl="0">
              <a:lnSpc>
                <a:spcPct val="105000"/>
              </a:lnSpc>
              <a:spcBef>
                <a:spcPts val="0"/>
              </a:spcBef>
              <a:spcAft>
                <a:spcPts val="0"/>
              </a:spcAft>
              <a:buClr>
                <a:srgbClr val="000000"/>
              </a:buClr>
              <a:buSzPts val="1503"/>
              <a:buChar char="○"/>
            </a:pPr>
            <a:r>
              <a:rPr lang="en" sz="1502" b="1">
                <a:solidFill>
                  <a:srgbClr val="000000"/>
                </a:solidFill>
                <a:latin typeface="Times New Roman" panose="02020603050405020304" pitchFamily="18" charset="0"/>
                <a:cs typeface="Times New Roman" panose="02020603050405020304" pitchFamily="18" charset="0"/>
              </a:rPr>
              <a:t>Structured programming</a:t>
            </a:r>
            <a:r>
              <a:rPr lang="en" sz="1502">
                <a:solidFill>
                  <a:srgbClr val="000000"/>
                </a:solidFill>
                <a:latin typeface="Times New Roman" panose="02020603050405020304" pitchFamily="18" charset="0"/>
                <a:cs typeface="Times New Roman" panose="02020603050405020304" pitchFamily="18" charset="0"/>
              </a:rPr>
              <a:t>: Approach of using high-level programming languages to reduce the size and complexity of programs </a:t>
            </a:r>
            <a:endParaRPr sz="1502">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1200"/>
              </a:spcAft>
              <a:buSzPts val="1018"/>
              <a:buNone/>
            </a:pPr>
            <a:endParaRPr sz="1502">
              <a:solidFill>
                <a:srgbClr val="000000"/>
              </a:solidFill>
              <a:latin typeface="Times New Roman" panose="02020603050405020304" pitchFamily="18" charset="0"/>
              <a:cs typeface="Times New Roman" panose="02020603050405020304" pitchFamily="18" charset="0"/>
            </a:endParaRPr>
          </a:p>
        </p:txBody>
      </p:sp>
      <p:pic>
        <p:nvPicPr>
          <p:cNvPr id="256" name="Google Shape;256;p40"/>
          <p:cNvPicPr preferRelativeResize="0"/>
          <p:nvPr/>
        </p:nvPicPr>
        <p:blipFill>
          <a:blip r:embed="rId3">
            <a:alphaModFix/>
          </a:blip>
          <a:stretch>
            <a:fillRect/>
          </a:stretch>
        </p:blipFill>
        <p:spPr>
          <a:xfrm>
            <a:off x="3987075" y="1256250"/>
            <a:ext cx="4961425" cy="24391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1"/>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2" name="Google Shape;262;p41"/>
          <p:cNvSpPr txBox="1">
            <a:spLocks noGrp="1"/>
          </p:cNvSpPr>
          <p:nvPr>
            <p:ph type="body" idx="1"/>
          </p:nvPr>
        </p:nvSpPr>
        <p:spPr>
          <a:xfrm>
            <a:off x="729450" y="1316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latin typeface="Times New Roman" panose="02020603050405020304" pitchFamily="18" charset="0"/>
                <a:cs typeface="Times New Roman" panose="02020603050405020304" pitchFamily="18" charset="0"/>
              </a:rPr>
              <a:t>3. </a:t>
            </a:r>
            <a:r>
              <a:rPr lang="en" b="1">
                <a:solidFill>
                  <a:srgbClr val="000000"/>
                </a:solidFill>
                <a:latin typeface="Times New Roman" panose="02020603050405020304" pitchFamily="18" charset="0"/>
                <a:cs typeface="Times New Roman" panose="02020603050405020304" pitchFamily="18" charset="0"/>
              </a:rPr>
              <a:t>Documentation</a:t>
            </a:r>
            <a:r>
              <a:rPr lang="en">
                <a:solidFill>
                  <a:srgbClr val="000000"/>
                </a:solidFill>
                <a:latin typeface="Times New Roman" panose="02020603050405020304" pitchFamily="18" charset="0"/>
                <a:cs typeface="Times New Roman" panose="02020603050405020304" pitchFamily="18" charset="0"/>
              </a:rPr>
              <a:t>: Due to the high turnover of staff within the software industry, it is essential to maintain proper documentation. </a:t>
            </a:r>
            <a:endParaRPr>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a:solidFill>
                  <a:srgbClr val="000000"/>
                </a:solidFill>
                <a:latin typeface="Times New Roman" panose="02020603050405020304" pitchFamily="18" charset="0"/>
                <a:cs typeface="Times New Roman" panose="02020603050405020304" pitchFamily="18" charset="0"/>
              </a:rPr>
              <a:t>Maintainers need to have access to the system documentation to enable them to understand the functionality, design, implementation and other issues.</a:t>
            </a:r>
            <a:endParaRPr>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a:solidFill>
                <a:srgbClr val="000000"/>
              </a:solidFill>
              <a:latin typeface="Times New Roman" panose="02020603050405020304" pitchFamily="18" charset="0"/>
              <a:cs typeface="Times New Roman" panose="02020603050405020304" pitchFamily="18" charset="0"/>
            </a:endParaRPr>
          </a:p>
        </p:txBody>
      </p:sp>
      <p:pic>
        <p:nvPicPr>
          <p:cNvPr id="263" name="Google Shape;263;p41"/>
          <p:cNvPicPr preferRelativeResize="0"/>
          <p:nvPr/>
        </p:nvPicPr>
        <p:blipFill>
          <a:blip r:embed="rId3">
            <a:alphaModFix/>
          </a:blip>
          <a:stretch>
            <a:fillRect/>
          </a:stretch>
        </p:blipFill>
        <p:spPr>
          <a:xfrm>
            <a:off x="787000" y="2658125"/>
            <a:ext cx="6469225" cy="946900"/>
          </a:xfrm>
          <a:prstGeom prst="rect">
            <a:avLst/>
          </a:prstGeom>
          <a:noFill/>
          <a:ln>
            <a:noFill/>
          </a:ln>
        </p:spPr>
      </p:pic>
      <p:sp>
        <p:nvSpPr>
          <p:cNvPr id="264" name="Google Shape;264;p41"/>
          <p:cNvSpPr txBox="1"/>
          <p:nvPr/>
        </p:nvSpPr>
        <p:spPr>
          <a:xfrm>
            <a:off x="1554450" y="407050"/>
            <a:ext cx="108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Times New Roman" panose="02020603050405020304" pitchFamily="18" charset="0"/>
              <a:ea typeface="Lato"/>
              <a:cs typeface="Times New Roman" panose="02020603050405020304" pitchFamily="18" charset="0"/>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2"/>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0" name="Google Shape;270;p42"/>
          <p:cNvSpPr txBox="1">
            <a:spLocks noGrp="1"/>
          </p:cNvSpPr>
          <p:nvPr>
            <p:ph type="body" idx="1"/>
          </p:nvPr>
        </p:nvSpPr>
        <p:spPr>
          <a:xfrm>
            <a:off x="43650" y="1164475"/>
            <a:ext cx="3578100" cy="361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latin typeface="Times New Roman" panose="02020603050405020304" pitchFamily="18" charset="0"/>
                <a:cs typeface="Times New Roman" panose="02020603050405020304" pitchFamily="18" charset="0"/>
              </a:rPr>
              <a:t>4. Organisation and Presentation of Programs:</a:t>
            </a:r>
            <a:endParaRPr>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a:solidFill>
                  <a:srgbClr val="000000"/>
                </a:solidFill>
                <a:latin typeface="Times New Roman" panose="02020603050405020304" pitchFamily="18" charset="0"/>
                <a:cs typeface="Times New Roman" panose="02020603050405020304" pitchFamily="18" charset="0"/>
              </a:rPr>
              <a:t>Enhanced program presentation can improve understanding by</a:t>
            </a:r>
            <a:endParaRPr>
              <a:solidFill>
                <a:srgbClr val="000000"/>
              </a:solidFill>
              <a:latin typeface="Times New Roman" panose="02020603050405020304" pitchFamily="18" charset="0"/>
              <a:cs typeface="Times New Roman" panose="02020603050405020304" pitchFamily="18" charset="0"/>
            </a:endParaRPr>
          </a:p>
          <a:p>
            <a:pPr marL="457200" lvl="0" indent="-311150" algn="l" rtl="0">
              <a:spcBef>
                <a:spcPts val="1200"/>
              </a:spcBef>
              <a:spcAft>
                <a:spcPts val="0"/>
              </a:spcAft>
              <a:buClr>
                <a:srgbClr val="000000"/>
              </a:buClr>
              <a:buSzPts val="1300"/>
              <a:buChar char="●"/>
            </a:pPr>
            <a:r>
              <a:rPr lang="en">
                <a:solidFill>
                  <a:srgbClr val="000000"/>
                </a:solidFill>
                <a:latin typeface="Times New Roman" panose="02020603050405020304" pitchFamily="18" charset="0"/>
                <a:cs typeface="Times New Roman" panose="02020603050405020304" pitchFamily="18" charset="0"/>
              </a:rPr>
              <a:t>Facilitating a clear and correct expression of the mental model of the program</a:t>
            </a:r>
            <a:endParaRPr>
              <a:solidFill>
                <a:srgbClr val="000000"/>
              </a:solidFill>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Clr>
                <a:srgbClr val="000000"/>
              </a:buClr>
              <a:buSzPts val="1300"/>
              <a:buChar char="●"/>
            </a:pPr>
            <a:r>
              <a:rPr lang="en">
                <a:solidFill>
                  <a:srgbClr val="000000"/>
                </a:solidFill>
                <a:latin typeface="Times New Roman" panose="02020603050405020304" pitchFamily="18" charset="0"/>
                <a:cs typeface="Times New Roman" panose="02020603050405020304" pitchFamily="18" charset="0"/>
              </a:rPr>
              <a:t>Emphasising the control flow the program's hierarchic structure and the programmer's - logical and syntactic - intent </a:t>
            </a:r>
            <a:endParaRPr>
              <a:solidFill>
                <a:srgbClr val="000000"/>
              </a:solidFill>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Clr>
                <a:srgbClr val="000000"/>
              </a:buClr>
              <a:buSzPts val="1300"/>
              <a:buChar char="●"/>
            </a:pPr>
            <a:r>
              <a:rPr lang="en">
                <a:solidFill>
                  <a:srgbClr val="000000"/>
                </a:solidFill>
                <a:latin typeface="Times New Roman" panose="02020603050405020304" pitchFamily="18" charset="0"/>
                <a:cs typeface="Times New Roman" panose="02020603050405020304" pitchFamily="18" charset="0"/>
              </a:rPr>
              <a:t>Visually enhancing the source code through the use of </a:t>
            </a:r>
            <a:endParaRPr>
              <a:solidFill>
                <a:srgbClr val="000000"/>
              </a:solidFill>
              <a:latin typeface="Times New Roman" panose="02020603050405020304" pitchFamily="18" charset="0"/>
              <a:cs typeface="Times New Roman" panose="02020603050405020304" pitchFamily="18" charset="0"/>
            </a:endParaRPr>
          </a:p>
          <a:p>
            <a:pPr marL="914400" lvl="1" indent="-311150" algn="l" rtl="0">
              <a:spcBef>
                <a:spcPts val="0"/>
              </a:spcBef>
              <a:spcAft>
                <a:spcPts val="0"/>
              </a:spcAft>
              <a:buClr>
                <a:srgbClr val="000000"/>
              </a:buClr>
              <a:buSzPts val="1300"/>
              <a:buChar char="○"/>
            </a:pPr>
            <a:r>
              <a:rPr lang="en" sz="1300">
                <a:solidFill>
                  <a:srgbClr val="000000"/>
                </a:solidFill>
                <a:latin typeface="Times New Roman" panose="02020603050405020304" pitchFamily="18" charset="0"/>
                <a:cs typeface="Times New Roman" panose="02020603050405020304" pitchFamily="18" charset="0"/>
              </a:rPr>
              <a:t>Indentation</a:t>
            </a:r>
            <a:endParaRPr sz="1300">
              <a:solidFill>
                <a:srgbClr val="000000"/>
              </a:solidFill>
              <a:latin typeface="Times New Roman" panose="02020603050405020304" pitchFamily="18" charset="0"/>
              <a:cs typeface="Times New Roman" panose="02020603050405020304" pitchFamily="18" charset="0"/>
            </a:endParaRPr>
          </a:p>
          <a:p>
            <a:pPr marL="914400" lvl="1" indent="-311150" algn="l" rtl="0">
              <a:spcBef>
                <a:spcPts val="0"/>
              </a:spcBef>
              <a:spcAft>
                <a:spcPts val="0"/>
              </a:spcAft>
              <a:buClr>
                <a:srgbClr val="000000"/>
              </a:buClr>
              <a:buSzPts val="1300"/>
              <a:buChar char="○"/>
            </a:pPr>
            <a:r>
              <a:rPr lang="en" sz="1300">
                <a:solidFill>
                  <a:srgbClr val="000000"/>
                </a:solidFill>
                <a:latin typeface="Times New Roman" panose="02020603050405020304" pitchFamily="18" charset="0"/>
                <a:cs typeface="Times New Roman" panose="02020603050405020304" pitchFamily="18" charset="0"/>
              </a:rPr>
              <a:t>Spacing</a:t>
            </a:r>
            <a:endParaRPr sz="1300">
              <a:solidFill>
                <a:srgbClr val="000000"/>
              </a:solidFill>
              <a:latin typeface="Times New Roman" panose="02020603050405020304" pitchFamily="18" charset="0"/>
              <a:cs typeface="Times New Roman" panose="02020603050405020304" pitchFamily="18" charset="0"/>
            </a:endParaRPr>
          </a:p>
          <a:p>
            <a:pPr marL="914400" lvl="1" indent="-311150" algn="l" rtl="0">
              <a:spcBef>
                <a:spcPts val="0"/>
              </a:spcBef>
              <a:spcAft>
                <a:spcPts val="0"/>
              </a:spcAft>
              <a:buClr>
                <a:srgbClr val="000000"/>
              </a:buClr>
              <a:buSzPts val="1300"/>
              <a:buChar char="○"/>
            </a:pPr>
            <a:r>
              <a:rPr lang="en" sz="1300">
                <a:solidFill>
                  <a:srgbClr val="000000"/>
                </a:solidFill>
                <a:latin typeface="Times New Roman" panose="02020603050405020304" pitchFamily="18" charset="0"/>
                <a:cs typeface="Times New Roman" panose="02020603050405020304" pitchFamily="18" charset="0"/>
              </a:rPr>
              <a:t>Boxing and shading </a:t>
            </a:r>
            <a:endParaRPr sz="1300">
              <a:solidFill>
                <a:srgbClr val="000000"/>
              </a:solidFill>
              <a:latin typeface="Times New Roman" panose="02020603050405020304" pitchFamily="18" charset="0"/>
              <a:cs typeface="Times New Roman" panose="02020603050405020304" pitchFamily="18" charset="0"/>
            </a:endParaRPr>
          </a:p>
          <a:p>
            <a:pPr marL="457200" lvl="0" indent="0" algn="l" rtl="0">
              <a:spcBef>
                <a:spcPts val="1200"/>
              </a:spcBef>
              <a:spcAft>
                <a:spcPts val="1200"/>
              </a:spcAft>
              <a:buNone/>
            </a:pPr>
            <a:endParaRPr>
              <a:solidFill>
                <a:srgbClr val="000000"/>
              </a:solidFill>
              <a:latin typeface="Times New Roman" panose="02020603050405020304" pitchFamily="18" charset="0"/>
              <a:cs typeface="Times New Roman" panose="02020603050405020304" pitchFamily="18" charset="0"/>
            </a:endParaRPr>
          </a:p>
        </p:txBody>
      </p:sp>
      <p:pic>
        <p:nvPicPr>
          <p:cNvPr id="271" name="Google Shape;271;p42"/>
          <p:cNvPicPr preferRelativeResize="0"/>
          <p:nvPr/>
        </p:nvPicPr>
        <p:blipFill>
          <a:blip r:embed="rId3">
            <a:alphaModFix/>
          </a:blip>
          <a:stretch>
            <a:fillRect/>
          </a:stretch>
        </p:blipFill>
        <p:spPr>
          <a:xfrm>
            <a:off x="3749050" y="2078875"/>
            <a:ext cx="5346075" cy="1443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7" name="Google Shape;277;p43"/>
          <p:cNvSpPr txBox="1">
            <a:spLocks noGrp="1"/>
          </p:cNvSpPr>
          <p:nvPr>
            <p:ph type="body" idx="1"/>
          </p:nvPr>
        </p:nvSpPr>
        <p:spPr>
          <a:xfrm>
            <a:off x="43650" y="1164475"/>
            <a:ext cx="3578100" cy="361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latin typeface="Times New Roman" panose="02020603050405020304" pitchFamily="18" charset="0"/>
                <a:cs typeface="Times New Roman" panose="02020603050405020304" pitchFamily="18" charset="0"/>
              </a:rPr>
              <a:t>4. Organisation and Presentation of Programs:</a:t>
            </a:r>
            <a:endParaRPr>
              <a:solidFill>
                <a:srgbClr val="000000"/>
              </a:solidFill>
              <a:latin typeface="Times New Roman" panose="02020603050405020304" pitchFamily="18" charset="0"/>
              <a:cs typeface="Times New Roman" panose="02020603050405020304" pitchFamily="18" charset="0"/>
            </a:endParaRPr>
          </a:p>
          <a:p>
            <a:pPr marL="457200" lvl="0" indent="0" algn="l" rtl="0">
              <a:spcBef>
                <a:spcPts val="1200"/>
              </a:spcBef>
              <a:spcAft>
                <a:spcPts val="1200"/>
              </a:spcAft>
              <a:buNone/>
            </a:pPr>
            <a:endParaRPr>
              <a:solidFill>
                <a:srgbClr val="000000"/>
              </a:solidFill>
              <a:latin typeface="Times New Roman" panose="02020603050405020304" pitchFamily="18" charset="0"/>
              <a:cs typeface="Times New Roman" panose="02020603050405020304" pitchFamily="18" charset="0"/>
            </a:endParaRPr>
          </a:p>
        </p:txBody>
      </p:sp>
      <p:pic>
        <p:nvPicPr>
          <p:cNvPr id="278" name="Google Shape;278;p43"/>
          <p:cNvPicPr preferRelativeResize="0"/>
          <p:nvPr/>
        </p:nvPicPr>
        <p:blipFill>
          <a:blip r:embed="rId3">
            <a:alphaModFix/>
          </a:blip>
          <a:stretch>
            <a:fillRect/>
          </a:stretch>
        </p:blipFill>
        <p:spPr>
          <a:xfrm>
            <a:off x="1131375" y="1502625"/>
            <a:ext cx="5550050" cy="3619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4"/>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Factors that Affect Understanding</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4" name="Google Shape;284;p44"/>
          <p:cNvSpPr txBox="1">
            <a:spLocks noGrp="1"/>
          </p:cNvSpPr>
          <p:nvPr>
            <p:ph type="body" idx="1"/>
          </p:nvPr>
        </p:nvSpPr>
        <p:spPr>
          <a:xfrm>
            <a:off x="43650" y="1164475"/>
            <a:ext cx="3578100" cy="361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rgbClr val="000000"/>
                </a:solidFill>
                <a:latin typeface="Times New Roman" panose="02020603050405020304" pitchFamily="18" charset="0"/>
                <a:cs typeface="Times New Roman" panose="02020603050405020304" pitchFamily="18" charset="0"/>
              </a:rPr>
              <a:t>5. Comprehension Support Tools:</a:t>
            </a:r>
            <a:endParaRPr sz="150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a:solidFill>
                  <a:srgbClr val="000000"/>
                </a:solidFill>
                <a:latin typeface="Times New Roman" panose="02020603050405020304" pitchFamily="18" charset="0"/>
                <a:cs typeface="Times New Roman" panose="02020603050405020304" pitchFamily="18" charset="0"/>
              </a:rPr>
              <a:t>There are tools which can be used to organise and present source code in a way that makes it more legible, more readable and hence more understandable.</a:t>
            </a:r>
            <a:endParaRPr sz="150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a:solidFill>
                  <a:srgbClr val="000000"/>
                </a:solidFill>
                <a:latin typeface="Times New Roman" panose="02020603050405020304" pitchFamily="18" charset="0"/>
                <a:cs typeface="Times New Roman" panose="02020603050405020304" pitchFamily="18" charset="0"/>
              </a:rPr>
              <a:t>Example: “Book Paradigm” involves documenting source code using publishing features and style traditionally found in books.</a:t>
            </a:r>
            <a:endParaRPr sz="150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500">
              <a:solidFill>
                <a:srgbClr val="000000"/>
              </a:solidFill>
              <a:latin typeface="Times New Roman" panose="02020603050405020304" pitchFamily="18" charset="0"/>
              <a:cs typeface="Times New Roman" panose="02020603050405020304" pitchFamily="18" charset="0"/>
            </a:endParaRPr>
          </a:p>
        </p:txBody>
      </p:sp>
      <p:pic>
        <p:nvPicPr>
          <p:cNvPr id="285" name="Google Shape;285;p44"/>
          <p:cNvPicPr preferRelativeResize="0"/>
          <p:nvPr/>
        </p:nvPicPr>
        <p:blipFill>
          <a:blip r:embed="rId3">
            <a:alphaModFix/>
          </a:blip>
          <a:stretch>
            <a:fillRect/>
          </a:stretch>
        </p:blipFill>
        <p:spPr>
          <a:xfrm>
            <a:off x="3774150" y="1396650"/>
            <a:ext cx="5049350" cy="1201200"/>
          </a:xfrm>
          <a:prstGeom prst="rect">
            <a:avLst/>
          </a:prstGeom>
          <a:noFill/>
          <a:ln>
            <a:noFill/>
          </a:ln>
        </p:spPr>
      </p:pic>
      <p:pic>
        <p:nvPicPr>
          <p:cNvPr id="286" name="Google Shape;286;p44"/>
          <p:cNvPicPr preferRelativeResize="0"/>
          <p:nvPr/>
        </p:nvPicPr>
        <p:blipFill>
          <a:blip r:embed="rId4">
            <a:alphaModFix/>
          </a:blip>
          <a:stretch>
            <a:fillRect/>
          </a:stretch>
        </p:blipFill>
        <p:spPr>
          <a:xfrm>
            <a:off x="4062613" y="2750250"/>
            <a:ext cx="4472425" cy="2393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5"/>
          <p:cNvSpPr txBox="1">
            <a:spLocks noGrp="1"/>
          </p:cNvSpPr>
          <p:nvPr>
            <p:ph type="title"/>
          </p:nvPr>
        </p:nvSpPr>
        <p:spPr>
          <a:xfrm>
            <a:off x="640241" y="612406"/>
            <a:ext cx="7500150" cy="754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 Implications of Comprehension Theories and Studies</a:t>
            </a:r>
            <a:endParaRPr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292" name="Google Shape;292;p45"/>
          <p:cNvSpPr txBox="1">
            <a:spLocks noGrp="1"/>
          </p:cNvSpPr>
          <p:nvPr>
            <p:ph type="body" idx="1"/>
          </p:nvPr>
        </p:nvSpPr>
        <p:spPr>
          <a:xfrm>
            <a:off x="729450" y="1512775"/>
            <a:ext cx="7978800" cy="327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000000"/>
                </a:solidFill>
                <a:latin typeface="Times New Roman" panose="02020603050405020304" pitchFamily="18" charset="0"/>
                <a:cs typeface="Times New Roman" panose="02020603050405020304" pitchFamily="18" charset="0"/>
              </a:rPr>
              <a:t>1. Knowledge Acquisition and Performance: </a:t>
            </a:r>
            <a:endParaRPr sz="1500" b="1"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dirty="0">
                <a:solidFill>
                  <a:srgbClr val="000000"/>
                </a:solidFill>
                <a:latin typeface="Times New Roman" panose="02020603050405020304" pitchFamily="18" charset="0"/>
                <a:cs typeface="Times New Roman" panose="02020603050405020304" pitchFamily="18" charset="0"/>
              </a:rPr>
              <a:t>The knowledge that a maintainer requires for modifying a program depends on the nature of the change. </a:t>
            </a: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dirty="0">
                <a:solidFill>
                  <a:srgbClr val="000000"/>
                </a:solidFill>
                <a:latin typeface="Times New Roman" panose="02020603050405020304" pitchFamily="18" charset="0"/>
                <a:cs typeface="Times New Roman" panose="02020603050405020304" pitchFamily="18" charset="0"/>
              </a:rPr>
              <a:t>The maintainers who used a systematic strategy for program comprehension (similar to the opportunistic) were successful in making modifications because they gathered knowledge about the cause effect relation of the system's functional units. </a:t>
            </a: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b="1" dirty="0">
                <a:solidFill>
                  <a:srgbClr val="000000"/>
                </a:solidFill>
                <a:latin typeface="Times New Roman" panose="02020603050405020304" pitchFamily="18" charset="0"/>
                <a:cs typeface="Times New Roman" panose="02020603050405020304" pitchFamily="18" charset="0"/>
              </a:rPr>
              <a:t>2.Education and Training:</a:t>
            </a:r>
            <a:endParaRPr sz="1500" b="1"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dirty="0">
                <a:solidFill>
                  <a:srgbClr val="000000"/>
                </a:solidFill>
                <a:latin typeface="Times New Roman" panose="02020603050405020304" pitchFamily="18" charset="0"/>
                <a:cs typeface="Times New Roman" panose="02020603050405020304" pitchFamily="18" charset="0"/>
              </a:rPr>
              <a:t>Maintainers need to be taught about program understanding. They can reflect on the appropriateness of the strategy that they usually use. </a:t>
            </a: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5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6"/>
          <p:cNvSpPr txBox="1">
            <a:spLocks noGrp="1"/>
          </p:cNvSpPr>
          <p:nvPr>
            <p:ph type="title"/>
          </p:nvPr>
        </p:nvSpPr>
        <p:spPr>
          <a:xfrm>
            <a:off x="729450" y="404250"/>
            <a:ext cx="7688700" cy="754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 Implications of Comprehension Theories and</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Studies</a:t>
            </a:r>
            <a:endParaRPr>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8" name="Google Shape;298;p46"/>
          <p:cNvSpPr txBox="1">
            <a:spLocks noGrp="1"/>
          </p:cNvSpPr>
          <p:nvPr>
            <p:ph type="body" idx="1"/>
          </p:nvPr>
        </p:nvSpPr>
        <p:spPr>
          <a:xfrm>
            <a:off x="729450" y="1512775"/>
            <a:ext cx="7978800" cy="327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000000"/>
                </a:solidFill>
                <a:latin typeface="Times New Roman" panose="02020603050405020304" pitchFamily="18" charset="0"/>
                <a:cs typeface="Times New Roman" panose="02020603050405020304" pitchFamily="18" charset="0"/>
              </a:rPr>
              <a:t>3. Design Principles: </a:t>
            </a:r>
            <a:endParaRPr sz="1500" b="1"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500" dirty="0">
                <a:solidFill>
                  <a:srgbClr val="000000"/>
                </a:solidFill>
                <a:latin typeface="Times New Roman" panose="02020603050405020304" pitchFamily="18" charset="0"/>
                <a:cs typeface="Times New Roman" panose="02020603050405020304" pitchFamily="18" charset="0"/>
              </a:rPr>
              <a:t>Comprehension hinges on the ability to form an accurate mental model of the target program. Lessons can be learnt about appropriate principles for designing programs, programming languages, documentation standards and support tools that facilitate the formation of mental models.</a:t>
            </a:r>
            <a:br>
              <a:rPr lang="en" sz="1500" dirty="0">
                <a:solidFill>
                  <a:srgbClr val="000000"/>
                </a:solidFill>
                <a:latin typeface="Times New Roman" panose="02020603050405020304" pitchFamily="18" charset="0"/>
                <a:cs typeface="Times New Roman" panose="02020603050405020304" pitchFamily="18" charset="0"/>
              </a:rPr>
            </a:br>
            <a:br>
              <a:rPr lang="en" sz="1500" dirty="0">
                <a:solidFill>
                  <a:srgbClr val="000000"/>
                </a:solidFill>
                <a:latin typeface="Times New Roman" panose="02020603050405020304" pitchFamily="18" charset="0"/>
                <a:cs typeface="Times New Roman" panose="02020603050405020304" pitchFamily="18" charset="0"/>
              </a:rPr>
            </a:br>
            <a:r>
              <a:rPr lang="en" sz="1500" b="1" dirty="0">
                <a:solidFill>
                  <a:srgbClr val="000000"/>
                </a:solidFill>
                <a:latin typeface="Times New Roman" panose="02020603050405020304" pitchFamily="18" charset="0"/>
                <a:cs typeface="Times New Roman" panose="02020603050405020304" pitchFamily="18" charset="0"/>
              </a:rPr>
              <a:t>4.Guidelines and Recommendations: </a:t>
            </a:r>
          </a:p>
          <a:p>
            <a:pPr marL="0" lvl="0" indent="0" algn="l" rtl="0">
              <a:spcBef>
                <a:spcPts val="1200"/>
              </a:spcBef>
              <a:spcAft>
                <a:spcPts val="0"/>
              </a:spcAft>
              <a:buNone/>
            </a:pPr>
            <a:r>
              <a:rPr lang="en" sz="1500" dirty="0">
                <a:solidFill>
                  <a:srgbClr val="000000"/>
                </a:solidFill>
                <a:latin typeface="Times New Roman" panose="02020603050405020304" pitchFamily="18" charset="0"/>
                <a:cs typeface="Times New Roman" panose="02020603050405020304" pitchFamily="18" charset="0"/>
              </a:rPr>
              <a:t>Results from empirical studies provide a basis for software maintainers to set guidelines for programming and documentation practices.</a:t>
            </a: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5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5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2535</Words>
  <Application>Microsoft Office PowerPoint</Application>
  <PresentationFormat>On-screen Show (16:9)</PresentationFormat>
  <Paragraphs>212</Paragraphs>
  <Slides>38</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Lato</vt:lpstr>
      <vt:lpstr>Times New Roman</vt:lpstr>
      <vt:lpstr>Courier New</vt:lpstr>
      <vt:lpstr>Raleway</vt:lpstr>
      <vt:lpstr>Streamline</vt:lpstr>
      <vt:lpstr>Chapter 6</vt:lpstr>
      <vt:lpstr>Overview</vt:lpstr>
      <vt:lpstr>PowerPoint Presentation</vt:lpstr>
      <vt:lpstr>Program Comprehension</vt:lpstr>
      <vt:lpstr>Features of a software product and their importance to understanding </vt:lpstr>
      <vt:lpstr>PowerPoint Presentation</vt:lpstr>
      <vt:lpstr>PowerPoint Presentation</vt:lpstr>
      <vt:lpstr>PowerPoint Presentation</vt:lpstr>
      <vt:lpstr>Maintainers and Their Information Needs</vt:lpstr>
      <vt:lpstr>Maintainers and Their Information Needs</vt:lpstr>
      <vt:lpstr>Maintainers and Their Information Needs </vt:lpstr>
      <vt:lpstr>Key Activities of Program Comprehension</vt:lpstr>
      <vt:lpstr>Static Analysis</vt:lpstr>
      <vt:lpstr>Key Activities of Static Analysis</vt:lpstr>
      <vt:lpstr>Dynamic Analysis</vt:lpstr>
      <vt:lpstr>Key Activities of Dynamic Analysis</vt:lpstr>
      <vt:lpstr>Comprehension Process Models</vt:lpstr>
      <vt:lpstr>Comprehension Process Models</vt:lpstr>
      <vt:lpstr>Comprehension Process Models</vt:lpstr>
      <vt:lpstr>Comprehension Process Models </vt:lpstr>
      <vt:lpstr>Mental Models</vt:lpstr>
      <vt:lpstr>Program Comprehension</vt:lpstr>
      <vt:lpstr>Program Comprehension </vt:lpstr>
      <vt:lpstr>Beacons in Program Comprehension  </vt:lpstr>
      <vt:lpstr>Program Comprehension Strategies</vt:lpstr>
      <vt:lpstr>Program Comprehension Strategies</vt:lpstr>
      <vt:lpstr>Program Comprehension Strategies</vt:lpstr>
      <vt:lpstr>Program Comprehension Strategies </vt:lpstr>
      <vt:lpstr>Program Comprehension Strategies </vt:lpstr>
      <vt:lpstr>Factors that Affect Understanding</vt:lpstr>
      <vt:lpstr>Factors that Affect Understanding </vt:lpstr>
      <vt:lpstr>Factors that Affect Understanding </vt:lpstr>
      <vt:lpstr>Factors that Affect Understanding  </vt:lpstr>
      <vt:lpstr>Factors that Affect Understanding   </vt:lpstr>
      <vt:lpstr>Factors that Affect Understanding   </vt:lpstr>
      <vt:lpstr>Factors that Affect Understanding   </vt:lpstr>
      <vt:lpstr> Implications of Comprehension Theories and Studies </vt:lpstr>
      <vt:lpstr> Implications of Comprehension Theories and Studies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Namisa__ __</cp:lastModifiedBy>
  <cp:revision>7</cp:revision>
  <dcterms:modified xsi:type="dcterms:W3CDTF">2026-05-17T17:13:26Z</dcterms:modified>
</cp:coreProperties>
</file>