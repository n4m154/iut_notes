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Lst>
  <p:sldSz cx="9144000" cy="5143500" type="screen16x9"/>
  <p:notesSz cx="6858000" cy="9144000"/>
  <p:embeddedFontLst>
    <p:embeddedFont>
      <p:font typeface="Lato" panose="020F0502020204030203" pitchFamily="34" charset="0"/>
      <p:regular r:id="rId30"/>
      <p:bold r:id="rId31"/>
      <p:italic r:id="rId32"/>
      <p:boldItalic r:id="rId33"/>
    </p:embeddedFont>
    <p:embeddedFont>
      <p:font typeface="Raleway"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8570bffc2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8570bffc2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11fdfcee8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11fdfcee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08570bffc2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08570bffc2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08570bffc2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08570bffc2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08570bffc2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08570bffc2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08570bffc2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08570bffc2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08570bffc2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08570bffc2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08570bffc2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08570bffc2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08570bffc2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08570bffc2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08570bffc2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108570bffc2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08570bffc2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108570bffc2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08570bffc2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108570bffc2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08570bffc2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08570bffc2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08570bffc2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08570bffc2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08570bffc2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08570bffc2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08570bffc2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08570bffc2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108570bffc2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108570bffc2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08570bffc2_0_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108570bffc2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08570bffc2_0_2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08570bffc2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108570bffc2_0_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108570bffc2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08570bffc2_0_3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108570bffc2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108570bffc2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108570bffc2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108570bffc2_0_3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108570bffc2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108570bffc2_0_3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108570bffc2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08570bffc2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108570bffc2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08570bffc2_0_3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108570bffc2_0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Chapter 8</a:t>
            </a:r>
            <a:endParaRPr/>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Reuse and Reusability</a:t>
            </a:r>
            <a:endParaRPr sz="27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Overview</a:t>
            </a:r>
            <a:endParaRPr dirty="0">
              <a:latin typeface="Times New Roman" panose="02020603050405020304" pitchFamily="18" charset="0"/>
              <a:cs typeface="Times New Roman" panose="02020603050405020304" pitchFamily="18" charset="0"/>
            </a:endParaRPr>
          </a:p>
        </p:txBody>
      </p:sp>
      <p:sp>
        <p:nvSpPr>
          <p:cNvPr id="93" name="Google Shape;93;p14"/>
          <p:cNvSpPr txBox="1">
            <a:spLocks noGrp="1"/>
          </p:cNvSpPr>
          <p:nvPr>
            <p:ph type="body" idx="1"/>
          </p:nvPr>
        </p:nvSpPr>
        <p:spPr>
          <a:xfrm>
            <a:off x="729450" y="1164475"/>
            <a:ext cx="7688700" cy="30645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Software Reuse</a:t>
            </a:r>
            <a:endParaRPr sz="1200" dirty="0">
              <a:solidFill>
                <a:srgbClr val="000000"/>
              </a:solidFill>
              <a:latin typeface="Times New Roman" panose="02020603050405020304" pitchFamily="18" charset="0"/>
              <a:cs typeface="Times New Roman" panose="02020603050405020304" pitchFamily="18" charset="0"/>
            </a:endParaRPr>
          </a:p>
          <a:p>
            <a:pPr marL="457200" lvl="0"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Targets for Reuse</a:t>
            </a:r>
            <a:endParaRPr sz="1200" dirty="0">
              <a:solidFill>
                <a:srgbClr val="000000"/>
              </a:solidFill>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Process</a:t>
            </a:r>
            <a:endParaRPr sz="1200" dirty="0">
              <a:solidFill>
                <a:srgbClr val="000000"/>
              </a:solidFill>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Personnel</a:t>
            </a:r>
            <a:endParaRPr sz="1200" dirty="0">
              <a:solidFill>
                <a:srgbClr val="000000"/>
              </a:solidFill>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Product</a:t>
            </a:r>
            <a:endParaRPr sz="1200" dirty="0">
              <a:solidFill>
                <a:srgbClr val="000000"/>
              </a:solidFill>
              <a:latin typeface="Times New Roman" panose="02020603050405020304" pitchFamily="18" charset="0"/>
              <a:cs typeface="Times New Roman" panose="02020603050405020304" pitchFamily="18" charset="0"/>
            </a:endParaRPr>
          </a:p>
          <a:p>
            <a:pPr marL="1371600" lvl="2"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Data</a:t>
            </a:r>
            <a:endParaRPr sz="1200" dirty="0">
              <a:solidFill>
                <a:srgbClr val="000000"/>
              </a:solidFill>
              <a:latin typeface="Times New Roman" panose="02020603050405020304" pitchFamily="18" charset="0"/>
              <a:cs typeface="Times New Roman" panose="02020603050405020304" pitchFamily="18" charset="0"/>
            </a:endParaRPr>
          </a:p>
          <a:p>
            <a:pPr marL="1371600" lvl="2"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Design</a:t>
            </a:r>
            <a:endParaRPr sz="1200" dirty="0">
              <a:solidFill>
                <a:srgbClr val="000000"/>
              </a:solidFill>
              <a:latin typeface="Times New Roman" panose="02020603050405020304" pitchFamily="18" charset="0"/>
              <a:cs typeface="Times New Roman" panose="02020603050405020304" pitchFamily="18" charset="0"/>
            </a:endParaRPr>
          </a:p>
          <a:p>
            <a:pPr marL="1371600" lvl="2"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Program</a:t>
            </a:r>
            <a:endParaRPr sz="1200" dirty="0">
              <a:solidFill>
                <a:srgbClr val="000000"/>
              </a:solidFill>
              <a:latin typeface="Times New Roman" panose="02020603050405020304" pitchFamily="18" charset="0"/>
              <a:cs typeface="Times New Roman" panose="02020603050405020304" pitchFamily="18" charset="0"/>
            </a:endParaRPr>
          </a:p>
          <a:p>
            <a:pPr marL="457200" lvl="0"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Objectives and Benefits of Reuse</a:t>
            </a:r>
            <a:endParaRPr sz="1200" dirty="0">
              <a:solidFill>
                <a:srgbClr val="000000"/>
              </a:solidFill>
              <a:latin typeface="Times New Roman" panose="02020603050405020304" pitchFamily="18" charset="0"/>
              <a:cs typeface="Times New Roman" panose="02020603050405020304" pitchFamily="18" charset="0"/>
            </a:endParaRPr>
          </a:p>
          <a:p>
            <a:pPr marL="457200" lvl="0"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Approaches of Reuse</a:t>
            </a:r>
            <a:endParaRPr sz="1200" dirty="0">
              <a:solidFill>
                <a:srgbClr val="000000"/>
              </a:solidFill>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Composition Based Reuse (Black Box, White box)</a:t>
            </a:r>
            <a:endParaRPr sz="1200" dirty="0">
              <a:solidFill>
                <a:srgbClr val="000000"/>
              </a:solidFill>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Generation Based Reuse ( Application Generator Systems, Transformation Based Systems)</a:t>
            </a:r>
            <a:endParaRPr sz="1200" dirty="0">
              <a:solidFill>
                <a:srgbClr val="000000"/>
              </a:solidFill>
              <a:latin typeface="Times New Roman" panose="02020603050405020304" pitchFamily="18" charset="0"/>
              <a:cs typeface="Times New Roman" panose="02020603050405020304" pitchFamily="18" charset="0"/>
            </a:endParaRPr>
          </a:p>
          <a:p>
            <a:pPr marL="457200" lvl="0"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Domain Analysis</a:t>
            </a:r>
            <a:endParaRPr sz="12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Overview</a:t>
            </a:r>
            <a:endParaRPr>
              <a:latin typeface="Times New Roman" panose="02020603050405020304" pitchFamily="18" charset="0"/>
              <a:cs typeface="Times New Roman" panose="02020603050405020304" pitchFamily="18" charset="0"/>
            </a:endParaRPr>
          </a:p>
        </p:txBody>
      </p:sp>
      <p:sp>
        <p:nvSpPr>
          <p:cNvPr id="99" name="Google Shape;99;p15"/>
          <p:cNvSpPr txBox="1">
            <a:spLocks noGrp="1"/>
          </p:cNvSpPr>
          <p:nvPr>
            <p:ph type="body" idx="1"/>
          </p:nvPr>
        </p:nvSpPr>
        <p:spPr>
          <a:xfrm>
            <a:off x="729450" y="1164475"/>
            <a:ext cx="7688700" cy="30645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Component Reengineering</a:t>
            </a:r>
            <a:endParaRPr sz="1200" dirty="0">
              <a:solidFill>
                <a:srgbClr val="000000"/>
              </a:solidFill>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Design for Reuse</a:t>
            </a:r>
            <a:endParaRPr sz="1200" dirty="0">
              <a:solidFill>
                <a:srgbClr val="000000"/>
              </a:solidFill>
              <a:latin typeface="Times New Roman" panose="02020603050405020304" pitchFamily="18" charset="0"/>
              <a:cs typeface="Times New Roman" panose="02020603050405020304" pitchFamily="18" charset="0"/>
            </a:endParaRPr>
          </a:p>
          <a:p>
            <a:pPr marL="1371600" lvl="2"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Characteristics of reusable components (Generality, Cohesion vs Coupling, Interaction, Uniformity and Standardisation, Data and Control abstraction, Interoperability)</a:t>
            </a:r>
            <a:endParaRPr sz="1200" dirty="0">
              <a:solidFill>
                <a:srgbClr val="000000"/>
              </a:solidFill>
              <a:latin typeface="Times New Roman" panose="02020603050405020304" pitchFamily="18" charset="0"/>
              <a:cs typeface="Times New Roman" panose="02020603050405020304" pitchFamily="18" charset="0"/>
            </a:endParaRPr>
          </a:p>
          <a:p>
            <a:pPr marL="1371600" lvl="2"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Problems (Granularity and Size dilemma, Search problem, classification problem, specification and flexibility problem)</a:t>
            </a:r>
            <a:endParaRPr sz="1200" dirty="0">
              <a:solidFill>
                <a:srgbClr val="000000"/>
              </a:solidFill>
              <a:latin typeface="Times New Roman" panose="02020603050405020304" pitchFamily="18" charset="0"/>
              <a:cs typeface="Times New Roman" panose="02020603050405020304" pitchFamily="18" charset="0"/>
            </a:endParaRPr>
          </a:p>
          <a:p>
            <a:pPr marL="914400" lvl="1"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Reverse Engineering</a:t>
            </a:r>
            <a:endParaRPr sz="1200" dirty="0">
              <a:solidFill>
                <a:srgbClr val="000000"/>
              </a:solidFill>
              <a:latin typeface="Times New Roman" panose="02020603050405020304" pitchFamily="18" charset="0"/>
              <a:cs typeface="Times New Roman" panose="02020603050405020304" pitchFamily="18" charset="0"/>
            </a:endParaRPr>
          </a:p>
          <a:p>
            <a:pPr marL="457200" lvl="0"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Reuse Process Models (Generic and accommodating)</a:t>
            </a:r>
            <a:endParaRPr sz="1200" dirty="0">
              <a:solidFill>
                <a:srgbClr val="000000"/>
              </a:solidFill>
              <a:latin typeface="Times New Roman" panose="02020603050405020304" pitchFamily="18" charset="0"/>
              <a:cs typeface="Times New Roman" panose="02020603050405020304" pitchFamily="18" charset="0"/>
            </a:endParaRPr>
          </a:p>
          <a:p>
            <a:pPr marL="457200" lvl="0" indent="-304800" algn="l" rtl="0">
              <a:spcBef>
                <a:spcPts val="0"/>
              </a:spcBef>
              <a:spcAft>
                <a:spcPts val="0"/>
              </a:spcAft>
              <a:buClr>
                <a:srgbClr val="000000"/>
              </a:buClr>
              <a:buSzPts val="1200"/>
              <a:buChar char="●"/>
            </a:pPr>
            <a:r>
              <a:rPr lang="en" sz="1200" dirty="0">
                <a:solidFill>
                  <a:srgbClr val="000000"/>
                </a:solidFill>
                <a:latin typeface="Times New Roman" panose="02020603050405020304" pitchFamily="18" charset="0"/>
                <a:cs typeface="Times New Roman" panose="02020603050405020304" pitchFamily="18" charset="0"/>
              </a:rPr>
              <a:t>Factors that impact on Reuse (Technical and non-technical factors)</a:t>
            </a:r>
            <a:endParaRPr sz="12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2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Software Reuse</a:t>
            </a:r>
            <a:endParaRPr>
              <a:latin typeface="Times New Roman" panose="02020603050405020304" pitchFamily="18" charset="0"/>
              <a:cs typeface="Times New Roman" panose="02020603050405020304" pitchFamily="18" charset="0"/>
            </a:endParaRPr>
          </a:p>
        </p:txBody>
      </p:sp>
      <p:sp>
        <p:nvSpPr>
          <p:cNvPr id="105" name="Google Shape;105;p16"/>
          <p:cNvSpPr txBox="1">
            <a:spLocks noGrp="1"/>
          </p:cNvSpPr>
          <p:nvPr>
            <p:ph type="body" idx="1"/>
          </p:nvPr>
        </p:nvSpPr>
        <p:spPr>
          <a:xfrm>
            <a:off x="729450" y="1393075"/>
            <a:ext cx="7688700" cy="22611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None/>
            </a:pPr>
            <a:r>
              <a:rPr lang="en" sz="1800" dirty="0">
                <a:solidFill>
                  <a:srgbClr val="000000"/>
                </a:solidFill>
                <a:latin typeface="Times New Roman" panose="02020603050405020304" pitchFamily="18" charset="0"/>
                <a:cs typeface="Times New Roman" panose="02020603050405020304" pitchFamily="18" charset="0"/>
              </a:rPr>
              <a:t>Def:  It refers to reuse of code and any other forms of software-related knowledge that can be reused like knowledge and program artefacts.</a:t>
            </a: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0"/>
              </a:spcAft>
              <a:buNone/>
            </a:pP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0"/>
              </a:spcAft>
              <a:buNone/>
            </a:pPr>
            <a:r>
              <a:rPr lang="en" sz="1800" dirty="0">
                <a:solidFill>
                  <a:srgbClr val="000000"/>
                </a:solidFill>
                <a:highlight>
                  <a:srgbClr val="FFFF00"/>
                </a:highlight>
                <a:latin typeface="Times New Roman" panose="02020603050405020304" pitchFamily="18" charset="0"/>
                <a:cs typeface="Times New Roman" panose="02020603050405020304" pitchFamily="18" charset="0"/>
              </a:rPr>
              <a:t>Targets for Reuse:</a:t>
            </a:r>
            <a:endParaRPr sz="1800" dirty="0">
              <a:solidFill>
                <a:srgbClr val="000000"/>
              </a:solidFill>
              <a:highlight>
                <a:srgbClr val="FFFF00"/>
              </a:highlight>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0"/>
              </a:spcAft>
              <a:buNone/>
            </a:pPr>
            <a:r>
              <a:rPr lang="en" sz="1800" dirty="0">
                <a:solidFill>
                  <a:srgbClr val="000000"/>
                </a:solidFill>
                <a:highlight>
                  <a:srgbClr val="FFFF00"/>
                </a:highlight>
                <a:latin typeface="Times New Roman" panose="02020603050405020304" pitchFamily="18" charset="0"/>
                <a:cs typeface="Times New Roman" panose="02020603050405020304" pitchFamily="18" charset="0"/>
              </a:rPr>
              <a:t>Knowledge that can be reused comes from three main sources: the process, the personnel and the product </a:t>
            </a:r>
            <a:endParaRPr sz="1800" dirty="0">
              <a:solidFill>
                <a:srgbClr val="000000"/>
              </a:solidFill>
              <a:highlight>
                <a:srgbClr val="FFFF00"/>
              </a:highlight>
              <a:latin typeface="Times New Roman" panose="02020603050405020304" pitchFamily="18" charset="0"/>
              <a:cs typeface="Times New Roman" panose="02020603050405020304" pitchFamily="18" charset="0"/>
            </a:endParaRPr>
          </a:p>
          <a:p>
            <a:pPr marL="0" lvl="0" indent="0" algn="l" rtl="0">
              <a:lnSpc>
                <a:spcPct val="105000"/>
              </a:lnSpc>
              <a:spcBef>
                <a:spcPts val="1200"/>
              </a:spcBef>
              <a:spcAft>
                <a:spcPts val="1200"/>
              </a:spcAft>
              <a:buNone/>
            </a:pPr>
            <a:endParaRPr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 Targets for Reuse</a:t>
            </a:r>
            <a:endParaRPr>
              <a:latin typeface="Times New Roman" panose="02020603050405020304" pitchFamily="18" charset="0"/>
              <a:cs typeface="Times New Roman" panose="02020603050405020304" pitchFamily="18" charset="0"/>
            </a:endParaRPr>
          </a:p>
        </p:txBody>
      </p:sp>
      <p:sp>
        <p:nvSpPr>
          <p:cNvPr id="111" name="Google Shape;111;p17"/>
          <p:cNvSpPr txBox="1">
            <a:spLocks noGrp="1"/>
          </p:cNvSpPr>
          <p:nvPr>
            <p:ph type="body" idx="1"/>
          </p:nvPr>
        </p:nvSpPr>
        <p:spPr>
          <a:xfrm>
            <a:off x="729450" y="1393075"/>
            <a:ext cx="7688700" cy="2261100"/>
          </a:xfrm>
          <a:prstGeom prst="rect">
            <a:avLst/>
          </a:prstGeom>
        </p:spPr>
        <p:txBody>
          <a:bodyPr spcFirstLastPara="1" wrap="square" lIns="91425" tIns="91425" rIns="91425" bIns="91425" anchor="t" anchorCtr="0">
            <a:noAutofit/>
          </a:bodyPr>
          <a:lstStyle/>
          <a:p>
            <a:pPr marL="457200" lvl="0" indent="-343058" algn="l" rtl="0">
              <a:lnSpc>
                <a:spcPct val="95000"/>
              </a:lnSpc>
              <a:spcBef>
                <a:spcPts val="0"/>
              </a:spcBef>
              <a:spcAft>
                <a:spcPts val="0"/>
              </a:spcAft>
              <a:buClr>
                <a:srgbClr val="000000"/>
              </a:buClr>
              <a:buSzPts val="1803"/>
              <a:buAutoNum type="arabicPeriod"/>
            </a:pPr>
            <a:r>
              <a:rPr lang="en" sz="1802" b="1" dirty="0">
                <a:solidFill>
                  <a:srgbClr val="000000"/>
                </a:solidFill>
                <a:latin typeface="Times New Roman" panose="02020603050405020304" pitchFamily="18" charset="0"/>
                <a:cs typeface="Times New Roman" panose="02020603050405020304" pitchFamily="18" charset="0"/>
              </a:rPr>
              <a:t>Process:</a:t>
            </a:r>
            <a:r>
              <a:rPr lang="en" sz="1802" dirty="0">
                <a:solidFill>
                  <a:srgbClr val="000000"/>
                </a:solidFill>
                <a:latin typeface="Times New Roman" panose="02020603050405020304" pitchFamily="18" charset="0"/>
                <a:cs typeface="Times New Roman" panose="02020603050405020304" pitchFamily="18" charset="0"/>
              </a:rPr>
              <a:t> </a:t>
            </a:r>
          </a:p>
          <a:p>
            <a:pPr lvl="1" indent="-343058">
              <a:lnSpc>
                <a:spcPct val="95000"/>
              </a:lnSpc>
              <a:buClr>
                <a:srgbClr val="000000"/>
              </a:buClr>
              <a:buSzPts val="1803"/>
            </a:pPr>
            <a:r>
              <a:rPr lang="en" sz="1602" dirty="0">
                <a:solidFill>
                  <a:srgbClr val="000000"/>
                </a:solidFill>
                <a:latin typeface="Times New Roman" panose="02020603050405020304" pitchFamily="18" charset="0"/>
                <a:cs typeface="Times New Roman" panose="02020603050405020304" pitchFamily="18" charset="0"/>
              </a:rPr>
              <a:t>Process reuse may be the application of a given methodology to different problems. </a:t>
            </a:r>
          </a:p>
          <a:p>
            <a:pPr lvl="1" indent="-343058">
              <a:lnSpc>
                <a:spcPct val="95000"/>
              </a:lnSpc>
              <a:buClr>
                <a:srgbClr val="000000"/>
              </a:buClr>
              <a:buSzPts val="1803"/>
            </a:pPr>
            <a:r>
              <a:rPr lang="en" sz="1602" dirty="0">
                <a:solidFill>
                  <a:srgbClr val="000000"/>
                </a:solidFill>
                <a:latin typeface="Times New Roman" panose="02020603050405020304" pitchFamily="18" charset="0"/>
                <a:cs typeface="Times New Roman" panose="02020603050405020304" pitchFamily="18" charset="0"/>
              </a:rPr>
              <a:t>The application of methodologies such as formal methods, or object-oriented design in the development of different products</a:t>
            </a:r>
          </a:p>
          <a:p>
            <a:pPr lvl="1" indent="-343058">
              <a:lnSpc>
                <a:spcPct val="95000"/>
              </a:lnSpc>
              <a:buClr>
                <a:srgbClr val="000000"/>
              </a:buClr>
              <a:buSzPts val="1803"/>
            </a:pPr>
            <a:r>
              <a:rPr lang="en" sz="1802" dirty="0">
                <a:solidFill>
                  <a:srgbClr val="000000"/>
                </a:solidFill>
                <a:latin typeface="Times New Roman" panose="02020603050405020304" pitchFamily="18" charset="0"/>
                <a:cs typeface="Times New Roman" panose="02020603050405020304" pitchFamily="18" charset="0"/>
              </a:rPr>
              <a:t>an operation which is repeated becomes familiar and thus easier to perform; problems are discovered and addressed and thus the benefit from repetition tends to increase.</a:t>
            </a:r>
            <a:endParaRPr sz="1802" dirty="0">
              <a:solidFill>
                <a:srgbClr val="000000"/>
              </a:solidFill>
              <a:latin typeface="Times New Roman" panose="02020603050405020304" pitchFamily="18" charset="0"/>
              <a:cs typeface="Times New Roman" panose="02020603050405020304" pitchFamily="18" charset="0"/>
            </a:endParaRPr>
          </a:p>
          <a:p>
            <a:pPr marL="457200" lvl="0" indent="0" algn="l" rtl="0">
              <a:lnSpc>
                <a:spcPct val="95000"/>
              </a:lnSpc>
              <a:spcBef>
                <a:spcPts val="1200"/>
              </a:spcBef>
              <a:spcAft>
                <a:spcPts val="0"/>
              </a:spcAft>
              <a:buSzPts val="1018"/>
              <a:buNone/>
            </a:pPr>
            <a:endParaRPr sz="1802" dirty="0">
              <a:solidFill>
                <a:srgbClr val="000000"/>
              </a:solidFill>
              <a:latin typeface="Times New Roman" panose="02020603050405020304" pitchFamily="18" charset="0"/>
              <a:cs typeface="Times New Roman" panose="02020603050405020304" pitchFamily="18" charset="0"/>
            </a:endParaRPr>
          </a:p>
          <a:p>
            <a:pPr marL="457200" lvl="0" indent="0" algn="l" rtl="0">
              <a:lnSpc>
                <a:spcPct val="95000"/>
              </a:lnSpc>
              <a:spcBef>
                <a:spcPts val="1200"/>
              </a:spcBef>
              <a:spcAft>
                <a:spcPts val="1200"/>
              </a:spcAft>
              <a:buSzPts val="1018"/>
              <a:buNone/>
            </a:pPr>
            <a:endParaRPr sz="1802"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 Targets for Reuse</a:t>
            </a:r>
            <a:endParaRPr>
              <a:latin typeface="Times New Roman" panose="02020603050405020304" pitchFamily="18" charset="0"/>
              <a:cs typeface="Times New Roman" panose="02020603050405020304" pitchFamily="18" charset="0"/>
            </a:endParaRPr>
          </a:p>
        </p:txBody>
      </p:sp>
      <p:sp>
        <p:nvSpPr>
          <p:cNvPr id="117" name="Google Shape;117;p18"/>
          <p:cNvSpPr txBox="1">
            <a:spLocks noGrp="1"/>
          </p:cNvSpPr>
          <p:nvPr>
            <p:ph type="body" idx="1"/>
          </p:nvPr>
        </p:nvSpPr>
        <p:spPr>
          <a:xfrm>
            <a:off x="729450" y="1240675"/>
            <a:ext cx="7688700" cy="3834600"/>
          </a:xfrm>
          <a:prstGeom prst="rect">
            <a:avLst/>
          </a:prstGeom>
        </p:spPr>
        <p:txBody>
          <a:bodyPr spcFirstLastPara="1" wrap="square" lIns="91425" tIns="91425" rIns="91425" bIns="91425" anchor="t" anchorCtr="0">
            <a:noAutofit/>
          </a:bodyPr>
          <a:lstStyle/>
          <a:p>
            <a:pPr marL="457200" lvl="0" indent="-343058" algn="l" rtl="0">
              <a:lnSpc>
                <a:spcPct val="95000"/>
              </a:lnSpc>
              <a:spcBef>
                <a:spcPts val="0"/>
              </a:spcBef>
              <a:spcAft>
                <a:spcPts val="0"/>
              </a:spcAft>
              <a:buClr>
                <a:srgbClr val="000000"/>
              </a:buClr>
              <a:buSzPts val="1803"/>
              <a:buAutoNum type="arabicPeriod" startAt="2"/>
            </a:pPr>
            <a:r>
              <a:rPr lang="en" sz="1802" b="1" dirty="0">
                <a:solidFill>
                  <a:srgbClr val="000000"/>
                </a:solidFill>
                <a:latin typeface="Times New Roman" panose="02020603050405020304" pitchFamily="18" charset="0"/>
                <a:cs typeface="Times New Roman" panose="02020603050405020304" pitchFamily="18" charset="0"/>
              </a:rPr>
              <a:t>Personnel:</a:t>
            </a:r>
            <a:r>
              <a:rPr lang="en" sz="1802" dirty="0">
                <a:solidFill>
                  <a:srgbClr val="000000"/>
                </a:solidFill>
                <a:latin typeface="Times New Roman" panose="02020603050405020304" pitchFamily="18" charset="0"/>
                <a:cs typeface="Times New Roman" panose="02020603050405020304" pitchFamily="18" charset="0"/>
              </a:rPr>
              <a:t> The reuse of personnel implies reusing the knowledge that they acquire in a previous similar problem or application area. This expertise is known as </a:t>
            </a:r>
            <a:r>
              <a:rPr lang="en" sz="1802" dirty="0">
                <a:solidFill>
                  <a:schemeClr val="accent2">
                    <a:lumMod val="75000"/>
                  </a:schemeClr>
                </a:solidFill>
                <a:latin typeface="Times New Roman" panose="02020603050405020304" pitchFamily="18" charset="0"/>
                <a:cs typeface="Times New Roman" panose="02020603050405020304" pitchFamily="18" charset="0"/>
              </a:rPr>
              <a:t>domain knowledge. </a:t>
            </a:r>
            <a:br>
              <a:rPr lang="en" sz="1802" dirty="0">
                <a:solidFill>
                  <a:srgbClr val="000000"/>
                </a:solidFill>
                <a:latin typeface="Times New Roman" panose="02020603050405020304" pitchFamily="18" charset="0"/>
                <a:cs typeface="Times New Roman" panose="02020603050405020304" pitchFamily="18" charset="0"/>
              </a:rPr>
            </a:br>
            <a:br>
              <a:rPr lang="en" sz="1802" dirty="0">
                <a:solidFill>
                  <a:srgbClr val="000000"/>
                </a:solidFill>
                <a:latin typeface="Times New Roman" panose="02020603050405020304" pitchFamily="18" charset="0"/>
                <a:cs typeface="Times New Roman" panose="02020603050405020304" pitchFamily="18" charset="0"/>
              </a:rPr>
            </a:br>
            <a:r>
              <a:rPr lang="en" sz="1802" dirty="0">
                <a:solidFill>
                  <a:srgbClr val="000000"/>
                </a:solidFill>
                <a:latin typeface="Times New Roman" panose="02020603050405020304" pitchFamily="18" charset="0"/>
                <a:cs typeface="Times New Roman" panose="02020603050405020304" pitchFamily="18" charset="0"/>
              </a:rPr>
              <a:t>An example of this is 'lesson learned' knowledge - the knowledge acquired through </a:t>
            </a:r>
            <a:r>
              <a:rPr lang="en" sz="1802" dirty="0">
                <a:solidFill>
                  <a:schemeClr val="accent2">
                    <a:lumMod val="75000"/>
                  </a:schemeClr>
                </a:solidFill>
                <a:latin typeface="Times New Roman" panose="02020603050405020304" pitchFamily="18" charset="0"/>
                <a:cs typeface="Times New Roman" panose="02020603050405020304" pitchFamily="18" charset="0"/>
              </a:rPr>
              <a:t>meeting</a:t>
            </a:r>
            <a:r>
              <a:rPr lang="en" sz="1802" dirty="0">
                <a:solidFill>
                  <a:srgbClr val="000000"/>
                </a:solidFill>
                <a:latin typeface="Times New Roman" panose="02020603050405020304" pitchFamily="18" charset="0"/>
                <a:cs typeface="Times New Roman" panose="02020603050405020304" pitchFamily="18" charset="0"/>
              </a:rPr>
              <a:t> and </a:t>
            </a:r>
            <a:r>
              <a:rPr lang="en" sz="1802" dirty="0">
                <a:solidFill>
                  <a:schemeClr val="accent2">
                    <a:lumMod val="75000"/>
                  </a:schemeClr>
                </a:solidFill>
                <a:latin typeface="Times New Roman" panose="02020603050405020304" pitchFamily="18" charset="0"/>
                <a:cs typeface="Times New Roman" panose="02020603050405020304" pitchFamily="18" charset="0"/>
              </a:rPr>
              <a:t>addressing a particular </a:t>
            </a:r>
            <a:r>
              <a:rPr lang="en" sz="1802" dirty="0">
                <a:solidFill>
                  <a:srgbClr val="000000"/>
                </a:solidFill>
                <a:latin typeface="Times New Roman" panose="02020603050405020304" pitchFamily="18" charset="0"/>
                <a:cs typeface="Times New Roman" panose="02020603050405020304" pitchFamily="18" charset="0"/>
              </a:rPr>
              <a:t>situation in practice.</a:t>
            </a:r>
            <a:br>
              <a:rPr lang="en" sz="1802" dirty="0">
                <a:solidFill>
                  <a:srgbClr val="000000"/>
                </a:solidFill>
                <a:latin typeface="Times New Roman" panose="02020603050405020304" pitchFamily="18" charset="0"/>
                <a:cs typeface="Times New Roman" panose="02020603050405020304" pitchFamily="18" charset="0"/>
              </a:rPr>
            </a:br>
            <a:endParaRPr sz="1802" dirty="0">
              <a:solidFill>
                <a:srgbClr val="000000"/>
              </a:solidFill>
              <a:latin typeface="Times New Roman" panose="02020603050405020304" pitchFamily="18" charset="0"/>
              <a:cs typeface="Times New Roman" panose="02020603050405020304" pitchFamily="18" charset="0"/>
            </a:endParaRPr>
          </a:p>
          <a:p>
            <a:pPr marL="457200" lvl="0" indent="-343058" algn="l" rtl="0">
              <a:lnSpc>
                <a:spcPct val="95000"/>
              </a:lnSpc>
              <a:spcBef>
                <a:spcPts val="0"/>
              </a:spcBef>
              <a:spcAft>
                <a:spcPts val="0"/>
              </a:spcAft>
              <a:buClr>
                <a:srgbClr val="000000"/>
              </a:buClr>
              <a:buSzPts val="1803"/>
              <a:buAutoNum type="arabicPeriod" startAt="2"/>
            </a:pPr>
            <a:r>
              <a:rPr lang="en" sz="1802" b="1" dirty="0">
                <a:solidFill>
                  <a:srgbClr val="000000"/>
                </a:solidFill>
                <a:latin typeface="Times New Roman" panose="02020603050405020304" pitchFamily="18" charset="0"/>
                <a:cs typeface="Times New Roman" panose="02020603050405020304" pitchFamily="18" charset="0"/>
              </a:rPr>
              <a:t>Product</a:t>
            </a:r>
            <a:r>
              <a:rPr lang="en" sz="1802" dirty="0">
                <a:solidFill>
                  <a:srgbClr val="000000"/>
                </a:solidFill>
                <a:latin typeface="Times New Roman" panose="02020603050405020304" pitchFamily="18" charset="0"/>
                <a:cs typeface="Times New Roman" panose="02020603050405020304" pitchFamily="18" charset="0"/>
              </a:rPr>
              <a:t>: It involves using artefacts that were the products arising from similar projects. Examples include the reuse of </a:t>
            </a:r>
            <a:endParaRPr sz="1802" dirty="0">
              <a:solidFill>
                <a:srgbClr val="000000"/>
              </a:solidFill>
              <a:latin typeface="Times New Roman" panose="02020603050405020304" pitchFamily="18" charset="0"/>
              <a:cs typeface="Times New Roman" panose="02020603050405020304" pitchFamily="18" charset="0"/>
            </a:endParaRPr>
          </a:p>
          <a:p>
            <a:pPr marL="914400" lvl="1" indent="-343058" algn="l" rtl="0">
              <a:lnSpc>
                <a:spcPct val="95000"/>
              </a:lnSpc>
              <a:spcBef>
                <a:spcPts val="0"/>
              </a:spcBef>
              <a:spcAft>
                <a:spcPts val="0"/>
              </a:spcAft>
              <a:buClr>
                <a:srgbClr val="000000"/>
              </a:buClr>
              <a:buSzPts val="1803"/>
              <a:buAutoNum type="alphaLcPeriod"/>
            </a:pPr>
            <a:r>
              <a:rPr lang="en" sz="1802" b="1" dirty="0">
                <a:solidFill>
                  <a:srgbClr val="000000"/>
                </a:solidFill>
                <a:latin typeface="Times New Roman" panose="02020603050405020304" pitchFamily="18" charset="0"/>
                <a:cs typeface="Times New Roman" panose="02020603050405020304" pitchFamily="18" charset="0"/>
              </a:rPr>
              <a:t>Data</a:t>
            </a:r>
            <a:endParaRPr sz="1802" b="1" dirty="0">
              <a:solidFill>
                <a:srgbClr val="000000"/>
              </a:solidFill>
              <a:latin typeface="Times New Roman" panose="02020603050405020304" pitchFamily="18" charset="0"/>
              <a:cs typeface="Times New Roman" panose="02020603050405020304" pitchFamily="18" charset="0"/>
            </a:endParaRPr>
          </a:p>
          <a:p>
            <a:pPr marL="914400" lvl="1" indent="-343058" algn="l" rtl="0">
              <a:lnSpc>
                <a:spcPct val="95000"/>
              </a:lnSpc>
              <a:spcBef>
                <a:spcPts val="0"/>
              </a:spcBef>
              <a:spcAft>
                <a:spcPts val="0"/>
              </a:spcAft>
              <a:buClr>
                <a:srgbClr val="000000"/>
              </a:buClr>
              <a:buSzPts val="1803"/>
              <a:buAutoNum type="alphaLcPeriod"/>
            </a:pPr>
            <a:r>
              <a:rPr lang="en" sz="1802" b="1" dirty="0">
                <a:solidFill>
                  <a:srgbClr val="000000"/>
                </a:solidFill>
                <a:latin typeface="Times New Roman" panose="02020603050405020304" pitchFamily="18" charset="0"/>
                <a:cs typeface="Times New Roman" panose="02020603050405020304" pitchFamily="18" charset="0"/>
              </a:rPr>
              <a:t>Designs</a:t>
            </a:r>
            <a:endParaRPr sz="1802" b="1" dirty="0">
              <a:solidFill>
                <a:srgbClr val="000000"/>
              </a:solidFill>
              <a:latin typeface="Times New Roman" panose="02020603050405020304" pitchFamily="18" charset="0"/>
              <a:cs typeface="Times New Roman" panose="02020603050405020304" pitchFamily="18" charset="0"/>
            </a:endParaRPr>
          </a:p>
          <a:p>
            <a:pPr marL="914400" lvl="1" indent="-343058" algn="l" rtl="0">
              <a:lnSpc>
                <a:spcPct val="95000"/>
              </a:lnSpc>
              <a:spcBef>
                <a:spcPts val="0"/>
              </a:spcBef>
              <a:spcAft>
                <a:spcPts val="0"/>
              </a:spcAft>
              <a:buClr>
                <a:srgbClr val="000000"/>
              </a:buClr>
              <a:buSzPts val="1803"/>
              <a:buAutoNum type="alphaLcPeriod"/>
            </a:pPr>
            <a:r>
              <a:rPr lang="en" sz="1802" b="1" dirty="0">
                <a:solidFill>
                  <a:srgbClr val="000000"/>
                </a:solidFill>
                <a:latin typeface="Times New Roman" panose="02020603050405020304" pitchFamily="18" charset="0"/>
                <a:cs typeface="Times New Roman" panose="02020603050405020304" pitchFamily="18" charset="0"/>
              </a:rPr>
              <a:t>Programs.</a:t>
            </a:r>
            <a:endParaRPr sz="1802" b="1" dirty="0">
              <a:solidFill>
                <a:srgbClr val="000000"/>
              </a:solidFill>
              <a:latin typeface="Times New Roman" panose="02020603050405020304" pitchFamily="18" charset="0"/>
              <a:cs typeface="Times New Roman" panose="02020603050405020304" pitchFamily="18" charset="0"/>
            </a:endParaRPr>
          </a:p>
          <a:p>
            <a:pPr marL="457200" lvl="0" indent="0" algn="l" rtl="0">
              <a:lnSpc>
                <a:spcPct val="95000"/>
              </a:lnSpc>
              <a:spcBef>
                <a:spcPts val="1200"/>
              </a:spcBef>
              <a:spcAft>
                <a:spcPts val="0"/>
              </a:spcAft>
              <a:buSzPts val="1018"/>
              <a:buNone/>
            </a:pPr>
            <a:endParaRPr sz="1802" dirty="0">
              <a:solidFill>
                <a:srgbClr val="000000"/>
              </a:solidFill>
              <a:latin typeface="Times New Roman" panose="02020603050405020304" pitchFamily="18" charset="0"/>
              <a:cs typeface="Times New Roman" panose="02020603050405020304" pitchFamily="18" charset="0"/>
            </a:endParaRPr>
          </a:p>
          <a:p>
            <a:pPr marL="457200" lvl="0" indent="0" algn="l" rtl="0">
              <a:lnSpc>
                <a:spcPct val="95000"/>
              </a:lnSpc>
              <a:spcBef>
                <a:spcPts val="1200"/>
              </a:spcBef>
              <a:spcAft>
                <a:spcPts val="1200"/>
              </a:spcAft>
              <a:buSzPts val="1018"/>
              <a:buNone/>
            </a:pPr>
            <a:endParaRPr sz="1802"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Target for Reuse (Product)</a:t>
            </a:r>
            <a:endParaRPr>
              <a:latin typeface="Times New Roman" panose="02020603050405020304" pitchFamily="18" charset="0"/>
              <a:cs typeface="Times New Roman" panose="02020603050405020304" pitchFamily="18" charset="0"/>
            </a:endParaRPr>
          </a:p>
        </p:txBody>
      </p:sp>
      <p:sp>
        <p:nvSpPr>
          <p:cNvPr id="123" name="Google Shape;123;p19"/>
          <p:cNvSpPr txBox="1">
            <a:spLocks noGrp="1"/>
          </p:cNvSpPr>
          <p:nvPr>
            <p:ph type="body" idx="1"/>
          </p:nvPr>
        </p:nvSpPr>
        <p:spPr>
          <a:xfrm>
            <a:off x="727650" y="1376575"/>
            <a:ext cx="7688700" cy="2261100"/>
          </a:xfrm>
          <a:prstGeom prst="rect">
            <a:avLst/>
          </a:prstGeom>
        </p:spPr>
        <p:txBody>
          <a:bodyPr spcFirstLastPara="1" wrap="square" lIns="91425" tIns="91425" rIns="91425" bIns="91425" anchor="t" anchorCtr="0">
            <a:noAutofit/>
          </a:bodyPr>
          <a:lstStyle/>
          <a:p>
            <a:pPr marL="457200" lvl="0" indent="-343058" rtl="0">
              <a:lnSpc>
                <a:spcPct val="75000"/>
              </a:lnSpc>
              <a:spcBef>
                <a:spcPts val="0"/>
              </a:spcBef>
              <a:spcAft>
                <a:spcPts val="0"/>
              </a:spcAft>
              <a:buClr>
                <a:srgbClr val="000000"/>
              </a:buClr>
              <a:buSzPts val="1803"/>
              <a:buAutoNum type="arabicPeriod" startAt="3"/>
            </a:pPr>
            <a:r>
              <a:rPr lang="en" sz="1802" b="1" dirty="0">
                <a:solidFill>
                  <a:srgbClr val="000000"/>
                </a:solidFill>
                <a:latin typeface="Times New Roman" panose="02020603050405020304" pitchFamily="18" charset="0"/>
                <a:cs typeface="Times New Roman" panose="02020603050405020304" pitchFamily="18" charset="0"/>
              </a:rPr>
              <a:t>Product:</a:t>
            </a:r>
            <a:endParaRPr sz="1802" b="1" dirty="0">
              <a:solidFill>
                <a:srgbClr val="000000"/>
              </a:solidFill>
              <a:latin typeface="Times New Roman" panose="02020603050405020304" pitchFamily="18" charset="0"/>
              <a:cs typeface="Times New Roman" panose="02020603050405020304" pitchFamily="18" charset="0"/>
            </a:endParaRPr>
          </a:p>
          <a:p>
            <a:pPr marL="914400" lvl="1" indent="-343058" rtl="0">
              <a:lnSpc>
                <a:spcPct val="75000"/>
              </a:lnSpc>
              <a:spcBef>
                <a:spcPts val="0"/>
              </a:spcBef>
              <a:spcAft>
                <a:spcPts val="0"/>
              </a:spcAft>
              <a:buClr>
                <a:srgbClr val="000000"/>
              </a:buClr>
              <a:buSzPts val="1803"/>
              <a:buAutoNum type="alphaLcPeriod"/>
            </a:pPr>
            <a:r>
              <a:rPr lang="en" sz="1802" b="1" dirty="0">
                <a:solidFill>
                  <a:srgbClr val="000000"/>
                </a:solidFill>
                <a:latin typeface="Times New Roman" panose="02020603050405020304" pitchFamily="18" charset="0"/>
                <a:cs typeface="Times New Roman" panose="02020603050405020304" pitchFamily="18" charset="0"/>
              </a:rPr>
              <a:t>Data: </a:t>
            </a:r>
            <a:r>
              <a:rPr lang="en" sz="1802" dirty="0">
                <a:solidFill>
                  <a:srgbClr val="000000"/>
                </a:solidFill>
                <a:latin typeface="Times New Roman" panose="02020603050405020304" pitchFamily="18" charset="0"/>
                <a:cs typeface="Times New Roman" panose="02020603050405020304" pitchFamily="18" charset="0"/>
              </a:rPr>
              <a:t>Reusable data enables data sharing between applications and also promotes widespread program reusability. </a:t>
            </a:r>
            <a:br>
              <a:rPr lang="en" sz="1802" dirty="0">
                <a:solidFill>
                  <a:srgbClr val="000000"/>
                </a:solidFill>
                <a:latin typeface="Times New Roman" panose="02020603050405020304" pitchFamily="18" charset="0"/>
                <a:cs typeface="Times New Roman" panose="02020603050405020304" pitchFamily="18" charset="0"/>
              </a:rPr>
            </a:br>
            <a:br>
              <a:rPr lang="en" sz="1802" dirty="0">
                <a:solidFill>
                  <a:srgbClr val="000000"/>
                </a:solidFill>
                <a:latin typeface="Times New Roman" panose="02020603050405020304" pitchFamily="18" charset="0"/>
                <a:cs typeface="Times New Roman" panose="02020603050405020304" pitchFamily="18" charset="0"/>
              </a:rPr>
            </a:br>
            <a:r>
              <a:rPr lang="en" sz="1802" dirty="0">
                <a:solidFill>
                  <a:srgbClr val="000000"/>
                </a:solidFill>
                <a:latin typeface="Times New Roman" panose="02020603050405020304" pitchFamily="18" charset="0"/>
                <a:cs typeface="Times New Roman" panose="02020603050405020304" pitchFamily="18" charset="0"/>
              </a:rPr>
              <a:t>For different applications to share the data held in these databases, the data needs to be in a format that facilitates data transfer between applications.</a:t>
            </a:r>
            <a:br>
              <a:rPr lang="en" sz="1802" dirty="0">
                <a:solidFill>
                  <a:srgbClr val="000000"/>
                </a:solidFill>
                <a:latin typeface="Times New Roman" panose="02020603050405020304" pitchFamily="18" charset="0"/>
                <a:cs typeface="Times New Roman" panose="02020603050405020304" pitchFamily="18" charset="0"/>
              </a:rPr>
            </a:br>
            <a:r>
              <a:rPr lang="en" sz="1802" dirty="0">
                <a:solidFill>
                  <a:srgbClr val="000000"/>
                </a:solidFill>
                <a:latin typeface="Times New Roman" panose="02020603050405020304" pitchFamily="18" charset="0"/>
                <a:cs typeface="Times New Roman" panose="02020603050405020304" pitchFamily="18" charset="0"/>
              </a:rPr>
              <a:t> </a:t>
            </a:r>
            <a:endParaRPr sz="1802" b="1" dirty="0">
              <a:solidFill>
                <a:srgbClr val="000000"/>
              </a:solidFill>
              <a:latin typeface="Times New Roman" panose="02020603050405020304" pitchFamily="18" charset="0"/>
              <a:cs typeface="Times New Roman" panose="02020603050405020304" pitchFamily="18" charset="0"/>
            </a:endParaRPr>
          </a:p>
          <a:p>
            <a:pPr marL="914400" lvl="1" indent="-343058" rtl="0">
              <a:lnSpc>
                <a:spcPct val="75000"/>
              </a:lnSpc>
              <a:spcBef>
                <a:spcPts val="0"/>
              </a:spcBef>
              <a:spcAft>
                <a:spcPts val="0"/>
              </a:spcAft>
              <a:buClr>
                <a:srgbClr val="000000"/>
              </a:buClr>
              <a:buSzPts val="1803"/>
              <a:buAutoNum type="alphaLcPeriod"/>
            </a:pPr>
            <a:r>
              <a:rPr lang="en" sz="1802" b="1" dirty="0">
                <a:solidFill>
                  <a:srgbClr val="000000"/>
                </a:solidFill>
                <a:latin typeface="Times New Roman" panose="02020603050405020304" pitchFamily="18" charset="0"/>
                <a:cs typeface="Times New Roman" panose="02020603050405020304" pitchFamily="18" charset="0"/>
              </a:rPr>
              <a:t>Design: </a:t>
            </a:r>
            <a:r>
              <a:rPr lang="en" sz="1802" dirty="0">
                <a:solidFill>
                  <a:srgbClr val="000000"/>
                </a:solidFill>
                <a:latin typeface="Times New Roman" panose="02020603050405020304" pitchFamily="18" charset="0"/>
                <a:cs typeface="Times New Roman" panose="02020603050405020304" pitchFamily="18" charset="0"/>
              </a:rPr>
              <a:t>The second reusable aspect of a software product is its design.   Reuse of </a:t>
            </a:r>
            <a:r>
              <a:rPr lang="en" sz="1802" dirty="0">
                <a:solidFill>
                  <a:schemeClr val="accent2">
                    <a:lumMod val="75000"/>
                  </a:schemeClr>
                </a:solidFill>
                <a:latin typeface="Times New Roman" panose="02020603050405020304" pitchFamily="18" charset="0"/>
                <a:cs typeface="Times New Roman" panose="02020603050405020304" pitchFamily="18" charset="0"/>
              </a:rPr>
              <a:t>architectural design </a:t>
            </a:r>
            <a:r>
              <a:rPr lang="en" sz="1802" dirty="0">
                <a:solidFill>
                  <a:srgbClr val="000000"/>
                </a:solidFill>
                <a:latin typeface="Times New Roman" panose="02020603050405020304" pitchFamily="18" charset="0"/>
                <a:cs typeface="Times New Roman" panose="02020603050405020304" pitchFamily="18" charset="0"/>
              </a:rPr>
              <a:t>has a greater payoff than reuse of detailed design</a:t>
            </a:r>
            <a:br>
              <a:rPr lang="en" sz="1802" dirty="0">
                <a:solidFill>
                  <a:srgbClr val="000000"/>
                </a:solidFill>
                <a:latin typeface="Times New Roman" panose="02020603050405020304" pitchFamily="18" charset="0"/>
                <a:cs typeface="Times New Roman" panose="02020603050405020304" pitchFamily="18" charset="0"/>
              </a:rPr>
            </a:br>
            <a:br>
              <a:rPr lang="en" sz="1802" dirty="0">
                <a:solidFill>
                  <a:srgbClr val="000000"/>
                </a:solidFill>
                <a:latin typeface="Times New Roman" panose="02020603050405020304" pitchFamily="18" charset="0"/>
                <a:cs typeface="Times New Roman" panose="02020603050405020304" pitchFamily="18" charset="0"/>
              </a:rPr>
            </a:br>
            <a:r>
              <a:rPr lang="en" sz="1802" dirty="0">
                <a:solidFill>
                  <a:srgbClr val="000000"/>
                </a:solidFill>
                <a:latin typeface="Times New Roman" panose="02020603050405020304" pitchFamily="18" charset="0"/>
                <a:cs typeface="Times New Roman" panose="02020603050405020304" pitchFamily="18" charset="0"/>
              </a:rPr>
              <a:t>The redeployment of pre-existing designs during the development of similar products can </a:t>
            </a:r>
            <a:r>
              <a:rPr lang="en" sz="1802" dirty="0">
                <a:solidFill>
                  <a:schemeClr val="accent2">
                    <a:lumMod val="75000"/>
                  </a:schemeClr>
                </a:solidFill>
                <a:latin typeface="Times New Roman" panose="02020603050405020304" pitchFamily="18" charset="0"/>
                <a:cs typeface="Times New Roman" panose="02020603050405020304" pitchFamily="18" charset="0"/>
              </a:rPr>
              <a:t>increase productivity </a:t>
            </a:r>
            <a:r>
              <a:rPr lang="en" sz="1802" dirty="0">
                <a:solidFill>
                  <a:srgbClr val="000000"/>
                </a:solidFill>
                <a:latin typeface="Times New Roman" panose="02020603050405020304" pitchFamily="18" charset="0"/>
                <a:cs typeface="Times New Roman" panose="02020603050405020304" pitchFamily="18" charset="0"/>
              </a:rPr>
              <a:t>and </a:t>
            </a:r>
            <a:r>
              <a:rPr lang="en" sz="1802" dirty="0">
                <a:solidFill>
                  <a:schemeClr val="accent2">
                    <a:lumMod val="75000"/>
                  </a:schemeClr>
                </a:solidFill>
                <a:latin typeface="Times New Roman" panose="02020603050405020304" pitchFamily="18" charset="0"/>
                <a:cs typeface="Times New Roman" panose="02020603050405020304" pitchFamily="18" charset="0"/>
              </a:rPr>
              <a:t>improve product quality</a:t>
            </a:r>
            <a:endParaRPr sz="1802" dirty="0">
              <a:solidFill>
                <a:schemeClr val="accent2">
                  <a:lumMod val="75000"/>
                </a:schemeClr>
              </a:solidFill>
              <a:latin typeface="Times New Roman" panose="02020603050405020304" pitchFamily="18" charset="0"/>
              <a:cs typeface="Times New Roman" panose="02020603050405020304" pitchFamily="18" charset="0"/>
            </a:endParaRPr>
          </a:p>
          <a:p>
            <a:pPr marL="914400" lvl="0" indent="0" rtl="0">
              <a:lnSpc>
                <a:spcPct val="75000"/>
              </a:lnSpc>
              <a:spcBef>
                <a:spcPts val="1200"/>
              </a:spcBef>
              <a:spcAft>
                <a:spcPts val="1200"/>
              </a:spcAft>
              <a:buNone/>
            </a:pPr>
            <a:endParaRPr sz="1802" b="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Target for Reuse (Product)</a:t>
            </a:r>
            <a:endParaRPr>
              <a:latin typeface="Times New Roman" panose="02020603050405020304" pitchFamily="18" charset="0"/>
              <a:cs typeface="Times New Roman" panose="02020603050405020304" pitchFamily="18" charset="0"/>
            </a:endParaRPr>
          </a:p>
        </p:txBody>
      </p:sp>
      <p:sp>
        <p:nvSpPr>
          <p:cNvPr id="129" name="Google Shape;129;p20"/>
          <p:cNvSpPr txBox="1">
            <a:spLocks noGrp="1"/>
          </p:cNvSpPr>
          <p:nvPr>
            <p:ph type="body" idx="1"/>
          </p:nvPr>
        </p:nvSpPr>
        <p:spPr>
          <a:xfrm>
            <a:off x="727650" y="1376575"/>
            <a:ext cx="7688700" cy="3558300"/>
          </a:xfrm>
          <a:prstGeom prst="rect">
            <a:avLst/>
          </a:prstGeom>
        </p:spPr>
        <p:txBody>
          <a:bodyPr spcFirstLastPara="1" wrap="square" lIns="91425" tIns="91425" rIns="91425" bIns="91425" anchor="t" anchorCtr="0">
            <a:noAutofit/>
          </a:bodyPr>
          <a:lstStyle/>
          <a:p>
            <a:pPr marL="457200" lvl="0" indent="-343058" algn="l" rtl="0">
              <a:lnSpc>
                <a:spcPct val="75000"/>
              </a:lnSpc>
              <a:spcBef>
                <a:spcPts val="0"/>
              </a:spcBef>
              <a:spcAft>
                <a:spcPts val="0"/>
              </a:spcAft>
              <a:buClr>
                <a:srgbClr val="000000"/>
              </a:buClr>
              <a:buSzPts val="1803"/>
              <a:buAutoNum type="arabicPeriod" startAt="3"/>
            </a:pPr>
            <a:r>
              <a:rPr lang="en" sz="1802" b="1" dirty="0">
                <a:solidFill>
                  <a:srgbClr val="000000"/>
                </a:solidFill>
                <a:latin typeface="Times New Roman" panose="02020603050405020304" pitchFamily="18" charset="0"/>
                <a:cs typeface="Times New Roman" panose="02020603050405020304" pitchFamily="18" charset="0"/>
              </a:rPr>
              <a:t>Product:</a:t>
            </a:r>
            <a:endParaRPr sz="1802" b="1" dirty="0">
              <a:solidFill>
                <a:srgbClr val="000000"/>
              </a:solidFill>
              <a:latin typeface="Times New Roman" panose="02020603050405020304" pitchFamily="18" charset="0"/>
              <a:cs typeface="Times New Roman" panose="02020603050405020304" pitchFamily="18" charset="0"/>
            </a:endParaRPr>
          </a:p>
          <a:p>
            <a:pPr marL="914400" lvl="1" indent="-343058" algn="l" rtl="0">
              <a:lnSpc>
                <a:spcPct val="75000"/>
              </a:lnSpc>
              <a:spcBef>
                <a:spcPts val="0"/>
              </a:spcBef>
              <a:spcAft>
                <a:spcPts val="0"/>
              </a:spcAft>
              <a:buClr>
                <a:srgbClr val="000000"/>
              </a:buClr>
              <a:buSzPts val="1803"/>
              <a:buAutoNum type="alphaLcPeriod" startAt="3"/>
            </a:pPr>
            <a:r>
              <a:rPr lang="en" sz="1802" b="1" dirty="0">
                <a:solidFill>
                  <a:srgbClr val="000000"/>
                </a:solidFill>
                <a:latin typeface="Times New Roman" panose="02020603050405020304" pitchFamily="18" charset="0"/>
                <a:cs typeface="Times New Roman" panose="02020603050405020304" pitchFamily="18" charset="0"/>
              </a:rPr>
              <a:t>Program:</a:t>
            </a:r>
            <a:br>
              <a:rPr lang="en" sz="1802" b="1" dirty="0">
                <a:solidFill>
                  <a:srgbClr val="000000"/>
                </a:solidFill>
                <a:latin typeface="Times New Roman" panose="02020603050405020304" pitchFamily="18" charset="0"/>
                <a:cs typeface="Times New Roman" panose="02020603050405020304" pitchFamily="18" charset="0"/>
              </a:rPr>
            </a:br>
            <a:r>
              <a:rPr lang="en" sz="1802" dirty="0">
                <a:solidFill>
                  <a:srgbClr val="000000"/>
                </a:solidFill>
                <a:latin typeface="Times New Roman" panose="02020603050405020304" pitchFamily="18" charset="0"/>
                <a:cs typeface="Times New Roman" panose="02020603050405020304" pitchFamily="18" charset="0"/>
              </a:rPr>
              <a:t>Program reuse is the reuse of code components that can be integrated into a software system with little or no prior adaptation; for example, libraries (containing scientific functions and well-known algorithms such as binary sort), high-level languages and problem-oriented languages.</a:t>
            </a:r>
            <a:endParaRPr sz="1802" dirty="0">
              <a:solidFill>
                <a:srgbClr val="000000"/>
              </a:solidFill>
              <a:latin typeface="Times New Roman" panose="02020603050405020304" pitchFamily="18" charset="0"/>
              <a:cs typeface="Times New Roman" panose="02020603050405020304" pitchFamily="18" charset="0"/>
            </a:endParaRPr>
          </a:p>
          <a:p>
            <a:pPr marL="0" lvl="0" indent="0" algn="l" rtl="0">
              <a:lnSpc>
                <a:spcPct val="75000"/>
              </a:lnSpc>
              <a:spcBef>
                <a:spcPts val="1200"/>
              </a:spcBef>
              <a:spcAft>
                <a:spcPts val="0"/>
              </a:spcAft>
              <a:buNone/>
            </a:pPr>
            <a:endParaRPr sz="1802" dirty="0">
              <a:solidFill>
                <a:srgbClr val="000000"/>
              </a:solidFill>
              <a:latin typeface="Times New Roman" panose="02020603050405020304" pitchFamily="18" charset="0"/>
              <a:cs typeface="Times New Roman" panose="02020603050405020304" pitchFamily="18" charset="0"/>
            </a:endParaRPr>
          </a:p>
          <a:p>
            <a:pPr marL="0" lvl="0" indent="0" algn="l" rtl="0">
              <a:lnSpc>
                <a:spcPct val="75000"/>
              </a:lnSpc>
              <a:spcBef>
                <a:spcPts val="1200"/>
              </a:spcBef>
              <a:spcAft>
                <a:spcPts val="1200"/>
              </a:spcAft>
              <a:buNone/>
            </a:pPr>
            <a:endParaRPr sz="1802" b="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 Objectives and Benefits of Reuse</a:t>
            </a:r>
            <a:endParaRPr>
              <a:latin typeface="Times New Roman" panose="02020603050405020304" pitchFamily="18" charset="0"/>
              <a:cs typeface="Times New Roman" panose="02020603050405020304" pitchFamily="18" charset="0"/>
            </a:endParaRPr>
          </a:p>
        </p:txBody>
      </p:sp>
      <p:sp>
        <p:nvSpPr>
          <p:cNvPr id="135" name="Google Shape;135;p21"/>
          <p:cNvSpPr txBox="1">
            <a:spLocks noGrp="1"/>
          </p:cNvSpPr>
          <p:nvPr>
            <p:ph type="body" idx="1"/>
          </p:nvPr>
        </p:nvSpPr>
        <p:spPr>
          <a:xfrm>
            <a:off x="729450" y="1393075"/>
            <a:ext cx="7688700" cy="2261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000000"/>
              </a:buClr>
              <a:buSzPts val="1800"/>
              <a:buChar char="●"/>
            </a:pPr>
            <a:r>
              <a:rPr lang="en" sz="1800" dirty="0">
                <a:solidFill>
                  <a:srgbClr val="000000"/>
                </a:solidFill>
                <a:latin typeface="Times New Roman" panose="02020603050405020304" pitchFamily="18" charset="0"/>
                <a:cs typeface="Times New Roman" panose="02020603050405020304" pitchFamily="18" charset="0"/>
              </a:rPr>
              <a:t>To increase productivity </a:t>
            </a:r>
            <a:endParaRPr sz="1800" dirty="0">
              <a:solidFill>
                <a:srgbClr val="000000"/>
              </a:solidFill>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Clr>
                <a:srgbClr val="000000"/>
              </a:buClr>
              <a:buSzPts val="1800"/>
              <a:buChar char="●"/>
            </a:pPr>
            <a:r>
              <a:rPr lang="en" sz="1800" dirty="0">
                <a:solidFill>
                  <a:srgbClr val="000000"/>
                </a:solidFill>
                <a:latin typeface="Times New Roman" panose="02020603050405020304" pitchFamily="18" charset="0"/>
                <a:cs typeface="Times New Roman" panose="02020603050405020304" pitchFamily="18" charset="0"/>
              </a:rPr>
              <a:t>To increase quality</a:t>
            </a:r>
            <a:endParaRPr sz="1800" dirty="0">
              <a:solidFill>
                <a:srgbClr val="000000"/>
              </a:solidFill>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Clr>
                <a:srgbClr val="000000"/>
              </a:buClr>
              <a:buSzPts val="1800"/>
              <a:buChar char="●"/>
            </a:pPr>
            <a:r>
              <a:rPr lang="en" sz="1800" dirty="0">
                <a:solidFill>
                  <a:srgbClr val="000000"/>
                </a:solidFill>
                <a:latin typeface="Times New Roman" panose="02020603050405020304" pitchFamily="18" charset="0"/>
                <a:cs typeface="Times New Roman" panose="02020603050405020304" pitchFamily="18" charset="0"/>
              </a:rPr>
              <a:t>To facilitate code transportation</a:t>
            </a:r>
            <a:endParaRPr sz="1800" dirty="0">
              <a:solidFill>
                <a:srgbClr val="000000"/>
              </a:solidFill>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Clr>
                <a:srgbClr val="000000"/>
              </a:buClr>
              <a:buSzPts val="1800"/>
              <a:buChar char="●"/>
            </a:pPr>
            <a:r>
              <a:rPr lang="en" sz="1800" dirty="0">
                <a:solidFill>
                  <a:srgbClr val="000000"/>
                </a:solidFill>
                <a:latin typeface="Times New Roman" panose="02020603050405020304" pitchFamily="18" charset="0"/>
                <a:cs typeface="Times New Roman" panose="02020603050405020304" pitchFamily="18" charset="0"/>
              </a:rPr>
              <a:t>Reduction in maintenance time and effort </a:t>
            </a:r>
            <a:endParaRPr sz="1800" dirty="0">
              <a:solidFill>
                <a:srgbClr val="000000"/>
              </a:solidFill>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Clr>
                <a:srgbClr val="000000"/>
              </a:buClr>
              <a:buSzPts val="1800"/>
              <a:buChar char="●"/>
            </a:pPr>
            <a:r>
              <a:rPr lang="en" sz="1800" dirty="0">
                <a:solidFill>
                  <a:srgbClr val="000000"/>
                </a:solidFill>
                <a:latin typeface="Times New Roman" panose="02020603050405020304" pitchFamily="18" charset="0"/>
                <a:cs typeface="Times New Roman" panose="02020603050405020304" pitchFamily="18" charset="0"/>
              </a:rPr>
              <a:t>To improve maintainability</a:t>
            </a:r>
            <a:endParaRPr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Approaches to Reuse</a:t>
            </a:r>
            <a:endParaRPr>
              <a:latin typeface="Times New Roman" panose="02020603050405020304" pitchFamily="18" charset="0"/>
              <a:cs typeface="Times New Roman" panose="02020603050405020304" pitchFamily="18" charset="0"/>
            </a:endParaRPr>
          </a:p>
        </p:txBody>
      </p:sp>
      <p:sp>
        <p:nvSpPr>
          <p:cNvPr id="141" name="Google Shape;141;p22"/>
          <p:cNvSpPr txBox="1">
            <a:spLocks noGrp="1"/>
          </p:cNvSpPr>
          <p:nvPr>
            <p:ph type="body" idx="1"/>
          </p:nvPr>
        </p:nvSpPr>
        <p:spPr>
          <a:xfrm>
            <a:off x="729450" y="13930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rgbClr val="000000"/>
                </a:solidFill>
                <a:latin typeface="Times New Roman" panose="02020603050405020304" pitchFamily="18" charset="0"/>
                <a:cs typeface="Times New Roman" panose="02020603050405020304" pitchFamily="18" charset="0"/>
              </a:rPr>
              <a:t>There are two main approaches depending on the nature of the component that is being reused, either static building blocks or dynamic patterns.</a:t>
            </a:r>
            <a:endParaRPr sz="1800" dirty="0">
              <a:solidFill>
                <a:srgbClr val="000000"/>
              </a:solidFill>
              <a:latin typeface="Times New Roman" panose="02020603050405020304" pitchFamily="18" charset="0"/>
              <a:cs typeface="Times New Roman" panose="02020603050405020304" pitchFamily="18" charset="0"/>
            </a:endParaRPr>
          </a:p>
          <a:p>
            <a:pPr marL="457200" lvl="0" indent="-342900" algn="l" rtl="0">
              <a:spcBef>
                <a:spcPts val="1200"/>
              </a:spcBef>
              <a:spcAft>
                <a:spcPts val="0"/>
              </a:spcAft>
              <a:buClr>
                <a:srgbClr val="000000"/>
              </a:buClr>
              <a:buSzPts val="1800"/>
              <a:buAutoNum type="arabicPeriod"/>
            </a:pPr>
            <a:r>
              <a:rPr lang="en" sz="1800" dirty="0">
                <a:solidFill>
                  <a:schemeClr val="accent2">
                    <a:lumMod val="75000"/>
                  </a:schemeClr>
                </a:solidFill>
                <a:latin typeface="Times New Roman" panose="02020603050405020304" pitchFamily="18" charset="0"/>
                <a:cs typeface="Times New Roman" panose="02020603050405020304" pitchFamily="18" charset="0"/>
              </a:rPr>
              <a:t>Composition Based Reuse</a:t>
            </a:r>
            <a:endParaRPr sz="1800" dirty="0">
              <a:solidFill>
                <a:schemeClr val="accent2">
                  <a:lumMod val="75000"/>
                </a:schemeClr>
              </a:solidFill>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Clr>
                <a:srgbClr val="000000"/>
              </a:buClr>
              <a:buSzPts val="1800"/>
              <a:buAutoNum type="arabicPeriod"/>
            </a:pPr>
            <a:r>
              <a:rPr lang="en" sz="1800" dirty="0">
                <a:solidFill>
                  <a:srgbClr val="000000"/>
                </a:solidFill>
                <a:latin typeface="Times New Roman" panose="02020603050405020304" pitchFamily="18" charset="0"/>
                <a:cs typeface="Times New Roman" panose="02020603050405020304" pitchFamily="18" charset="0"/>
              </a:rPr>
              <a:t>Generation Based Reuse</a:t>
            </a: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Composition-Based Reuse</a:t>
            </a:r>
            <a:endParaRPr>
              <a:latin typeface="Times New Roman" panose="02020603050405020304" pitchFamily="18" charset="0"/>
              <a:cs typeface="Times New Roman" panose="02020603050405020304" pitchFamily="18" charset="0"/>
            </a:endParaRPr>
          </a:p>
        </p:txBody>
      </p:sp>
      <p:sp>
        <p:nvSpPr>
          <p:cNvPr id="147" name="Google Shape;147;p23"/>
          <p:cNvSpPr txBox="1">
            <a:spLocks noGrp="1"/>
          </p:cNvSpPr>
          <p:nvPr>
            <p:ph type="body" idx="1"/>
          </p:nvPr>
        </p:nvSpPr>
        <p:spPr>
          <a:xfrm>
            <a:off x="729450" y="13930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rgbClr val="000000"/>
                </a:solidFill>
                <a:latin typeface="Times New Roman" panose="02020603050405020304" pitchFamily="18" charset="0"/>
                <a:cs typeface="Times New Roman" panose="02020603050405020304" pitchFamily="18" charset="0"/>
              </a:rPr>
              <a:t>In the composition approach, the components being reused are </a:t>
            </a:r>
            <a:r>
              <a:rPr lang="en" sz="1800" dirty="0">
                <a:solidFill>
                  <a:schemeClr val="accent2">
                    <a:lumMod val="75000"/>
                  </a:schemeClr>
                </a:solidFill>
                <a:latin typeface="Times New Roman" panose="02020603050405020304" pitchFamily="18" charset="0"/>
                <a:cs typeface="Times New Roman" panose="02020603050405020304" pitchFamily="18" charset="0"/>
              </a:rPr>
              <a:t>atomic building blocks</a:t>
            </a:r>
            <a:r>
              <a:rPr lang="en" sz="1800" dirty="0">
                <a:solidFill>
                  <a:srgbClr val="000000"/>
                </a:solidFill>
                <a:latin typeface="Times New Roman" panose="02020603050405020304" pitchFamily="18" charset="0"/>
                <a:cs typeface="Times New Roman" panose="02020603050405020304" pitchFamily="18" charset="0"/>
              </a:rPr>
              <a:t> that are assembled to compose the target system.</a:t>
            </a: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800" dirty="0">
                <a:solidFill>
                  <a:srgbClr val="000000"/>
                </a:solidFill>
                <a:latin typeface="Times New Roman" panose="02020603050405020304" pitchFamily="18" charset="0"/>
                <a:cs typeface="Times New Roman" panose="02020603050405020304" pitchFamily="18" charset="0"/>
              </a:rPr>
              <a:t>Examples of such building blocks are </a:t>
            </a:r>
            <a:r>
              <a:rPr lang="en" sz="1800" dirty="0">
                <a:solidFill>
                  <a:schemeClr val="accent2">
                    <a:lumMod val="75000"/>
                  </a:schemeClr>
                </a:solidFill>
                <a:latin typeface="Times New Roman" panose="02020603050405020304" pitchFamily="18" charset="0"/>
                <a:cs typeface="Times New Roman" panose="02020603050405020304" pitchFamily="18" charset="0"/>
              </a:rPr>
              <a:t>program modules, routines, functions and objects.</a:t>
            </a:r>
            <a:endParaRPr sz="1800" dirty="0">
              <a:solidFill>
                <a:schemeClr val="accent2">
                  <a:lumMod val="75000"/>
                </a:schemeClr>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800" dirty="0">
                <a:solidFill>
                  <a:srgbClr val="000000"/>
                </a:solidFill>
                <a:latin typeface="Times New Roman" panose="02020603050405020304" pitchFamily="18" charset="0"/>
                <a:cs typeface="Times New Roman" panose="02020603050405020304" pitchFamily="18" charset="0"/>
              </a:rPr>
              <a:t>A simple example of such a mechanism is the UNIX pipe </a:t>
            </a: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800" dirty="0">
                <a:solidFill>
                  <a:srgbClr val="000000"/>
                </a:solidFill>
                <a:latin typeface="Times New Roman" panose="02020603050405020304" pitchFamily="18" charset="0"/>
                <a:cs typeface="Times New Roman" panose="02020603050405020304" pitchFamily="18" charset="0"/>
              </a:rPr>
              <a:t>In object-oriented programming, the composition mechanism is achieved through the principle of inheritance . This allows the construction of new components from existing ones</a:t>
            </a: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Composition-Based Reuse</a:t>
            </a:r>
            <a:endParaRPr>
              <a:latin typeface="Times New Roman" panose="02020603050405020304" pitchFamily="18" charset="0"/>
              <a:cs typeface="Times New Roman" panose="02020603050405020304" pitchFamily="18" charset="0"/>
            </a:endParaRPr>
          </a:p>
        </p:txBody>
      </p:sp>
      <p:sp>
        <p:nvSpPr>
          <p:cNvPr id="153" name="Google Shape;153;p24"/>
          <p:cNvSpPr txBox="1">
            <a:spLocks noGrp="1"/>
          </p:cNvSpPr>
          <p:nvPr>
            <p:ph type="body" idx="1"/>
          </p:nvPr>
        </p:nvSpPr>
        <p:spPr>
          <a:xfrm>
            <a:off x="729450" y="13930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rgbClr val="000000"/>
                </a:solidFill>
                <a:latin typeface="Times New Roman" panose="02020603050405020304" pitchFamily="18" charset="0"/>
                <a:cs typeface="Times New Roman" panose="02020603050405020304" pitchFamily="18" charset="0"/>
              </a:rPr>
              <a:t>Component Based Reuse is of two types. Black-box reuse: In black-box reuse, the component is reused without modification.</a:t>
            </a:r>
            <a:endParaRPr sz="1800" dirty="0">
              <a:solidFill>
                <a:srgbClr val="000000"/>
              </a:solidFill>
              <a:latin typeface="Times New Roman" panose="02020603050405020304" pitchFamily="18" charset="0"/>
              <a:cs typeface="Times New Roman" panose="02020603050405020304" pitchFamily="18" charset="0"/>
            </a:endParaRPr>
          </a:p>
          <a:p>
            <a:pPr marL="457200" lvl="0" indent="-342900" algn="l" rtl="0">
              <a:spcBef>
                <a:spcPts val="1200"/>
              </a:spcBef>
              <a:spcAft>
                <a:spcPts val="0"/>
              </a:spcAft>
              <a:buClr>
                <a:srgbClr val="000000"/>
              </a:buClr>
              <a:buSzPts val="1800"/>
              <a:buAutoNum type="alphaLcPeriod"/>
            </a:pPr>
            <a:r>
              <a:rPr lang="en" sz="1800" b="1" dirty="0">
                <a:solidFill>
                  <a:srgbClr val="000000"/>
                </a:solidFill>
                <a:latin typeface="Times New Roman" panose="02020603050405020304" pitchFamily="18" charset="0"/>
                <a:cs typeface="Times New Roman" panose="02020603050405020304" pitchFamily="18" charset="0"/>
              </a:rPr>
              <a:t>Black-box reuse:</a:t>
            </a:r>
            <a:r>
              <a:rPr lang="en" sz="1800" dirty="0">
                <a:solidFill>
                  <a:srgbClr val="000000"/>
                </a:solidFill>
                <a:latin typeface="Times New Roman" panose="02020603050405020304" pitchFamily="18" charset="0"/>
                <a:cs typeface="Times New Roman" panose="02020603050405020304" pitchFamily="18" charset="0"/>
              </a:rPr>
              <a:t> In black-box reuse, the component is reused </a:t>
            </a:r>
            <a:r>
              <a:rPr lang="en" sz="1800" dirty="0">
                <a:solidFill>
                  <a:schemeClr val="accent2">
                    <a:lumMod val="75000"/>
                  </a:schemeClr>
                </a:solidFill>
                <a:latin typeface="Times New Roman" panose="02020603050405020304" pitchFamily="18" charset="0"/>
                <a:cs typeface="Times New Roman" panose="02020603050405020304" pitchFamily="18" charset="0"/>
              </a:rPr>
              <a:t>without modification.</a:t>
            </a:r>
            <a:r>
              <a:rPr lang="en" sz="1800" dirty="0">
                <a:solidFill>
                  <a:srgbClr val="000000"/>
                </a:solidFill>
                <a:latin typeface="Times New Roman" panose="02020603050405020304" pitchFamily="18" charset="0"/>
                <a:cs typeface="Times New Roman" panose="02020603050405020304" pitchFamily="18" charset="0"/>
              </a:rPr>
              <a:t> Since the user does not need to modify the component prior to reusing it, only information on what it does is made available. </a:t>
            </a:r>
            <a:endParaRPr sz="1800" dirty="0">
              <a:solidFill>
                <a:srgbClr val="000000"/>
              </a:solidFill>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Clr>
                <a:srgbClr val="000000"/>
              </a:buClr>
              <a:buSzPts val="1800"/>
              <a:buAutoNum type="alphaLcPeriod"/>
            </a:pPr>
            <a:r>
              <a:rPr lang="en" sz="1800" b="1" dirty="0">
                <a:solidFill>
                  <a:srgbClr val="000000"/>
                </a:solidFill>
                <a:latin typeface="Times New Roman" panose="02020603050405020304" pitchFamily="18" charset="0"/>
                <a:cs typeface="Times New Roman" panose="02020603050405020304" pitchFamily="18" charset="0"/>
              </a:rPr>
              <a:t>White-box reuse:</a:t>
            </a:r>
            <a:r>
              <a:rPr lang="en" sz="1800" dirty="0">
                <a:solidFill>
                  <a:srgbClr val="000000"/>
                </a:solidFill>
                <a:latin typeface="Times New Roman" panose="02020603050405020304" pitchFamily="18" charset="0"/>
                <a:cs typeface="Times New Roman" panose="02020603050405020304" pitchFamily="18" charset="0"/>
              </a:rPr>
              <a:t> In white-box reuse, the component is reused </a:t>
            </a:r>
            <a:r>
              <a:rPr lang="en" sz="1800" dirty="0">
                <a:solidFill>
                  <a:schemeClr val="accent2">
                    <a:lumMod val="75000"/>
                  </a:schemeClr>
                </a:solidFill>
                <a:latin typeface="Times New Roman" panose="02020603050405020304" pitchFamily="18" charset="0"/>
                <a:cs typeface="Times New Roman" panose="02020603050405020304" pitchFamily="18" charset="0"/>
              </a:rPr>
              <a:t>after modification.</a:t>
            </a:r>
            <a:r>
              <a:rPr lang="en" sz="1800" dirty="0">
                <a:solidFill>
                  <a:srgbClr val="000000"/>
                </a:solidFill>
                <a:latin typeface="Times New Roman" panose="02020603050405020304" pitchFamily="18" charset="0"/>
                <a:cs typeface="Times New Roman" panose="02020603050405020304" pitchFamily="18" charset="0"/>
              </a:rPr>
              <a:t> This approach to reuse requires that the user be supplied with information on both what the component does and how it works.</a:t>
            </a: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Domain Analysis</a:t>
            </a:r>
            <a:endParaRPr dirty="0">
              <a:latin typeface="Times New Roman" panose="02020603050405020304" pitchFamily="18" charset="0"/>
              <a:cs typeface="Times New Roman" panose="02020603050405020304" pitchFamily="18" charset="0"/>
            </a:endParaRPr>
          </a:p>
        </p:txBody>
      </p:sp>
      <p:sp>
        <p:nvSpPr>
          <p:cNvPr id="171" name="Google Shape;171;p27"/>
          <p:cNvSpPr txBox="1">
            <a:spLocks noGrp="1"/>
          </p:cNvSpPr>
          <p:nvPr>
            <p:ph type="body" idx="1"/>
          </p:nvPr>
        </p:nvSpPr>
        <p:spPr>
          <a:xfrm>
            <a:off x="727650" y="13765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dirty="0">
                <a:solidFill>
                  <a:srgbClr val="000000"/>
                </a:solidFill>
                <a:latin typeface="Times New Roman" panose="02020603050405020304" pitchFamily="18" charset="0"/>
                <a:cs typeface="Times New Roman" panose="02020603050405020304" pitchFamily="18" charset="0"/>
              </a:rPr>
              <a:t>There are two categories of component that can be reused: horizontally reusable and vertically reusable components. </a:t>
            </a:r>
          </a:p>
          <a:p>
            <a:pPr marL="285750" indent="-285750"/>
            <a:r>
              <a:rPr lang="en" sz="1700" b="1" dirty="0">
                <a:solidFill>
                  <a:srgbClr val="000000"/>
                </a:solidFill>
                <a:latin typeface="Times New Roman" panose="02020603050405020304" pitchFamily="18" charset="0"/>
                <a:cs typeface="Times New Roman" panose="02020603050405020304" pitchFamily="18" charset="0"/>
              </a:rPr>
              <a:t>Horizontal</a:t>
            </a:r>
            <a:r>
              <a:rPr lang="en" sz="1700" dirty="0">
                <a:solidFill>
                  <a:srgbClr val="000000"/>
                </a:solidFill>
                <a:latin typeface="Times New Roman" panose="02020603050405020304" pitchFamily="18" charset="0"/>
                <a:cs typeface="Times New Roman" panose="02020603050405020304" pitchFamily="18" charset="0"/>
              </a:rPr>
              <a:t> reuse is reuse of components that can be used in a wide variety of domains, for example </a:t>
            </a:r>
            <a:r>
              <a:rPr lang="en" sz="1700" dirty="0">
                <a:solidFill>
                  <a:schemeClr val="accent2">
                    <a:lumMod val="75000"/>
                  </a:schemeClr>
                </a:solidFill>
                <a:latin typeface="Times New Roman" panose="02020603050405020304" pitchFamily="18" charset="0"/>
                <a:cs typeface="Times New Roman" panose="02020603050405020304" pitchFamily="18" charset="0"/>
              </a:rPr>
              <a:t>algorithms and data structures</a:t>
            </a:r>
            <a:r>
              <a:rPr lang="en" sz="1700" dirty="0">
                <a:solidFill>
                  <a:srgbClr val="000000"/>
                </a:solidFill>
                <a:latin typeface="Times New Roman" panose="02020603050405020304" pitchFamily="18" charset="0"/>
                <a:cs typeface="Times New Roman" panose="02020603050405020304" pitchFamily="18" charset="0"/>
              </a:rPr>
              <a:t>. </a:t>
            </a:r>
          </a:p>
          <a:p>
            <a:pPr marL="285750" indent="-285750"/>
            <a:r>
              <a:rPr lang="en" sz="1700" b="1" dirty="0">
                <a:solidFill>
                  <a:srgbClr val="000000"/>
                </a:solidFill>
                <a:latin typeface="Times New Roman" panose="02020603050405020304" pitchFamily="18" charset="0"/>
                <a:cs typeface="Times New Roman" panose="02020603050405020304" pitchFamily="18" charset="0"/>
              </a:rPr>
              <a:t>Vertical</a:t>
            </a:r>
            <a:r>
              <a:rPr lang="en" sz="1700" dirty="0">
                <a:solidFill>
                  <a:srgbClr val="000000"/>
                </a:solidFill>
                <a:latin typeface="Times New Roman" panose="02020603050405020304" pitchFamily="18" charset="0"/>
                <a:cs typeface="Times New Roman" panose="02020603050405020304" pitchFamily="18" charset="0"/>
              </a:rPr>
              <a:t> reuse is reuse of components that are targeted at applications within a </a:t>
            </a:r>
            <a:r>
              <a:rPr lang="en" sz="1700" dirty="0">
                <a:solidFill>
                  <a:schemeClr val="accent2">
                    <a:lumMod val="75000"/>
                  </a:schemeClr>
                </a:solidFill>
                <a:latin typeface="Times New Roman" panose="02020603050405020304" pitchFamily="18" charset="0"/>
                <a:cs typeface="Times New Roman" panose="02020603050405020304" pitchFamily="18" charset="0"/>
              </a:rPr>
              <a:t>given problem area</a:t>
            </a:r>
            <a:endParaRPr sz="1700" dirty="0">
              <a:solidFill>
                <a:schemeClr val="accent2">
                  <a:lumMod val="75000"/>
                </a:schemeClr>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r>
              <a:rPr lang="en" sz="1700" dirty="0">
                <a:solidFill>
                  <a:srgbClr val="000000"/>
                </a:solidFill>
                <a:latin typeface="Times New Roman" panose="02020603050405020304" pitchFamily="18" charset="0"/>
                <a:cs typeface="Times New Roman" panose="02020603050405020304" pitchFamily="18" charset="0"/>
              </a:rPr>
              <a:t>A process by which information used in developing and maintaining software systems is identified, captured, and organised with the purpose of making it reusable when maintaining existing systems</a:t>
            </a:r>
            <a:endParaRPr sz="17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28"/>
          <p:cNvPicPr preferRelativeResize="0"/>
          <p:nvPr/>
        </p:nvPicPr>
        <p:blipFill>
          <a:blip r:embed="rId3">
            <a:alphaModFix/>
          </a:blip>
          <a:stretch>
            <a:fillRect/>
          </a:stretch>
        </p:blipFill>
        <p:spPr>
          <a:xfrm>
            <a:off x="775625" y="481225"/>
            <a:ext cx="6351748" cy="4605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Domain Analysis</a:t>
            </a:r>
            <a:endParaRPr/>
          </a:p>
        </p:txBody>
      </p:sp>
      <p:sp>
        <p:nvSpPr>
          <p:cNvPr id="182" name="Google Shape;182;p29"/>
          <p:cNvSpPr txBox="1">
            <a:spLocks noGrp="1"/>
          </p:cNvSpPr>
          <p:nvPr>
            <p:ph type="body" idx="1"/>
          </p:nvPr>
        </p:nvSpPr>
        <p:spPr>
          <a:xfrm>
            <a:off x="727650" y="13765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rgbClr val="000000"/>
                </a:solidFill>
              </a:rPr>
              <a:t>Advantages: </a:t>
            </a:r>
            <a:endParaRPr sz="1600" dirty="0">
              <a:solidFill>
                <a:srgbClr val="000000"/>
              </a:solidFill>
            </a:endParaRPr>
          </a:p>
          <a:p>
            <a:pPr marL="457200" lvl="0" indent="-330200" algn="l" rtl="0">
              <a:spcBef>
                <a:spcPts val="1200"/>
              </a:spcBef>
              <a:spcAft>
                <a:spcPts val="0"/>
              </a:spcAft>
              <a:buClr>
                <a:srgbClr val="000000"/>
              </a:buClr>
              <a:buSzPts val="1600"/>
              <a:buChar char="●"/>
            </a:pPr>
            <a:r>
              <a:rPr lang="en" sz="1600" dirty="0">
                <a:solidFill>
                  <a:srgbClr val="000000"/>
                </a:solidFill>
              </a:rPr>
              <a:t>The repository of information produced serves, as an invaluable asset to an organisation. The information can be used for training other personnel to the domain in question.</a:t>
            </a:r>
            <a:endParaRPr sz="1600" dirty="0">
              <a:solidFill>
                <a:srgbClr val="000000"/>
              </a:solidFill>
            </a:endParaRPr>
          </a:p>
          <a:p>
            <a:pPr marL="457200" lvl="0" indent="-330200" algn="l" rtl="0">
              <a:spcBef>
                <a:spcPts val="0"/>
              </a:spcBef>
              <a:spcAft>
                <a:spcPts val="0"/>
              </a:spcAft>
              <a:buClr>
                <a:srgbClr val="000000"/>
              </a:buClr>
              <a:buSzPts val="1600"/>
              <a:buChar char="●"/>
            </a:pPr>
            <a:r>
              <a:rPr lang="en" sz="1600" dirty="0">
                <a:solidFill>
                  <a:srgbClr val="000000"/>
                </a:solidFill>
              </a:rPr>
              <a:t>With domain analysis, the impact of stuff turnover can be minimised.</a:t>
            </a:r>
            <a:endParaRPr sz="1600" dirty="0">
              <a:solidFill>
                <a:srgbClr val="000000"/>
              </a:solidFill>
            </a:endParaRPr>
          </a:p>
          <a:p>
            <a:pPr marL="0" lvl="0" indent="0" algn="l" rtl="0">
              <a:spcBef>
                <a:spcPts val="1200"/>
              </a:spcBef>
              <a:spcAft>
                <a:spcPts val="0"/>
              </a:spcAft>
              <a:buNone/>
            </a:pPr>
            <a:br>
              <a:rPr lang="en" sz="1600" dirty="0">
                <a:solidFill>
                  <a:srgbClr val="000000"/>
                </a:solidFill>
              </a:rPr>
            </a:br>
            <a:r>
              <a:rPr lang="en" sz="1600" dirty="0">
                <a:solidFill>
                  <a:srgbClr val="000000"/>
                </a:solidFill>
              </a:rPr>
              <a:t>Disadvantages:</a:t>
            </a:r>
            <a:endParaRPr sz="1600" dirty="0">
              <a:solidFill>
                <a:srgbClr val="000000"/>
              </a:solidFill>
            </a:endParaRPr>
          </a:p>
          <a:p>
            <a:pPr marL="457200" lvl="0" indent="-330200" algn="l" rtl="0">
              <a:spcBef>
                <a:spcPts val="1200"/>
              </a:spcBef>
              <a:spcAft>
                <a:spcPts val="0"/>
              </a:spcAft>
              <a:buClr>
                <a:srgbClr val="000000"/>
              </a:buClr>
              <a:buSzPts val="1600"/>
              <a:buChar char="●"/>
            </a:pPr>
            <a:r>
              <a:rPr lang="en" sz="1600" dirty="0">
                <a:solidFill>
                  <a:srgbClr val="000000"/>
                </a:solidFill>
              </a:rPr>
              <a:t>It requires a substantial upfront investment. </a:t>
            </a:r>
            <a:endParaRPr sz="1600" dirty="0">
              <a:solidFill>
                <a:srgbClr val="000000"/>
              </a:solidFill>
            </a:endParaRPr>
          </a:p>
          <a:p>
            <a:pPr marL="457200" lvl="0" indent="-330200" algn="l" rtl="0">
              <a:spcBef>
                <a:spcPts val="0"/>
              </a:spcBef>
              <a:spcAft>
                <a:spcPts val="0"/>
              </a:spcAft>
              <a:buClr>
                <a:srgbClr val="000000"/>
              </a:buClr>
              <a:buSzPts val="1600"/>
              <a:buChar char="●"/>
            </a:pPr>
            <a:r>
              <a:rPr lang="en" sz="1600" dirty="0">
                <a:solidFill>
                  <a:srgbClr val="000000"/>
                </a:solidFill>
              </a:rPr>
              <a:t>It is a long-term investment whose benefit will not be realised until the organisation observes some </a:t>
            </a:r>
            <a:r>
              <a:rPr lang="en" sz="1600" dirty="0">
                <a:solidFill>
                  <a:schemeClr val="accent2">
                    <a:lumMod val="75000"/>
                  </a:schemeClr>
                </a:solidFill>
              </a:rPr>
              <a:t>increase in productivity </a:t>
            </a:r>
            <a:r>
              <a:rPr lang="en" sz="1600" dirty="0">
                <a:solidFill>
                  <a:srgbClr val="000000"/>
                </a:solidFill>
              </a:rPr>
              <a:t>and a </a:t>
            </a:r>
            <a:r>
              <a:rPr lang="en" sz="1600" dirty="0">
                <a:solidFill>
                  <a:schemeClr val="accent2">
                    <a:lumMod val="75000"/>
                  </a:schemeClr>
                </a:solidFill>
              </a:rPr>
              <a:t>reduction in the cost</a:t>
            </a:r>
            <a:r>
              <a:rPr lang="en" sz="1600" dirty="0">
                <a:solidFill>
                  <a:srgbClr val="000000"/>
                </a:solidFill>
              </a:rPr>
              <a:t> of maintenance as a result of reuse.</a:t>
            </a:r>
            <a:endParaRPr sz="1600" dirty="0">
              <a:solidFill>
                <a:srgbClr val="000000"/>
              </a:solidFill>
            </a:endParaRPr>
          </a:p>
          <a:p>
            <a:pPr marL="0" lvl="0" indent="0" algn="l" rtl="0">
              <a:spcBef>
                <a:spcPts val="1200"/>
              </a:spcBef>
              <a:spcAft>
                <a:spcPts val="1200"/>
              </a:spcAft>
              <a:buNone/>
            </a:pPr>
            <a:endParaRPr sz="1600" dirty="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0"/>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Components Engineering</a:t>
            </a:r>
            <a:endParaRPr>
              <a:latin typeface="Times New Roman" panose="02020603050405020304" pitchFamily="18" charset="0"/>
              <a:cs typeface="Times New Roman" panose="02020603050405020304" pitchFamily="18" charset="0"/>
            </a:endParaRPr>
          </a:p>
        </p:txBody>
      </p:sp>
      <p:sp>
        <p:nvSpPr>
          <p:cNvPr id="188" name="Google Shape;188;p30"/>
          <p:cNvSpPr txBox="1">
            <a:spLocks noGrp="1"/>
          </p:cNvSpPr>
          <p:nvPr>
            <p:ph type="body" idx="1"/>
          </p:nvPr>
        </p:nvSpPr>
        <p:spPr>
          <a:xfrm>
            <a:off x="727650" y="13765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rgbClr val="000000"/>
                </a:solidFill>
                <a:latin typeface="Times New Roman" panose="02020603050405020304" pitchFamily="18" charset="0"/>
                <a:cs typeface="Times New Roman" panose="02020603050405020304" pitchFamily="18" charset="0"/>
              </a:rPr>
              <a:t>The composition-based approach to reuse involves composing a new system partly from existing components. There are two main ways in which these components can be obtained. </a:t>
            </a:r>
            <a:endParaRPr sz="1800" dirty="0">
              <a:solidFill>
                <a:srgbClr val="000000"/>
              </a:solidFill>
              <a:latin typeface="Times New Roman" panose="02020603050405020304" pitchFamily="18" charset="0"/>
              <a:cs typeface="Times New Roman" panose="02020603050405020304" pitchFamily="18" charset="0"/>
            </a:endParaRPr>
          </a:p>
          <a:p>
            <a:pPr marL="457200" lvl="0" indent="-342900" algn="l" rtl="0">
              <a:spcBef>
                <a:spcPts val="1200"/>
              </a:spcBef>
              <a:spcAft>
                <a:spcPts val="0"/>
              </a:spcAft>
              <a:buClr>
                <a:srgbClr val="000000"/>
              </a:buClr>
              <a:buSzPts val="1800"/>
              <a:buAutoNum type="arabicPeriod"/>
            </a:pPr>
            <a:r>
              <a:rPr lang="en" sz="1800" dirty="0">
                <a:solidFill>
                  <a:srgbClr val="000000"/>
                </a:solidFill>
                <a:latin typeface="Times New Roman" panose="02020603050405020304" pitchFamily="18" charset="0"/>
                <a:cs typeface="Times New Roman" panose="02020603050405020304" pitchFamily="18" charset="0"/>
              </a:rPr>
              <a:t> </a:t>
            </a:r>
            <a:r>
              <a:rPr lang="en" sz="1800" b="1" dirty="0">
                <a:solidFill>
                  <a:srgbClr val="000000"/>
                </a:solidFill>
                <a:latin typeface="Times New Roman" panose="02020603050405020304" pitchFamily="18" charset="0"/>
                <a:cs typeface="Times New Roman" panose="02020603050405020304" pitchFamily="18" charset="0"/>
              </a:rPr>
              <a:t>Design for Reuse:</a:t>
            </a:r>
            <a:r>
              <a:rPr lang="en" sz="1800" dirty="0">
                <a:solidFill>
                  <a:srgbClr val="000000"/>
                </a:solidFill>
                <a:latin typeface="Times New Roman" panose="02020603050405020304" pitchFamily="18" charset="0"/>
                <a:cs typeface="Times New Roman" panose="02020603050405020304" pitchFamily="18" charset="0"/>
              </a:rPr>
              <a:t> This involves developing components with the intention of using them on more than one occasion. </a:t>
            </a:r>
            <a:endParaRPr sz="1800" dirty="0">
              <a:solidFill>
                <a:srgbClr val="000000"/>
              </a:solidFill>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Clr>
                <a:srgbClr val="000000"/>
              </a:buClr>
              <a:buSzPts val="1800"/>
              <a:buAutoNum type="arabicPeriod"/>
            </a:pPr>
            <a:r>
              <a:rPr lang="en" sz="1800" dirty="0">
                <a:solidFill>
                  <a:srgbClr val="000000"/>
                </a:solidFill>
                <a:latin typeface="Times New Roman" panose="02020603050405020304" pitchFamily="18" charset="0"/>
                <a:cs typeface="Times New Roman" panose="02020603050405020304" pitchFamily="18" charset="0"/>
              </a:rPr>
              <a:t>The second way is through </a:t>
            </a:r>
            <a:r>
              <a:rPr lang="en" sz="1800" b="1" dirty="0">
                <a:solidFill>
                  <a:srgbClr val="000000"/>
                </a:solidFill>
                <a:latin typeface="Times New Roman" panose="02020603050405020304" pitchFamily="18" charset="0"/>
                <a:cs typeface="Times New Roman" panose="02020603050405020304" pitchFamily="18" charset="0"/>
              </a:rPr>
              <a:t>Reverse Engineering</a:t>
            </a:r>
            <a:r>
              <a:rPr lang="en" sz="1800" dirty="0">
                <a:solidFill>
                  <a:srgbClr val="000000"/>
                </a:solidFill>
                <a:latin typeface="Times New Roman" panose="02020603050405020304" pitchFamily="18" charset="0"/>
                <a:cs typeface="Times New Roman" panose="02020603050405020304" pitchFamily="18" charset="0"/>
              </a:rPr>
              <a:t>.</a:t>
            </a:r>
            <a:endParaRPr sz="18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1"/>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Components Engineering</a:t>
            </a:r>
            <a:endParaRPr/>
          </a:p>
        </p:txBody>
      </p:sp>
      <p:sp>
        <p:nvSpPr>
          <p:cNvPr id="194" name="Google Shape;194;p31"/>
          <p:cNvSpPr txBox="1">
            <a:spLocks noGrp="1"/>
          </p:cNvSpPr>
          <p:nvPr>
            <p:ph type="body" idx="1"/>
          </p:nvPr>
        </p:nvSpPr>
        <p:spPr>
          <a:xfrm>
            <a:off x="727650" y="1376575"/>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000000"/>
              </a:buClr>
              <a:buSzPts val="1600"/>
              <a:buAutoNum type="arabicPeriod"/>
            </a:pPr>
            <a:r>
              <a:rPr lang="en" sz="1600" dirty="0">
                <a:solidFill>
                  <a:srgbClr val="000000"/>
                </a:solidFill>
                <a:latin typeface="Times New Roman" panose="02020603050405020304" pitchFamily="18" charset="0"/>
                <a:cs typeface="Times New Roman" panose="02020603050405020304" pitchFamily="18" charset="0"/>
              </a:rPr>
              <a:t> </a:t>
            </a:r>
            <a:r>
              <a:rPr lang="en" sz="1600" b="1" dirty="0">
                <a:solidFill>
                  <a:srgbClr val="000000"/>
                </a:solidFill>
                <a:latin typeface="Times New Roman" panose="02020603050405020304" pitchFamily="18" charset="0"/>
                <a:cs typeface="Times New Roman" panose="02020603050405020304" pitchFamily="18" charset="0"/>
              </a:rPr>
              <a:t>Design for Reuse:</a:t>
            </a: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600" b="1" dirty="0">
                <a:solidFill>
                  <a:srgbClr val="000000"/>
                </a:solidFill>
                <a:latin typeface="Times New Roman" panose="02020603050405020304" pitchFamily="18" charset="0"/>
                <a:cs typeface="Times New Roman" panose="02020603050405020304" pitchFamily="18" charset="0"/>
              </a:rPr>
              <a:t>Characteristics of Reusable Components: </a:t>
            </a:r>
            <a:endParaRPr sz="1600" b="1"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600" dirty="0">
                <a:solidFill>
                  <a:srgbClr val="000000"/>
                </a:solidFill>
                <a:latin typeface="Times New Roman" panose="02020603050405020304" pitchFamily="18" charset="0"/>
                <a:cs typeface="Times New Roman" panose="02020603050405020304" pitchFamily="18" charset="0"/>
              </a:rPr>
              <a:t>To accommodate the evolutionary nature of a software system during its lifetime, it is essential to anticipate change. This means designing and implementing modules that are susceptible to modification Principles which we believe impact strongly on reusability.</a:t>
            </a:r>
            <a:endParaRPr sz="1600" b="1" dirty="0">
              <a:solidFill>
                <a:srgbClr val="000000"/>
              </a:solidFill>
              <a:latin typeface="Times New Roman" panose="02020603050405020304" pitchFamily="18" charset="0"/>
              <a:cs typeface="Times New Roman" panose="02020603050405020304" pitchFamily="18" charset="0"/>
            </a:endParaRPr>
          </a:p>
          <a:p>
            <a:pPr marL="457200" lvl="0" indent="-330200" algn="l" rtl="0">
              <a:spcBef>
                <a:spcPts val="1200"/>
              </a:spcBef>
              <a:spcAft>
                <a:spcPts val="0"/>
              </a:spcAft>
              <a:buClr>
                <a:srgbClr val="000000"/>
              </a:buClr>
              <a:buSzPts val="1600"/>
              <a:buChar char="●"/>
            </a:pPr>
            <a:r>
              <a:rPr lang="en" sz="1600" b="1" dirty="0">
                <a:solidFill>
                  <a:srgbClr val="000000"/>
                </a:solidFill>
                <a:latin typeface="Times New Roman" panose="02020603050405020304" pitchFamily="18" charset="0"/>
                <a:cs typeface="Times New Roman" panose="02020603050405020304" pitchFamily="18" charset="0"/>
              </a:rPr>
              <a:t>Generality</a:t>
            </a:r>
            <a:r>
              <a:rPr lang="en" sz="1600" dirty="0">
                <a:solidFill>
                  <a:srgbClr val="000000"/>
                </a:solidFill>
                <a:latin typeface="Times New Roman" panose="02020603050405020304" pitchFamily="18" charset="0"/>
                <a:cs typeface="Times New Roman" panose="02020603050405020304" pitchFamily="18" charset="0"/>
              </a:rPr>
              <a:t>: Generality presents a problem for reusability. It has been observed that solutions that are targeted at a wider problem domain (for example, formal specification) tend to have lower pay-off than those that are targeted at a narrower problem domain. </a:t>
            </a:r>
            <a:endParaRPr sz="16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2"/>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Components Engineering</a:t>
            </a:r>
            <a:endParaRPr dirty="0">
              <a:latin typeface="Times New Roman" panose="02020603050405020304" pitchFamily="18" charset="0"/>
              <a:cs typeface="Times New Roman" panose="02020603050405020304" pitchFamily="18" charset="0"/>
            </a:endParaRPr>
          </a:p>
        </p:txBody>
      </p:sp>
      <p:sp>
        <p:nvSpPr>
          <p:cNvPr id="200" name="Google Shape;200;p32"/>
          <p:cNvSpPr txBox="1">
            <a:spLocks noGrp="1"/>
          </p:cNvSpPr>
          <p:nvPr>
            <p:ph type="body" idx="1"/>
          </p:nvPr>
        </p:nvSpPr>
        <p:spPr>
          <a:xfrm>
            <a:off x="727650" y="1376575"/>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000000"/>
              </a:buClr>
              <a:buSzPts val="1600"/>
              <a:buAutoNum type="arabicPeriod"/>
            </a:pPr>
            <a:r>
              <a:rPr lang="en" sz="1600" dirty="0">
                <a:solidFill>
                  <a:srgbClr val="000000"/>
                </a:solidFill>
                <a:latin typeface="Times New Roman" panose="02020603050405020304" pitchFamily="18" charset="0"/>
                <a:cs typeface="Times New Roman" panose="02020603050405020304" pitchFamily="18" charset="0"/>
              </a:rPr>
              <a:t> </a:t>
            </a:r>
            <a:r>
              <a:rPr lang="en" sz="1600" b="1" dirty="0">
                <a:solidFill>
                  <a:srgbClr val="000000"/>
                </a:solidFill>
                <a:latin typeface="Times New Roman" panose="02020603050405020304" pitchFamily="18" charset="0"/>
                <a:cs typeface="Times New Roman" panose="02020603050405020304" pitchFamily="18" charset="0"/>
              </a:rPr>
              <a:t>Design for Reuse:</a:t>
            </a:r>
            <a:endParaRPr sz="1600" dirty="0">
              <a:solidFill>
                <a:srgbClr val="000000"/>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 sz="1600" b="1" dirty="0">
                <a:solidFill>
                  <a:srgbClr val="000000"/>
                </a:solidFill>
                <a:latin typeface="Times New Roman" panose="02020603050405020304" pitchFamily="18" charset="0"/>
                <a:cs typeface="Times New Roman" panose="02020603050405020304" pitchFamily="18" charset="0"/>
              </a:rPr>
              <a:t>Characteristics of Reusable Components: </a:t>
            </a:r>
            <a:endParaRPr sz="1600" b="1" dirty="0">
              <a:solidFill>
                <a:srgbClr val="000000"/>
              </a:solidFill>
              <a:latin typeface="Times New Roman" panose="02020603050405020304" pitchFamily="18" charset="0"/>
              <a:cs typeface="Times New Roman" panose="02020603050405020304" pitchFamily="18" charset="0"/>
            </a:endParaRPr>
          </a:p>
          <a:p>
            <a:pPr marL="457200" lvl="0" indent="-330200" algn="l" rtl="0">
              <a:spcBef>
                <a:spcPts val="1200"/>
              </a:spcBef>
              <a:spcAft>
                <a:spcPts val="0"/>
              </a:spcAft>
              <a:buClr>
                <a:srgbClr val="000000"/>
              </a:buClr>
              <a:buSzPts val="1600"/>
              <a:buChar char="●"/>
            </a:pPr>
            <a:r>
              <a:rPr lang="en" sz="1600" b="1" dirty="0">
                <a:solidFill>
                  <a:srgbClr val="000000"/>
                </a:solidFill>
                <a:latin typeface="Times New Roman" panose="02020603050405020304" pitchFamily="18" charset="0"/>
                <a:cs typeface="Times New Roman" panose="02020603050405020304" pitchFamily="18" charset="0"/>
              </a:rPr>
              <a:t>Cohesion versus coupling</a:t>
            </a:r>
            <a:r>
              <a:rPr lang="en" sz="1600" dirty="0">
                <a:solidFill>
                  <a:srgbClr val="000000"/>
                </a:solidFill>
                <a:latin typeface="Times New Roman" panose="02020603050405020304" pitchFamily="18" charset="0"/>
                <a:cs typeface="Times New Roman" panose="02020603050405020304" pitchFamily="18" charset="0"/>
              </a:rPr>
              <a:t>: Increasing the degree of reusability of a software component therefore implies high cohesion and loose coupling since the component can be reused without worrying too much about which other modules accompany it.</a:t>
            </a:r>
            <a:endParaRPr sz="1600" dirty="0">
              <a:solidFill>
                <a:srgbClr val="000000"/>
              </a:solidFill>
              <a:latin typeface="Times New Roman" panose="02020603050405020304" pitchFamily="18" charset="0"/>
              <a:cs typeface="Times New Roman" panose="02020603050405020304" pitchFamily="18" charset="0"/>
            </a:endParaRPr>
          </a:p>
          <a:p>
            <a:pPr marL="457200" lvl="0" indent="-330200" algn="l" rtl="0">
              <a:spcBef>
                <a:spcPts val="0"/>
              </a:spcBef>
              <a:spcAft>
                <a:spcPts val="0"/>
              </a:spcAft>
              <a:buClr>
                <a:srgbClr val="000000"/>
              </a:buClr>
              <a:buSzPts val="1600"/>
              <a:buChar char="●"/>
            </a:pPr>
            <a:r>
              <a:rPr lang="en" sz="1600" b="1" dirty="0">
                <a:solidFill>
                  <a:srgbClr val="000000"/>
                </a:solidFill>
                <a:latin typeface="Times New Roman" panose="02020603050405020304" pitchFamily="18" charset="0"/>
                <a:cs typeface="Times New Roman" panose="02020603050405020304" pitchFamily="18" charset="0"/>
              </a:rPr>
              <a:t>Interaction:  </a:t>
            </a:r>
            <a:r>
              <a:rPr lang="en" sz="1600" dirty="0">
                <a:solidFill>
                  <a:srgbClr val="000000"/>
                </a:solidFill>
                <a:latin typeface="Times New Roman" panose="02020603050405020304" pitchFamily="18" charset="0"/>
                <a:cs typeface="Times New Roman" panose="02020603050405020304" pitchFamily="18" charset="0"/>
              </a:rPr>
              <a:t>More use of functions rather than source code lines.</a:t>
            </a:r>
            <a:endParaRPr sz="1600" dirty="0">
              <a:solidFill>
                <a:srgbClr val="000000"/>
              </a:solidFill>
              <a:latin typeface="Times New Roman" panose="02020603050405020304" pitchFamily="18" charset="0"/>
              <a:cs typeface="Times New Roman" panose="02020603050405020304" pitchFamily="18" charset="0"/>
            </a:endParaRPr>
          </a:p>
          <a:p>
            <a:pPr marL="457200" lvl="0" indent="-330200" algn="l" rtl="0">
              <a:spcBef>
                <a:spcPts val="0"/>
              </a:spcBef>
              <a:spcAft>
                <a:spcPts val="0"/>
              </a:spcAft>
              <a:buClr>
                <a:srgbClr val="000000"/>
              </a:buClr>
              <a:buSzPts val="1600"/>
              <a:buChar char="●"/>
            </a:pPr>
            <a:r>
              <a:rPr lang="en" sz="1600" b="1" dirty="0">
                <a:solidFill>
                  <a:srgbClr val="000000"/>
                </a:solidFill>
                <a:latin typeface="Times New Roman" panose="02020603050405020304" pitchFamily="18" charset="0"/>
                <a:cs typeface="Times New Roman" panose="02020603050405020304" pitchFamily="18" charset="0"/>
              </a:rPr>
              <a:t>Uniformity and Standardisation</a:t>
            </a:r>
            <a:r>
              <a:rPr lang="en" sz="1600" dirty="0">
                <a:solidFill>
                  <a:srgbClr val="000000"/>
                </a:solidFill>
                <a:latin typeface="Times New Roman" panose="02020603050405020304" pitchFamily="18" charset="0"/>
                <a:cs typeface="Times New Roman" panose="02020603050405020304" pitchFamily="18" charset="0"/>
              </a:rPr>
              <a:t>: Standards help towards uniformity in the techniques used to invoke, control and terminate functions as well as in the methods used for getting help during use of the software</a:t>
            </a:r>
            <a:endParaRPr sz="1600" dirty="0">
              <a:solidFill>
                <a:srgbClr val="000000"/>
              </a:solidFill>
              <a:latin typeface="Times New Roman" panose="02020603050405020304" pitchFamily="18" charset="0"/>
              <a:cs typeface="Times New Roman" panose="02020603050405020304" pitchFamily="18" charset="0"/>
            </a:endParaRPr>
          </a:p>
          <a:p>
            <a:pPr marL="457200" lvl="0" indent="0" algn="l" rtl="0">
              <a:spcBef>
                <a:spcPts val="1200"/>
              </a:spcBef>
              <a:spcAft>
                <a:spcPts val="1200"/>
              </a:spcAft>
              <a:buNone/>
            </a:pPr>
            <a:endParaRPr sz="16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3"/>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Components Engineering</a:t>
            </a:r>
            <a:endParaRPr/>
          </a:p>
        </p:txBody>
      </p:sp>
      <p:sp>
        <p:nvSpPr>
          <p:cNvPr id="206" name="Google Shape;206;p33"/>
          <p:cNvSpPr txBox="1">
            <a:spLocks noGrp="1"/>
          </p:cNvSpPr>
          <p:nvPr>
            <p:ph type="body" idx="1"/>
          </p:nvPr>
        </p:nvSpPr>
        <p:spPr>
          <a:xfrm>
            <a:off x="727650" y="1376575"/>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000000"/>
              </a:buClr>
              <a:buSzPts val="1600"/>
              <a:buAutoNum type="arabicPeriod"/>
            </a:pPr>
            <a:r>
              <a:rPr lang="en" sz="1600">
                <a:solidFill>
                  <a:srgbClr val="000000"/>
                </a:solidFill>
              </a:rPr>
              <a:t> </a:t>
            </a:r>
            <a:r>
              <a:rPr lang="en" sz="1600" b="1">
                <a:solidFill>
                  <a:srgbClr val="000000"/>
                </a:solidFill>
              </a:rPr>
              <a:t>Design for Reuse:</a:t>
            </a:r>
            <a:endParaRPr sz="1600">
              <a:solidFill>
                <a:srgbClr val="000000"/>
              </a:solidFill>
            </a:endParaRPr>
          </a:p>
          <a:p>
            <a:pPr marL="0" lvl="0" indent="0" algn="l" rtl="0">
              <a:spcBef>
                <a:spcPts val="1200"/>
              </a:spcBef>
              <a:spcAft>
                <a:spcPts val="0"/>
              </a:spcAft>
              <a:buNone/>
            </a:pPr>
            <a:r>
              <a:rPr lang="en" sz="1600" b="1">
                <a:solidFill>
                  <a:srgbClr val="000000"/>
                </a:solidFill>
              </a:rPr>
              <a:t>Characteristics of Reusable Components: </a:t>
            </a:r>
            <a:endParaRPr sz="1600" b="1">
              <a:solidFill>
                <a:srgbClr val="000000"/>
              </a:solidFill>
            </a:endParaRPr>
          </a:p>
          <a:p>
            <a:pPr marL="457200" lvl="0" indent="-330200" algn="l" rtl="0">
              <a:spcBef>
                <a:spcPts val="1200"/>
              </a:spcBef>
              <a:spcAft>
                <a:spcPts val="0"/>
              </a:spcAft>
              <a:buClr>
                <a:srgbClr val="000000"/>
              </a:buClr>
              <a:buSzPts val="1600"/>
              <a:buChar char="●"/>
            </a:pPr>
            <a:r>
              <a:rPr lang="en" sz="1600" b="1">
                <a:solidFill>
                  <a:srgbClr val="000000"/>
                </a:solidFill>
              </a:rPr>
              <a:t>Data and control abstractions:</a:t>
            </a:r>
            <a:r>
              <a:rPr lang="en" sz="1600">
                <a:solidFill>
                  <a:srgbClr val="000000"/>
                </a:solidFill>
              </a:rPr>
              <a:t>  To allow effective reuse, it is essential to have a clear separation between the programs that manipulate data and the data itself.</a:t>
            </a:r>
            <a:endParaRPr sz="1600">
              <a:solidFill>
                <a:srgbClr val="000000"/>
              </a:solidFill>
            </a:endParaRPr>
          </a:p>
          <a:p>
            <a:pPr marL="457200" lvl="0" indent="-330200" algn="l" rtl="0">
              <a:spcBef>
                <a:spcPts val="0"/>
              </a:spcBef>
              <a:spcAft>
                <a:spcPts val="0"/>
              </a:spcAft>
              <a:buClr>
                <a:srgbClr val="000000"/>
              </a:buClr>
              <a:buSzPts val="1600"/>
              <a:buChar char="●"/>
            </a:pPr>
            <a:r>
              <a:rPr lang="en" sz="1600" b="1">
                <a:solidFill>
                  <a:srgbClr val="000000"/>
                </a:solidFill>
              </a:rPr>
              <a:t>Interoperability:</a:t>
            </a:r>
            <a:r>
              <a:rPr lang="en" sz="1600">
                <a:solidFill>
                  <a:srgbClr val="000000"/>
                </a:solidFill>
              </a:rPr>
              <a:t> The increasing popularity of interoperability will aid reuse by allowing systems to take advantage of remote services</a:t>
            </a:r>
            <a:endParaRPr sz="1600">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4"/>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Components Engineering</a:t>
            </a:r>
            <a:endParaRPr/>
          </a:p>
        </p:txBody>
      </p:sp>
      <p:sp>
        <p:nvSpPr>
          <p:cNvPr id="212" name="Google Shape;212;p34"/>
          <p:cNvSpPr txBox="1">
            <a:spLocks noGrp="1"/>
          </p:cNvSpPr>
          <p:nvPr>
            <p:ph type="body" idx="1"/>
          </p:nvPr>
        </p:nvSpPr>
        <p:spPr>
          <a:xfrm>
            <a:off x="727650" y="1376575"/>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000000"/>
              </a:buClr>
              <a:buSzPts val="1600"/>
              <a:buAutoNum type="arabicPeriod"/>
            </a:pPr>
            <a:r>
              <a:rPr lang="en" sz="1600">
                <a:solidFill>
                  <a:srgbClr val="000000"/>
                </a:solidFill>
              </a:rPr>
              <a:t> </a:t>
            </a:r>
            <a:r>
              <a:rPr lang="en" sz="1600" b="1">
                <a:solidFill>
                  <a:srgbClr val="000000"/>
                </a:solidFill>
              </a:rPr>
              <a:t>Design for Reuse:</a:t>
            </a:r>
            <a:endParaRPr sz="1600">
              <a:solidFill>
                <a:srgbClr val="000000"/>
              </a:solidFill>
            </a:endParaRPr>
          </a:p>
          <a:p>
            <a:pPr marL="0" lvl="0" indent="0" algn="l" rtl="0">
              <a:spcBef>
                <a:spcPts val="1200"/>
              </a:spcBef>
              <a:spcAft>
                <a:spcPts val="0"/>
              </a:spcAft>
              <a:buNone/>
            </a:pPr>
            <a:r>
              <a:rPr lang="en" sz="1600" b="1">
                <a:solidFill>
                  <a:srgbClr val="000000"/>
                </a:solidFill>
              </a:rPr>
              <a:t>Problems with Reuse Libraries: </a:t>
            </a:r>
            <a:endParaRPr sz="1600" b="1">
              <a:solidFill>
                <a:srgbClr val="000000"/>
              </a:solidFill>
            </a:endParaRPr>
          </a:p>
          <a:p>
            <a:pPr marL="0" lvl="0" indent="0" algn="l" rtl="0">
              <a:spcBef>
                <a:spcPts val="1200"/>
              </a:spcBef>
              <a:spcAft>
                <a:spcPts val="0"/>
              </a:spcAft>
              <a:buNone/>
            </a:pPr>
            <a:r>
              <a:rPr lang="en" sz="1600">
                <a:solidFill>
                  <a:srgbClr val="000000"/>
                </a:solidFill>
              </a:rPr>
              <a:t>The components library plays a central role in composition-based reuse. There are, however, a number of problems associated with designing the library and also obtaining candidate components from it:</a:t>
            </a:r>
            <a:endParaRPr sz="1600">
              <a:solidFill>
                <a:srgbClr val="000000"/>
              </a:solidFill>
            </a:endParaRPr>
          </a:p>
          <a:p>
            <a:pPr marL="457200" lvl="0" indent="-330200" algn="l" rtl="0">
              <a:spcBef>
                <a:spcPts val="1200"/>
              </a:spcBef>
              <a:spcAft>
                <a:spcPts val="0"/>
              </a:spcAft>
              <a:buClr>
                <a:srgbClr val="000000"/>
              </a:buClr>
              <a:buSzPts val="1600"/>
              <a:buChar char="●"/>
            </a:pPr>
            <a:r>
              <a:rPr lang="en" sz="1600" b="1">
                <a:solidFill>
                  <a:srgbClr val="000000"/>
                </a:solidFill>
              </a:rPr>
              <a:t>The granularity and size dilemma: </a:t>
            </a:r>
            <a:r>
              <a:rPr lang="en" sz="1600">
                <a:solidFill>
                  <a:srgbClr val="000000"/>
                </a:solidFill>
              </a:rPr>
              <a:t>The classification and search problems can be minimised by having a smaller number of large library fragments, but this increases the problems of understandability and genericity.</a:t>
            </a:r>
            <a:endParaRPr sz="1600">
              <a:solidFill>
                <a:srgbClr val="000000"/>
              </a:solidFill>
            </a:endParaRPr>
          </a:p>
          <a:p>
            <a:pPr marL="457200" lvl="0" indent="-330200" algn="l" rtl="0">
              <a:spcBef>
                <a:spcPts val="0"/>
              </a:spcBef>
              <a:spcAft>
                <a:spcPts val="0"/>
              </a:spcAft>
              <a:buClr>
                <a:srgbClr val="000000"/>
              </a:buClr>
              <a:buSzPts val="1600"/>
              <a:buChar char="●"/>
            </a:pPr>
            <a:r>
              <a:rPr lang="en" sz="1600" b="1">
                <a:solidFill>
                  <a:srgbClr val="000000"/>
                </a:solidFill>
              </a:rPr>
              <a:t>The search problem:</a:t>
            </a:r>
            <a:r>
              <a:rPr lang="en" sz="1600">
                <a:solidFill>
                  <a:srgbClr val="000000"/>
                </a:solidFill>
              </a:rPr>
              <a:t> Without an appropriate mechanism for describing the contents of a components library, it will be difficult for a user to find components that match the requirements of the system to be composed. </a:t>
            </a:r>
            <a:endParaRPr sz="1600">
              <a:solidFill>
                <a:srgbClr val="000000"/>
              </a:solidFill>
            </a:endParaRPr>
          </a:p>
          <a:p>
            <a:pPr marL="457200" lvl="0" indent="0" algn="l" rtl="0">
              <a:spcBef>
                <a:spcPts val="1200"/>
              </a:spcBef>
              <a:spcAft>
                <a:spcPts val="0"/>
              </a:spcAft>
              <a:buNone/>
            </a:pPr>
            <a:endParaRPr sz="1600">
              <a:solidFill>
                <a:srgbClr val="000000"/>
              </a:solidFill>
            </a:endParaRPr>
          </a:p>
          <a:p>
            <a:pPr marL="0" lvl="0" indent="0" algn="l" rtl="0">
              <a:spcBef>
                <a:spcPts val="1200"/>
              </a:spcBef>
              <a:spcAft>
                <a:spcPts val="1200"/>
              </a:spcAft>
              <a:buNone/>
            </a:pPr>
            <a:endParaRPr sz="1600">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5"/>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Components Engineering</a:t>
            </a:r>
            <a:endParaRPr/>
          </a:p>
        </p:txBody>
      </p:sp>
      <p:sp>
        <p:nvSpPr>
          <p:cNvPr id="218" name="Google Shape;218;p35"/>
          <p:cNvSpPr txBox="1">
            <a:spLocks noGrp="1"/>
          </p:cNvSpPr>
          <p:nvPr>
            <p:ph type="body" idx="1"/>
          </p:nvPr>
        </p:nvSpPr>
        <p:spPr>
          <a:xfrm>
            <a:off x="727650" y="1376575"/>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000000"/>
              </a:buClr>
              <a:buSzPts val="1600"/>
              <a:buAutoNum type="arabicPeriod"/>
            </a:pPr>
            <a:r>
              <a:rPr lang="en" sz="1600">
                <a:solidFill>
                  <a:srgbClr val="000000"/>
                </a:solidFill>
              </a:rPr>
              <a:t> </a:t>
            </a:r>
            <a:r>
              <a:rPr lang="en" sz="1600" b="1">
                <a:solidFill>
                  <a:srgbClr val="000000"/>
                </a:solidFill>
              </a:rPr>
              <a:t>Design for Reuse:</a:t>
            </a:r>
            <a:endParaRPr sz="1600">
              <a:solidFill>
                <a:srgbClr val="000000"/>
              </a:solidFill>
            </a:endParaRPr>
          </a:p>
          <a:p>
            <a:pPr marL="0" lvl="0" indent="0" algn="l" rtl="0">
              <a:spcBef>
                <a:spcPts val="1200"/>
              </a:spcBef>
              <a:spcAft>
                <a:spcPts val="0"/>
              </a:spcAft>
              <a:buNone/>
            </a:pPr>
            <a:r>
              <a:rPr lang="en" sz="1600" b="1">
                <a:solidFill>
                  <a:srgbClr val="000000"/>
                </a:solidFill>
              </a:rPr>
              <a:t>Problems with Reuse Libraries: </a:t>
            </a:r>
            <a:endParaRPr sz="1600" b="1">
              <a:solidFill>
                <a:srgbClr val="000000"/>
              </a:solidFill>
            </a:endParaRPr>
          </a:p>
          <a:p>
            <a:pPr marL="457200" lvl="0" indent="-330200" algn="l" rtl="0">
              <a:spcBef>
                <a:spcPts val="1200"/>
              </a:spcBef>
              <a:spcAft>
                <a:spcPts val="0"/>
              </a:spcAft>
              <a:buClr>
                <a:srgbClr val="000000"/>
              </a:buClr>
              <a:buSzPts val="1600"/>
              <a:buChar char="●"/>
            </a:pPr>
            <a:r>
              <a:rPr lang="en" sz="1600" b="1">
                <a:solidFill>
                  <a:srgbClr val="000000"/>
                </a:solidFill>
              </a:rPr>
              <a:t>The classification problem: </a:t>
            </a:r>
            <a:r>
              <a:rPr lang="en" sz="1600">
                <a:solidFill>
                  <a:srgbClr val="000000"/>
                </a:solidFill>
              </a:rPr>
              <a:t>It is important to store information in the components library on what components it contains. However, it is not always obvious how to specify this information.</a:t>
            </a:r>
            <a:endParaRPr sz="1600" b="1">
              <a:solidFill>
                <a:srgbClr val="000000"/>
              </a:solidFill>
            </a:endParaRPr>
          </a:p>
          <a:p>
            <a:pPr marL="457200" lvl="0" indent="-330200" algn="l" rtl="0">
              <a:spcBef>
                <a:spcPts val="0"/>
              </a:spcBef>
              <a:spcAft>
                <a:spcPts val="0"/>
              </a:spcAft>
              <a:buClr>
                <a:srgbClr val="000000"/>
              </a:buClr>
              <a:buSzPts val="1600"/>
              <a:buChar char="●"/>
            </a:pPr>
            <a:r>
              <a:rPr lang="en" sz="1600" b="1">
                <a:solidFill>
                  <a:srgbClr val="000000"/>
                </a:solidFill>
              </a:rPr>
              <a:t>The specification and flexibility problems: </a:t>
            </a:r>
            <a:r>
              <a:rPr lang="en" sz="1600">
                <a:solidFill>
                  <a:srgbClr val="000000"/>
                </a:solidFill>
              </a:rPr>
              <a:t>It can be difficult to specify how it works and the constraints on its usage. This poses problems for a user intending to undertake white-box reuse. </a:t>
            </a:r>
            <a:endParaRPr sz="1600">
              <a:solidFill>
                <a:srgbClr val="000000"/>
              </a:solidFill>
            </a:endParaRPr>
          </a:p>
          <a:p>
            <a:pPr marL="0" lvl="0" indent="0" algn="l" rtl="0">
              <a:spcBef>
                <a:spcPts val="1200"/>
              </a:spcBef>
              <a:spcAft>
                <a:spcPts val="1200"/>
              </a:spcAft>
              <a:buNone/>
            </a:pPr>
            <a:endParaRPr sz="16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6"/>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Components Engineering</a:t>
            </a:r>
            <a:endParaRPr/>
          </a:p>
        </p:txBody>
      </p:sp>
      <p:sp>
        <p:nvSpPr>
          <p:cNvPr id="224" name="Google Shape;224;p36"/>
          <p:cNvSpPr txBox="1">
            <a:spLocks noGrp="1"/>
          </p:cNvSpPr>
          <p:nvPr>
            <p:ph type="body" idx="1"/>
          </p:nvPr>
        </p:nvSpPr>
        <p:spPr>
          <a:xfrm>
            <a:off x="727650" y="1376575"/>
            <a:ext cx="7688700" cy="2261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000000"/>
              </a:buClr>
              <a:buSzPts val="1600"/>
              <a:buAutoNum type="arabicPeriod" startAt="2"/>
            </a:pPr>
            <a:r>
              <a:rPr lang="en" sz="1600" b="1">
                <a:solidFill>
                  <a:srgbClr val="000000"/>
                </a:solidFill>
              </a:rPr>
              <a:t>Reverse Engineering:</a:t>
            </a:r>
            <a:br>
              <a:rPr lang="en" sz="1600">
                <a:solidFill>
                  <a:srgbClr val="000000"/>
                </a:solidFill>
              </a:rPr>
            </a:br>
            <a:r>
              <a:rPr lang="en" sz="1600">
                <a:solidFill>
                  <a:srgbClr val="000000"/>
                </a:solidFill>
              </a:rPr>
              <a:t>The second way in which reusable components can be made available is by identifying and extracting them from existing systems that were not originally designed for reuse but nonetheless have reusability potentia</a:t>
            </a:r>
            <a:endParaRPr sz="1600">
              <a:solidFill>
                <a:srgbClr val="000000"/>
              </a:solidFill>
            </a:endParaRPr>
          </a:p>
          <a:p>
            <a:pPr marL="0" lvl="0" indent="0" algn="l" rtl="0">
              <a:spcBef>
                <a:spcPts val="1200"/>
              </a:spcBef>
              <a:spcAft>
                <a:spcPts val="0"/>
              </a:spcAft>
              <a:buNone/>
            </a:pPr>
            <a:endParaRPr sz="1600">
              <a:solidFill>
                <a:srgbClr val="000000"/>
              </a:solidFill>
            </a:endParaRPr>
          </a:p>
          <a:p>
            <a:pPr marL="0" lvl="0" indent="0" algn="l" rtl="0">
              <a:spcBef>
                <a:spcPts val="1200"/>
              </a:spcBef>
              <a:spcAft>
                <a:spcPts val="1200"/>
              </a:spcAft>
              <a:buNone/>
            </a:pPr>
            <a:endParaRPr sz="1600">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7"/>
          <p:cNvSpPr txBox="1">
            <a:spLocks noGrp="1"/>
          </p:cNvSpPr>
          <p:nvPr>
            <p:ph type="title"/>
          </p:nvPr>
        </p:nvSpPr>
        <p:spPr>
          <a:xfrm>
            <a:off x="729450" y="5320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Reuse Process Model</a:t>
            </a:r>
            <a:endParaRPr/>
          </a:p>
        </p:txBody>
      </p:sp>
      <p:sp>
        <p:nvSpPr>
          <p:cNvPr id="230" name="Google Shape;230;p37"/>
          <p:cNvSpPr txBox="1">
            <a:spLocks noGrp="1"/>
          </p:cNvSpPr>
          <p:nvPr>
            <p:ph type="body" idx="1"/>
          </p:nvPr>
        </p:nvSpPr>
        <p:spPr>
          <a:xfrm>
            <a:off x="727650" y="1376575"/>
            <a:ext cx="7688700" cy="343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rgbClr val="000000"/>
                </a:solidFill>
              </a:rPr>
              <a:t>In software reuse, the developer or maintainer takes a view that extends beyond single projects or systems.</a:t>
            </a:r>
            <a:endParaRPr sz="1600" dirty="0">
              <a:solidFill>
                <a:srgbClr val="000000"/>
              </a:solidFill>
            </a:endParaRPr>
          </a:p>
          <a:p>
            <a:pPr marL="0" lvl="0" indent="0" algn="l" rtl="0">
              <a:spcBef>
                <a:spcPts val="1200"/>
              </a:spcBef>
              <a:spcAft>
                <a:spcPts val="0"/>
              </a:spcAft>
              <a:buNone/>
            </a:pPr>
            <a:r>
              <a:rPr lang="en" sz="1600" dirty="0">
                <a:solidFill>
                  <a:srgbClr val="000000"/>
                </a:solidFill>
              </a:rPr>
              <a:t>Reuse involves the exploitation of commonality at many levels of abstraction besides that easily captured in code.</a:t>
            </a:r>
            <a:endParaRPr sz="1600" dirty="0">
              <a:solidFill>
                <a:srgbClr val="000000"/>
              </a:solidFill>
            </a:endParaRPr>
          </a:p>
          <a:p>
            <a:pPr marL="0" lvl="0" indent="0" algn="l" rtl="0">
              <a:spcBef>
                <a:spcPts val="1200"/>
              </a:spcBef>
              <a:spcAft>
                <a:spcPts val="0"/>
              </a:spcAft>
              <a:buNone/>
            </a:pPr>
            <a:r>
              <a:rPr lang="en" sz="1600" dirty="0">
                <a:solidFill>
                  <a:srgbClr val="000000"/>
                </a:solidFill>
                <a:highlight>
                  <a:srgbClr val="FFFF00"/>
                </a:highlight>
              </a:rPr>
              <a:t>Reuse depends, to a large extent, on the ability to analyse specific domains in order to extract maximally reusable components</a:t>
            </a:r>
            <a:r>
              <a:rPr lang="en" sz="1600" dirty="0">
                <a:solidFill>
                  <a:srgbClr val="000000"/>
                </a:solidFill>
              </a:rPr>
              <a:t>. </a:t>
            </a:r>
            <a:endParaRPr sz="1600" dirty="0">
              <a:solidFill>
                <a:srgbClr val="000000"/>
              </a:solidFill>
            </a:endParaRPr>
          </a:p>
          <a:p>
            <a:pPr marL="0" lvl="0" indent="0" algn="l" rtl="0">
              <a:spcBef>
                <a:spcPts val="1200"/>
              </a:spcBef>
              <a:spcAft>
                <a:spcPts val="0"/>
              </a:spcAft>
              <a:buNone/>
            </a:pPr>
            <a:r>
              <a:rPr lang="en" sz="1600" dirty="0">
                <a:solidFill>
                  <a:srgbClr val="000000"/>
                </a:solidFill>
              </a:rPr>
              <a:t>Two models are discussed here:</a:t>
            </a:r>
            <a:endParaRPr sz="1600" dirty="0">
              <a:solidFill>
                <a:srgbClr val="000000"/>
              </a:solidFill>
            </a:endParaRPr>
          </a:p>
          <a:p>
            <a:pPr marL="457200" lvl="0" indent="-330200" algn="l" rtl="0">
              <a:spcBef>
                <a:spcPts val="1200"/>
              </a:spcBef>
              <a:spcAft>
                <a:spcPts val="0"/>
              </a:spcAft>
              <a:buClr>
                <a:srgbClr val="000000"/>
              </a:buClr>
              <a:buSzPts val="1600"/>
              <a:buAutoNum type="arabicPeriod"/>
            </a:pPr>
            <a:r>
              <a:rPr lang="en" sz="1600" dirty="0">
                <a:solidFill>
                  <a:srgbClr val="000000"/>
                </a:solidFill>
              </a:rPr>
              <a:t>Generic Reuse/Reusability Model</a:t>
            </a:r>
            <a:endParaRPr sz="1600" dirty="0">
              <a:solidFill>
                <a:srgbClr val="000000"/>
              </a:solidFill>
            </a:endParaRPr>
          </a:p>
          <a:p>
            <a:pPr marL="457200" lvl="0" indent="-330200" algn="l" rtl="0">
              <a:spcBef>
                <a:spcPts val="0"/>
              </a:spcBef>
              <a:spcAft>
                <a:spcPts val="0"/>
              </a:spcAft>
              <a:buClr>
                <a:srgbClr val="000000"/>
              </a:buClr>
              <a:buSzPts val="1600"/>
              <a:buAutoNum type="arabicPeriod"/>
            </a:pPr>
            <a:r>
              <a:rPr lang="en" sz="1600" dirty="0">
                <a:solidFill>
                  <a:srgbClr val="000000"/>
                </a:solidFill>
              </a:rPr>
              <a:t>Accommodating Reuse Model </a:t>
            </a:r>
            <a:endParaRPr sz="1600" dirty="0">
              <a:solidFill>
                <a:srgbClr val="000000"/>
              </a:solidFill>
            </a:endParaRPr>
          </a:p>
          <a:p>
            <a:pPr marL="0" lvl="0" indent="0" algn="l" rtl="0">
              <a:spcBef>
                <a:spcPts val="1200"/>
              </a:spcBef>
              <a:spcAft>
                <a:spcPts val="0"/>
              </a:spcAft>
              <a:buNone/>
            </a:pPr>
            <a:endParaRPr sz="1600" dirty="0">
              <a:solidFill>
                <a:srgbClr val="000000"/>
              </a:solidFill>
            </a:endParaRPr>
          </a:p>
          <a:p>
            <a:pPr marL="0" lvl="0" indent="0" algn="l" rtl="0">
              <a:spcBef>
                <a:spcPts val="1200"/>
              </a:spcBef>
              <a:spcAft>
                <a:spcPts val="0"/>
              </a:spcAft>
              <a:buNone/>
            </a:pPr>
            <a:endParaRPr sz="1600" dirty="0">
              <a:solidFill>
                <a:srgbClr val="000000"/>
              </a:solidFill>
            </a:endParaRPr>
          </a:p>
          <a:p>
            <a:pPr marL="0" lvl="0" indent="0" algn="l" rtl="0">
              <a:spcBef>
                <a:spcPts val="1200"/>
              </a:spcBef>
              <a:spcAft>
                <a:spcPts val="1200"/>
              </a:spcAft>
              <a:buNone/>
            </a:pPr>
            <a:endParaRPr sz="1600" dirty="0">
              <a:solidFill>
                <a:srgbClr val="0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8"/>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Reuse Process Model</a:t>
            </a:r>
            <a:endParaRPr/>
          </a:p>
          <a:p>
            <a:pPr marL="0" lvl="0" indent="0" algn="l" rtl="0">
              <a:spcBef>
                <a:spcPts val="0"/>
              </a:spcBef>
              <a:spcAft>
                <a:spcPts val="0"/>
              </a:spcAft>
              <a:buNone/>
            </a:pPr>
            <a:endParaRPr/>
          </a:p>
        </p:txBody>
      </p:sp>
      <p:sp>
        <p:nvSpPr>
          <p:cNvPr id="236" name="Google Shape;236;p38"/>
          <p:cNvSpPr txBox="1">
            <a:spLocks noGrp="1"/>
          </p:cNvSpPr>
          <p:nvPr>
            <p:ph type="body" idx="1"/>
          </p:nvPr>
        </p:nvSpPr>
        <p:spPr>
          <a:xfrm>
            <a:off x="729450" y="1316875"/>
            <a:ext cx="3842400" cy="34650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1018"/>
              <a:buNone/>
            </a:pPr>
            <a:r>
              <a:rPr lang="en" sz="1502">
                <a:solidFill>
                  <a:srgbClr val="000000"/>
                </a:solidFill>
              </a:rPr>
              <a:t>1.Generic Reuse/Reusability Model:</a:t>
            </a:r>
            <a:endParaRPr sz="1502">
              <a:solidFill>
                <a:srgbClr val="000000"/>
              </a:solidFill>
            </a:endParaRPr>
          </a:p>
          <a:p>
            <a:pPr marL="0" lvl="0" indent="0" algn="l" rtl="0">
              <a:lnSpc>
                <a:spcPct val="95000"/>
              </a:lnSpc>
              <a:spcBef>
                <a:spcPts val="1200"/>
              </a:spcBef>
              <a:spcAft>
                <a:spcPts val="0"/>
              </a:spcAft>
              <a:buSzPts val="1018"/>
              <a:buNone/>
            </a:pPr>
            <a:r>
              <a:rPr lang="en" sz="1502">
                <a:solidFill>
                  <a:srgbClr val="000000"/>
                </a:solidFill>
              </a:rPr>
              <a:t>This model has 5 steps:</a:t>
            </a:r>
            <a:endParaRPr sz="1502">
              <a:solidFill>
                <a:srgbClr val="000000"/>
              </a:solidFill>
            </a:endParaRPr>
          </a:p>
          <a:p>
            <a:pPr marL="0" lvl="0" indent="0" algn="l" rtl="0">
              <a:lnSpc>
                <a:spcPct val="95000"/>
              </a:lnSpc>
              <a:spcBef>
                <a:spcPts val="1200"/>
              </a:spcBef>
              <a:spcAft>
                <a:spcPts val="0"/>
              </a:spcAft>
              <a:buSzPts val="1018"/>
              <a:buNone/>
            </a:pPr>
            <a:r>
              <a:rPr lang="en" sz="1502">
                <a:solidFill>
                  <a:srgbClr val="000000"/>
                </a:solidFill>
              </a:rPr>
              <a:t>Step 1: This step involves understanding the problem to be solved and then identifying a solution structure based on predefined components available.</a:t>
            </a:r>
            <a:endParaRPr sz="1502">
              <a:solidFill>
                <a:srgbClr val="000000"/>
              </a:solidFill>
            </a:endParaRPr>
          </a:p>
          <a:p>
            <a:pPr marL="0" lvl="0" indent="0" algn="l" rtl="0">
              <a:lnSpc>
                <a:spcPct val="95000"/>
              </a:lnSpc>
              <a:spcBef>
                <a:spcPts val="1200"/>
              </a:spcBef>
              <a:spcAft>
                <a:spcPts val="0"/>
              </a:spcAft>
              <a:buSzPts val="1018"/>
              <a:buNone/>
            </a:pPr>
            <a:r>
              <a:rPr lang="en" sz="1502">
                <a:solidFill>
                  <a:srgbClr val="000000"/>
                </a:solidFill>
              </a:rPr>
              <a:t>Step 2: The solution structure is then reconfigured in order to maximise the potential of reuse at the current and the next phase</a:t>
            </a:r>
            <a:endParaRPr sz="1502">
              <a:solidFill>
                <a:srgbClr val="000000"/>
              </a:solidFill>
            </a:endParaRPr>
          </a:p>
          <a:p>
            <a:pPr marL="0" lvl="0" indent="0" algn="l" rtl="0">
              <a:lnSpc>
                <a:spcPct val="95000"/>
              </a:lnSpc>
              <a:spcBef>
                <a:spcPts val="1200"/>
              </a:spcBef>
              <a:spcAft>
                <a:spcPts val="0"/>
              </a:spcAft>
              <a:buSzPts val="1018"/>
              <a:buNone/>
            </a:pPr>
            <a:r>
              <a:rPr lang="en" sz="1502">
                <a:solidFill>
                  <a:srgbClr val="000000"/>
                </a:solidFill>
              </a:rPr>
              <a:t>Step 3: The major task at this stage is preparing the reusable components identified in the solution structure in readiness for integration. </a:t>
            </a:r>
            <a:endParaRPr sz="1502">
              <a:solidFill>
                <a:srgbClr val="000000"/>
              </a:solidFill>
            </a:endParaRPr>
          </a:p>
          <a:p>
            <a:pPr marL="0" lvl="0" indent="0" algn="l" rtl="0">
              <a:lnSpc>
                <a:spcPct val="95000"/>
              </a:lnSpc>
              <a:spcBef>
                <a:spcPts val="1200"/>
              </a:spcBef>
              <a:spcAft>
                <a:spcPts val="0"/>
              </a:spcAft>
              <a:buSzPts val="1018"/>
              <a:buNone/>
            </a:pPr>
            <a:endParaRPr sz="1502">
              <a:solidFill>
                <a:srgbClr val="000000"/>
              </a:solidFill>
            </a:endParaRPr>
          </a:p>
          <a:p>
            <a:pPr marL="0" lvl="0" indent="0" algn="l" rtl="0">
              <a:lnSpc>
                <a:spcPct val="95000"/>
              </a:lnSpc>
              <a:spcBef>
                <a:spcPts val="1200"/>
              </a:spcBef>
              <a:spcAft>
                <a:spcPts val="1200"/>
              </a:spcAft>
              <a:buSzPts val="1018"/>
              <a:buNone/>
            </a:pPr>
            <a:endParaRPr sz="1502">
              <a:solidFill>
                <a:srgbClr val="000000"/>
              </a:solidFill>
            </a:endParaRPr>
          </a:p>
        </p:txBody>
      </p:sp>
      <p:pic>
        <p:nvPicPr>
          <p:cNvPr id="237" name="Google Shape;237;p38"/>
          <p:cNvPicPr preferRelativeResize="0"/>
          <p:nvPr/>
        </p:nvPicPr>
        <p:blipFill>
          <a:blip r:embed="rId3">
            <a:alphaModFix/>
          </a:blip>
          <a:stretch>
            <a:fillRect/>
          </a:stretch>
        </p:blipFill>
        <p:spPr>
          <a:xfrm>
            <a:off x="4429375" y="0"/>
            <a:ext cx="4714626"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9"/>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Reuse Process Model</a:t>
            </a:r>
            <a:endParaRPr/>
          </a:p>
          <a:p>
            <a:pPr marL="0" lvl="0" indent="0" algn="l" rtl="0">
              <a:spcBef>
                <a:spcPts val="0"/>
              </a:spcBef>
              <a:spcAft>
                <a:spcPts val="0"/>
              </a:spcAft>
              <a:buNone/>
            </a:pPr>
            <a:endParaRPr/>
          </a:p>
        </p:txBody>
      </p:sp>
      <p:sp>
        <p:nvSpPr>
          <p:cNvPr id="243" name="Google Shape;243;p39"/>
          <p:cNvSpPr txBox="1">
            <a:spLocks noGrp="1"/>
          </p:cNvSpPr>
          <p:nvPr>
            <p:ph type="body" idx="1"/>
          </p:nvPr>
        </p:nvSpPr>
        <p:spPr>
          <a:xfrm>
            <a:off x="729450" y="1316875"/>
            <a:ext cx="3842400" cy="34650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1018"/>
              <a:buNone/>
            </a:pPr>
            <a:r>
              <a:rPr lang="en" sz="1502">
                <a:solidFill>
                  <a:srgbClr val="000000"/>
                </a:solidFill>
              </a:rPr>
              <a:t>1.Generic Reuse/Reusability Model:</a:t>
            </a:r>
            <a:endParaRPr sz="1502">
              <a:solidFill>
                <a:srgbClr val="000000"/>
              </a:solidFill>
            </a:endParaRPr>
          </a:p>
          <a:p>
            <a:pPr marL="0" lvl="0" indent="0" algn="l" rtl="0">
              <a:lnSpc>
                <a:spcPct val="95000"/>
              </a:lnSpc>
              <a:spcBef>
                <a:spcPts val="1200"/>
              </a:spcBef>
              <a:spcAft>
                <a:spcPts val="0"/>
              </a:spcAft>
              <a:buNone/>
            </a:pPr>
            <a:r>
              <a:rPr lang="en" sz="1502">
                <a:solidFill>
                  <a:srgbClr val="000000"/>
                </a:solidFill>
              </a:rPr>
              <a:t>Step 4: The main aim at this stage is integrating the completed components into the product(s) required for the next phase of the software life-cycle</a:t>
            </a:r>
            <a:endParaRPr sz="1502">
              <a:solidFill>
                <a:srgbClr val="000000"/>
              </a:solidFill>
            </a:endParaRPr>
          </a:p>
          <a:p>
            <a:pPr marL="0" lvl="0" indent="0" algn="l" rtl="0">
              <a:lnSpc>
                <a:spcPct val="95000"/>
              </a:lnSpc>
              <a:spcBef>
                <a:spcPts val="1200"/>
              </a:spcBef>
              <a:spcAft>
                <a:spcPts val="0"/>
              </a:spcAft>
              <a:buNone/>
            </a:pPr>
            <a:r>
              <a:rPr lang="en" sz="1502">
                <a:solidFill>
                  <a:srgbClr val="000000"/>
                </a:solidFill>
              </a:rPr>
              <a:t>Step 5: In this step, the experience from the preceding steps is used to evaluate the reusability prospects of two categories of component.</a:t>
            </a:r>
            <a:r>
              <a:rPr lang="en" sz="1502" b="1">
                <a:solidFill>
                  <a:srgbClr val="000000"/>
                </a:solidFill>
              </a:rPr>
              <a:t>The first category</a:t>
            </a:r>
            <a:r>
              <a:rPr lang="en" sz="1502">
                <a:solidFill>
                  <a:srgbClr val="000000"/>
                </a:solidFill>
              </a:rPr>
              <a:t> is those components that need to be developed for the sub-problems for which no reusable components exist. </a:t>
            </a:r>
            <a:r>
              <a:rPr lang="en" sz="1502" b="1">
                <a:solidFill>
                  <a:srgbClr val="000000"/>
                </a:solidFill>
              </a:rPr>
              <a:t>The second category</a:t>
            </a:r>
            <a:r>
              <a:rPr lang="en" sz="1502">
                <a:solidFill>
                  <a:srgbClr val="000000"/>
                </a:solidFill>
              </a:rPr>
              <a:t> is those components that have been obtained from the adaptation of predefined components.</a:t>
            </a:r>
            <a:endParaRPr sz="1502">
              <a:solidFill>
                <a:srgbClr val="000000"/>
              </a:solidFill>
            </a:endParaRPr>
          </a:p>
          <a:p>
            <a:pPr marL="0" lvl="0" indent="0" algn="l" rtl="0">
              <a:lnSpc>
                <a:spcPct val="95000"/>
              </a:lnSpc>
              <a:spcBef>
                <a:spcPts val="1200"/>
              </a:spcBef>
              <a:spcAft>
                <a:spcPts val="0"/>
              </a:spcAft>
              <a:buSzPts val="1018"/>
              <a:buNone/>
            </a:pPr>
            <a:endParaRPr sz="1502">
              <a:solidFill>
                <a:srgbClr val="000000"/>
              </a:solidFill>
            </a:endParaRPr>
          </a:p>
          <a:p>
            <a:pPr marL="0" lvl="0" indent="0" algn="l" rtl="0">
              <a:lnSpc>
                <a:spcPct val="95000"/>
              </a:lnSpc>
              <a:spcBef>
                <a:spcPts val="1200"/>
              </a:spcBef>
              <a:spcAft>
                <a:spcPts val="1200"/>
              </a:spcAft>
              <a:buSzPts val="1018"/>
              <a:buNone/>
            </a:pPr>
            <a:endParaRPr sz="1502">
              <a:solidFill>
                <a:srgbClr val="000000"/>
              </a:solidFill>
            </a:endParaRPr>
          </a:p>
        </p:txBody>
      </p:sp>
      <p:pic>
        <p:nvPicPr>
          <p:cNvPr id="244" name="Google Shape;244;p39"/>
          <p:cNvPicPr preferRelativeResize="0"/>
          <p:nvPr/>
        </p:nvPicPr>
        <p:blipFill>
          <a:blip r:embed="rId3">
            <a:alphaModFix/>
          </a:blip>
          <a:stretch>
            <a:fillRect/>
          </a:stretch>
        </p:blipFill>
        <p:spPr>
          <a:xfrm>
            <a:off x="4429375" y="0"/>
            <a:ext cx="4714626" cy="5143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0"/>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Reuse Process Model</a:t>
            </a:r>
            <a:endParaRPr/>
          </a:p>
          <a:p>
            <a:pPr marL="0" lvl="0" indent="0" algn="l" rtl="0">
              <a:spcBef>
                <a:spcPts val="0"/>
              </a:spcBef>
              <a:spcAft>
                <a:spcPts val="0"/>
              </a:spcAft>
              <a:buNone/>
            </a:pPr>
            <a:endParaRPr/>
          </a:p>
        </p:txBody>
      </p:sp>
      <p:sp>
        <p:nvSpPr>
          <p:cNvPr id="250" name="Google Shape;250;p40"/>
          <p:cNvSpPr txBox="1">
            <a:spLocks noGrp="1"/>
          </p:cNvSpPr>
          <p:nvPr>
            <p:ph type="body" idx="1"/>
          </p:nvPr>
        </p:nvSpPr>
        <p:spPr>
          <a:xfrm>
            <a:off x="729450" y="1316875"/>
            <a:ext cx="3842400" cy="34650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1018"/>
              <a:buNone/>
            </a:pPr>
            <a:r>
              <a:rPr lang="en" sz="1502" dirty="0">
                <a:solidFill>
                  <a:srgbClr val="000000"/>
                </a:solidFill>
              </a:rPr>
              <a:t>2.Accommodating a Reuse Process Model:</a:t>
            </a:r>
            <a:endParaRPr sz="1502" dirty="0">
              <a:solidFill>
                <a:srgbClr val="000000"/>
              </a:solidFill>
            </a:endParaRPr>
          </a:p>
          <a:p>
            <a:pPr marL="0" lvl="0" indent="0" algn="l" rtl="0">
              <a:lnSpc>
                <a:spcPct val="95000"/>
              </a:lnSpc>
              <a:spcBef>
                <a:spcPts val="1200"/>
              </a:spcBef>
              <a:spcAft>
                <a:spcPts val="0"/>
              </a:spcAft>
              <a:buNone/>
            </a:pPr>
            <a:r>
              <a:rPr lang="en" sz="1502" dirty="0">
                <a:solidFill>
                  <a:srgbClr val="000000"/>
                </a:solidFill>
              </a:rPr>
              <a:t>One of the reasons that may discourage organisations from adopting software reuse is the </a:t>
            </a:r>
            <a:r>
              <a:rPr lang="en" sz="1502" dirty="0">
                <a:solidFill>
                  <a:schemeClr val="accent2">
                    <a:lumMod val="75000"/>
                  </a:schemeClr>
                </a:solidFill>
              </a:rPr>
              <a:t>difficulty of accommodating </a:t>
            </a:r>
            <a:r>
              <a:rPr lang="en" sz="1502" dirty="0">
                <a:solidFill>
                  <a:srgbClr val="000000"/>
                </a:solidFill>
              </a:rPr>
              <a:t>it in an existing software engineering process model. </a:t>
            </a:r>
            <a:endParaRPr sz="1502" dirty="0">
              <a:solidFill>
                <a:srgbClr val="000000"/>
              </a:solidFill>
            </a:endParaRPr>
          </a:p>
          <a:p>
            <a:pPr marL="0" lvl="0" indent="0" algn="l" rtl="0">
              <a:lnSpc>
                <a:spcPct val="95000"/>
              </a:lnSpc>
              <a:spcBef>
                <a:spcPts val="1200"/>
              </a:spcBef>
              <a:spcAft>
                <a:spcPts val="0"/>
              </a:spcAft>
              <a:buNone/>
            </a:pPr>
            <a:r>
              <a:rPr lang="en" sz="1502" dirty="0">
                <a:solidFill>
                  <a:srgbClr val="000000"/>
                </a:solidFill>
              </a:rPr>
              <a:t>Without an appropriate mechanism such a change may </a:t>
            </a:r>
            <a:r>
              <a:rPr lang="en" sz="1502" dirty="0">
                <a:solidFill>
                  <a:schemeClr val="accent2">
                    <a:lumMod val="75000"/>
                  </a:schemeClr>
                </a:solidFill>
              </a:rPr>
              <a:t>destabilise the organisational culture</a:t>
            </a:r>
            <a:r>
              <a:rPr lang="en" sz="1502" dirty="0">
                <a:solidFill>
                  <a:srgbClr val="000000"/>
                </a:solidFill>
              </a:rPr>
              <a:t> which in turn may encourage resistance to the incorporation of reuse into the organisation's process model.</a:t>
            </a:r>
            <a:endParaRPr sz="1502" dirty="0">
              <a:solidFill>
                <a:srgbClr val="000000"/>
              </a:solidFill>
            </a:endParaRPr>
          </a:p>
          <a:p>
            <a:pPr marL="0" lvl="0" indent="0" algn="l" rtl="0">
              <a:lnSpc>
                <a:spcPct val="95000"/>
              </a:lnSpc>
              <a:spcBef>
                <a:spcPts val="1200"/>
              </a:spcBef>
              <a:spcAft>
                <a:spcPts val="0"/>
              </a:spcAft>
              <a:buSzPts val="1018"/>
              <a:buNone/>
            </a:pPr>
            <a:endParaRPr sz="1502" dirty="0">
              <a:solidFill>
                <a:srgbClr val="000000"/>
              </a:solidFill>
            </a:endParaRPr>
          </a:p>
          <a:p>
            <a:pPr marL="0" lvl="0" indent="0" algn="l" rtl="0">
              <a:lnSpc>
                <a:spcPct val="95000"/>
              </a:lnSpc>
              <a:spcBef>
                <a:spcPts val="1200"/>
              </a:spcBef>
              <a:spcAft>
                <a:spcPts val="1200"/>
              </a:spcAft>
              <a:buSzPts val="1018"/>
              <a:buNone/>
            </a:pPr>
            <a:endParaRPr sz="1502" dirty="0">
              <a:solidFill>
                <a:srgbClr val="000000"/>
              </a:solidFill>
            </a:endParaRPr>
          </a:p>
        </p:txBody>
      </p:sp>
      <p:pic>
        <p:nvPicPr>
          <p:cNvPr id="251" name="Google Shape;251;p40"/>
          <p:cNvPicPr preferRelativeResize="0"/>
          <p:nvPr/>
        </p:nvPicPr>
        <p:blipFill>
          <a:blip r:embed="rId3">
            <a:alphaModFix/>
          </a:blip>
          <a:stretch>
            <a:fillRect/>
          </a:stretch>
        </p:blipFill>
        <p:spPr>
          <a:xfrm>
            <a:off x="4741509" y="99401"/>
            <a:ext cx="4705000" cy="48455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1"/>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Factors that Impact upon Reuse</a:t>
            </a:r>
            <a:endParaRPr dirty="0"/>
          </a:p>
        </p:txBody>
      </p:sp>
      <p:sp>
        <p:nvSpPr>
          <p:cNvPr id="257" name="Google Shape;257;p41"/>
          <p:cNvSpPr txBox="1">
            <a:spLocks noGrp="1"/>
          </p:cNvSpPr>
          <p:nvPr>
            <p:ph type="body" idx="1"/>
          </p:nvPr>
        </p:nvSpPr>
        <p:spPr>
          <a:xfrm>
            <a:off x="729450" y="1316875"/>
            <a:ext cx="7688700" cy="346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000000"/>
                </a:solidFill>
              </a:rPr>
              <a:t>Technical Factors:</a:t>
            </a:r>
            <a:endParaRPr dirty="0">
              <a:solidFill>
                <a:srgbClr val="000000"/>
              </a:solidFill>
            </a:endParaRPr>
          </a:p>
          <a:p>
            <a:pPr marL="457200" lvl="0" indent="-311150" algn="l" rtl="0">
              <a:spcBef>
                <a:spcPts val="1200"/>
              </a:spcBef>
              <a:spcAft>
                <a:spcPts val="0"/>
              </a:spcAft>
              <a:buClr>
                <a:srgbClr val="000000"/>
              </a:buClr>
              <a:buSzPts val="1300"/>
              <a:buChar char="●"/>
            </a:pPr>
            <a:r>
              <a:rPr lang="en" dirty="0">
                <a:solidFill>
                  <a:srgbClr val="000000"/>
                </a:solidFill>
              </a:rPr>
              <a:t>Programming Languages</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Representation of Information</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Reuse Library</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Reuse-Maintenance Vicious Cycle</a:t>
            </a:r>
            <a:endParaRPr dirty="0">
              <a:solidFill>
                <a:srgbClr val="000000"/>
              </a:solidFill>
            </a:endParaRPr>
          </a:p>
          <a:p>
            <a:pPr marL="0" lvl="0" indent="0" algn="l" rtl="0">
              <a:spcBef>
                <a:spcPts val="1200"/>
              </a:spcBef>
              <a:spcAft>
                <a:spcPts val="0"/>
              </a:spcAft>
              <a:buNone/>
            </a:pPr>
            <a:r>
              <a:rPr lang="en" dirty="0">
                <a:solidFill>
                  <a:srgbClr val="000000"/>
                </a:solidFill>
              </a:rPr>
              <a:t>Non-Technical Factors:</a:t>
            </a:r>
            <a:endParaRPr dirty="0">
              <a:solidFill>
                <a:srgbClr val="000000"/>
              </a:solidFill>
            </a:endParaRPr>
          </a:p>
          <a:p>
            <a:pPr marL="457200" lvl="0" indent="-311150" algn="l" rtl="0">
              <a:spcBef>
                <a:spcPts val="1200"/>
              </a:spcBef>
              <a:spcAft>
                <a:spcPts val="0"/>
              </a:spcAft>
              <a:buClr>
                <a:srgbClr val="000000"/>
              </a:buClr>
              <a:buSzPts val="1300"/>
              <a:buChar char="●"/>
            </a:pPr>
            <a:r>
              <a:rPr lang="en" dirty="0">
                <a:solidFill>
                  <a:srgbClr val="000000"/>
                </a:solidFill>
              </a:rPr>
              <a:t>Initial Capital Outlay</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Not Invented Here Factor</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Commercial Interest</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Education</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Project Co-ordination</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Legal Issues</a:t>
            </a:r>
            <a:endParaRPr dirty="0">
              <a:solidFill>
                <a:srgbClr val="000000"/>
              </a:solidFill>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TotalTime>
  <Words>1807</Words>
  <Application>Microsoft Office PowerPoint</Application>
  <PresentationFormat>On-screen Show (16:9)</PresentationFormat>
  <Paragraphs>149</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Raleway</vt:lpstr>
      <vt:lpstr>Times New Roman</vt:lpstr>
      <vt:lpstr>Lato</vt:lpstr>
      <vt:lpstr>Arial</vt:lpstr>
      <vt:lpstr>Streamline</vt:lpstr>
      <vt:lpstr>Chapter 8</vt:lpstr>
      <vt:lpstr>Overview</vt:lpstr>
      <vt:lpstr>Overview</vt:lpstr>
      <vt:lpstr>Software Reuse</vt:lpstr>
      <vt:lpstr> Targets for Reuse</vt:lpstr>
      <vt:lpstr> Targets for Reuse</vt:lpstr>
      <vt:lpstr>Target for Reuse (Product)</vt:lpstr>
      <vt:lpstr>Target for Reuse (Product)</vt:lpstr>
      <vt:lpstr> Objectives and Benefits of Reuse</vt:lpstr>
      <vt:lpstr>Approaches to Reuse</vt:lpstr>
      <vt:lpstr>Composition-Based Reuse</vt:lpstr>
      <vt:lpstr>Composition-Based Reuse</vt:lpstr>
      <vt:lpstr>Domain Analysis</vt:lpstr>
      <vt:lpstr>PowerPoint Presentation</vt:lpstr>
      <vt:lpstr>Domain Analysis</vt:lpstr>
      <vt:lpstr>Components Engineering</vt:lpstr>
      <vt:lpstr>Components Engineering</vt:lpstr>
      <vt:lpstr>Components Engineering</vt:lpstr>
      <vt:lpstr>Components Engineering</vt:lpstr>
      <vt:lpstr>Components Engineering</vt:lpstr>
      <vt:lpstr>Components Engineering</vt:lpstr>
      <vt:lpstr>Components Engineering</vt:lpstr>
      <vt:lpstr>Reuse Process Model</vt:lpstr>
      <vt:lpstr>Reuse Process Model </vt:lpstr>
      <vt:lpstr>Reuse Process Model </vt:lpstr>
      <vt:lpstr>Reuse Process Model </vt:lpstr>
      <vt:lpstr>Factors that Impact upon Reuse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Namisa__ __</cp:lastModifiedBy>
  <cp:revision>2</cp:revision>
  <dcterms:modified xsi:type="dcterms:W3CDTF">2026-06-30T14:18:16Z</dcterms:modified>
</cp:coreProperties>
</file>