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sldSz cx="9144000" cy="5143500" type="screen16x9"/>
  <p:notesSz cx="6858000" cy="9144000"/>
  <p:embeddedFontLst>
    <p:embeddedFont>
      <p:font typeface="Arial Black" panose="020B0A04020102020204" pitchFamily="34" charset="0"/>
      <p:regular r:id="rId58"/>
      <p:bold r:id="rId59"/>
    </p:embeddedFont>
    <p:embeddedFont>
      <p:font typeface="Consolas" panose="020B0609020204030204" pitchFamily="49" charset="0"/>
      <p:regular r:id="rId60"/>
      <p:bold r:id="rId61"/>
      <p:italic r:id="rId62"/>
      <p:boldItalic r:id="rId63"/>
    </p:embeddedFont>
    <p:embeddedFont>
      <p:font typeface="Lato" panose="020F0502020204030203" pitchFamily="34" charset="0"/>
      <p:regular r:id="rId64"/>
      <p:bold r:id="rId65"/>
      <p:italic r:id="rId66"/>
      <p:boldItalic r:id="rId67"/>
    </p:embeddedFont>
    <p:embeddedFont>
      <p:font typeface="Raleway" pitchFamily="2"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2" roundtripDataSignature="AMtx7mgVNll1a2pBgmY5FBBFUWObUQkgC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4269679-E8BF-4189-809D-C1BFF6D13FCF}">
  <a:tblStyle styleId="{34269679-E8BF-4189-809D-C1BFF6D13FC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f946b0c4ee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f946b0c4e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f946b0c4e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f946b0c4e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8: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f597a327de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f597a327de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f946b0c4ee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f946b0c4ee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f946b0c4ee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f946b0c4ee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f946b0c4ee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f946b0c4ee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f946b0c4ee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f946b0c4ee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f946b0c4ee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f946b0c4ee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2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f55f49bfe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f55f49bfe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f55f49bfed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f55f49bfe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f55f49bfed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f55f49bfed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f55f49bfed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f55f49bfed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f55f49bfed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f55f49bfe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2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f95d317413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f95d317413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f95d317413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f95d31741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f95d317413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f95d31741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22: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f946b0c4e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f946b0c4e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f946b0c4ee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f946b0c4ee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f946b0c4ee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f946b0c4ee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f946b0c4ee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f946b0c4ee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f946b0c4ee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f946b0c4ee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f946b0c4ee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f946b0c4ee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f946b0c4ee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f946b0c4ee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f946b0c4ee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f946b0c4ee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f946b0c4ee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f946b0c4ee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f946b0c4ee_0_1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3f946b0c4ee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f946b0c4ee_0_1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3f946b0c4ee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f946b0c4ee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3f946b0c4ee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f946b0c4ee_0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3f946b0c4ee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f946b0c4ee_0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3f946b0c4ee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3f946b0c4ee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3f946b0c4ee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3f946b0c4ee_0_1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3f946b0c4ee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f946b0c4ee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3f946b0c4ee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f946b0c4ee_0_1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f946b0c4ee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f946b0c4ee_0_1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3f946b0c4ee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f946b0c4ee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f946b0c4ee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3f946b0c4ee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3f946b0c4ee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f9510dc93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3f9510dc93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f9510dc93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f9510dc93c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40"/>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 name="Google Shape;11;p40"/>
          <p:cNvGrpSpPr/>
          <p:nvPr/>
        </p:nvGrpSpPr>
        <p:grpSpPr>
          <a:xfrm>
            <a:off x="830392" y="1191256"/>
            <a:ext cx="745763" cy="45826"/>
            <a:chOff x="4580561" y="2589004"/>
            <a:chExt cx="1064464" cy="25200"/>
          </a:xfrm>
        </p:grpSpPr>
        <p:sp>
          <p:nvSpPr>
            <p:cNvPr id="12" name="Google Shape;12;p40"/>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40"/>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 name="Google Shape;14;p40"/>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15" name="Google Shape;15;p40"/>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16" name="Google Shape;1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1"/>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 name="Google Shape;19;p41"/>
          <p:cNvGrpSpPr/>
          <p:nvPr/>
        </p:nvGrpSpPr>
        <p:grpSpPr>
          <a:xfrm>
            <a:off x="830392" y="1191256"/>
            <a:ext cx="745763" cy="45826"/>
            <a:chOff x="4580561" y="2589004"/>
            <a:chExt cx="1064464" cy="25200"/>
          </a:xfrm>
        </p:grpSpPr>
        <p:sp>
          <p:nvSpPr>
            <p:cNvPr id="20" name="Google Shape;20;p4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4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 name="Google Shape;22;p41"/>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23" name="Google Shape;23;p41"/>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4" name="Google Shape;24;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4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28" name="Google Shape;28;p42"/>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9" name="Google Shape;29;p42"/>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30" name="Google Shape;30;p4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1"/>
        <p:cNvGrpSpPr/>
        <p:nvPr/>
      </p:nvGrpSpPr>
      <p:grpSpPr>
        <a:xfrm>
          <a:off x="0" y="0"/>
          <a:ext cx="0" cy="0"/>
          <a:chOff x="0" y="0"/>
          <a:chExt cx="0" cy="0"/>
        </a:xfrm>
      </p:grpSpPr>
      <p:sp>
        <p:nvSpPr>
          <p:cNvPr id="32" name="Google Shape;32;p43"/>
          <p:cNvSpPr/>
          <p:nvPr/>
        </p:nvSpPr>
        <p:spPr>
          <a:xfrm>
            <a:off x="6350" y="4763"/>
            <a:ext cx="9118600" cy="5124450"/>
          </a:xfrm>
          <a:prstGeom prst="rect">
            <a:avLst/>
          </a:prstGeom>
          <a:noFill/>
          <a:ln w="127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33" name="Google Shape;33;p43"/>
          <p:cNvSpPr txBox="1"/>
          <p:nvPr/>
        </p:nvSpPr>
        <p:spPr>
          <a:xfrm>
            <a:off x="1452563" y="4895850"/>
            <a:ext cx="5230812" cy="258366"/>
          </a:xfrm>
          <a:prstGeom prst="rect">
            <a:avLst/>
          </a:prstGeom>
          <a:noFill/>
          <a:ln>
            <a:noFill/>
          </a:ln>
        </p:spPr>
        <p:txBody>
          <a:bodyPr spcFirstLastPara="1" wrap="square" lIns="69050" tIns="34525" rIns="69050" bIns="34525" anchor="ctr" anchorCtr="0">
            <a:noAutofit/>
          </a:bodyPr>
          <a:lstStyle/>
          <a:p>
            <a:pPr marL="0" marR="0" lvl="0" indent="0" algn="ctr" rtl="0">
              <a:lnSpc>
                <a:spcPct val="100000"/>
              </a:lnSpc>
              <a:spcBef>
                <a:spcPts val="0"/>
              </a:spcBef>
              <a:spcAft>
                <a:spcPts val="0"/>
              </a:spcAft>
              <a:buNone/>
            </a:pPr>
            <a:r>
              <a:rPr lang="en" sz="675" b="0" i="0" u="none" strike="noStrike" cap="none">
                <a:solidFill>
                  <a:srgbClr val="000000"/>
                </a:solidFill>
                <a:latin typeface="Arial Black"/>
                <a:ea typeface="Arial Black"/>
                <a:cs typeface="Arial Black"/>
                <a:sym typeface="Arial Black"/>
              </a:rPr>
              <a:t>Software Evolution and Maintenance </a:t>
            </a:r>
            <a:r>
              <a:rPr lang="en" sz="675" b="0" i="0" u="none" strike="noStrike" cap="none">
                <a:solidFill>
                  <a:srgbClr val="000000"/>
                </a:solidFill>
                <a:latin typeface="Times New Roman"/>
                <a:ea typeface="Times New Roman"/>
                <a:cs typeface="Times New Roman"/>
                <a:sym typeface="Times New Roman"/>
              </a:rPr>
              <a:t> </a:t>
            </a:r>
            <a:r>
              <a:rPr lang="en" sz="675" b="0" i="0" u="none" strike="noStrike" cap="none">
                <a:solidFill>
                  <a:srgbClr val="000000"/>
                </a:solidFill>
                <a:latin typeface="Arial"/>
                <a:ea typeface="Arial"/>
                <a:cs typeface="Arial"/>
                <a:sym typeface="Arial"/>
              </a:rPr>
              <a:t>(Chapter 4: Reengineering)</a:t>
            </a:r>
            <a:endParaRPr/>
          </a:p>
        </p:txBody>
      </p:sp>
      <p:sp>
        <p:nvSpPr>
          <p:cNvPr id="34" name="Google Shape;34;p43"/>
          <p:cNvSpPr txBox="1"/>
          <p:nvPr/>
        </p:nvSpPr>
        <p:spPr>
          <a:xfrm>
            <a:off x="7399338" y="4939904"/>
            <a:ext cx="1327150" cy="170259"/>
          </a:xfrm>
          <a:prstGeom prst="rect">
            <a:avLst/>
          </a:prstGeom>
          <a:noFill/>
          <a:ln>
            <a:noFill/>
          </a:ln>
        </p:spPr>
        <p:txBody>
          <a:bodyPr spcFirstLastPara="1" wrap="square" lIns="69050" tIns="34525" rIns="69050" bIns="34525" anchor="ctr" anchorCtr="0">
            <a:noAutofit/>
          </a:bodyPr>
          <a:lstStyle/>
          <a:p>
            <a:pPr marL="0" marR="0" lvl="0" indent="0" algn="ctr" rtl="0">
              <a:lnSpc>
                <a:spcPct val="100000"/>
              </a:lnSpc>
              <a:spcBef>
                <a:spcPts val="0"/>
              </a:spcBef>
              <a:spcAft>
                <a:spcPts val="0"/>
              </a:spcAft>
              <a:buNone/>
            </a:pPr>
            <a:r>
              <a:rPr lang="en" sz="675" b="0" i="0" u="none" strike="noStrike" cap="none">
                <a:solidFill>
                  <a:srgbClr val="000000"/>
                </a:solidFill>
                <a:latin typeface="Times New Roman"/>
                <a:ea typeface="Times New Roman"/>
                <a:cs typeface="Times New Roman"/>
                <a:sym typeface="Times New Roman"/>
              </a:rPr>
              <a:t>© Tripathy &amp; Naik</a:t>
            </a:r>
            <a:endParaRPr/>
          </a:p>
        </p:txBody>
      </p:sp>
      <p:pic>
        <p:nvPicPr>
          <p:cNvPr id="35" name="Google Shape;35;p43"/>
          <p:cNvPicPr preferRelativeResize="0"/>
          <p:nvPr/>
        </p:nvPicPr>
        <p:blipFill rotWithShape="1">
          <a:blip r:embed="rId2">
            <a:alphaModFix/>
          </a:blip>
          <a:srcRect/>
          <a:stretch/>
        </p:blipFill>
        <p:spPr>
          <a:xfrm>
            <a:off x="8051800" y="13097"/>
            <a:ext cx="1081088" cy="432197"/>
          </a:xfrm>
          <a:prstGeom prst="rect">
            <a:avLst/>
          </a:prstGeom>
          <a:noFill/>
          <a:ln>
            <a:noFill/>
          </a:ln>
        </p:spPr>
      </p:pic>
      <p:pic>
        <p:nvPicPr>
          <p:cNvPr id="36" name="Google Shape;36;p43"/>
          <p:cNvPicPr preferRelativeResize="0"/>
          <p:nvPr/>
        </p:nvPicPr>
        <p:blipFill rotWithShape="1">
          <a:blip r:embed="rId3">
            <a:alphaModFix/>
          </a:blip>
          <a:srcRect/>
          <a:stretch/>
        </p:blipFill>
        <p:spPr>
          <a:xfrm>
            <a:off x="0" y="4905375"/>
            <a:ext cx="1130300" cy="238125"/>
          </a:xfrm>
          <a:prstGeom prst="rect">
            <a:avLst/>
          </a:prstGeom>
          <a:noFill/>
          <a:ln>
            <a:noFill/>
          </a:ln>
        </p:spPr>
      </p:pic>
      <p:pic>
        <p:nvPicPr>
          <p:cNvPr id="37" name="Google Shape;37;p43"/>
          <p:cNvPicPr preferRelativeResize="0"/>
          <p:nvPr/>
        </p:nvPicPr>
        <p:blipFill rotWithShape="1">
          <a:blip r:embed="rId4">
            <a:alphaModFix/>
          </a:blip>
          <a:srcRect/>
          <a:stretch/>
        </p:blipFill>
        <p:spPr>
          <a:xfrm>
            <a:off x="127000" y="-9525"/>
            <a:ext cx="515938" cy="428625"/>
          </a:xfrm>
          <a:prstGeom prst="rect">
            <a:avLst/>
          </a:prstGeom>
          <a:noFill/>
          <a:ln>
            <a:noFill/>
          </a:ln>
        </p:spPr>
      </p:pic>
      <p:sp>
        <p:nvSpPr>
          <p:cNvPr id="38" name="Google Shape;38;p4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9" name="Google Shape;39;p43"/>
          <p:cNvSpPr txBox="1">
            <a:spLocks noGrp="1"/>
          </p:cNvSpPr>
          <p:nvPr>
            <p:ph type="body" idx="1"/>
          </p:nvPr>
        </p:nvSpPr>
        <p:spPr>
          <a:xfrm rot="5400000">
            <a:off x="2863800" y="-1399625"/>
            <a:ext cx="3416400" cy="8520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0"/>
        <p:cNvGrpSpPr/>
        <p:nvPr/>
      </p:nvGrpSpPr>
      <p:grpSpPr>
        <a:xfrm>
          <a:off x="0" y="0"/>
          <a:ext cx="0" cy="0"/>
          <a:chOff x="0" y="0"/>
          <a:chExt cx="0" cy="0"/>
        </a:xfrm>
      </p:grpSpPr>
      <p:grpSp>
        <p:nvGrpSpPr>
          <p:cNvPr id="41" name="Google Shape;41;p44"/>
          <p:cNvGrpSpPr/>
          <p:nvPr/>
        </p:nvGrpSpPr>
        <p:grpSpPr>
          <a:xfrm>
            <a:off x="830392" y="1191256"/>
            <a:ext cx="745763" cy="45826"/>
            <a:chOff x="4580561" y="2589004"/>
            <a:chExt cx="1064464" cy="25200"/>
          </a:xfrm>
        </p:grpSpPr>
        <p:sp>
          <p:nvSpPr>
            <p:cNvPr id="42" name="Google Shape;42;p44"/>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44"/>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4" name="Google Shape;44;p44"/>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45" name="Google Shape;45;p4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6"/>
        <p:cNvGrpSpPr/>
        <p:nvPr/>
      </p:nvGrpSpPr>
      <p:grpSpPr>
        <a:xfrm>
          <a:off x="0" y="0"/>
          <a:ext cx="0" cy="0"/>
          <a:chOff x="0" y="0"/>
          <a:chExt cx="0" cy="0"/>
        </a:xfrm>
      </p:grpSpPr>
      <p:sp>
        <p:nvSpPr>
          <p:cNvPr id="47" name="Google Shape;47;p4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45"/>
          <p:cNvGrpSpPr/>
          <p:nvPr/>
        </p:nvGrpSpPr>
        <p:grpSpPr>
          <a:xfrm>
            <a:off x="830392" y="1191256"/>
            <a:ext cx="745763" cy="45826"/>
            <a:chOff x="4580561" y="2589004"/>
            <a:chExt cx="1064464" cy="25200"/>
          </a:xfrm>
        </p:grpSpPr>
        <p:sp>
          <p:nvSpPr>
            <p:cNvPr id="49" name="Google Shape;49;p4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4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1" name="Google Shape;51;p4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2" name="Google Shape;52;p45"/>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53" name="Google Shape;53;p45"/>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54" name="Google Shape;54;p4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4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7" name="Google Shape;57;p46"/>
          <p:cNvGrpSpPr/>
          <p:nvPr/>
        </p:nvGrpSpPr>
        <p:grpSpPr>
          <a:xfrm>
            <a:off x="830392" y="1191256"/>
            <a:ext cx="745763" cy="45826"/>
            <a:chOff x="4580561" y="2589004"/>
            <a:chExt cx="1064464" cy="25200"/>
          </a:xfrm>
        </p:grpSpPr>
        <p:sp>
          <p:nvSpPr>
            <p:cNvPr id="58" name="Google Shape;58;p4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4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0" name="Google Shape;60;p46"/>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1" name="Google Shape;61;p4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sp>
        <p:nvSpPr>
          <p:cNvPr id="63" name="Google Shape;63;p4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4" name="Google Shape;64;p47"/>
          <p:cNvGrpSpPr/>
          <p:nvPr/>
        </p:nvGrpSpPr>
        <p:grpSpPr>
          <a:xfrm>
            <a:off x="830392" y="1191256"/>
            <a:ext cx="745763" cy="45826"/>
            <a:chOff x="4580561" y="2589004"/>
            <a:chExt cx="1064464" cy="25200"/>
          </a:xfrm>
        </p:grpSpPr>
        <p:sp>
          <p:nvSpPr>
            <p:cNvPr id="65" name="Google Shape;65;p4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4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7" name="Google Shape;67;p47"/>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8" name="Google Shape;68;p47"/>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9" name="Google Shape;69;p4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70"/>
        <p:cNvGrpSpPr/>
        <p:nvPr/>
      </p:nvGrpSpPr>
      <p:grpSpPr>
        <a:xfrm>
          <a:off x="0" y="0"/>
          <a:ext cx="0" cy="0"/>
          <a:chOff x="0" y="0"/>
          <a:chExt cx="0" cy="0"/>
        </a:xfrm>
      </p:grpSpPr>
      <p:grpSp>
        <p:nvGrpSpPr>
          <p:cNvPr id="71" name="Google Shape;71;p48"/>
          <p:cNvGrpSpPr/>
          <p:nvPr/>
        </p:nvGrpSpPr>
        <p:grpSpPr>
          <a:xfrm>
            <a:off x="830392" y="4169130"/>
            <a:ext cx="745763" cy="45826"/>
            <a:chOff x="4580561" y="2589004"/>
            <a:chExt cx="1064464" cy="25200"/>
          </a:xfrm>
        </p:grpSpPr>
        <p:sp>
          <p:nvSpPr>
            <p:cNvPr id="72" name="Google Shape;72;p4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4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4" name="Google Shape;74;p48"/>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75" name="Google Shape;75;p4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6"/>
        <p:cNvGrpSpPr/>
        <p:nvPr/>
      </p:nvGrpSpPr>
      <p:grpSpPr>
        <a:xfrm>
          <a:off x="0" y="0"/>
          <a:ext cx="0" cy="0"/>
          <a:chOff x="0" y="0"/>
          <a:chExt cx="0" cy="0"/>
        </a:xfrm>
      </p:grpSpPr>
      <p:sp>
        <p:nvSpPr>
          <p:cNvPr id="77" name="Google Shape;77;p4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8" name="Google Shape;78;p49"/>
          <p:cNvGrpSpPr/>
          <p:nvPr/>
        </p:nvGrpSpPr>
        <p:grpSpPr>
          <a:xfrm>
            <a:off x="830392" y="1191256"/>
            <a:ext cx="745763" cy="45826"/>
            <a:chOff x="4580561" y="2589004"/>
            <a:chExt cx="1064464" cy="25200"/>
          </a:xfrm>
        </p:grpSpPr>
        <p:sp>
          <p:nvSpPr>
            <p:cNvPr id="79" name="Google Shape;79;p4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4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1" name="Google Shape;81;p49"/>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82" name="Google Shape;82;p49"/>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83" name="Google Shape;83;p49"/>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84" name="Google Shape;84;p4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5"/>
        <p:cNvGrpSpPr/>
        <p:nvPr/>
      </p:nvGrpSpPr>
      <p:grpSpPr>
        <a:xfrm>
          <a:off x="0" y="0"/>
          <a:ext cx="0" cy="0"/>
          <a:chOff x="0" y="0"/>
          <a:chExt cx="0" cy="0"/>
        </a:xfrm>
      </p:grpSpPr>
      <p:sp>
        <p:nvSpPr>
          <p:cNvPr id="86" name="Google Shape;86;p50"/>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87" name="Google Shape;87;p5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8"/>
        <p:cNvGrpSpPr/>
        <p:nvPr/>
      </p:nvGrpSpPr>
      <p:grpSpPr>
        <a:xfrm>
          <a:off x="0" y="0"/>
          <a:ext cx="0" cy="0"/>
          <a:chOff x="0" y="0"/>
          <a:chExt cx="0" cy="0"/>
        </a:xfrm>
      </p:grpSpPr>
      <p:grpSp>
        <p:nvGrpSpPr>
          <p:cNvPr id="89" name="Google Shape;89;p51"/>
          <p:cNvGrpSpPr/>
          <p:nvPr/>
        </p:nvGrpSpPr>
        <p:grpSpPr>
          <a:xfrm>
            <a:off x="830392" y="4169130"/>
            <a:ext cx="745763" cy="45826"/>
            <a:chOff x="4580561" y="2589004"/>
            <a:chExt cx="1064464" cy="25200"/>
          </a:xfrm>
        </p:grpSpPr>
        <p:sp>
          <p:nvSpPr>
            <p:cNvPr id="90" name="Google Shape;90;p5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5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2" name="Google Shape;92;p51"/>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93" name="Google Shape;93;p51"/>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94" name="Google Shape;94;p5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5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9pPr>
          </a:lstStyle>
          <a:p>
            <a:endParaRPr/>
          </a:p>
        </p:txBody>
      </p:sp>
      <p:sp>
        <p:nvSpPr>
          <p:cNvPr id="7" name="Google Shape;7;p3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slideshare.net/slideshow/software-project-estimation-87308623/87308623#7"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4200"/>
              <a:buNone/>
            </a:pPr>
            <a:r>
              <a:rPr lang="en" sz="3000">
                <a:solidFill>
                  <a:srgbClr val="000000"/>
                </a:solidFill>
                <a:latin typeface="Times New Roman"/>
                <a:ea typeface="Times New Roman"/>
                <a:cs typeface="Times New Roman"/>
                <a:sym typeface="Times New Roman"/>
              </a:rPr>
              <a:t>Chapter 23, 25,26</a:t>
            </a:r>
            <a:endParaRPr sz="3000">
              <a:solidFill>
                <a:srgbClr val="000000"/>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4200"/>
              <a:buNone/>
            </a:pPr>
            <a:endParaRPr sz="1800">
              <a:solidFill>
                <a:srgbClr val="000000"/>
              </a:solidFill>
              <a:latin typeface="Times New Roman"/>
              <a:ea typeface="Times New Roman"/>
              <a:cs typeface="Times New Roman"/>
              <a:sym typeface="Times New Roman"/>
            </a:endParaRPr>
          </a:p>
        </p:txBody>
      </p:sp>
      <p:sp>
        <p:nvSpPr>
          <p:cNvPr id="102" name="Google Shape;102;p1"/>
          <p:cNvSpPr txBox="1">
            <a:spLocks noGrp="1"/>
          </p:cNvSpPr>
          <p:nvPr>
            <p:ph type="subTitle" idx="1"/>
          </p:nvPr>
        </p:nvSpPr>
        <p:spPr>
          <a:xfrm>
            <a:off x="729627" y="2866650"/>
            <a:ext cx="7688100" cy="541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sz="1800">
                <a:solidFill>
                  <a:srgbClr val="000000"/>
                </a:solidFill>
                <a:latin typeface="Times New Roman"/>
                <a:ea typeface="Times New Roman"/>
                <a:cs typeface="Times New Roman"/>
                <a:sym typeface="Times New Roman"/>
              </a:rPr>
              <a:t>Maintenance Measures</a:t>
            </a:r>
            <a:endParaRPr sz="1800">
              <a:solidFill>
                <a:srgbClr val="000000"/>
              </a:solidFill>
              <a:latin typeface="Times New Roman"/>
              <a:ea typeface="Times New Roman"/>
              <a:cs typeface="Times New Roman"/>
              <a:sym typeface="Times New Roman"/>
            </a:endParaRPr>
          </a:p>
        </p:txBody>
      </p:sp>
      <p:sp>
        <p:nvSpPr>
          <p:cNvPr id="103" name="Google Shape;103;p1"/>
          <p:cNvSpPr txBox="1"/>
          <p:nvPr/>
        </p:nvSpPr>
        <p:spPr>
          <a:xfrm>
            <a:off x="0" y="0"/>
            <a:ext cx="2999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latin typeface="Times New Roman"/>
              <a:ea typeface="Times New Roman"/>
              <a:cs typeface="Times New Roman"/>
              <a:sym typeface="Times New Roman"/>
            </a:endParaRPr>
          </a:p>
        </p:txBody>
      </p:sp>
      <p:sp>
        <p:nvSpPr>
          <p:cNvPr id="104" name="Google Shape;104;p1"/>
          <p:cNvSpPr txBox="1">
            <a:spLocks noGrp="1"/>
          </p:cNvSpPr>
          <p:nvPr>
            <p:ph type="subTitle" idx="1"/>
          </p:nvPr>
        </p:nvSpPr>
        <p:spPr>
          <a:xfrm>
            <a:off x="729627" y="1849775"/>
            <a:ext cx="7688100" cy="54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000000"/>
                </a:solidFill>
                <a:latin typeface="Times New Roman"/>
                <a:ea typeface="Times New Roman"/>
                <a:cs typeface="Times New Roman"/>
                <a:sym typeface="Times New Roman"/>
              </a:rPr>
              <a:t>Software Engineering: A Practitioner’s Approach, Roger S. Pressman </a:t>
            </a:r>
            <a:endParaRPr sz="1800">
              <a:solidFill>
                <a:srgbClr val="000000"/>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600"/>
              <a:buNone/>
            </a:pPr>
            <a:endParaRPr sz="180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771381" y="535925"/>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89"/>
              <a:buNone/>
            </a:pPr>
            <a:r>
              <a:rPr lang="en" sz="2400">
                <a:latin typeface="Times New Roman"/>
                <a:ea typeface="Times New Roman"/>
                <a:cs typeface="Times New Roman"/>
                <a:sym typeface="Times New Roman"/>
              </a:rPr>
              <a:t>Software Measurement &amp; Metrics</a:t>
            </a:r>
            <a:endParaRPr sz="2400">
              <a:latin typeface="Times New Roman"/>
              <a:ea typeface="Times New Roman"/>
              <a:cs typeface="Times New Roman"/>
              <a:sym typeface="Times New Roman"/>
            </a:endParaRPr>
          </a:p>
        </p:txBody>
      </p:sp>
      <p:sp>
        <p:nvSpPr>
          <p:cNvPr id="110" name="Google Shape;110;p3"/>
          <p:cNvSpPr txBox="1">
            <a:spLocks noGrp="1"/>
          </p:cNvSpPr>
          <p:nvPr>
            <p:ph type="body" idx="1"/>
          </p:nvPr>
        </p:nvSpPr>
        <p:spPr>
          <a:xfrm>
            <a:off x="653823" y="1191976"/>
            <a:ext cx="7688700" cy="2261100"/>
          </a:xfrm>
          <a:prstGeom prst="rect">
            <a:avLst/>
          </a:prstGeom>
          <a:noFill/>
          <a:ln>
            <a:noFill/>
          </a:ln>
        </p:spPr>
        <p:txBody>
          <a:bodyPr spcFirstLastPara="1" wrap="square" lIns="91425" tIns="91425" rIns="91425" bIns="91425" anchor="t" anchorCtr="0">
            <a:normAutofit lnSpcReduction="10000"/>
          </a:bodyPr>
          <a:lstStyle/>
          <a:p>
            <a:pPr marL="146050" lvl="0" indent="0" algn="l" rtl="0">
              <a:lnSpc>
                <a:spcPct val="115000"/>
              </a:lnSpc>
              <a:spcBef>
                <a:spcPts val="0"/>
              </a:spcBef>
              <a:spcAft>
                <a:spcPts val="0"/>
              </a:spcAft>
              <a:buSzPts val="1300"/>
              <a:buNone/>
            </a:pPr>
            <a:r>
              <a:rPr lang="en" sz="1800" b="1">
                <a:solidFill>
                  <a:schemeClr val="dk2"/>
                </a:solidFill>
                <a:latin typeface="Times New Roman"/>
                <a:ea typeface="Times New Roman"/>
                <a:cs typeface="Times New Roman"/>
                <a:sym typeface="Times New Roman"/>
              </a:rPr>
              <a:t>Measurement</a:t>
            </a:r>
            <a:endParaRPr sz="1800" b="1">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Software measurement is concerned with deriving a numeric value or profile for an attribute of a software. i.e. direct value (LOC)</a:t>
            </a:r>
            <a:endParaRPr sz="1200">
              <a:solidFill>
                <a:schemeClr val="dk2"/>
              </a:solidFill>
              <a:latin typeface="Times New Roman"/>
              <a:ea typeface="Times New Roman"/>
              <a:cs typeface="Times New Roman"/>
              <a:sym typeface="Times New Roman"/>
            </a:endParaRPr>
          </a:p>
          <a:p>
            <a:pPr marL="457200" lvl="0" indent="-228600" algn="l" rtl="0">
              <a:lnSpc>
                <a:spcPct val="115000"/>
              </a:lnSpc>
              <a:spcBef>
                <a:spcPts val="0"/>
              </a:spcBef>
              <a:spcAft>
                <a:spcPts val="0"/>
              </a:spcAft>
              <a:buSzPts val="1300"/>
              <a:buNone/>
            </a:pPr>
            <a:endParaRPr sz="1200">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Used to draw conclusions about the quality of software, or assess the effectiveness of software processes, tools, and methods. e component, system, or process.</a:t>
            </a:r>
            <a:endParaRPr sz="1200">
              <a:solidFill>
                <a:schemeClr val="dk2"/>
              </a:solidFill>
              <a:latin typeface="Times New Roman"/>
              <a:ea typeface="Times New Roman"/>
              <a:cs typeface="Times New Roman"/>
              <a:sym typeface="Times New Roman"/>
            </a:endParaRPr>
          </a:p>
          <a:p>
            <a:pPr marL="146050" lvl="0" indent="0" algn="l" rtl="0">
              <a:lnSpc>
                <a:spcPct val="115000"/>
              </a:lnSpc>
              <a:spcBef>
                <a:spcPts val="0"/>
              </a:spcBef>
              <a:spcAft>
                <a:spcPts val="0"/>
              </a:spcAft>
              <a:buSzPts val="1300"/>
              <a:buNone/>
            </a:pPr>
            <a:r>
              <a:rPr lang="en" sz="1800" b="1">
                <a:solidFill>
                  <a:schemeClr val="dk2"/>
                </a:solidFill>
                <a:latin typeface="Times New Roman"/>
                <a:ea typeface="Times New Roman"/>
                <a:cs typeface="Times New Roman"/>
                <a:sym typeface="Times New Roman"/>
              </a:rPr>
              <a:t>Metric</a:t>
            </a:r>
            <a:endParaRPr sz="1800" b="1">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A software metric is a characteristic of a software system, system documentation, or development process that can be objectively measured. i.e. derived value (Defect Density)</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g3f946b0c4ee_0_6"/>
          <p:cNvSpPr txBox="1">
            <a:spLocks noGrp="1"/>
          </p:cNvSpPr>
          <p:nvPr>
            <p:ph type="title"/>
          </p:nvPr>
        </p:nvSpPr>
        <p:spPr>
          <a:xfrm>
            <a:off x="685875" y="5530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600"/>
              <a:buFont typeface="Arial"/>
              <a:buNone/>
            </a:pPr>
            <a:r>
              <a:rPr lang="en" sz="2440">
                <a:latin typeface="Times New Roman"/>
                <a:ea typeface="Times New Roman"/>
                <a:cs typeface="Times New Roman"/>
                <a:sym typeface="Times New Roman"/>
              </a:rPr>
              <a:t>Characteristics of Measurement Procedure</a:t>
            </a:r>
            <a:endParaRPr sz="2440">
              <a:latin typeface="Times New Roman"/>
              <a:ea typeface="Times New Roman"/>
              <a:cs typeface="Times New Roman"/>
              <a:sym typeface="Times New Roman"/>
            </a:endParaRPr>
          </a:p>
          <a:p>
            <a:pPr marL="0" lvl="0" indent="0" algn="l" rtl="0">
              <a:spcBef>
                <a:spcPts val="0"/>
              </a:spcBef>
              <a:spcAft>
                <a:spcPts val="0"/>
              </a:spcAft>
              <a:buSzPts val="990"/>
              <a:buNone/>
            </a:pPr>
            <a:endParaRPr sz="2440">
              <a:latin typeface="Times New Roman"/>
              <a:ea typeface="Times New Roman"/>
              <a:cs typeface="Times New Roman"/>
              <a:sym typeface="Times New Roman"/>
            </a:endParaRPr>
          </a:p>
        </p:txBody>
      </p:sp>
      <p:sp>
        <p:nvSpPr>
          <p:cNvPr id="116" name="Google Shape;116;g3f946b0c4ee_0_6"/>
          <p:cNvSpPr txBox="1">
            <a:spLocks noGrp="1"/>
          </p:cNvSpPr>
          <p:nvPr>
            <p:ph type="body" idx="1"/>
          </p:nvPr>
        </p:nvSpPr>
        <p:spPr>
          <a:xfrm>
            <a:off x="685875" y="13967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dk2"/>
                </a:solidFill>
                <a:latin typeface="Times New Roman"/>
                <a:ea typeface="Times New Roman"/>
                <a:cs typeface="Times New Roman"/>
                <a:sym typeface="Times New Roman"/>
              </a:rPr>
              <a:t>Measurement process can be characterized by five activities: </a:t>
            </a:r>
            <a:endParaRPr>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Char char="●"/>
            </a:pPr>
            <a:r>
              <a:rPr lang="en" b="1">
                <a:solidFill>
                  <a:schemeClr val="dk2"/>
                </a:solidFill>
                <a:latin typeface="Times New Roman"/>
                <a:ea typeface="Times New Roman"/>
                <a:cs typeface="Times New Roman"/>
                <a:sym typeface="Times New Roman"/>
              </a:rPr>
              <a:t>Formulation. </a:t>
            </a:r>
            <a:r>
              <a:rPr lang="en">
                <a:solidFill>
                  <a:schemeClr val="dk2"/>
                </a:solidFill>
                <a:latin typeface="Times New Roman"/>
                <a:ea typeface="Times New Roman"/>
                <a:cs typeface="Times New Roman"/>
                <a:sym typeface="Times New Roman"/>
              </a:rPr>
              <a:t>The derivation of software measures and metrics appropriate for the representation of the software that is being considered.</a:t>
            </a:r>
            <a:endParaRPr>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Char char="●"/>
            </a:pPr>
            <a:r>
              <a:rPr lang="en" b="1">
                <a:solidFill>
                  <a:schemeClr val="dk2"/>
                </a:solidFill>
                <a:latin typeface="Times New Roman"/>
                <a:ea typeface="Times New Roman"/>
                <a:cs typeface="Times New Roman"/>
                <a:sym typeface="Times New Roman"/>
              </a:rPr>
              <a:t>Collection.</a:t>
            </a:r>
            <a:r>
              <a:rPr lang="en">
                <a:solidFill>
                  <a:schemeClr val="dk2"/>
                </a:solidFill>
                <a:latin typeface="Times New Roman"/>
                <a:ea typeface="Times New Roman"/>
                <a:cs typeface="Times New Roman"/>
                <a:sym typeface="Times New Roman"/>
              </a:rPr>
              <a:t> The mechanism used to accumulate data required to derive the formulated metrics.</a:t>
            </a:r>
            <a:endParaRPr>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Char char="●"/>
            </a:pPr>
            <a:r>
              <a:rPr lang="en" b="1">
                <a:solidFill>
                  <a:schemeClr val="dk2"/>
                </a:solidFill>
                <a:latin typeface="Times New Roman"/>
                <a:ea typeface="Times New Roman"/>
                <a:cs typeface="Times New Roman"/>
                <a:sym typeface="Times New Roman"/>
              </a:rPr>
              <a:t>Analysis.</a:t>
            </a:r>
            <a:r>
              <a:rPr lang="en">
                <a:solidFill>
                  <a:schemeClr val="dk2"/>
                </a:solidFill>
                <a:latin typeface="Times New Roman"/>
                <a:ea typeface="Times New Roman"/>
                <a:cs typeface="Times New Roman"/>
                <a:sym typeface="Times New Roman"/>
              </a:rPr>
              <a:t> The computation of metrics and the application of mathematical tools.</a:t>
            </a:r>
            <a:endParaRPr>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Char char="●"/>
            </a:pPr>
            <a:r>
              <a:rPr lang="en" b="1">
                <a:solidFill>
                  <a:schemeClr val="dk2"/>
                </a:solidFill>
                <a:latin typeface="Times New Roman"/>
                <a:ea typeface="Times New Roman"/>
                <a:cs typeface="Times New Roman"/>
                <a:sym typeface="Times New Roman"/>
              </a:rPr>
              <a:t>Interpretation.</a:t>
            </a:r>
            <a:r>
              <a:rPr lang="en">
                <a:solidFill>
                  <a:schemeClr val="dk2"/>
                </a:solidFill>
                <a:latin typeface="Times New Roman"/>
                <a:ea typeface="Times New Roman"/>
                <a:cs typeface="Times New Roman"/>
                <a:sym typeface="Times New Roman"/>
              </a:rPr>
              <a:t> The evaluation of metrics resulting in insight into the quality of the representation. </a:t>
            </a:r>
            <a:endParaRPr>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Char char="●"/>
            </a:pPr>
            <a:r>
              <a:rPr lang="en" b="1">
                <a:solidFill>
                  <a:schemeClr val="dk2"/>
                </a:solidFill>
                <a:latin typeface="Times New Roman"/>
                <a:ea typeface="Times New Roman"/>
                <a:cs typeface="Times New Roman"/>
                <a:sym typeface="Times New Roman"/>
              </a:rPr>
              <a:t>Feedback.</a:t>
            </a:r>
            <a:r>
              <a:rPr lang="en">
                <a:solidFill>
                  <a:schemeClr val="dk2"/>
                </a:solidFill>
                <a:latin typeface="Times New Roman"/>
                <a:ea typeface="Times New Roman"/>
                <a:cs typeface="Times New Roman"/>
                <a:sym typeface="Times New Roman"/>
              </a:rPr>
              <a:t> Recommendations derived from the interpretation of product metrics transmitted to the software team. </a:t>
            </a:r>
            <a:endParaRPr>
              <a:solidFill>
                <a:schemeClr val="dk2"/>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3f946b0c4ee_0_13"/>
          <p:cNvSpPr txBox="1">
            <a:spLocks noGrp="1"/>
          </p:cNvSpPr>
          <p:nvPr>
            <p:ph type="title"/>
          </p:nvPr>
        </p:nvSpPr>
        <p:spPr>
          <a:xfrm>
            <a:off x="687675" y="5600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Times New Roman"/>
                <a:ea typeface="Times New Roman"/>
                <a:cs typeface="Times New Roman"/>
                <a:sym typeface="Times New Roman"/>
              </a:rPr>
              <a:t>Types of Metrics</a:t>
            </a:r>
            <a:endParaRPr sz="2400">
              <a:latin typeface="Times New Roman"/>
              <a:ea typeface="Times New Roman"/>
              <a:cs typeface="Times New Roman"/>
              <a:sym typeface="Times New Roman"/>
            </a:endParaRPr>
          </a:p>
        </p:txBody>
      </p:sp>
      <p:sp>
        <p:nvSpPr>
          <p:cNvPr id="122" name="Google Shape;122;g3f946b0c4ee_0_13"/>
          <p:cNvSpPr txBox="1">
            <a:spLocks noGrp="1"/>
          </p:cNvSpPr>
          <p:nvPr>
            <p:ph type="body" idx="1"/>
          </p:nvPr>
        </p:nvSpPr>
        <p:spPr>
          <a:xfrm>
            <a:off x="1091923" y="1763579"/>
            <a:ext cx="7688700" cy="2261100"/>
          </a:xfrm>
          <a:prstGeom prst="rect">
            <a:avLst/>
          </a:prstGeom>
        </p:spPr>
        <p:txBody>
          <a:bodyPr spcFirstLastPara="1" wrap="square" lIns="91425" tIns="91425" rIns="91425" bIns="91425" anchor="t" anchorCtr="0">
            <a:normAutofit/>
          </a:bodyPr>
          <a:lstStyle/>
          <a:p>
            <a:pPr marL="457200" lvl="0" indent="-304800" algn="just" rtl="0">
              <a:spcBef>
                <a:spcPts val="0"/>
              </a:spcBef>
              <a:spcAft>
                <a:spcPts val="0"/>
              </a:spcAft>
              <a:buClr>
                <a:schemeClr val="dk2"/>
              </a:buClr>
              <a:buSzPts val="1200"/>
              <a:buChar char="●"/>
            </a:pPr>
            <a:r>
              <a:rPr lang="en" sz="1200" b="1">
                <a:solidFill>
                  <a:schemeClr val="dk2"/>
                </a:solidFill>
                <a:latin typeface="Times New Roman"/>
                <a:ea typeface="Times New Roman"/>
                <a:cs typeface="Times New Roman"/>
                <a:sym typeface="Times New Roman"/>
              </a:rPr>
              <a:t>Product Metrics: </a:t>
            </a:r>
            <a:r>
              <a:rPr lang="en" sz="1200">
                <a:solidFill>
                  <a:schemeClr val="dk2"/>
                </a:solidFill>
                <a:latin typeface="Times New Roman"/>
                <a:ea typeface="Times New Roman"/>
                <a:cs typeface="Times New Roman"/>
                <a:sym typeface="Times New Roman"/>
              </a:rPr>
              <a:t>Product metrics are used to evaluate the state of the product, tracing risks and undercover prospective problem areas. The ability of the team to control quality is evaluated. Examples include lines of code, cyclomatic complexity, code coverage, defect density, and code maintainability index.</a:t>
            </a:r>
            <a:endParaRPr sz="1200">
              <a:solidFill>
                <a:schemeClr val="dk2"/>
              </a:solidFill>
              <a:latin typeface="Times New Roman"/>
              <a:ea typeface="Times New Roman"/>
              <a:cs typeface="Times New Roman"/>
              <a:sym typeface="Times New Roman"/>
            </a:endParaRPr>
          </a:p>
          <a:p>
            <a:pPr marL="457200" lvl="0" indent="-304800" algn="just" rtl="0">
              <a:spcBef>
                <a:spcPts val="0"/>
              </a:spcBef>
              <a:spcAft>
                <a:spcPts val="0"/>
              </a:spcAft>
              <a:buClr>
                <a:schemeClr val="dk2"/>
              </a:buClr>
              <a:buSzPts val="1200"/>
              <a:buChar char="●"/>
            </a:pPr>
            <a:r>
              <a:rPr lang="en" sz="1200" b="1">
                <a:solidFill>
                  <a:schemeClr val="dk2"/>
                </a:solidFill>
                <a:latin typeface="Times New Roman"/>
                <a:ea typeface="Times New Roman"/>
                <a:cs typeface="Times New Roman"/>
                <a:sym typeface="Times New Roman"/>
              </a:rPr>
              <a:t>Process Metrics:</a:t>
            </a:r>
            <a:r>
              <a:rPr lang="en" sz="1200">
                <a:solidFill>
                  <a:schemeClr val="dk2"/>
                </a:solidFill>
                <a:latin typeface="Times New Roman"/>
                <a:ea typeface="Times New Roman"/>
                <a:cs typeface="Times New Roman"/>
                <a:sym typeface="Times New Roman"/>
              </a:rPr>
              <a:t> Process metrics pay particular attention to enhancing the long-term process of the team or organization. These metrics are used to optimize the development process and maintenance activities of software. Examples include effort variance, schedule variance, defect injection rate, and lead time.</a:t>
            </a:r>
            <a:endParaRPr sz="1200">
              <a:solidFill>
                <a:schemeClr val="dk2"/>
              </a:solidFill>
              <a:latin typeface="Times New Roman"/>
              <a:ea typeface="Times New Roman"/>
              <a:cs typeface="Times New Roman"/>
              <a:sym typeface="Times New Roman"/>
            </a:endParaRPr>
          </a:p>
          <a:p>
            <a:pPr marL="457200" lvl="0" indent="-304800" algn="just" rtl="0">
              <a:spcBef>
                <a:spcPts val="0"/>
              </a:spcBef>
              <a:spcAft>
                <a:spcPts val="0"/>
              </a:spcAft>
              <a:buClr>
                <a:schemeClr val="dk2"/>
              </a:buClr>
              <a:buSzPts val="1200"/>
              <a:buChar char="●"/>
            </a:pPr>
            <a:r>
              <a:rPr lang="en" sz="1200" b="1">
                <a:solidFill>
                  <a:schemeClr val="dk2"/>
                </a:solidFill>
                <a:latin typeface="Times New Roman"/>
                <a:ea typeface="Times New Roman"/>
                <a:cs typeface="Times New Roman"/>
                <a:sym typeface="Times New Roman"/>
              </a:rPr>
              <a:t>Project Metrics:</a:t>
            </a:r>
            <a:r>
              <a:rPr lang="en" sz="1200">
                <a:solidFill>
                  <a:schemeClr val="dk2"/>
                </a:solidFill>
                <a:latin typeface="Times New Roman"/>
                <a:ea typeface="Times New Roman"/>
                <a:cs typeface="Times New Roman"/>
                <a:sym typeface="Times New Roman"/>
              </a:rPr>
              <a:t> The project metrics describes the characteristic and execution of a project. Examples include effort estimation accuracy, schedule deviation, cost variance, and productivity.</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sz="2800">
                <a:solidFill>
                  <a:schemeClr val="dk2"/>
                </a:solidFill>
                <a:latin typeface="Times New Roman"/>
                <a:ea typeface="Times New Roman"/>
                <a:cs typeface="Times New Roman"/>
                <a:sym typeface="Times New Roman"/>
              </a:rPr>
              <a:t>Product Metrics</a:t>
            </a:r>
            <a:endParaRPr>
              <a:latin typeface="Times New Roman"/>
              <a:ea typeface="Times New Roman"/>
              <a:cs typeface="Times New Roman"/>
              <a:sym typeface="Times New Roman"/>
            </a:endParaRPr>
          </a:p>
        </p:txBody>
      </p:sp>
      <p:sp>
        <p:nvSpPr>
          <p:cNvPr id="128" name="Google Shape;128;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17500" algn="l" rtl="0">
              <a:lnSpc>
                <a:spcPct val="115000"/>
              </a:lnSpc>
              <a:spcBef>
                <a:spcPts val="0"/>
              </a:spcBef>
              <a:spcAft>
                <a:spcPts val="0"/>
              </a:spcAft>
              <a:buClr>
                <a:schemeClr val="dk2"/>
              </a:buClr>
              <a:buSzPts val="1400"/>
              <a:buFont typeface="Times New Roman"/>
              <a:buChar char="●"/>
            </a:pPr>
            <a:r>
              <a:rPr lang="en" sz="1400">
                <a:solidFill>
                  <a:schemeClr val="dk2"/>
                </a:solidFill>
                <a:latin typeface="Times New Roman"/>
                <a:ea typeface="Times New Roman"/>
                <a:cs typeface="Times New Roman"/>
                <a:sym typeface="Times New Roman"/>
              </a:rPr>
              <a:t>Most commonly used source of measures in the software system is the source code.</a:t>
            </a:r>
            <a:endParaRPr sz="1400">
              <a:solidFill>
                <a:schemeClr val="dk2"/>
              </a:solidFill>
              <a:latin typeface="Times New Roman"/>
              <a:ea typeface="Times New Roman"/>
              <a:cs typeface="Times New Roman"/>
              <a:sym typeface="Times New Roman"/>
            </a:endParaRPr>
          </a:p>
          <a:p>
            <a:pPr marL="457200" lvl="0" indent="-317500" algn="l" rtl="0">
              <a:lnSpc>
                <a:spcPct val="115000"/>
              </a:lnSpc>
              <a:spcBef>
                <a:spcPts val="0"/>
              </a:spcBef>
              <a:spcAft>
                <a:spcPts val="0"/>
              </a:spcAft>
              <a:buClr>
                <a:schemeClr val="dk2"/>
              </a:buClr>
              <a:buSzPts val="1400"/>
              <a:buFont typeface="Times New Roman"/>
              <a:buChar char="●"/>
            </a:pPr>
            <a:r>
              <a:rPr lang="en" sz="1400">
                <a:solidFill>
                  <a:schemeClr val="dk2"/>
                </a:solidFill>
                <a:latin typeface="Times New Roman"/>
                <a:ea typeface="Times New Roman"/>
                <a:cs typeface="Times New Roman"/>
                <a:sym typeface="Times New Roman"/>
              </a:rPr>
              <a:t>Some code based metrics are -</a:t>
            </a:r>
            <a:endParaRPr sz="1400">
              <a:solidFill>
                <a:schemeClr val="dk2"/>
              </a:solidFill>
              <a:latin typeface="Times New Roman"/>
              <a:ea typeface="Times New Roman"/>
              <a:cs typeface="Times New Roman"/>
              <a:sym typeface="Times New Roman"/>
            </a:endParaRPr>
          </a:p>
          <a:p>
            <a:pPr marL="914400" lvl="1" indent="-317500" algn="l" rtl="0">
              <a:lnSpc>
                <a:spcPct val="115000"/>
              </a:lnSpc>
              <a:spcBef>
                <a:spcPts val="0"/>
              </a:spcBef>
              <a:spcAft>
                <a:spcPts val="0"/>
              </a:spcAft>
              <a:buClr>
                <a:schemeClr val="dk2"/>
              </a:buClr>
              <a:buSzPts val="1400"/>
              <a:buFont typeface="Times New Roman"/>
              <a:buChar char="○"/>
            </a:pPr>
            <a:r>
              <a:rPr lang="en" sz="1400">
                <a:solidFill>
                  <a:schemeClr val="dk2"/>
                </a:solidFill>
                <a:latin typeface="Times New Roman"/>
                <a:ea typeface="Times New Roman"/>
                <a:cs typeface="Times New Roman"/>
                <a:sym typeface="Times New Roman"/>
              </a:rPr>
              <a:t>LOC</a:t>
            </a:r>
            <a:endParaRPr sz="1400">
              <a:solidFill>
                <a:schemeClr val="dk2"/>
              </a:solidFill>
              <a:latin typeface="Times New Roman"/>
              <a:ea typeface="Times New Roman"/>
              <a:cs typeface="Times New Roman"/>
              <a:sym typeface="Times New Roman"/>
            </a:endParaRPr>
          </a:p>
          <a:p>
            <a:pPr marL="914400" lvl="1" indent="-317500" algn="l" rtl="0">
              <a:lnSpc>
                <a:spcPct val="115000"/>
              </a:lnSpc>
              <a:spcBef>
                <a:spcPts val="0"/>
              </a:spcBef>
              <a:spcAft>
                <a:spcPts val="0"/>
              </a:spcAft>
              <a:buClr>
                <a:schemeClr val="dk2"/>
              </a:buClr>
              <a:buSzPts val="1400"/>
              <a:buFont typeface="Times New Roman"/>
              <a:buChar char="○"/>
            </a:pPr>
            <a:r>
              <a:rPr lang="en" sz="1400">
                <a:solidFill>
                  <a:schemeClr val="dk2"/>
                </a:solidFill>
                <a:latin typeface="Times New Roman"/>
                <a:ea typeface="Times New Roman"/>
                <a:cs typeface="Times New Roman"/>
                <a:sym typeface="Times New Roman"/>
              </a:rPr>
              <a:t>Function Point</a:t>
            </a:r>
            <a:endParaRPr sz="1400">
              <a:solidFill>
                <a:schemeClr val="dk2"/>
              </a:solidFill>
              <a:latin typeface="Times New Roman"/>
              <a:ea typeface="Times New Roman"/>
              <a:cs typeface="Times New Roman"/>
              <a:sym typeface="Times New Roman"/>
            </a:endParaRPr>
          </a:p>
          <a:p>
            <a:pPr marL="914400" lvl="1" indent="-317500" algn="l" rtl="0">
              <a:lnSpc>
                <a:spcPct val="115000"/>
              </a:lnSpc>
              <a:spcBef>
                <a:spcPts val="0"/>
              </a:spcBef>
              <a:spcAft>
                <a:spcPts val="0"/>
              </a:spcAft>
              <a:buClr>
                <a:schemeClr val="dk2"/>
              </a:buClr>
              <a:buSzPts val="1400"/>
              <a:buFont typeface="Times New Roman"/>
              <a:buChar char="○"/>
            </a:pPr>
            <a:r>
              <a:rPr lang="en" sz="1400">
                <a:solidFill>
                  <a:schemeClr val="dk2"/>
                </a:solidFill>
                <a:latin typeface="Times New Roman"/>
                <a:ea typeface="Times New Roman"/>
                <a:cs typeface="Times New Roman"/>
                <a:sym typeface="Times New Roman"/>
              </a:rPr>
              <a:t>Cyclomatic Complexity</a:t>
            </a:r>
            <a:endParaRPr sz="1400">
              <a:solidFill>
                <a:schemeClr val="dk2"/>
              </a:solidFill>
              <a:latin typeface="Times New Roman"/>
              <a:ea typeface="Times New Roman"/>
              <a:cs typeface="Times New Roman"/>
              <a:sym typeface="Times New Roman"/>
            </a:endParaRPr>
          </a:p>
          <a:p>
            <a:pPr marL="914400" lvl="1" indent="-317500" algn="l" rtl="0">
              <a:lnSpc>
                <a:spcPct val="115000"/>
              </a:lnSpc>
              <a:spcBef>
                <a:spcPts val="0"/>
              </a:spcBef>
              <a:spcAft>
                <a:spcPts val="0"/>
              </a:spcAft>
              <a:buClr>
                <a:schemeClr val="dk2"/>
              </a:buClr>
              <a:buSzPts val="1400"/>
              <a:buFont typeface="Times New Roman"/>
              <a:buChar char="○"/>
            </a:pPr>
            <a:r>
              <a:rPr lang="en" sz="1400">
                <a:solidFill>
                  <a:schemeClr val="dk2"/>
                </a:solidFill>
                <a:latin typeface="Times New Roman"/>
                <a:ea typeface="Times New Roman"/>
                <a:cs typeface="Times New Roman"/>
                <a:sym typeface="Times New Roman"/>
              </a:rPr>
              <a:t>Coupling</a:t>
            </a:r>
            <a:endParaRPr sz="1400">
              <a:solidFill>
                <a:schemeClr val="dk2"/>
              </a:solidFill>
              <a:latin typeface="Times New Roman"/>
              <a:ea typeface="Times New Roman"/>
              <a:cs typeface="Times New Roman"/>
              <a:sym typeface="Times New Roman"/>
            </a:endParaRPr>
          </a:p>
          <a:p>
            <a:pPr marL="914400" lvl="1" indent="-317500" algn="l" rtl="0">
              <a:lnSpc>
                <a:spcPct val="115000"/>
              </a:lnSpc>
              <a:spcBef>
                <a:spcPts val="0"/>
              </a:spcBef>
              <a:spcAft>
                <a:spcPts val="0"/>
              </a:spcAft>
              <a:buClr>
                <a:schemeClr val="dk2"/>
              </a:buClr>
              <a:buSzPts val="1400"/>
              <a:buFont typeface="Times New Roman"/>
              <a:buChar char="○"/>
            </a:pPr>
            <a:r>
              <a:rPr lang="en" sz="1400">
                <a:solidFill>
                  <a:schemeClr val="dk2"/>
                </a:solidFill>
                <a:latin typeface="Times New Roman"/>
                <a:ea typeface="Times New Roman"/>
                <a:cs typeface="Times New Roman"/>
                <a:sym typeface="Times New Roman"/>
              </a:rPr>
              <a:t>Cohesion</a:t>
            </a:r>
            <a:endParaRPr sz="1400">
              <a:solidFill>
                <a:schemeClr val="dk2"/>
              </a:solidFill>
              <a:latin typeface="Times New Roman"/>
              <a:ea typeface="Times New Roman"/>
              <a:cs typeface="Times New Roman"/>
              <a:sym typeface="Times New Roman"/>
            </a:endParaRPr>
          </a:p>
          <a:p>
            <a:pPr marL="914400" lvl="1" indent="-317500" algn="l" rtl="0">
              <a:lnSpc>
                <a:spcPct val="115000"/>
              </a:lnSpc>
              <a:spcBef>
                <a:spcPts val="0"/>
              </a:spcBef>
              <a:spcAft>
                <a:spcPts val="0"/>
              </a:spcAft>
              <a:buClr>
                <a:schemeClr val="dk2"/>
              </a:buClr>
              <a:buSzPts val="1400"/>
              <a:buFont typeface="Times New Roman"/>
              <a:buChar char="○"/>
            </a:pPr>
            <a:r>
              <a:rPr lang="en" sz="1400">
                <a:solidFill>
                  <a:schemeClr val="dk2"/>
                </a:solidFill>
                <a:latin typeface="Times New Roman"/>
                <a:ea typeface="Times New Roman"/>
                <a:cs typeface="Times New Roman"/>
                <a:sym typeface="Times New Roman"/>
              </a:rPr>
              <a:t>Maintainability Index</a:t>
            </a:r>
            <a:endParaRPr sz="1400">
              <a:solidFill>
                <a:schemeClr val="dk2"/>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9"/>
          <p:cNvSpPr txBox="1">
            <a:spLocks noGrp="1"/>
          </p:cNvSpPr>
          <p:nvPr>
            <p:ph type="title"/>
          </p:nvPr>
        </p:nvSpPr>
        <p:spPr>
          <a:xfrm>
            <a:off x="729450" y="556650"/>
            <a:ext cx="7688700" cy="535200"/>
          </a:xfrm>
          <a:prstGeom prst="rect">
            <a:avLst/>
          </a:prstGeom>
          <a:noFill/>
          <a:ln>
            <a:noFill/>
          </a:ln>
        </p:spPr>
        <p:txBody>
          <a:bodyPr spcFirstLastPara="1" wrap="square" lIns="91425" tIns="91425" rIns="91425" bIns="91425" anchor="t" anchorCtr="0">
            <a:normAutofit fontScale="90000"/>
          </a:bodyPr>
          <a:lstStyle/>
          <a:p>
            <a:pPr marL="0" lvl="1" indent="0" algn="l" rtl="0">
              <a:lnSpc>
                <a:spcPct val="100000"/>
              </a:lnSpc>
              <a:spcBef>
                <a:spcPts val="0"/>
              </a:spcBef>
              <a:spcAft>
                <a:spcPts val="0"/>
              </a:spcAft>
              <a:buSzPct val="111111"/>
              <a:buNone/>
            </a:pPr>
            <a:r>
              <a:rPr lang="en"/>
              <a:t>LOC</a:t>
            </a:r>
            <a:endParaRPr/>
          </a:p>
        </p:txBody>
      </p:sp>
      <p:sp>
        <p:nvSpPr>
          <p:cNvPr id="134" name="Google Shape;134;p9"/>
          <p:cNvSpPr txBox="1">
            <a:spLocks noGrp="1"/>
          </p:cNvSpPr>
          <p:nvPr>
            <p:ph type="body" idx="1"/>
          </p:nvPr>
        </p:nvSpPr>
        <p:spPr>
          <a:xfrm>
            <a:off x="729450" y="1282025"/>
            <a:ext cx="7688700" cy="3057900"/>
          </a:xfrm>
          <a:prstGeom prst="rect">
            <a:avLst/>
          </a:prstGeom>
          <a:noFill/>
          <a:ln>
            <a:noFill/>
          </a:ln>
        </p:spPr>
        <p:txBody>
          <a:bodyPr spcFirstLastPara="1" wrap="square" lIns="91425" tIns="91425" rIns="91425" bIns="91425" anchor="t" anchorCtr="0">
            <a:noAutofit/>
          </a:bodyPr>
          <a:lstStyle/>
          <a:p>
            <a:pPr marL="425450" lvl="0" indent="-285750" algn="l" rtl="0">
              <a:lnSpc>
                <a:spcPct val="115000"/>
              </a:lnSpc>
              <a:spcBef>
                <a:spcPts val="1200"/>
              </a:spcBef>
              <a:spcAft>
                <a:spcPts val="0"/>
              </a:spcAft>
              <a:buClr>
                <a:srgbClr val="000000"/>
              </a:buClr>
              <a:buSzPts val="1400"/>
              <a:buChar char="●"/>
            </a:pPr>
            <a:r>
              <a:rPr lang="en" sz="1400">
                <a:solidFill>
                  <a:srgbClr val="000000"/>
                </a:solidFill>
              </a:rPr>
              <a:t>One of the commonest ways of measuring the size of a program is by counting the number of lines of code. </a:t>
            </a:r>
            <a:endParaRPr/>
          </a:p>
          <a:p>
            <a:pPr marL="425450" lvl="0" indent="-285750" algn="l" rtl="0">
              <a:lnSpc>
                <a:spcPct val="115000"/>
              </a:lnSpc>
              <a:spcBef>
                <a:spcPts val="1200"/>
              </a:spcBef>
              <a:spcAft>
                <a:spcPts val="0"/>
              </a:spcAft>
              <a:buClr>
                <a:srgbClr val="000000"/>
              </a:buClr>
              <a:buSzPts val="1400"/>
              <a:buChar char="●"/>
            </a:pPr>
            <a:r>
              <a:rPr lang="en" sz="1400">
                <a:solidFill>
                  <a:srgbClr val="000000"/>
                </a:solidFill>
              </a:rPr>
              <a:t>Moller and Paulish define lines of code (LOC) as "the count of program lines of code excluding comment or blank lines".</a:t>
            </a:r>
            <a:endParaRPr/>
          </a:p>
          <a:p>
            <a:pPr marL="425450" lvl="0" indent="-285750" algn="l" rtl="0">
              <a:lnSpc>
                <a:spcPct val="115000"/>
              </a:lnSpc>
              <a:spcBef>
                <a:spcPts val="1200"/>
              </a:spcBef>
              <a:spcAft>
                <a:spcPts val="0"/>
              </a:spcAft>
              <a:buClr>
                <a:srgbClr val="000000"/>
              </a:buClr>
              <a:buSzPts val="1400"/>
              <a:buChar char="●"/>
            </a:pPr>
            <a:r>
              <a:rPr lang="en" sz="1400">
                <a:solidFill>
                  <a:srgbClr val="000000"/>
                </a:solidFill>
              </a:rPr>
              <a:t>The advantage of this measure is that it is easy to determine and also correlates strongly with other measures such as effort and error density.</a:t>
            </a:r>
            <a:endParaRPr/>
          </a:p>
          <a:p>
            <a:pPr marL="425450" lvl="0" indent="-285750" algn="l" rtl="0">
              <a:lnSpc>
                <a:spcPct val="115000"/>
              </a:lnSpc>
              <a:spcBef>
                <a:spcPts val="1200"/>
              </a:spcBef>
              <a:spcAft>
                <a:spcPts val="0"/>
              </a:spcAft>
              <a:buClr>
                <a:srgbClr val="000000"/>
              </a:buClr>
              <a:buSzPts val="1400"/>
              <a:buChar char="●"/>
            </a:pPr>
            <a:r>
              <a:rPr lang="en" sz="1400">
                <a:solidFill>
                  <a:srgbClr val="000000"/>
                </a:solidFill>
              </a:rPr>
              <a:t>There are no standards for LOC measurement and it is dependent on the programming language in question. </a:t>
            </a:r>
            <a:endParaRPr/>
          </a:p>
          <a:p>
            <a:pPr marL="425450" lvl="0" indent="-285750" algn="l" rtl="0">
              <a:lnSpc>
                <a:spcPct val="115000"/>
              </a:lnSpc>
              <a:spcBef>
                <a:spcPts val="1200"/>
              </a:spcBef>
              <a:spcAft>
                <a:spcPts val="0"/>
              </a:spcAft>
              <a:buClr>
                <a:srgbClr val="000000"/>
              </a:buClr>
              <a:buSzPts val="1400"/>
              <a:buChar char="●"/>
            </a:pPr>
            <a:r>
              <a:rPr lang="en" sz="1400">
                <a:solidFill>
                  <a:srgbClr val="000000"/>
                </a:solidFill>
              </a:rPr>
              <a:t>Also it is too simplistic and does not reflect cost or productivity. Despite these criticisms, this measure is still widely used.</a:t>
            </a:r>
            <a:endParaRPr sz="14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0"/>
          <p:cNvSpPr txBox="1">
            <a:spLocks noGrp="1"/>
          </p:cNvSpPr>
          <p:nvPr>
            <p:ph type="title"/>
          </p:nvPr>
        </p:nvSpPr>
        <p:spPr>
          <a:xfrm>
            <a:off x="729450" y="556650"/>
            <a:ext cx="7688700" cy="535200"/>
          </a:xfrm>
          <a:prstGeom prst="rect">
            <a:avLst/>
          </a:prstGeom>
          <a:noFill/>
          <a:ln>
            <a:noFill/>
          </a:ln>
        </p:spPr>
        <p:txBody>
          <a:bodyPr spcFirstLastPara="1" wrap="square" lIns="91425" tIns="91425" rIns="91425" bIns="91425" anchor="t" anchorCtr="0">
            <a:noAutofit/>
          </a:bodyPr>
          <a:lstStyle/>
          <a:p>
            <a:pPr marL="0" lvl="1" indent="0" algn="l" rtl="0">
              <a:lnSpc>
                <a:spcPct val="100000"/>
              </a:lnSpc>
              <a:spcBef>
                <a:spcPts val="0"/>
              </a:spcBef>
              <a:spcAft>
                <a:spcPts val="0"/>
              </a:spcAft>
              <a:buSzPts val="2600"/>
              <a:buNone/>
            </a:pPr>
            <a:r>
              <a:rPr lang="en" sz="2440">
                <a:latin typeface="Times New Roman"/>
                <a:ea typeface="Times New Roman"/>
                <a:cs typeface="Times New Roman"/>
                <a:sym typeface="Times New Roman"/>
              </a:rPr>
              <a:t>Cyclomatic Complexity</a:t>
            </a:r>
            <a:endParaRPr sz="2440">
              <a:latin typeface="Times New Roman"/>
              <a:ea typeface="Times New Roman"/>
              <a:cs typeface="Times New Roman"/>
              <a:sym typeface="Times New Roman"/>
            </a:endParaRPr>
          </a:p>
        </p:txBody>
      </p:sp>
      <p:sp>
        <p:nvSpPr>
          <p:cNvPr id="140" name="Google Shape;140;p10"/>
          <p:cNvSpPr txBox="1">
            <a:spLocks noGrp="1"/>
          </p:cNvSpPr>
          <p:nvPr>
            <p:ph type="body" idx="1"/>
          </p:nvPr>
        </p:nvSpPr>
        <p:spPr>
          <a:xfrm>
            <a:off x="729450" y="977225"/>
            <a:ext cx="7688700" cy="3057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300"/>
              <a:buNone/>
            </a:pPr>
            <a:endParaRPr sz="1200">
              <a:solidFill>
                <a:srgbClr val="000000"/>
              </a:solidFill>
              <a:latin typeface="Times New Roman"/>
              <a:ea typeface="Times New Roman"/>
              <a:cs typeface="Times New Roman"/>
              <a:sym typeface="Times New Roman"/>
            </a:endParaRPr>
          </a:p>
          <a:p>
            <a:pPr marL="457200" lvl="0" indent="-304800" algn="l" rtl="0">
              <a:lnSpc>
                <a:spcPct val="115000"/>
              </a:lnSpc>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It is the difficulty of maintaining, changing and understanding programs.</a:t>
            </a:r>
            <a:endParaRPr sz="1200">
              <a:latin typeface="Times New Roman"/>
              <a:ea typeface="Times New Roman"/>
              <a:cs typeface="Times New Roman"/>
              <a:sym typeface="Times New Roman"/>
            </a:endParaRPr>
          </a:p>
          <a:p>
            <a:pPr marL="457200" lvl="0" indent="-304800" algn="l" rtl="0">
              <a:lnSpc>
                <a:spcPct val="115000"/>
              </a:lnSpc>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Two of the most popular code complexity measures: McCabe's cyclomatic complexity and Halstead's difficulty measure</a:t>
            </a:r>
            <a:endParaRPr sz="1200">
              <a:solidFill>
                <a:srgbClr val="000000"/>
              </a:solidFill>
              <a:latin typeface="Times New Roman"/>
              <a:ea typeface="Times New Roman"/>
              <a:cs typeface="Times New Roman"/>
              <a:sym typeface="Times New Roman"/>
            </a:endParaRPr>
          </a:p>
          <a:p>
            <a:pPr marL="914400" lvl="1" indent="-304800" algn="l" rtl="0">
              <a:lnSpc>
                <a:spcPct val="115000"/>
              </a:lnSpc>
              <a:spcBef>
                <a:spcPts val="0"/>
              </a:spcBef>
              <a:spcAft>
                <a:spcPts val="0"/>
              </a:spcAft>
              <a:buClr>
                <a:srgbClr val="000000"/>
              </a:buClr>
              <a:buSzPts val="1200"/>
              <a:buAutoNum type="alphaLcPeriod"/>
            </a:pPr>
            <a:r>
              <a:rPr lang="en" sz="1200" b="1">
                <a:solidFill>
                  <a:srgbClr val="000000"/>
                </a:solidFill>
                <a:latin typeface="Times New Roman"/>
                <a:ea typeface="Times New Roman"/>
                <a:cs typeface="Times New Roman"/>
                <a:sym typeface="Times New Roman"/>
              </a:rPr>
              <a:t>McCabe's Cyclomatic Complexity:</a:t>
            </a:r>
            <a:br>
              <a:rPr lang="en" sz="1200">
                <a:solidFill>
                  <a:srgbClr val="000000"/>
                </a:solidFill>
                <a:latin typeface="Times New Roman"/>
                <a:ea typeface="Times New Roman"/>
                <a:cs typeface="Times New Roman"/>
                <a:sym typeface="Times New Roman"/>
              </a:rPr>
            </a:br>
            <a:r>
              <a:rPr lang="en" sz="1200">
                <a:solidFill>
                  <a:srgbClr val="000000"/>
                </a:solidFill>
                <a:latin typeface="Times New Roman"/>
                <a:ea typeface="Times New Roman"/>
                <a:cs typeface="Times New Roman"/>
                <a:sym typeface="Times New Roman"/>
              </a:rPr>
              <a:t>McCabe views a program as a directed graph in which lines of program statements are represented by nodes and the flow of control between the statements is represented by the edges. McCabe's cyclomatic complexity (also known as the cyclomatic number) is the number of 'linearly independent' paths through the program (or flow graph) and this value is computed using the formula:.</a:t>
            </a:r>
            <a:endParaRPr sz="1200">
              <a:solidFill>
                <a:srgbClr val="000000"/>
              </a:solidFill>
              <a:latin typeface="Times New Roman"/>
              <a:ea typeface="Times New Roman"/>
              <a:cs typeface="Times New Roman"/>
              <a:sym typeface="Times New Roman"/>
            </a:endParaRPr>
          </a:p>
          <a:p>
            <a:pPr marL="457200" lvl="0" indent="0" algn="l" rtl="0">
              <a:lnSpc>
                <a:spcPct val="115000"/>
              </a:lnSpc>
              <a:spcBef>
                <a:spcPts val="1200"/>
              </a:spcBef>
              <a:spcAft>
                <a:spcPts val="1200"/>
              </a:spcAft>
              <a:buSzPts val="1300"/>
              <a:buNone/>
            </a:pPr>
            <a:endParaRPr sz="1200">
              <a:solidFill>
                <a:srgbClr val="000000"/>
              </a:solidFill>
              <a:latin typeface="Times New Roman"/>
              <a:ea typeface="Times New Roman"/>
              <a:cs typeface="Times New Roman"/>
              <a:sym typeface="Times New Roman"/>
            </a:endParaRPr>
          </a:p>
        </p:txBody>
      </p:sp>
      <p:pic>
        <p:nvPicPr>
          <p:cNvPr id="141" name="Google Shape;141;p10"/>
          <p:cNvPicPr preferRelativeResize="0"/>
          <p:nvPr/>
        </p:nvPicPr>
        <p:blipFill rotWithShape="1">
          <a:blip r:embed="rId3">
            <a:alphaModFix/>
          </a:blip>
          <a:srcRect/>
          <a:stretch/>
        </p:blipFill>
        <p:spPr>
          <a:xfrm>
            <a:off x="1538150" y="3339803"/>
            <a:ext cx="5600700" cy="695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1"/>
          <p:cNvSpPr txBox="1">
            <a:spLocks noGrp="1"/>
          </p:cNvSpPr>
          <p:nvPr>
            <p:ph type="body" idx="1"/>
          </p:nvPr>
        </p:nvSpPr>
        <p:spPr>
          <a:xfrm>
            <a:off x="729450" y="824825"/>
            <a:ext cx="7688700" cy="4166400"/>
          </a:xfrm>
          <a:prstGeom prst="rect">
            <a:avLst/>
          </a:prstGeom>
          <a:noFill/>
          <a:ln>
            <a:noFill/>
          </a:ln>
        </p:spPr>
        <p:txBody>
          <a:bodyPr spcFirstLastPara="1" wrap="square" lIns="91425" tIns="91425" rIns="91425" bIns="91425" anchor="t" anchorCtr="0">
            <a:noAutofit/>
          </a:bodyPr>
          <a:lstStyle/>
          <a:p>
            <a:pPr marL="615950" lvl="1" indent="0" algn="l" rtl="0">
              <a:lnSpc>
                <a:spcPct val="115000"/>
              </a:lnSpc>
              <a:spcBef>
                <a:spcPts val="0"/>
              </a:spcBef>
              <a:spcAft>
                <a:spcPts val="0"/>
              </a:spcAft>
              <a:buClr>
                <a:srgbClr val="000000"/>
              </a:buClr>
              <a:buSzPts val="1100"/>
              <a:buNone/>
            </a:pPr>
            <a:endParaRPr sz="1400">
              <a:solidFill>
                <a:srgbClr val="000000"/>
              </a:solidFill>
            </a:endParaRPr>
          </a:p>
          <a:p>
            <a:pPr marL="615950" lvl="1" indent="0" algn="l" rtl="0">
              <a:lnSpc>
                <a:spcPct val="115000"/>
              </a:lnSpc>
              <a:spcBef>
                <a:spcPts val="0"/>
              </a:spcBef>
              <a:spcAft>
                <a:spcPts val="0"/>
              </a:spcAft>
              <a:buClr>
                <a:srgbClr val="000000"/>
              </a:buClr>
              <a:buSzPts val="1100"/>
              <a:buNone/>
            </a:pPr>
            <a:endParaRPr sz="1400">
              <a:solidFill>
                <a:srgbClr val="000000"/>
              </a:solidFill>
            </a:endParaRPr>
          </a:p>
          <a:p>
            <a:pPr marL="0" lvl="1" indent="0" algn="l" rtl="0">
              <a:lnSpc>
                <a:spcPct val="115000"/>
              </a:lnSpc>
              <a:spcBef>
                <a:spcPts val="0"/>
              </a:spcBef>
              <a:spcAft>
                <a:spcPts val="0"/>
              </a:spcAft>
              <a:buClr>
                <a:srgbClr val="000000"/>
              </a:buClr>
              <a:buSzPts val="1100"/>
              <a:buNone/>
            </a:pPr>
            <a:r>
              <a:rPr lang="en" sz="1400">
                <a:solidFill>
                  <a:srgbClr val="000000"/>
                </a:solidFill>
              </a:rPr>
              <a:t>Advantages:</a:t>
            </a:r>
            <a:endParaRPr sz="140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a:solidFill>
                  <a:srgbClr val="000000"/>
                </a:solidFill>
              </a:rPr>
              <a:t>It helps to identify highly complex programs that may need to be modified in order to reduce complexity. </a:t>
            </a:r>
            <a:endParaRPr sz="140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a:solidFill>
                  <a:srgbClr val="000000"/>
                </a:solidFill>
              </a:rPr>
              <a:t>The cyclomatic number can be used as an estimate of the amount of time required to understand and modify a program. </a:t>
            </a:r>
            <a:endParaRPr sz="140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a:solidFill>
                  <a:srgbClr val="000000"/>
                </a:solidFill>
              </a:rPr>
              <a:t>The flow graph generated can be used to identify the possible test paths during testing.</a:t>
            </a:r>
            <a:endParaRPr sz="1400">
              <a:solidFill>
                <a:srgbClr val="000000"/>
              </a:solidFill>
            </a:endParaRPr>
          </a:p>
          <a:p>
            <a:pPr marL="914400" lvl="0" indent="0" algn="l" rtl="0">
              <a:lnSpc>
                <a:spcPct val="115000"/>
              </a:lnSpc>
              <a:spcBef>
                <a:spcPts val="1200"/>
              </a:spcBef>
              <a:spcAft>
                <a:spcPts val="1200"/>
              </a:spcAft>
              <a:buSzPts val="1300"/>
              <a:buNone/>
            </a:pPr>
            <a:endParaRPr sz="1400">
              <a:solidFill>
                <a:srgbClr val="000000"/>
              </a:solidFill>
            </a:endParaRPr>
          </a:p>
        </p:txBody>
      </p:sp>
      <p:sp>
        <p:nvSpPr>
          <p:cNvPr id="147" name="Google Shape;147;p11"/>
          <p:cNvSpPr txBox="1">
            <a:spLocks noGrp="1"/>
          </p:cNvSpPr>
          <p:nvPr>
            <p:ph type="title"/>
          </p:nvPr>
        </p:nvSpPr>
        <p:spPr>
          <a:xfrm>
            <a:off x="729450" y="556650"/>
            <a:ext cx="7688700" cy="535200"/>
          </a:xfrm>
          <a:prstGeom prst="rect">
            <a:avLst/>
          </a:prstGeom>
          <a:noFill/>
          <a:ln>
            <a:noFill/>
          </a:ln>
        </p:spPr>
        <p:txBody>
          <a:bodyPr spcFirstLastPara="1" wrap="square" lIns="91425" tIns="91425" rIns="91425" bIns="91425" anchor="t" anchorCtr="0">
            <a:noAutofit/>
          </a:bodyPr>
          <a:lstStyle/>
          <a:p>
            <a:pPr marL="0" lvl="1" indent="0" algn="l" rtl="0">
              <a:lnSpc>
                <a:spcPct val="100000"/>
              </a:lnSpc>
              <a:spcBef>
                <a:spcPts val="0"/>
              </a:spcBef>
              <a:spcAft>
                <a:spcPts val="0"/>
              </a:spcAft>
              <a:buSzPts val="2600"/>
              <a:buNone/>
            </a:pPr>
            <a:r>
              <a:rPr lang="en" sz="2440">
                <a:latin typeface="Times New Roman"/>
                <a:ea typeface="Times New Roman"/>
                <a:cs typeface="Times New Roman"/>
                <a:sym typeface="Times New Roman"/>
              </a:rPr>
              <a:t>Cyclomatic Complexity</a:t>
            </a:r>
            <a:endParaRPr sz="244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2"/>
          <p:cNvSpPr txBox="1">
            <a:spLocks noGrp="1"/>
          </p:cNvSpPr>
          <p:nvPr>
            <p:ph type="body" idx="1"/>
          </p:nvPr>
        </p:nvSpPr>
        <p:spPr>
          <a:xfrm>
            <a:off x="729450" y="824825"/>
            <a:ext cx="7688700" cy="416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300"/>
              <a:buNone/>
            </a:pPr>
            <a:endParaRPr sz="1400">
              <a:solidFill>
                <a:srgbClr val="000000"/>
              </a:solidFill>
            </a:endParaRPr>
          </a:p>
          <a:p>
            <a:pPr marL="0" lvl="0" indent="0" algn="l" rtl="0">
              <a:lnSpc>
                <a:spcPct val="115000"/>
              </a:lnSpc>
              <a:spcBef>
                <a:spcPts val="0"/>
              </a:spcBef>
              <a:spcAft>
                <a:spcPts val="0"/>
              </a:spcAft>
              <a:buNone/>
            </a:pPr>
            <a:endParaRPr sz="1400">
              <a:solidFill>
                <a:srgbClr val="000000"/>
              </a:solidFill>
            </a:endParaRPr>
          </a:p>
          <a:p>
            <a:pPr marL="0" lvl="0" indent="0" algn="l" rtl="0">
              <a:lnSpc>
                <a:spcPct val="115000"/>
              </a:lnSpc>
              <a:spcBef>
                <a:spcPts val="1200"/>
              </a:spcBef>
              <a:spcAft>
                <a:spcPts val="0"/>
              </a:spcAft>
              <a:buSzPts val="1300"/>
              <a:buNone/>
            </a:pPr>
            <a:r>
              <a:rPr lang="en" sz="1400">
                <a:solidFill>
                  <a:srgbClr val="000000"/>
                </a:solidFill>
              </a:rPr>
              <a:t>Disadvantages:</a:t>
            </a:r>
            <a:endParaRPr sz="1400">
              <a:solidFill>
                <a:srgbClr val="000000"/>
              </a:solidFill>
            </a:endParaRPr>
          </a:p>
          <a:p>
            <a:pPr marL="457200" lvl="0" indent="-317500" algn="l" rtl="0">
              <a:lnSpc>
                <a:spcPct val="115000"/>
              </a:lnSpc>
              <a:spcBef>
                <a:spcPts val="1200"/>
              </a:spcBef>
              <a:spcAft>
                <a:spcPts val="0"/>
              </a:spcAft>
              <a:buClr>
                <a:srgbClr val="000000"/>
              </a:buClr>
              <a:buSzPts val="1400"/>
              <a:buChar char="●"/>
            </a:pPr>
            <a:r>
              <a:rPr lang="en" sz="1400">
                <a:solidFill>
                  <a:srgbClr val="000000"/>
                </a:solidFill>
              </a:rPr>
              <a:t>It takes no account of the complexity of the conditions in a program, for example multiple use of Boolean expressions, and over-use of flags. </a:t>
            </a:r>
            <a:endParaRPr sz="140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a:solidFill>
                  <a:srgbClr val="000000"/>
                </a:solidFill>
              </a:rPr>
              <a:t>In its original form, it failed to take account of the degree of nesting in a program. As such, two programs may have been considered to be equally complex based on cyclomatic number whereas in actual fact, one had a greater level of nesting than the other.</a:t>
            </a:r>
            <a:endParaRPr sz="1400">
              <a:solidFill>
                <a:srgbClr val="000000"/>
              </a:solidFill>
            </a:endParaRPr>
          </a:p>
          <a:p>
            <a:pPr marL="914400" lvl="0" indent="0" algn="l" rtl="0">
              <a:lnSpc>
                <a:spcPct val="115000"/>
              </a:lnSpc>
              <a:spcBef>
                <a:spcPts val="1200"/>
              </a:spcBef>
              <a:spcAft>
                <a:spcPts val="1200"/>
              </a:spcAft>
              <a:buSzPts val="1300"/>
              <a:buNone/>
            </a:pPr>
            <a:endParaRPr sz="1400">
              <a:solidFill>
                <a:srgbClr val="000000"/>
              </a:solidFill>
            </a:endParaRPr>
          </a:p>
        </p:txBody>
      </p:sp>
      <p:sp>
        <p:nvSpPr>
          <p:cNvPr id="153" name="Google Shape;153;p12"/>
          <p:cNvSpPr txBox="1">
            <a:spLocks noGrp="1"/>
          </p:cNvSpPr>
          <p:nvPr>
            <p:ph type="title"/>
          </p:nvPr>
        </p:nvSpPr>
        <p:spPr>
          <a:xfrm>
            <a:off x="727650" y="340875"/>
            <a:ext cx="7688700" cy="535200"/>
          </a:xfrm>
          <a:prstGeom prst="rect">
            <a:avLst/>
          </a:prstGeom>
          <a:noFill/>
          <a:ln>
            <a:noFill/>
          </a:ln>
        </p:spPr>
        <p:txBody>
          <a:bodyPr spcFirstLastPara="1" wrap="square" lIns="91425" tIns="91425" rIns="91425" bIns="91425" anchor="t" anchorCtr="0">
            <a:noAutofit/>
          </a:bodyPr>
          <a:lstStyle/>
          <a:p>
            <a:pPr marL="0" lvl="1" indent="0" algn="l" rtl="0">
              <a:lnSpc>
                <a:spcPct val="100000"/>
              </a:lnSpc>
              <a:spcBef>
                <a:spcPts val="0"/>
              </a:spcBef>
              <a:spcAft>
                <a:spcPts val="0"/>
              </a:spcAft>
              <a:buSzPts val="2600"/>
              <a:buNone/>
            </a:pPr>
            <a:r>
              <a:rPr lang="en" sz="2440">
                <a:latin typeface="Times New Roman"/>
                <a:ea typeface="Times New Roman"/>
                <a:cs typeface="Times New Roman"/>
                <a:sym typeface="Times New Roman"/>
              </a:rPr>
              <a:t>Cyclomatic Complexity</a:t>
            </a:r>
            <a:endParaRPr sz="244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3"/>
          <p:cNvSpPr txBox="1">
            <a:spLocks noGrp="1"/>
          </p:cNvSpPr>
          <p:nvPr>
            <p:ph type="body" idx="1"/>
          </p:nvPr>
        </p:nvSpPr>
        <p:spPr>
          <a:xfrm>
            <a:off x="787150" y="824825"/>
            <a:ext cx="7688700" cy="416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300"/>
              <a:buNone/>
            </a:pPr>
            <a:endParaRPr sz="1400">
              <a:solidFill>
                <a:srgbClr val="000000"/>
              </a:solidFill>
            </a:endParaRPr>
          </a:p>
          <a:p>
            <a:pPr marL="914400" lvl="1" indent="-298450" algn="l" rtl="0">
              <a:lnSpc>
                <a:spcPct val="115000"/>
              </a:lnSpc>
              <a:spcBef>
                <a:spcPts val="0"/>
              </a:spcBef>
              <a:spcAft>
                <a:spcPts val="0"/>
              </a:spcAft>
              <a:buClr>
                <a:srgbClr val="000000"/>
              </a:buClr>
              <a:buSzPts val="1100"/>
              <a:buAutoNum type="alphaLcPeriod" startAt="2"/>
            </a:pPr>
            <a:r>
              <a:rPr lang="en" sz="1400">
                <a:solidFill>
                  <a:srgbClr val="000000"/>
                </a:solidFill>
              </a:rPr>
              <a:t>Halstead's Measures:</a:t>
            </a:r>
            <a:endParaRPr sz="140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a:solidFill>
                  <a:srgbClr val="000000"/>
                </a:solidFill>
              </a:rPr>
              <a:t>Halstead developed expressions for the overall program length, potential minimum volume for an algorithm, the actual volume (number of bits required to specify a program), the program level (a measure of software complexity), the language level (a constant for a given language), and other features such as development effort, development time, and even the projected number of faults in the software. </a:t>
            </a:r>
            <a:endParaRPr sz="140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a:solidFill>
                  <a:srgbClr val="000000"/>
                </a:solidFill>
              </a:rPr>
              <a:t>The measures for these attributes can be computed from four basic counts:</a:t>
            </a:r>
            <a:endParaRPr sz="1400">
              <a:solidFill>
                <a:srgbClr val="000000"/>
              </a:solidFill>
            </a:endParaRPr>
          </a:p>
          <a:p>
            <a:pPr marL="0" lvl="0" indent="457200" algn="l" rtl="0">
              <a:lnSpc>
                <a:spcPct val="115000"/>
              </a:lnSpc>
              <a:spcBef>
                <a:spcPts val="1200"/>
              </a:spcBef>
              <a:spcAft>
                <a:spcPts val="1200"/>
              </a:spcAft>
              <a:buSzPts val="1300"/>
              <a:buNone/>
            </a:pPr>
            <a:br>
              <a:rPr lang="en" sz="1400">
                <a:solidFill>
                  <a:srgbClr val="000000"/>
                </a:solidFill>
              </a:rPr>
            </a:br>
            <a:r>
              <a:rPr lang="en" sz="1400">
                <a:solidFill>
                  <a:srgbClr val="000000"/>
                </a:solidFill>
              </a:rPr>
              <a:t>		</a:t>
            </a:r>
            <a:endParaRPr sz="1400">
              <a:solidFill>
                <a:srgbClr val="000000"/>
              </a:solidFill>
            </a:endParaRPr>
          </a:p>
        </p:txBody>
      </p:sp>
      <p:sp>
        <p:nvSpPr>
          <p:cNvPr id="159" name="Google Shape;159;p13"/>
          <p:cNvSpPr txBox="1">
            <a:spLocks noGrp="1"/>
          </p:cNvSpPr>
          <p:nvPr>
            <p:ph type="title"/>
          </p:nvPr>
        </p:nvSpPr>
        <p:spPr>
          <a:xfrm>
            <a:off x="727650" y="340875"/>
            <a:ext cx="7688700" cy="535200"/>
          </a:xfrm>
          <a:prstGeom prst="rect">
            <a:avLst/>
          </a:prstGeom>
          <a:noFill/>
          <a:ln>
            <a:noFill/>
          </a:ln>
        </p:spPr>
        <p:txBody>
          <a:bodyPr spcFirstLastPara="1" wrap="square" lIns="91425" tIns="91425" rIns="91425" bIns="91425" anchor="t" anchorCtr="0">
            <a:noAutofit/>
          </a:bodyPr>
          <a:lstStyle/>
          <a:p>
            <a:pPr marL="0" lvl="1" indent="0" algn="l" rtl="0">
              <a:lnSpc>
                <a:spcPct val="100000"/>
              </a:lnSpc>
              <a:spcBef>
                <a:spcPts val="0"/>
              </a:spcBef>
              <a:spcAft>
                <a:spcPts val="0"/>
              </a:spcAft>
              <a:buSzPts val="2600"/>
              <a:buNone/>
            </a:pPr>
            <a:r>
              <a:rPr lang="en" sz="2440">
                <a:latin typeface="Times New Roman"/>
                <a:ea typeface="Times New Roman"/>
                <a:cs typeface="Times New Roman"/>
                <a:sym typeface="Times New Roman"/>
              </a:rPr>
              <a:t>Cyclomatic Complexity</a:t>
            </a:r>
            <a:endParaRPr sz="244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f597a327de_0_27"/>
          <p:cNvSpPr txBox="1">
            <a:spLocks noGrp="1"/>
          </p:cNvSpPr>
          <p:nvPr>
            <p:ph type="body" idx="1"/>
          </p:nvPr>
        </p:nvSpPr>
        <p:spPr>
          <a:xfrm>
            <a:off x="641050" y="1950800"/>
            <a:ext cx="7688700" cy="3384900"/>
          </a:xfrm>
          <a:prstGeom prst="rect">
            <a:avLst/>
          </a:prstGeom>
        </p:spPr>
        <p:txBody>
          <a:bodyPr spcFirstLastPara="1" wrap="square" lIns="91425" tIns="91425" rIns="91425" bIns="91425" anchor="t" anchorCtr="0">
            <a:normAutofit/>
          </a:bodyPr>
          <a:lstStyle/>
          <a:p>
            <a:pPr marL="914400" lvl="0" indent="0" algn="l" rtl="0">
              <a:spcBef>
                <a:spcPts val="1200"/>
              </a:spcBef>
              <a:spcAft>
                <a:spcPts val="0"/>
              </a:spcAft>
              <a:buNone/>
            </a:pPr>
            <a:endParaRPr sz="1400">
              <a:solidFill>
                <a:srgbClr val="000000"/>
              </a:solidFill>
            </a:endParaRPr>
          </a:p>
          <a:p>
            <a:pPr marL="457200" lvl="0" indent="-317500" algn="l" rtl="0">
              <a:spcBef>
                <a:spcPts val="1200"/>
              </a:spcBef>
              <a:spcAft>
                <a:spcPts val="0"/>
              </a:spcAft>
              <a:buClr>
                <a:srgbClr val="000000"/>
              </a:buClr>
              <a:buSzPts val="1400"/>
              <a:buChar char="●"/>
            </a:pPr>
            <a:r>
              <a:rPr lang="en" sz="1400">
                <a:solidFill>
                  <a:srgbClr val="000000"/>
                </a:solidFill>
              </a:rPr>
              <a:t>An operand is a variable or constant.</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An operator is an entity that can either change the value of an operand or the order in which it is changed. </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Operators include arithmetic operators (for example, *, /, + and -), keywords (for example, PROCEDURE, WHILE, REPEAT and DO), logical operators (for example, greater than, equal to and less than), and delimiters.</a:t>
            </a:r>
            <a:endParaRPr sz="1400">
              <a:solidFill>
                <a:srgbClr val="000000"/>
              </a:solidFill>
            </a:endParaRPr>
          </a:p>
          <a:p>
            <a:pPr marL="0" lvl="0" indent="0" algn="l" rtl="0">
              <a:spcBef>
                <a:spcPts val="1200"/>
              </a:spcBef>
              <a:spcAft>
                <a:spcPts val="0"/>
              </a:spcAft>
              <a:buNone/>
            </a:pPr>
            <a:endParaRPr/>
          </a:p>
        </p:txBody>
      </p:sp>
      <p:sp>
        <p:nvSpPr>
          <p:cNvPr id="165" name="Google Shape;165;g3f597a327de_0_27"/>
          <p:cNvSpPr txBox="1">
            <a:spLocks noGrp="1"/>
          </p:cNvSpPr>
          <p:nvPr>
            <p:ph type="title"/>
          </p:nvPr>
        </p:nvSpPr>
        <p:spPr>
          <a:xfrm>
            <a:off x="727650" y="340875"/>
            <a:ext cx="7688700" cy="535200"/>
          </a:xfrm>
          <a:prstGeom prst="rect">
            <a:avLst/>
          </a:prstGeom>
          <a:noFill/>
          <a:ln>
            <a:noFill/>
          </a:ln>
        </p:spPr>
        <p:txBody>
          <a:bodyPr spcFirstLastPara="1" wrap="square" lIns="91425" tIns="91425" rIns="91425" bIns="91425" anchor="t" anchorCtr="0">
            <a:noAutofit/>
          </a:bodyPr>
          <a:lstStyle/>
          <a:p>
            <a:pPr marL="0" lvl="1" indent="0" algn="l" rtl="0">
              <a:lnSpc>
                <a:spcPct val="100000"/>
              </a:lnSpc>
              <a:spcBef>
                <a:spcPts val="0"/>
              </a:spcBef>
              <a:spcAft>
                <a:spcPts val="0"/>
              </a:spcAft>
              <a:buSzPts val="2600"/>
              <a:buNone/>
            </a:pPr>
            <a:r>
              <a:rPr lang="en" sz="2440">
                <a:latin typeface="Times New Roman"/>
                <a:ea typeface="Times New Roman"/>
                <a:cs typeface="Times New Roman"/>
                <a:sym typeface="Times New Roman"/>
              </a:rPr>
              <a:t>Cyclomatic Complexity</a:t>
            </a:r>
            <a:endParaRPr sz="2440">
              <a:latin typeface="Times New Roman"/>
              <a:ea typeface="Times New Roman"/>
              <a:cs typeface="Times New Roman"/>
              <a:sym typeface="Times New Roman"/>
            </a:endParaRPr>
          </a:p>
        </p:txBody>
      </p:sp>
      <p:pic>
        <p:nvPicPr>
          <p:cNvPr id="166" name="Google Shape;166;g3f597a327de_0_27"/>
          <p:cNvPicPr preferRelativeResize="0"/>
          <p:nvPr/>
        </p:nvPicPr>
        <p:blipFill>
          <a:blip r:embed="rId3">
            <a:alphaModFix/>
          </a:blip>
          <a:stretch>
            <a:fillRect/>
          </a:stretch>
        </p:blipFill>
        <p:spPr>
          <a:xfrm>
            <a:off x="747700" y="876063"/>
            <a:ext cx="7648575" cy="1590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4"/>
          <p:cNvSpPr txBox="1">
            <a:spLocks noGrp="1"/>
          </p:cNvSpPr>
          <p:nvPr>
            <p:ph type="body" idx="1"/>
          </p:nvPr>
        </p:nvSpPr>
        <p:spPr>
          <a:xfrm>
            <a:off x="787150" y="824825"/>
            <a:ext cx="7688700" cy="416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300"/>
              <a:buNone/>
            </a:pPr>
            <a:endParaRPr sz="1400" dirty="0">
              <a:solidFill>
                <a:srgbClr val="000000"/>
              </a:solidFill>
            </a:endParaRPr>
          </a:p>
          <a:p>
            <a:pPr marL="914400" lvl="1" indent="-298450" algn="l" rtl="0">
              <a:lnSpc>
                <a:spcPct val="115000"/>
              </a:lnSpc>
              <a:spcBef>
                <a:spcPts val="0"/>
              </a:spcBef>
              <a:spcAft>
                <a:spcPts val="0"/>
              </a:spcAft>
              <a:buClr>
                <a:srgbClr val="000000"/>
              </a:buClr>
              <a:buSzPts val="1100"/>
              <a:buAutoNum type="alphaLcPeriod" startAt="2"/>
            </a:pPr>
            <a:r>
              <a:rPr lang="en" sz="1400" dirty="0">
                <a:solidFill>
                  <a:srgbClr val="000000"/>
                </a:solidFill>
              </a:rPr>
              <a:t>Halstead's Measures:</a:t>
            </a:r>
            <a:br>
              <a:rPr lang="en" sz="1400" dirty="0">
                <a:solidFill>
                  <a:srgbClr val="000000"/>
                </a:solidFill>
              </a:rPr>
            </a:br>
            <a:br>
              <a:rPr lang="en" sz="1400" dirty="0">
                <a:solidFill>
                  <a:srgbClr val="000000"/>
                </a:solidFill>
              </a:rPr>
            </a:br>
            <a:br>
              <a:rPr lang="en" sz="1400" dirty="0">
                <a:solidFill>
                  <a:srgbClr val="000000"/>
                </a:solidFill>
              </a:rPr>
            </a:br>
            <a:br>
              <a:rPr lang="en" sz="1400" dirty="0">
                <a:solidFill>
                  <a:srgbClr val="000000"/>
                </a:solidFill>
              </a:rPr>
            </a:br>
            <a:br>
              <a:rPr lang="en" sz="1400" dirty="0">
                <a:solidFill>
                  <a:srgbClr val="000000"/>
                </a:solidFill>
              </a:rPr>
            </a:br>
            <a:endParaRPr sz="1400" dirty="0">
              <a:solidFill>
                <a:srgbClr val="000000"/>
              </a:solidFill>
            </a:endParaRPr>
          </a:p>
          <a:p>
            <a:pPr marL="615950" lvl="1" indent="0" algn="l" rtl="0">
              <a:lnSpc>
                <a:spcPct val="115000"/>
              </a:lnSpc>
              <a:spcBef>
                <a:spcPts val="0"/>
              </a:spcBef>
              <a:spcAft>
                <a:spcPts val="0"/>
              </a:spcAft>
              <a:buClr>
                <a:srgbClr val="000000"/>
              </a:buClr>
              <a:buSzPts val="1100"/>
              <a:buNone/>
            </a:pPr>
            <a:endParaRPr sz="1400" dirty="0">
              <a:solidFill>
                <a:srgbClr val="000000"/>
              </a:solidFill>
            </a:endParaRPr>
          </a:p>
          <a:p>
            <a:pPr marL="615950" lvl="1" indent="0" algn="l" rtl="0">
              <a:lnSpc>
                <a:spcPct val="115000"/>
              </a:lnSpc>
              <a:spcBef>
                <a:spcPts val="0"/>
              </a:spcBef>
              <a:spcAft>
                <a:spcPts val="0"/>
              </a:spcAft>
              <a:buClr>
                <a:srgbClr val="000000"/>
              </a:buClr>
              <a:buSzPts val="1100"/>
              <a:buNone/>
            </a:pPr>
            <a:endParaRPr sz="1400" dirty="0">
              <a:solidFill>
                <a:srgbClr val="000000"/>
              </a:solidFill>
            </a:endParaRPr>
          </a:p>
          <a:p>
            <a:pPr marL="615950" lvl="1" indent="0" algn="l" rtl="0">
              <a:lnSpc>
                <a:spcPct val="115000"/>
              </a:lnSpc>
              <a:spcBef>
                <a:spcPts val="0"/>
              </a:spcBef>
              <a:spcAft>
                <a:spcPts val="0"/>
              </a:spcAft>
              <a:buClr>
                <a:srgbClr val="000000"/>
              </a:buClr>
              <a:buSzPts val="1100"/>
              <a:buNone/>
            </a:pPr>
            <a:endParaRPr sz="1400" dirty="0">
              <a:solidFill>
                <a:srgbClr val="000000"/>
              </a:solidFill>
            </a:endParaRPr>
          </a:p>
          <a:p>
            <a:pPr marL="615950" lvl="1" indent="0" algn="l" rtl="0">
              <a:lnSpc>
                <a:spcPct val="115000"/>
              </a:lnSpc>
              <a:spcBef>
                <a:spcPts val="0"/>
              </a:spcBef>
              <a:spcAft>
                <a:spcPts val="0"/>
              </a:spcAft>
              <a:buClr>
                <a:srgbClr val="000000"/>
              </a:buClr>
              <a:buSzPts val="1100"/>
              <a:buNone/>
            </a:pPr>
            <a:endParaRPr sz="1400" dirty="0">
              <a:solidFill>
                <a:srgbClr val="000000"/>
              </a:solidFill>
            </a:endParaRPr>
          </a:p>
          <a:p>
            <a:pPr marL="615950" lvl="1" indent="0" algn="l" rtl="0">
              <a:lnSpc>
                <a:spcPct val="115000"/>
              </a:lnSpc>
              <a:spcBef>
                <a:spcPts val="0"/>
              </a:spcBef>
              <a:spcAft>
                <a:spcPts val="0"/>
              </a:spcAft>
              <a:buClr>
                <a:srgbClr val="000000"/>
              </a:buClr>
              <a:buSzPts val="1100"/>
              <a:buNone/>
            </a:pPr>
            <a:endParaRPr sz="1400" dirty="0">
              <a:solidFill>
                <a:srgbClr val="000000"/>
              </a:solidFill>
            </a:endParaRPr>
          </a:p>
          <a:p>
            <a:pPr marL="615950" lvl="1" indent="0" algn="l" rtl="0">
              <a:lnSpc>
                <a:spcPct val="115000"/>
              </a:lnSpc>
              <a:spcBef>
                <a:spcPts val="0"/>
              </a:spcBef>
              <a:spcAft>
                <a:spcPts val="0"/>
              </a:spcAft>
              <a:buClr>
                <a:srgbClr val="000000"/>
              </a:buClr>
              <a:buSzPts val="1100"/>
              <a:buNone/>
            </a:pPr>
            <a:endParaRPr sz="1400" dirty="0">
              <a:solidFill>
                <a:srgbClr val="000000"/>
              </a:solidFill>
            </a:endParaRPr>
          </a:p>
          <a:p>
            <a:pPr marL="914400" lvl="0" indent="0" algn="l" rtl="0">
              <a:lnSpc>
                <a:spcPct val="115000"/>
              </a:lnSpc>
              <a:spcBef>
                <a:spcPts val="0"/>
              </a:spcBef>
              <a:spcAft>
                <a:spcPts val="0"/>
              </a:spcAft>
              <a:buNone/>
            </a:pPr>
            <a:endParaRPr sz="1400" dirty="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dirty="0">
                <a:solidFill>
                  <a:srgbClr val="000000"/>
                </a:solidFill>
              </a:rPr>
              <a:t>The four basic counts can also be used to compute other attributes such as </a:t>
            </a:r>
            <a:r>
              <a:rPr lang="en" sz="1400" b="1" dirty="0">
                <a:solidFill>
                  <a:srgbClr val="000000"/>
                </a:solidFill>
              </a:rPr>
              <a:t>programming time</a:t>
            </a:r>
            <a:r>
              <a:rPr lang="en" sz="1400" dirty="0">
                <a:solidFill>
                  <a:srgbClr val="000000"/>
                </a:solidFill>
              </a:rPr>
              <a:t>, </a:t>
            </a:r>
            <a:r>
              <a:rPr lang="en" sz="1400" b="1" dirty="0">
                <a:solidFill>
                  <a:srgbClr val="000000"/>
                </a:solidFill>
              </a:rPr>
              <a:t>number of bugs</a:t>
            </a:r>
            <a:r>
              <a:rPr lang="en" sz="1400" dirty="0">
                <a:solidFill>
                  <a:srgbClr val="000000"/>
                </a:solidFill>
              </a:rPr>
              <a:t> in a program and </a:t>
            </a:r>
            <a:r>
              <a:rPr lang="en" sz="1400" b="1" dirty="0">
                <a:solidFill>
                  <a:srgbClr val="000000"/>
                </a:solidFill>
              </a:rPr>
              <a:t>understandability</a:t>
            </a:r>
            <a:r>
              <a:rPr lang="en" sz="1400" dirty="0">
                <a:solidFill>
                  <a:srgbClr val="000000"/>
                </a:solidFill>
              </a:rPr>
              <a:t>.</a:t>
            </a:r>
            <a:endParaRPr sz="1400" dirty="0">
              <a:solidFill>
                <a:srgbClr val="000000"/>
              </a:solidFill>
            </a:endParaRPr>
          </a:p>
          <a:p>
            <a:pPr marL="914400" lvl="0" indent="0" algn="l" rtl="0">
              <a:lnSpc>
                <a:spcPct val="115000"/>
              </a:lnSpc>
              <a:spcBef>
                <a:spcPts val="1200"/>
              </a:spcBef>
              <a:spcAft>
                <a:spcPts val="1200"/>
              </a:spcAft>
              <a:buSzPts val="1300"/>
              <a:buNone/>
            </a:pPr>
            <a:br>
              <a:rPr lang="en" sz="1400" dirty="0">
                <a:solidFill>
                  <a:srgbClr val="000000"/>
                </a:solidFill>
              </a:rPr>
            </a:br>
            <a:endParaRPr sz="1400" dirty="0">
              <a:solidFill>
                <a:srgbClr val="000000"/>
              </a:solidFill>
            </a:endParaRPr>
          </a:p>
        </p:txBody>
      </p:sp>
      <p:sp>
        <p:nvSpPr>
          <p:cNvPr id="172" name="Google Shape;172;p14"/>
          <p:cNvSpPr txBox="1">
            <a:spLocks noGrp="1"/>
          </p:cNvSpPr>
          <p:nvPr>
            <p:ph type="title"/>
          </p:nvPr>
        </p:nvSpPr>
        <p:spPr>
          <a:xfrm>
            <a:off x="727650" y="340875"/>
            <a:ext cx="7688700" cy="535200"/>
          </a:xfrm>
          <a:prstGeom prst="rect">
            <a:avLst/>
          </a:prstGeom>
          <a:noFill/>
          <a:ln>
            <a:noFill/>
          </a:ln>
        </p:spPr>
        <p:txBody>
          <a:bodyPr spcFirstLastPara="1" wrap="square" lIns="91425" tIns="91425" rIns="91425" bIns="91425" anchor="t" anchorCtr="0">
            <a:noAutofit/>
          </a:bodyPr>
          <a:lstStyle/>
          <a:p>
            <a:pPr marL="0" lvl="1" indent="0" algn="l" rtl="0">
              <a:lnSpc>
                <a:spcPct val="100000"/>
              </a:lnSpc>
              <a:spcBef>
                <a:spcPts val="0"/>
              </a:spcBef>
              <a:spcAft>
                <a:spcPts val="0"/>
              </a:spcAft>
              <a:buSzPts val="2600"/>
              <a:buNone/>
            </a:pPr>
            <a:r>
              <a:rPr lang="en" sz="2440">
                <a:latin typeface="Times New Roman"/>
                <a:ea typeface="Times New Roman"/>
                <a:cs typeface="Times New Roman"/>
                <a:sym typeface="Times New Roman"/>
              </a:rPr>
              <a:t>Cyclomatic Complexity</a:t>
            </a:r>
            <a:endParaRPr sz="2440">
              <a:latin typeface="Times New Roman"/>
              <a:ea typeface="Times New Roman"/>
              <a:cs typeface="Times New Roman"/>
              <a:sym typeface="Times New Roman"/>
            </a:endParaRPr>
          </a:p>
        </p:txBody>
      </p:sp>
      <p:pic>
        <p:nvPicPr>
          <p:cNvPr id="173" name="Google Shape;173;p14"/>
          <p:cNvPicPr preferRelativeResize="0"/>
          <p:nvPr/>
        </p:nvPicPr>
        <p:blipFill>
          <a:blip r:embed="rId3">
            <a:alphaModFix/>
          </a:blip>
          <a:stretch>
            <a:fillRect/>
          </a:stretch>
        </p:blipFill>
        <p:spPr>
          <a:xfrm>
            <a:off x="727638" y="1613013"/>
            <a:ext cx="7210425" cy="2028825"/>
          </a:xfrm>
          <a:prstGeom prst="rect">
            <a:avLst/>
          </a:prstGeom>
          <a:noFill/>
          <a:ln>
            <a:noFill/>
          </a:ln>
        </p:spPr>
      </p:pic>
      <p:pic>
        <p:nvPicPr>
          <p:cNvPr id="174" name="Google Shape;174;p14"/>
          <p:cNvPicPr preferRelativeResize="0"/>
          <p:nvPr/>
        </p:nvPicPr>
        <p:blipFill>
          <a:blip r:embed="rId4">
            <a:alphaModFix/>
          </a:blip>
          <a:stretch>
            <a:fillRect/>
          </a:stretch>
        </p:blipFill>
        <p:spPr>
          <a:xfrm>
            <a:off x="2521606" y="3525988"/>
            <a:ext cx="2971800" cy="790575"/>
          </a:xfrm>
          <a:prstGeom prst="rect">
            <a:avLst/>
          </a:prstGeom>
          <a:noFill/>
          <a:ln>
            <a:noFill/>
          </a:ln>
        </p:spPr>
      </p:pic>
      <p:sp>
        <p:nvSpPr>
          <p:cNvPr id="175" name="Google Shape;175;p14"/>
          <p:cNvSpPr txBox="1"/>
          <p:nvPr/>
        </p:nvSpPr>
        <p:spPr>
          <a:xfrm>
            <a:off x="1565331" y="3641850"/>
            <a:ext cx="1607700" cy="5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2"/>
                </a:solidFill>
                <a:latin typeface="Times New Roman"/>
                <a:ea typeface="Times New Roman"/>
                <a:cs typeface="Times New Roman"/>
                <a:sym typeface="Times New Roman"/>
              </a:rPr>
              <a:t>Volume ratio</a:t>
            </a:r>
            <a:endParaRPr sz="2000">
              <a:solidFill>
                <a:schemeClr val="dk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41973865-D8CF-9D29-BFE1-E404123DC4BC}"/>
              </a:ext>
            </a:extLst>
          </p:cNvPr>
          <p:cNvSpPr txBox="1"/>
          <p:nvPr/>
        </p:nvSpPr>
        <p:spPr>
          <a:xfrm>
            <a:off x="6073539" y="2256843"/>
            <a:ext cx="2358338" cy="1384995"/>
          </a:xfrm>
          <a:prstGeom prst="rect">
            <a:avLst/>
          </a:prstGeom>
          <a:noFill/>
        </p:spPr>
        <p:txBody>
          <a:bodyPr wrap="none" rtlCol="0">
            <a:spAutoFit/>
          </a:bodyPr>
          <a:lstStyle/>
          <a:p>
            <a:r>
              <a:rPr lang="en-US" dirty="0"/>
              <a:t>Vocabulary, n = n1+n2</a:t>
            </a:r>
          </a:p>
          <a:p>
            <a:r>
              <a:rPr lang="en-US" dirty="0"/>
              <a:t>Length, N = N1+N2</a:t>
            </a:r>
          </a:p>
          <a:p>
            <a:r>
              <a:rPr lang="en-US" dirty="0"/>
              <a:t>Volume, V = N log n</a:t>
            </a:r>
          </a:p>
          <a:p>
            <a:r>
              <a:rPr lang="en-US" dirty="0"/>
              <a:t>Difficulty, D = (n1/2)(N2/n2)</a:t>
            </a:r>
          </a:p>
          <a:p>
            <a:r>
              <a:rPr lang="en-US" dirty="0"/>
              <a:t>Effort, E = V*D</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5"/>
          <p:cNvSpPr txBox="1">
            <a:spLocks noGrp="1"/>
          </p:cNvSpPr>
          <p:nvPr>
            <p:ph type="body" idx="1"/>
          </p:nvPr>
        </p:nvSpPr>
        <p:spPr>
          <a:xfrm>
            <a:off x="787150" y="824825"/>
            <a:ext cx="7688700" cy="416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br>
              <a:rPr lang="en" sz="1400">
                <a:solidFill>
                  <a:srgbClr val="000000"/>
                </a:solidFill>
              </a:rPr>
            </a:br>
            <a:endParaRPr sz="1400">
              <a:solidFill>
                <a:srgbClr val="000000"/>
              </a:solidFill>
            </a:endParaRPr>
          </a:p>
          <a:p>
            <a:pPr marL="0" lvl="0" indent="0" algn="l" rtl="0">
              <a:lnSpc>
                <a:spcPct val="115000"/>
              </a:lnSpc>
              <a:spcBef>
                <a:spcPts val="0"/>
              </a:spcBef>
              <a:spcAft>
                <a:spcPts val="0"/>
              </a:spcAft>
              <a:buNone/>
            </a:pPr>
            <a:r>
              <a:rPr lang="en" sz="1400">
                <a:solidFill>
                  <a:srgbClr val="000000"/>
                </a:solidFill>
              </a:rPr>
              <a:t>Advantages:</a:t>
            </a:r>
            <a:endParaRPr sz="140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a:solidFill>
                  <a:srgbClr val="000000"/>
                </a:solidFill>
              </a:rPr>
              <a:t>Easy to calculate and do not require an in-depth analysis of programming features and control flow.</a:t>
            </a:r>
            <a:endParaRPr sz="140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a:solidFill>
                  <a:srgbClr val="000000"/>
                </a:solidFill>
              </a:rPr>
              <a:t> Can be applied to any language</a:t>
            </a:r>
            <a:endParaRPr sz="140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a:solidFill>
                  <a:srgbClr val="000000"/>
                </a:solidFill>
              </a:rPr>
              <a:t>Empirical evidence shows that these measures can be used as good predictors of programming effort and number of bugs</a:t>
            </a:r>
            <a:endParaRPr sz="1400">
              <a:solidFill>
                <a:srgbClr val="000000"/>
              </a:solidFill>
            </a:endParaRPr>
          </a:p>
          <a:p>
            <a:pPr marL="914400" lvl="0" indent="0" algn="l" rtl="0">
              <a:lnSpc>
                <a:spcPct val="115000"/>
              </a:lnSpc>
              <a:spcBef>
                <a:spcPts val="1200"/>
              </a:spcBef>
              <a:spcAft>
                <a:spcPts val="1200"/>
              </a:spcAft>
              <a:buSzPts val="1300"/>
              <a:buNone/>
            </a:pPr>
            <a:endParaRPr sz="1400">
              <a:solidFill>
                <a:srgbClr val="000000"/>
              </a:solidFill>
            </a:endParaRPr>
          </a:p>
        </p:txBody>
      </p:sp>
      <p:sp>
        <p:nvSpPr>
          <p:cNvPr id="181" name="Google Shape;181;p15"/>
          <p:cNvSpPr txBox="1">
            <a:spLocks noGrp="1"/>
          </p:cNvSpPr>
          <p:nvPr>
            <p:ph type="title"/>
          </p:nvPr>
        </p:nvSpPr>
        <p:spPr>
          <a:xfrm>
            <a:off x="727650" y="340875"/>
            <a:ext cx="7688700" cy="535200"/>
          </a:xfrm>
          <a:prstGeom prst="rect">
            <a:avLst/>
          </a:prstGeom>
          <a:noFill/>
          <a:ln>
            <a:noFill/>
          </a:ln>
        </p:spPr>
        <p:txBody>
          <a:bodyPr spcFirstLastPara="1" wrap="square" lIns="91425" tIns="91425" rIns="91425" bIns="91425" anchor="t" anchorCtr="0">
            <a:noAutofit/>
          </a:bodyPr>
          <a:lstStyle/>
          <a:p>
            <a:pPr marL="0" lvl="1" indent="0" algn="l" rtl="0">
              <a:lnSpc>
                <a:spcPct val="100000"/>
              </a:lnSpc>
              <a:spcBef>
                <a:spcPts val="0"/>
              </a:spcBef>
              <a:spcAft>
                <a:spcPts val="0"/>
              </a:spcAft>
              <a:buSzPts val="2600"/>
              <a:buNone/>
            </a:pPr>
            <a:r>
              <a:rPr lang="en" sz="2440">
                <a:latin typeface="Times New Roman"/>
                <a:ea typeface="Times New Roman"/>
                <a:cs typeface="Times New Roman"/>
                <a:sym typeface="Times New Roman"/>
              </a:rPr>
              <a:t>Cyclomatic Complexity</a:t>
            </a:r>
            <a:endParaRPr sz="244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6"/>
          <p:cNvSpPr txBox="1">
            <a:spLocks noGrp="1"/>
          </p:cNvSpPr>
          <p:nvPr>
            <p:ph type="body" idx="1"/>
          </p:nvPr>
        </p:nvSpPr>
        <p:spPr>
          <a:xfrm>
            <a:off x="787150" y="824825"/>
            <a:ext cx="7688700" cy="416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br>
              <a:rPr lang="en" sz="1400">
                <a:solidFill>
                  <a:srgbClr val="000000"/>
                </a:solidFill>
              </a:rPr>
            </a:br>
            <a:r>
              <a:rPr lang="en" sz="1400">
                <a:solidFill>
                  <a:srgbClr val="000000"/>
                </a:solidFill>
              </a:rPr>
              <a:t>Disadvantages:</a:t>
            </a:r>
            <a:endParaRPr sz="140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a:solidFill>
                  <a:srgbClr val="000000"/>
                </a:solidFill>
              </a:rPr>
              <a:t>Experiments which were used to test the measures were badly designed and statistically flawed</a:t>
            </a:r>
            <a:endParaRPr sz="140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a:solidFill>
                  <a:srgbClr val="000000"/>
                </a:solidFill>
              </a:rPr>
              <a:t>Counting rules involved in the design of the measures were not fully defined</a:t>
            </a:r>
            <a:endParaRPr sz="140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a:solidFill>
                  <a:srgbClr val="000000"/>
                </a:solidFill>
              </a:rPr>
              <a:t>Failure to consider declarations and input/output statements as a unique operator for each unique label</a:t>
            </a:r>
            <a:endParaRPr sz="1400">
              <a:solidFill>
                <a:srgbClr val="000000"/>
              </a:solidFill>
            </a:endParaRPr>
          </a:p>
          <a:p>
            <a:pPr marL="457200" lvl="0" indent="-317500" algn="l" rtl="0">
              <a:lnSpc>
                <a:spcPct val="115000"/>
              </a:lnSpc>
              <a:spcBef>
                <a:spcPts val="0"/>
              </a:spcBef>
              <a:spcAft>
                <a:spcPts val="0"/>
              </a:spcAft>
              <a:buClr>
                <a:srgbClr val="000000"/>
              </a:buClr>
              <a:buSzPts val="1400"/>
              <a:buChar char="●"/>
            </a:pPr>
            <a:r>
              <a:rPr lang="en" sz="1400">
                <a:solidFill>
                  <a:srgbClr val="000000"/>
                </a:solidFill>
              </a:rPr>
              <a:t> measures are code-based; it is assumed that 'software = programs. Measures fail to capture the contribution that this documentation makes to the programming effort or program understanding.</a:t>
            </a:r>
            <a:endParaRPr sz="1400">
              <a:solidFill>
                <a:srgbClr val="000000"/>
              </a:solidFill>
            </a:endParaRPr>
          </a:p>
          <a:p>
            <a:pPr marL="914400" lvl="0" indent="0" algn="l" rtl="0">
              <a:lnSpc>
                <a:spcPct val="115000"/>
              </a:lnSpc>
              <a:spcBef>
                <a:spcPts val="1200"/>
              </a:spcBef>
              <a:spcAft>
                <a:spcPts val="0"/>
              </a:spcAft>
              <a:buSzPts val="1300"/>
              <a:buNone/>
            </a:pPr>
            <a:endParaRPr sz="1400">
              <a:solidFill>
                <a:srgbClr val="000000"/>
              </a:solidFill>
            </a:endParaRPr>
          </a:p>
          <a:p>
            <a:pPr marL="914400" lvl="0" indent="0" algn="l" rtl="0">
              <a:lnSpc>
                <a:spcPct val="115000"/>
              </a:lnSpc>
              <a:spcBef>
                <a:spcPts val="1200"/>
              </a:spcBef>
              <a:spcAft>
                <a:spcPts val="1200"/>
              </a:spcAft>
              <a:buSzPts val="1300"/>
              <a:buNone/>
            </a:pPr>
            <a:endParaRPr sz="1400">
              <a:solidFill>
                <a:srgbClr val="000000"/>
              </a:solidFill>
            </a:endParaRPr>
          </a:p>
        </p:txBody>
      </p:sp>
      <p:sp>
        <p:nvSpPr>
          <p:cNvPr id="187" name="Google Shape;187;p16"/>
          <p:cNvSpPr txBox="1">
            <a:spLocks noGrp="1"/>
          </p:cNvSpPr>
          <p:nvPr>
            <p:ph type="title"/>
          </p:nvPr>
        </p:nvSpPr>
        <p:spPr>
          <a:xfrm>
            <a:off x="727650" y="340875"/>
            <a:ext cx="7688700" cy="535200"/>
          </a:xfrm>
          <a:prstGeom prst="rect">
            <a:avLst/>
          </a:prstGeom>
          <a:noFill/>
          <a:ln>
            <a:noFill/>
          </a:ln>
        </p:spPr>
        <p:txBody>
          <a:bodyPr spcFirstLastPara="1" wrap="square" lIns="91425" tIns="91425" rIns="91425" bIns="91425" anchor="t" anchorCtr="0">
            <a:noAutofit/>
          </a:bodyPr>
          <a:lstStyle/>
          <a:p>
            <a:pPr marL="0" lvl="1" indent="0" algn="l" rtl="0">
              <a:lnSpc>
                <a:spcPct val="100000"/>
              </a:lnSpc>
              <a:spcBef>
                <a:spcPts val="0"/>
              </a:spcBef>
              <a:spcAft>
                <a:spcPts val="0"/>
              </a:spcAft>
              <a:buSzPts val="2600"/>
              <a:buNone/>
            </a:pPr>
            <a:r>
              <a:rPr lang="en" sz="2440">
                <a:latin typeface="Times New Roman"/>
                <a:ea typeface="Times New Roman"/>
                <a:cs typeface="Times New Roman"/>
                <a:sym typeface="Times New Roman"/>
              </a:rPr>
              <a:t>Cyclomatic Complexity</a:t>
            </a:r>
            <a:endParaRPr sz="244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11"/>
              <a:buNone/>
            </a:pPr>
            <a:r>
              <a:rPr lang="en" sz="2400">
                <a:latin typeface="Times New Roman"/>
                <a:ea typeface="Times New Roman"/>
                <a:cs typeface="Times New Roman"/>
                <a:sym typeface="Times New Roman"/>
              </a:rPr>
              <a:t>Coupling &amp; Cohesion</a:t>
            </a:r>
            <a:br>
              <a:rPr lang="en" sz="2400">
                <a:latin typeface="Times New Roman"/>
                <a:ea typeface="Times New Roman"/>
                <a:cs typeface="Times New Roman"/>
                <a:sym typeface="Times New Roman"/>
              </a:rPr>
            </a:br>
            <a:endParaRPr sz="2400">
              <a:latin typeface="Times New Roman"/>
              <a:ea typeface="Times New Roman"/>
              <a:cs typeface="Times New Roman"/>
              <a:sym typeface="Times New Roman"/>
            </a:endParaRPr>
          </a:p>
        </p:txBody>
      </p:sp>
      <p:sp>
        <p:nvSpPr>
          <p:cNvPr id="193" name="Google Shape;193;p1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228600" algn="l" rtl="0">
              <a:lnSpc>
                <a:spcPct val="115000"/>
              </a:lnSpc>
              <a:spcBef>
                <a:spcPts val="0"/>
              </a:spcBef>
              <a:spcAft>
                <a:spcPts val="0"/>
              </a:spcAft>
              <a:buSzPts val="1300"/>
              <a:buNone/>
            </a:pPr>
            <a:r>
              <a:rPr lang="en" sz="1400" b="1">
                <a:solidFill>
                  <a:schemeClr val="dk2"/>
                </a:solidFill>
                <a:latin typeface="Times New Roman"/>
                <a:ea typeface="Times New Roman"/>
                <a:cs typeface="Times New Roman"/>
                <a:sym typeface="Times New Roman"/>
              </a:rPr>
              <a:t>Coupling Between Objects (CBO):</a:t>
            </a:r>
            <a:r>
              <a:rPr lang="en" sz="1400">
                <a:solidFill>
                  <a:schemeClr val="dk2"/>
                </a:solidFill>
                <a:latin typeface="Times New Roman"/>
                <a:ea typeface="Times New Roman"/>
                <a:cs typeface="Times New Roman"/>
                <a:sym typeface="Times New Roman"/>
              </a:rPr>
              <a:t> Counts the number of other classes a specific class is coupled with. A high CBO implies tight coupling and reduced maintainability. </a:t>
            </a:r>
            <a:endParaRPr sz="1400">
              <a:solidFill>
                <a:schemeClr val="dk2"/>
              </a:solidFill>
              <a:latin typeface="Times New Roman"/>
              <a:ea typeface="Times New Roman"/>
              <a:cs typeface="Times New Roman"/>
              <a:sym typeface="Times New Roman"/>
            </a:endParaRPr>
          </a:p>
          <a:p>
            <a:pPr marL="457200" lvl="0" indent="-228600" algn="l" rtl="0">
              <a:lnSpc>
                <a:spcPct val="115000"/>
              </a:lnSpc>
              <a:spcBef>
                <a:spcPts val="0"/>
              </a:spcBef>
              <a:spcAft>
                <a:spcPts val="0"/>
              </a:spcAft>
              <a:buSzPts val="1300"/>
              <a:buNone/>
            </a:pPr>
            <a:endParaRPr sz="1400">
              <a:solidFill>
                <a:schemeClr val="dk2"/>
              </a:solidFill>
              <a:latin typeface="Times New Roman"/>
              <a:ea typeface="Times New Roman"/>
              <a:cs typeface="Times New Roman"/>
              <a:sym typeface="Times New Roman"/>
            </a:endParaRPr>
          </a:p>
          <a:p>
            <a:pPr marL="457200" lvl="0" indent="-228600" algn="l" rtl="0">
              <a:lnSpc>
                <a:spcPct val="115000"/>
              </a:lnSpc>
              <a:spcBef>
                <a:spcPts val="0"/>
              </a:spcBef>
              <a:spcAft>
                <a:spcPts val="0"/>
              </a:spcAft>
              <a:buSzPts val="1300"/>
              <a:buNone/>
            </a:pPr>
            <a:r>
              <a:rPr lang="en" sz="1400" b="1">
                <a:solidFill>
                  <a:schemeClr val="dk2"/>
                </a:solidFill>
                <a:latin typeface="Times New Roman"/>
                <a:ea typeface="Times New Roman"/>
                <a:cs typeface="Times New Roman"/>
                <a:sym typeface="Times New Roman"/>
              </a:rPr>
              <a:t>Lack of Cohesion in Methods (LCOM):</a:t>
            </a:r>
            <a:r>
              <a:rPr lang="en" sz="1400">
                <a:solidFill>
                  <a:schemeClr val="dk2"/>
                </a:solidFill>
                <a:latin typeface="Times New Roman"/>
                <a:ea typeface="Times New Roman"/>
                <a:cs typeface="Times New Roman"/>
                <a:sym typeface="Times New Roman"/>
              </a:rPr>
              <a:t> Counts the number of methods in a class that do not share access to the same instance variables. A lower LCOM score (close to 0) is ideal, indicating highly cohesive methods that operate on the same data. </a:t>
            </a:r>
            <a:endParaRPr sz="1400">
              <a:solidFill>
                <a:schemeClr val="dk2"/>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Maintainability Index</a:t>
            </a:r>
            <a:br>
              <a:rPr lang="en"/>
            </a:br>
            <a:endParaRPr/>
          </a:p>
        </p:txBody>
      </p:sp>
      <p:pic>
        <p:nvPicPr>
          <p:cNvPr id="200" name="Google Shape;200;p19"/>
          <p:cNvPicPr preferRelativeResize="0"/>
          <p:nvPr/>
        </p:nvPicPr>
        <p:blipFill>
          <a:blip r:embed="rId3">
            <a:alphaModFix/>
          </a:blip>
          <a:stretch>
            <a:fillRect/>
          </a:stretch>
        </p:blipFill>
        <p:spPr>
          <a:xfrm>
            <a:off x="621363" y="1152463"/>
            <a:ext cx="7191375" cy="847725"/>
          </a:xfrm>
          <a:prstGeom prst="rect">
            <a:avLst/>
          </a:prstGeom>
          <a:noFill/>
          <a:ln>
            <a:noFill/>
          </a:ln>
        </p:spPr>
      </p:pic>
      <p:pic>
        <p:nvPicPr>
          <p:cNvPr id="201" name="Google Shape;201;p19"/>
          <p:cNvPicPr preferRelativeResize="0"/>
          <p:nvPr/>
        </p:nvPicPr>
        <p:blipFill>
          <a:blip r:embed="rId4">
            <a:alphaModFix/>
          </a:blip>
          <a:stretch>
            <a:fillRect/>
          </a:stretch>
        </p:blipFill>
        <p:spPr>
          <a:xfrm>
            <a:off x="769325" y="1951025"/>
            <a:ext cx="7229475" cy="1819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3f946b0c4ee_0_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400" b="0">
                <a:latin typeface="Times New Roman"/>
                <a:ea typeface="Times New Roman"/>
                <a:cs typeface="Times New Roman"/>
                <a:sym typeface="Times New Roman"/>
              </a:rPr>
              <a:t>Function point (FP)</a:t>
            </a:r>
            <a:endParaRPr sz="2400">
              <a:latin typeface="Times New Roman"/>
              <a:ea typeface="Times New Roman"/>
              <a:cs typeface="Times New Roman"/>
              <a:sym typeface="Times New Roman"/>
            </a:endParaRPr>
          </a:p>
        </p:txBody>
      </p:sp>
      <p:sp>
        <p:nvSpPr>
          <p:cNvPr id="207" name="Google Shape;207;g3f946b0c4ee_0_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Functional Point Analysis (FPA) is a software measurement technique used to assess the </a:t>
            </a:r>
            <a:r>
              <a:rPr lang="en" sz="1200">
                <a:solidFill>
                  <a:srgbClr val="0000FF"/>
                </a:solidFill>
                <a:highlight>
                  <a:srgbClr val="FFFFFF"/>
                </a:highlight>
                <a:latin typeface="Times New Roman"/>
                <a:ea typeface="Times New Roman"/>
                <a:cs typeface="Times New Roman"/>
                <a:sym typeface="Times New Roman"/>
              </a:rPr>
              <a:t>size and complexity</a:t>
            </a:r>
            <a:r>
              <a:rPr lang="en" sz="1200">
                <a:solidFill>
                  <a:schemeClr val="dk2"/>
                </a:solidFill>
                <a:highlight>
                  <a:srgbClr val="FFFFFF"/>
                </a:highlight>
                <a:latin typeface="Times New Roman"/>
                <a:ea typeface="Times New Roman"/>
                <a:cs typeface="Times New Roman"/>
                <a:sym typeface="Times New Roman"/>
              </a:rPr>
              <a:t> of a software system based on its </a:t>
            </a:r>
            <a:r>
              <a:rPr lang="en" sz="1200">
                <a:solidFill>
                  <a:srgbClr val="0000FF"/>
                </a:solidFill>
                <a:highlight>
                  <a:srgbClr val="FFFFFF"/>
                </a:highlight>
                <a:latin typeface="Times New Roman"/>
                <a:ea typeface="Times New Roman"/>
                <a:cs typeface="Times New Roman"/>
                <a:sym typeface="Times New Roman"/>
              </a:rPr>
              <a:t>functionality.</a:t>
            </a:r>
            <a:r>
              <a:rPr lang="en" sz="1200">
                <a:solidFill>
                  <a:srgbClr val="0000FF"/>
                </a:solidFill>
                <a:latin typeface="Times New Roman"/>
                <a:ea typeface="Times New Roman"/>
                <a:cs typeface="Times New Roman"/>
                <a:sym typeface="Times New Roman"/>
              </a:rPr>
              <a:t> </a:t>
            </a:r>
            <a:endParaRPr sz="1200">
              <a:solidFill>
                <a:srgbClr val="0000FF"/>
              </a:solidFill>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It involves categorizing the functions of the software, such as input screens, output reports, inquiries, files, and interfaces, and assigning weights to each based on their complexity. </a:t>
            </a:r>
            <a:r>
              <a:rPr lang="en" sz="1200">
                <a:solidFill>
                  <a:schemeClr val="dk2"/>
                </a:solidFill>
                <a:latin typeface="Times New Roman"/>
                <a:ea typeface="Times New Roman"/>
                <a:cs typeface="Times New Roman"/>
                <a:sym typeface="Times New Roman"/>
              </a:rPr>
              <a:t> </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g3f946b0c4ee_0_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Function Domain for FP</a:t>
            </a:r>
            <a:endParaRPr/>
          </a:p>
        </p:txBody>
      </p:sp>
      <p:graphicFrame>
        <p:nvGraphicFramePr>
          <p:cNvPr id="214" name="Google Shape;214;g3f946b0c4ee_0_33"/>
          <p:cNvGraphicFramePr/>
          <p:nvPr/>
        </p:nvGraphicFramePr>
        <p:xfrm>
          <a:off x="195263" y="1235250"/>
          <a:ext cx="8753475" cy="2980383"/>
        </p:xfrm>
        <a:graphic>
          <a:graphicData uri="http://schemas.openxmlformats.org/drawingml/2006/table">
            <a:tbl>
              <a:tblPr>
                <a:noFill/>
                <a:tableStyleId>{34269679-E8BF-4189-809D-C1BFF6D13FCF}</a:tableStyleId>
              </a:tblPr>
              <a:tblGrid>
                <a:gridCol w="1857375">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390900">
                  <a:extLst>
                    <a:ext uri="{9D8B030D-6E8A-4147-A177-3AD203B41FA5}">
                      <a16:colId xmlns:a16="http://schemas.microsoft.com/office/drawing/2014/main" val="20002"/>
                    </a:ext>
                  </a:extLst>
                </a:gridCol>
              </a:tblGrid>
              <a:tr h="0">
                <a:tc>
                  <a:txBody>
                    <a:bodyPr/>
                    <a:lstStyle/>
                    <a:p>
                      <a:pPr marL="0" lvl="0" indent="0" algn="ctr" rtl="0">
                        <a:lnSpc>
                          <a:spcPct val="115000"/>
                        </a:lnSpc>
                        <a:spcBef>
                          <a:spcPts val="0"/>
                        </a:spcBef>
                        <a:spcAft>
                          <a:spcPts val="0"/>
                        </a:spcAft>
                        <a:buNone/>
                      </a:pPr>
                      <a:r>
                        <a:rPr lang="en" sz="1100" b="1"/>
                        <a:t>Function Domain</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a:t>Meaning</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a:t>Example (University Management System)</a:t>
                      </a:r>
                      <a:endParaRPr sz="1100" b="1"/>
                    </a:p>
                  </a:txBody>
                  <a:tcPr marL="91425" marR="91425" marT="91425" marB="91425"/>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sz="1100" b="1"/>
                        <a:t>External Input (EI)</a:t>
                      </a:r>
                      <a:endParaRPr sz="1100" b="1"/>
                    </a:p>
                  </a:txBody>
                  <a:tcPr marL="91425" marR="91425" marT="91425" marB="91425"/>
                </a:tc>
                <a:tc>
                  <a:txBody>
                    <a:bodyPr/>
                    <a:lstStyle/>
                    <a:p>
                      <a:pPr marL="0" lvl="0" indent="0" algn="l" rtl="0">
                        <a:spcBef>
                          <a:spcPts val="0"/>
                        </a:spcBef>
                        <a:spcAft>
                          <a:spcPts val="0"/>
                        </a:spcAft>
                        <a:buNone/>
                      </a:pPr>
                      <a:r>
                        <a:rPr lang="en"/>
                        <a:t>Data entered into the system by users</a:t>
                      </a:r>
                      <a:endParaRPr/>
                    </a:p>
                  </a:txBody>
                  <a:tcPr marL="91425" marR="91425" marT="91425" marB="91425"/>
                </a:tc>
                <a:tc>
                  <a:txBody>
                    <a:bodyPr/>
                    <a:lstStyle/>
                    <a:p>
                      <a:pPr marL="0" lvl="0" indent="0" algn="l" rtl="0">
                        <a:spcBef>
                          <a:spcPts val="0"/>
                        </a:spcBef>
                        <a:spcAft>
                          <a:spcPts val="0"/>
                        </a:spcAft>
                        <a:buNone/>
                      </a:pPr>
                      <a:r>
                        <a:rPr lang="en"/>
                        <a:t>Student registration form</a:t>
                      </a:r>
                      <a:endParaRPr/>
                    </a:p>
                  </a:txBody>
                  <a:tcPr marL="91425" marR="91425" marT="91425" marB="91425"/>
                </a:tc>
                <a:extLst>
                  <a:ext uri="{0D108BD9-81ED-4DB2-BD59-A6C34878D82A}">
                    <a16:rowId xmlns:a16="http://schemas.microsoft.com/office/drawing/2014/main" val="10001"/>
                  </a:ext>
                </a:extLst>
              </a:tr>
              <a:tr h="371475">
                <a:tc>
                  <a:txBody>
                    <a:bodyPr/>
                    <a:lstStyle/>
                    <a:p>
                      <a:pPr marL="0" lvl="0" indent="0" algn="l" rtl="0">
                        <a:spcBef>
                          <a:spcPts val="0"/>
                        </a:spcBef>
                        <a:spcAft>
                          <a:spcPts val="0"/>
                        </a:spcAft>
                        <a:buNone/>
                      </a:pPr>
                      <a:r>
                        <a:rPr lang="en" sz="1100" b="1"/>
                        <a:t>External Output (EO)</a:t>
                      </a:r>
                      <a:endParaRPr sz="1100" b="1"/>
                    </a:p>
                  </a:txBody>
                  <a:tcPr marL="91425" marR="91425" marT="91425" marB="91425"/>
                </a:tc>
                <a:tc>
                  <a:txBody>
                    <a:bodyPr/>
                    <a:lstStyle/>
                    <a:p>
                      <a:pPr marL="0" lvl="0" indent="0" algn="l" rtl="0">
                        <a:spcBef>
                          <a:spcPts val="0"/>
                        </a:spcBef>
                        <a:spcAft>
                          <a:spcPts val="0"/>
                        </a:spcAft>
                        <a:buNone/>
                      </a:pPr>
                      <a:r>
                        <a:rPr lang="en"/>
                        <a:t>Reports or processed information generated by the system</a:t>
                      </a:r>
                      <a:endParaRPr/>
                    </a:p>
                  </a:txBody>
                  <a:tcPr marL="91425" marR="91425" marT="91425" marB="91425"/>
                </a:tc>
                <a:tc>
                  <a:txBody>
                    <a:bodyPr/>
                    <a:lstStyle/>
                    <a:p>
                      <a:pPr marL="0" lvl="0" indent="0" algn="l" rtl="0">
                        <a:spcBef>
                          <a:spcPts val="0"/>
                        </a:spcBef>
                        <a:spcAft>
                          <a:spcPts val="0"/>
                        </a:spcAft>
                        <a:buNone/>
                      </a:pPr>
                      <a:r>
                        <a:rPr lang="en"/>
                        <a:t>Student transcript, fee receipt</a:t>
                      </a:r>
                      <a:endParaRPr/>
                    </a:p>
                  </a:txBody>
                  <a:tcPr marL="91425" marR="91425" marT="91425" marB="91425"/>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 sz="1100" b="1"/>
                        <a:t>External Inquiry (EQ)</a:t>
                      </a:r>
                      <a:endParaRPr sz="1100" b="1"/>
                    </a:p>
                  </a:txBody>
                  <a:tcPr marL="91425" marR="91425" marT="91425" marB="91425"/>
                </a:tc>
                <a:tc>
                  <a:txBody>
                    <a:bodyPr/>
                    <a:lstStyle/>
                    <a:p>
                      <a:pPr marL="0" lvl="0" indent="0" algn="l" rtl="0">
                        <a:spcBef>
                          <a:spcPts val="0"/>
                        </a:spcBef>
                        <a:spcAft>
                          <a:spcPts val="0"/>
                        </a:spcAft>
                        <a:buNone/>
                      </a:pPr>
                      <a:r>
                        <a:rPr lang="en"/>
                        <a:t>User requests information without updating data</a:t>
                      </a:r>
                      <a:endParaRPr/>
                    </a:p>
                  </a:txBody>
                  <a:tcPr marL="91425" marR="91425" marT="91425" marB="91425"/>
                </a:tc>
                <a:tc>
                  <a:txBody>
                    <a:bodyPr/>
                    <a:lstStyle/>
                    <a:p>
                      <a:pPr marL="0" lvl="0" indent="0" algn="l" rtl="0">
                        <a:spcBef>
                          <a:spcPts val="0"/>
                        </a:spcBef>
                        <a:spcAft>
                          <a:spcPts val="0"/>
                        </a:spcAft>
                        <a:buNone/>
                      </a:pPr>
                      <a:r>
                        <a:rPr lang="en"/>
                        <a:t>Search student information</a:t>
                      </a:r>
                      <a:endParaRPr/>
                    </a:p>
                  </a:txBody>
                  <a:tcPr marL="91425" marR="91425" marT="91425" marB="91425"/>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 sz="1100" b="1"/>
                        <a:t>Internal Logical File (ILF)</a:t>
                      </a:r>
                      <a:endParaRPr sz="1100" b="1"/>
                    </a:p>
                  </a:txBody>
                  <a:tcPr marL="91425" marR="91425" marT="91425" marB="91425"/>
                </a:tc>
                <a:tc>
                  <a:txBody>
                    <a:bodyPr/>
                    <a:lstStyle/>
                    <a:p>
                      <a:pPr marL="0" lvl="0" indent="0" algn="l" rtl="0">
                        <a:spcBef>
                          <a:spcPts val="0"/>
                        </a:spcBef>
                        <a:spcAft>
                          <a:spcPts val="0"/>
                        </a:spcAft>
                        <a:buNone/>
                      </a:pPr>
                      <a:r>
                        <a:rPr lang="en"/>
                        <a:t>Data maintained by the system</a:t>
                      </a:r>
                      <a:endParaRPr/>
                    </a:p>
                  </a:txBody>
                  <a:tcPr marL="91425" marR="91425" marT="91425" marB="91425"/>
                </a:tc>
                <a:tc>
                  <a:txBody>
                    <a:bodyPr/>
                    <a:lstStyle/>
                    <a:p>
                      <a:pPr marL="0" lvl="0" indent="0" algn="l" rtl="0">
                        <a:spcBef>
                          <a:spcPts val="0"/>
                        </a:spcBef>
                        <a:spcAft>
                          <a:spcPts val="0"/>
                        </a:spcAft>
                        <a:buNone/>
                      </a:pPr>
                      <a:r>
                        <a:rPr lang="en"/>
                        <a:t>Student database, Course database</a:t>
                      </a:r>
                      <a:endParaRPr/>
                    </a:p>
                  </a:txBody>
                  <a:tcPr marL="91425" marR="91425" marT="91425" marB="91425"/>
                </a:tc>
                <a:extLst>
                  <a:ext uri="{0D108BD9-81ED-4DB2-BD59-A6C34878D82A}">
                    <a16:rowId xmlns:a16="http://schemas.microsoft.com/office/drawing/2014/main" val="10004"/>
                  </a:ext>
                </a:extLst>
              </a:tr>
              <a:tr h="371475">
                <a:tc>
                  <a:txBody>
                    <a:bodyPr/>
                    <a:lstStyle/>
                    <a:p>
                      <a:pPr marL="0" lvl="0" indent="0" algn="l" rtl="0">
                        <a:spcBef>
                          <a:spcPts val="0"/>
                        </a:spcBef>
                        <a:spcAft>
                          <a:spcPts val="0"/>
                        </a:spcAft>
                        <a:buNone/>
                      </a:pPr>
                      <a:r>
                        <a:rPr lang="en" sz="1100" b="1"/>
                        <a:t>External Interface File (EIF)</a:t>
                      </a:r>
                      <a:endParaRPr sz="1100" b="1"/>
                    </a:p>
                  </a:txBody>
                  <a:tcPr marL="91425" marR="91425" marT="91425" marB="91425"/>
                </a:tc>
                <a:tc>
                  <a:txBody>
                    <a:bodyPr/>
                    <a:lstStyle/>
                    <a:p>
                      <a:pPr marL="0" lvl="0" indent="0" algn="l" rtl="0">
                        <a:spcBef>
                          <a:spcPts val="0"/>
                        </a:spcBef>
                        <a:spcAft>
                          <a:spcPts val="0"/>
                        </a:spcAft>
                        <a:buNone/>
                      </a:pPr>
                      <a:r>
                        <a:rPr lang="en"/>
                        <a:t>Data used by the system but maintained by another system</a:t>
                      </a:r>
                      <a:endParaRPr/>
                    </a:p>
                  </a:txBody>
                  <a:tcPr marL="91425" marR="91425" marT="91425" marB="91425"/>
                </a:tc>
                <a:tc>
                  <a:txBody>
                    <a:bodyPr/>
                    <a:lstStyle/>
                    <a:p>
                      <a:pPr marL="0" lvl="0" indent="0" algn="l" rtl="0">
                        <a:spcBef>
                          <a:spcPts val="0"/>
                        </a:spcBef>
                        <a:spcAft>
                          <a:spcPts val="0"/>
                        </a:spcAft>
                        <a:buNone/>
                      </a:pPr>
                      <a:r>
                        <a:rPr lang="en" dirty="0"/>
                        <a:t>National ID database, Online payment gateway database</a:t>
                      </a:r>
                      <a:endParaRPr dirty="0"/>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g3f946b0c4ee_0_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400" b="0">
                <a:highlight>
                  <a:srgbClr val="FFFFFF"/>
                </a:highlight>
                <a:latin typeface="Times New Roman"/>
                <a:ea typeface="Times New Roman"/>
                <a:cs typeface="Times New Roman"/>
                <a:sym typeface="Times New Roman"/>
              </a:rPr>
              <a:t>Function Point Formula</a:t>
            </a:r>
            <a:endParaRPr sz="2400">
              <a:latin typeface="Times New Roman"/>
              <a:ea typeface="Times New Roman"/>
              <a:cs typeface="Times New Roman"/>
              <a:sym typeface="Times New Roman"/>
            </a:endParaRPr>
          </a:p>
        </p:txBody>
      </p:sp>
      <p:sp>
        <p:nvSpPr>
          <p:cNvPr id="220" name="Google Shape;220;g3f946b0c4ee_0_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350">
                <a:solidFill>
                  <a:schemeClr val="dk2"/>
                </a:solidFill>
                <a:highlight>
                  <a:srgbClr val="FFFFFF"/>
                </a:highlight>
                <a:latin typeface="Times New Roman"/>
                <a:ea typeface="Times New Roman"/>
                <a:cs typeface="Times New Roman"/>
                <a:sym typeface="Times New Roman"/>
              </a:rPr>
              <a:t>Functional Point is calculated with the following formula</a:t>
            </a:r>
            <a:r>
              <a:rPr lang="en" sz="1100">
                <a:solidFill>
                  <a:srgbClr val="000000"/>
                </a:solidFill>
                <a:latin typeface="Arial"/>
                <a:ea typeface="Arial"/>
                <a:cs typeface="Arial"/>
                <a:sym typeface="Arial"/>
              </a:rPr>
              <a:t> </a:t>
            </a:r>
            <a:endParaRPr/>
          </a:p>
        </p:txBody>
      </p:sp>
      <p:pic>
        <p:nvPicPr>
          <p:cNvPr id="221" name="Google Shape;221;g3f946b0c4ee_0_52"/>
          <p:cNvPicPr preferRelativeResize="0"/>
          <p:nvPr/>
        </p:nvPicPr>
        <p:blipFill>
          <a:blip r:embed="rId3">
            <a:alphaModFix/>
          </a:blip>
          <a:stretch>
            <a:fillRect/>
          </a:stretch>
        </p:blipFill>
        <p:spPr>
          <a:xfrm>
            <a:off x="580363" y="1571388"/>
            <a:ext cx="2828925" cy="809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f946b0c4ee_0_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b="0">
                <a:latin typeface="Times New Roman"/>
                <a:ea typeface="Times New Roman"/>
                <a:cs typeface="Times New Roman"/>
                <a:sym typeface="Times New Roman"/>
              </a:rPr>
              <a:t>Unadjusted Function Point</a:t>
            </a:r>
            <a:endParaRPr sz="2400" b="0">
              <a:latin typeface="Times New Roman"/>
              <a:ea typeface="Times New Roman"/>
              <a:cs typeface="Times New Roman"/>
              <a:sym typeface="Times New Roman"/>
            </a:endParaRPr>
          </a:p>
          <a:p>
            <a:pPr marL="0" lvl="0" indent="0" algn="l" rtl="0">
              <a:spcBef>
                <a:spcPts val="0"/>
              </a:spcBef>
              <a:spcAft>
                <a:spcPts val="0"/>
              </a:spcAft>
              <a:buNone/>
            </a:pPr>
            <a:endParaRPr sz="2400">
              <a:latin typeface="Times New Roman"/>
              <a:ea typeface="Times New Roman"/>
              <a:cs typeface="Times New Roman"/>
              <a:sym typeface="Times New Roman"/>
            </a:endParaRPr>
          </a:p>
        </p:txBody>
      </p:sp>
      <p:sp>
        <p:nvSpPr>
          <p:cNvPr id="227" name="Google Shape;227;g3f946b0c4ee_0_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dk2"/>
                </a:solidFill>
                <a:latin typeface="Times New Roman"/>
                <a:ea typeface="Times New Roman"/>
                <a:cs typeface="Times New Roman"/>
                <a:sym typeface="Times New Roman"/>
              </a:rPr>
              <a:t>UFP = Unadjusted Function Point</a:t>
            </a:r>
            <a:endParaRPr>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a:solidFill>
                  <a:schemeClr val="dk2"/>
                </a:solidFill>
                <a:latin typeface="Times New Roman"/>
                <a:ea typeface="Times New Roman"/>
                <a:cs typeface="Times New Roman"/>
                <a:sym typeface="Times New Roman"/>
              </a:rPr>
              <a:t>Multiply each individual function point to corresponding values in TABLE.</a:t>
            </a:r>
            <a:endParaRPr>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endParaRPr/>
          </a:p>
        </p:txBody>
      </p:sp>
      <p:pic>
        <p:nvPicPr>
          <p:cNvPr id="228" name="Google Shape;228;g3f946b0c4ee_0_43"/>
          <p:cNvPicPr preferRelativeResize="0"/>
          <p:nvPr/>
        </p:nvPicPr>
        <p:blipFill>
          <a:blip r:embed="rId3">
            <a:alphaModFix/>
          </a:blip>
          <a:stretch>
            <a:fillRect/>
          </a:stretch>
        </p:blipFill>
        <p:spPr>
          <a:xfrm>
            <a:off x="192700" y="1734569"/>
            <a:ext cx="9143999" cy="335436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3f946b0c4ee_0_59"/>
          <p:cNvSpPr txBox="1">
            <a:spLocks noGrp="1"/>
          </p:cNvSpPr>
          <p:nvPr>
            <p:ph type="title"/>
          </p:nvPr>
        </p:nvSpPr>
        <p:spPr>
          <a:xfrm>
            <a:off x="0" y="552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Value Adjustment Factor </a:t>
            </a:r>
            <a:endParaRPr/>
          </a:p>
        </p:txBody>
      </p:sp>
      <p:sp>
        <p:nvSpPr>
          <p:cNvPr id="234" name="Google Shape;234;g3f946b0c4ee_0_59"/>
          <p:cNvSpPr txBox="1">
            <a:spLocks noGrp="1"/>
          </p:cNvSpPr>
          <p:nvPr>
            <p:ph type="body" idx="1"/>
          </p:nvPr>
        </p:nvSpPr>
        <p:spPr>
          <a:xfrm>
            <a:off x="530600" y="863550"/>
            <a:ext cx="8520600" cy="3416400"/>
          </a:xfrm>
          <a:prstGeom prst="rect">
            <a:avLst/>
          </a:prstGeom>
        </p:spPr>
        <p:txBody>
          <a:bodyPr spcFirstLastPara="1" wrap="square" lIns="91425" tIns="91425" rIns="91425" bIns="91425" anchor="t" anchorCtr="0">
            <a:normAutofit/>
          </a:bodyPr>
          <a:lstStyle/>
          <a:p>
            <a:pPr marL="190500" marR="190500" lvl="0" indent="0" algn="l" rtl="0">
              <a:lnSpc>
                <a:spcPct val="120000"/>
              </a:lnSpc>
              <a:spcBef>
                <a:spcPts val="0"/>
              </a:spcBef>
              <a:spcAft>
                <a:spcPts val="0"/>
              </a:spcAft>
              <a:buNone/>
            </a:pPr>
            <a:r>
              <a:rPr lang="en" sz="1800">
                <a:solidFill>
                  <a:srgbClr val="000000"/>
                </a:solidFill>
                <a:highlight>
                  <a:srgbClr val="E0E0E0"/>
                </a:highlight>
                <a:latin typeface="Consolas"/>
                <a:ea typeface="Consolas"/>
                <a:cs typeface="Consolas"/>
                <a:sym typeface="Consolas"/>
              </a:rPr>
              <a:t>VAF = [0.65 + 0.01 * ⅀(fi)]</a:t>
            </a:r>
            <a:endParaRPr sz="1800">
              <a:solidFill>
                <a:srgbClr val="000000"/>
              </a:solidFill>
              <a:highlight>
                <a:srgbClr val="E0E0E0"/>
              </a:highlight>
              <a:latin typeface="Consolas"/>
              <a:ea typeface="Consolas"/>
              <a:cs typeface="Consolas"/>
              <a:sym typeface="Consolas"/>
            </a:endParaRPr>
          </a:p>
          <a:p>
            <a:pPr marL="457200" lvl="0" indent="-349250" algn="l" rtl="0">
              <a:spcBef>
                <a:spcPts val="800"/>
              </a:spcBef>
              <a:spcAft>
                <a:spcPts val="0"/>
              </a:spcAft>
              <a:buSzPts val="1900"/>
              <a:buFont typeface="Times New Roman"/>
              <a:buChar char="●"/>
            </a:pPr>
            <a:r>
              <a:rPr lang="en" sz="1900">
                <a:latin typeface="Times New Roman"/>
                <a:ea typeface="Times New Roman"/>
                <a:cs typeface="Times New Roman"/>
                <a:sym typeface="Times New Roman"/>
              </a:rPr>
              <a:t>⅀(fi) = sum of all 14 questions</a:t>
            </a:r>
            <a:endParaRPr sz="1900">
              <a:latin typeface="Times New Roman"/>
              <a:ea typeface="Times New Roman"/>
              <a:cs typeface="Times New Roman"/>
              <a:sym typeface="Times New Roman"/>
            </a:endParaRPr>
          </a:p>
          <a:p>
            <a:pPr marL="457200" lvl="0" indent="-349250" algn="l" rtl="0">
              <a:spcBef>
                <a:spcPts val="0"/>
              </a:spcBef>
              <a:spcAft>
                <a:spcPts val="0"/>
              </a:spcAft>
              <a:buSzPts val="1900"/>
              <a:buFont typeface="Times New Roman"/>
              <a:buChar char="●"/>
            </a:pPr>
            <a:r>
              <a:rPr lang="en" sz="1900">
                <a:latin typeface="Times New Roman"/>
                <a:ea typeface="Times New Roman"/>
                <a:cs typeface="Times New Roman"/>
                <a:sym typeface="Times New Roman"/>
              </a:rPr>
              <a:t>Each of these questions is </a:t>
            </a:r>
            <a:endParaRPr sz="1900">
              <a:latin typeface="Times New Roman"/>
              <a:ea typeface="Times New Roman"/>
              <a:cs typeface="Times New Roman"/>
              <a:sym typeface="Times New Roman"/>
            </a:endParaRPr>
          </a:p>
          <a:p>
            <a:pPr marL="0" lvl="0" indent="0" algn="l" rtl="0">
              <a:spcBef>
                <a:spcPts val="0"/>
              </a:spcBef>
              <a:spcAft>
                <a:spcPts val="0"/>
              </a:spcAft>
              <a:buNone/>
            </a:pPr>
            <a:r>
              <a:rPr lang="en" sz="1900">
                <a:latin typeface="Times New Roman"/>
                <a:ea typeface="Times New Roman"/>
                <a:cs typeface="Times New Roman"/>
                <a:sym typeface="Times New Roman"/>
              </a:rPr>
              <a:t>answered using a scale that ranges from</a:t>
            </a:r>
            <a:endParaRPr sz="1900">
              <a:latin typeface="Times New Roman"/>
              <a:ea typeface="Times New Roman"/>
              <a:cs typeface="Times New Roman"/>
              <a:sym typeface="Times New Roman"/>
            </a:endParaRPr>
          </a:p>
          <a:p>
            <a:pPr marL="0" lvl="0" indent="0" algn="l" rtl="0">
              <a:spcBef>
                <a:spcPts val="0"/>
              </a:spcBef>
              <a:spcAft>
                <a:spcPts val="0"/>
              </a:spcAft>
              <a:buNone/>
            </a:pPr>
            <a:r>
              <a:rPr lang="en" sz="1900">
                <a:latin typeface="Times New Roman"/>
                <a:ea typeface="Times New Roman"/>
                <a:cs typeface="Times New Roman"/>
                <a:sym typeface="Times New Roman"/>
              </a:rPr>
              <a:t> 0 (not important or applicable) </a:t>
            </a:r>
            <a:endParaRPr sz="1900">
              <a:latin typeface="Times New Roman"/>
              <a:ea typeface="Times New Roman"/>
              <a:cs typeface="Times New Roman"/>
              <a:sym typeface="Times New Roman"/>
            </a:endParaRPr>
          </a:p>
          <a:p>
            <a:pPr marL="0" lvl="0" indent="0" algn="l" rtl="0">
              <a:spcBef>
                <a:spcPts val="0"/>
              </a:spcBef>
              <a:spcAft>
                <a:spcPts val="0"/>
              </a:spcAft>
              <a:buNone/>
            </a:pPr>
            <a:r>
              <a:rPr lang="en" sz="1900">
                <a:latin typeface="Times New Roman"/>
                <a:ea typeface="Times New Roman"/>
                <a:cs typeface="Times New Roman"/>
                <a:sym typeface="Times New Roman"/>
              </a:rPr>
              <a:t>to 5 (absolutely essential). </a:t>
            </a:r>
            <a:endParaRPr sz="1900">
              <a:latin typeface="Times New Roman"/>
              <a:ea typeface="Times New Roman"/>
              <a:cs typeface="Times New Roman"/>
              <a:sym typeface="Times New Roman"/>
            </a:endParaRPr>
          </a:p>
        </p:txBody>
      </p:sp>
      <p:pic>
        <p:nvPicPr>
          <p:cNvPr id="235" name="Google Shape;235;g3f946b0c4ee_0_59"/>
          <p:cNvPicPr preferRelativeResize="0"/>
          <p:nvPr/>
        </p:nvPicPr>
        <p:blipFill>
          <a:blip r:embed="rId3">
            <a:alphaModFix/>
          </a:blip>
          <a:stretch>
            <a:fillRect/>
          </a:stretch>
        </p:blipFill>
        <p:spPr>
          <a:xfrm>
            <a:off x="4628898" y="151600"/>
            <a:ext cx="7173254" cy="51434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sz="2800" b="1">
                <a:solidFill>
                  <a:schemeClr val="dk2"/>
                </a:solidFill>
                <a:latin typeface="Raleway"/>
                <a:ea typeface="Raleway"/>
                <a:cs typeface="Raleway"/>
                <a:sym typeface="Raleway"/>
              </a:rPr>
              <a:t>Process Metrics</a:t>
            </a:r>
            <a:endParaRPr/>
          </a:p>
        </p:txBody>
      </p:sp>
      <p:sp>
        <p:nvSpPr>
          <p:cNvPr id="241" name="Google Shape;241;p2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Defect Density</a:t>
            </a:r>
            <a:endParaRPr sz="1200">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DRE</a:t>
            </a:r>
            <a:endParaRPr sz="1200">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MTTR </a:t>
            </a:r>
            <a:endParaRPr sz="1200">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MTBF</a:t>
            </a:r>
            <a:endParaRPr sz="1200">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Test Coverage</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g3f55f49bfed_0_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400" b="0">
                <a:latin typeface="Times New Roman"/>
                <a:ea typeface="Times New Roman"/>
                <a:cs typeface="Times New Roman"/>
                <a:sym typeface="Times New Roman"/>
              </a:rPr>
              <a:t>Defect Density</a:t>
            </a:r>
            <a:endParaRPr sz="2400">
              <a:latin typeface="Times New Roman"/>
              <a:ea typeface="Times New Roman"/>
              <a:cs typeface="Times New Roman"/>
              <a:sym typeface="Times New Roman"/>
            </a:endParaRPr>
          </a:p>
        </p:txBody>
      </p:sp>
      <p:sp>
        <p:nvSpPr>
          <p:cNvPr id="247" name="Google Shape;247;g3f55f49bfed_0_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solidFill>
                  <a:schemeClr val="dk2"/>
                </a:solidFill>
                <a:latin typeface="Times New Roman"/>
                <a:ea typeface="Times New Roman"/>
                <a:cs typeface="Times New Roman"/>
                <a:sym typeface="Times New Roman"/>
              </a:rPr>
              <a:t>Defect Density:</a:t>
            </a:r>
            <a:r>
              <a:rPr lang="en" sz="1200">
                <a:solidFill>
                  <a:schemeClr val="dk2"/>
                </a:solidFill>
                <a:latin typeface="Times New Roman"/>
                <a:ea typeface="Times New Roman"/>
                <a:cs typeface="Times New Roman"/>
                <a:sym typeface="Times New Roman"/>
              </a:rPr>
              <a:t> Measures the concentration of bugs relative to software size. </a:t>
            </a:r>
            <a:endParaRPr sz="1200">
              <a:solidFill>
                <a:schemeClr val="dk2"/>
              </a:solidFill>
              <a:latin typeface="Times New Roman"/>
              <a:ea typeface="Times New Roman"/>
              <a:cs typeface="Times New Roman"/>
              <a:sym typeface="Times New Roman"/>
            </a:endParaRPr>
          </a:p>
        </p:txBody>
      </p:sp>
      <p:pic>
        <p:nvPicPr>
          <p:cNvPr id="248" name="Google Shape;248;g3f55f49bfed_0_0"/>
          <p:cNvPicPr preferRelativeResize="0"/>
          <p:nvPr/>
        </p:nvPicPr>
        <p:blipFill>
          <a:blip r:embed="rId3">
            <a:alphaModFix/>
          </a:blip>
          <a:stretch>
            <a:fillRect/>
          </a:stretch>
        </p:blipFill>
        <p:spPr>
          <a:xfrm>
            <a:off x="1138713" y="1885925"/>
            <a:ext cx="5305425" cy="7810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f55f49bfed_0_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a:ea typeface="Times New Roman"/>
                <a:cs typeface="Times New Roman"/>
                <a:sym typeface="Times New Roman"/>
              </a:rPr>
              <a:t>DRE</a:t>
            </a:r>
            <a:endParaRPr>
              <a:latin typeface="Times New Roman"/>
              <a:ea typeface="Times New Roman"/>
              <a:cs typeface="Times New Roman"/>
              <a:sym typeface="Times New Roman"/>
            </a:endParaRPr>
          </a:p>
        </p:txBody>
      </p:sp>
      <p:sp>
        <p:nvSpPr>
          <p:cNvPr id="254" name="Google Shape;254;g3f55f49bfed_0_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solidFill>
                  <a:schemeClr val="dk2"/>
                </a:solidFill>
                <a:latin typeface="Times New Roman"/>
                <a:ea typeface="Times New Roman"/>
                <a:cs typeface="Times New Roman"/>
                <a:sym typeface="Times New Roman"/>
              </a:rPr>
              <a:t>Defect Removal Efficiency (DRE):</a:t>
            </a:r>
            <a:r>
              <a:rPr lang="en" sz="1200">
                <a:solidFill>
                  <a:schemeClr val="dk2"/>
                </a:solidFill>
                <a:latin typeface="Times New Roman"/>
                <a:ea typeface="Times New Roman"/>
                <a:cs typeface="Times New Roman"/>
                <a:sym typeface="Times New Roman"/>
              </a:rPr>
              <a:t> Measures the effectiveness of the development and QA process. </a:t>
            </a:r>
            <a:endParaRPr sz="1200">
              <a:solidFill>
                <a:schemeClr val="dk2"/>
              </a:solidFill>
              <a:latin typeface="Times New Roman"/>
              <a:ea typeface="Times New Roman"/>
              <a:cs typeface="Times New Roman"/>
              <a:sym typeface="Times New Roman"/>
            </a:endParaRPr>
          </a:p>
        </p:txBody>
      </p:sp>
      <p:pic>
        <p:nvPicPr>
          <p:cNvPr id="255" name="Google Shape;255;g3f55f49bfed_0_5"/>
          <p:cNvPicPr preferRelativeResize="0"/>
          <p:nvPr/>
        </p:nvPicPr>
        <p:blipFill>
          <a:blip r:embed="rId3">
            <a:alphaModFix/>
          </a:blip>
          <a:stretch>
            <a:fillRect/>
          </a:stretch>
        </p:blipFill>
        <p:spPr>
          <a:xfrm>
            <a:off x="1474563" y="1943550"/>
            <a:ext cx="5438775" cy="742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f55f49bfed_0_1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a:ea typeface="Times New Roman"/>
                <a:cs typeface="Times New Roman"/>
                <a:sym typeface="Times New Roman"/>
              </a:rPr>
              <a:t>MTTR</a:t>
            </a:r>
            <a:endParaRPr>
              <a:latin typeface="Times New Roman"/>
              <a:ea typeface="Times New Roman"/>
              <a:cs typeface="Times New Roman"/>
              <a:sym typeface="Times New Roman"/>
            </a:endParaRPr>
          </a:p>
        </p:txBody>
      </p:sp>
      <p:sp>
        <p:nvSpPr>
          <p:cNvPr id="261" name="Google Shape;261;g3f55f49bfed_0_1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dk2"/>
                </a:solidFill>
                <a:latin typeface="Times New Roman"/>
                <a:ea typeface="Times New Roman"/>
                <a:cs typeface="Times New Roman"/>
                <a:sym typeface="Times New Roman"/>
              </a:rPr>
              <a:t>MTTR measures the average time it takes to resolve a system failure or incident and restore it to full operation.</a:t>
            </a:r>
            <a:endParaRPr>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endParaRPr/>
          </a:p>
        </p:txBody>
      </p:sp>
      <p:pic>
        <p:nvPicPr>
          <p:cNvPr id="262" name="Google Shape;262;g3f55f49bfed_0_10"/>
          <p:cNvPicPr preferRelativeResize="0"/>
          <p:nvPr/>
        </p:nvPicPr>
        <p:blipFill>
          <a:blip r:embed="rId3">
            <a:alphaModFix/>
          </a:blip>
          <a:stretch>
            <a:fillRect/>
          </a:stretch>
        </p:blipFill>
        <p:spPr>
          <a:xfrm>
            <a:off x="1694413" y="1809750"/>
            <a:ext cx="4867275" cy="762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3f55f49bfed_0_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MTBF</a:t>
            </a:r>
            <a:endParaRPr/>
          </a:p>
        </p:txBody>
      </p:sp>
      <p:sp>
        <p:nvSpPr>
          <p:cNvPr id="268" name="Google Shape;268;g3f55f49bfed_0_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dk2"/>
                </a:solidFill>
                <a:latin typeface="Times New Roman"/>
                <a:ea typeface="Times New Roman"/>
                <a:cs typeface="Times New Roman"/>
                <a:sym typeface="Times New Roman"/>
              </a:rPr>
              <a:t>MTBF calculates the average operational uptime between consecutive failures, indicating overall system reliability. </a:t>
            </a:r>
            <a:endParaRPr>
              <a:solidFill>
                <a:schemeClr val="dk2"/>
              </a:solidFill>
              <a:latin typeface="Times New Roman"/>
              <a:ea typeface="Times New Roman"/>
              <a:cs typeface="Times New Roman"/>
              <a:sym typeface="Times New Roman"/>
            </a:endParaRPr>
          </a:p>
        </p:txBody>
      </p:sp>
      <p:pic>
        <p:nvPicPr>
          <p:cNvPr id="269" name="Google Shape;269;g3f55f49bfed_0_15"/>
          <p:cNvPicPr preferRelativeResize="0"/>
          <p:nvPr/>
        </p:nvPicPr>
        <p:blipFill>
          <a:blip r:embed="rId3">
            <a:alphaModFix/>
          </a:blip>
          <a:stretch>
            <a:fillRect/>
          </a:stretch>
        </p:blipFill>
        <p:spPr>
          <a:xfrm>
            <a:off x="2433638" y="2195513"/>
            <a:ext cx="4276725" cy="752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g3f55f49bfed_0_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a:ea typeface="Times New Roman"/>
                <a:cs typeface="Times New Roman"/>
                <a:sym typeface="Times New Roman"/>
              </a:rPr>
              <a:t>Test Coverage</a:t>
            </a:r>
            <a:endParaRPr>
              <a:latin typeface="Times New Roman"/>
              <a:ea typeface="Times New Roman"/>
              <a:cs typeface="Times New Roman"/>
              <a:sym typeface="Times New Roman"/>
            </a:endParaRPr>
          </a:p>
        </p:txBody>
      </p:sp>
      <p:sp>
        <p:nvSpPr>
          <p:cNvPr id="275" name="Google Shape;275;g3f55f49bfed_0_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chemeClr val="dk2"/>
                </a:solidFill>
                <a:latin typeface="Times New Roman"/>
                <a:ea typeface="Times New Roman"/>
                <a:cs typeface="Times New Roman"/>
                <a:sym typeface="Times New Roman"/>
              </a:rPr>
              <a:t>Test Coverage assesses the comprehensiveness of your testing efforts. It measures the amount of source code executed by a specific testing suite and is represented by various specific coverage equations. </a:t>
            </a:r>
            <a:endParaRPr sz="1400">
              <a:solidFill>
                <a:schemeClr val="dk2"/>
              </a:solidFill>
              <a:latin typeface="Times New Roman"/>
              <a:ea typeface="Times New Roman"/>
              <a:cs typeface="Times New Roman"/>
              <a:sym typeface="Times New Roman"/>
            </a:endParaRPr>
          </a:p>
        </p:txBody>
      </p:sp>
      <p:pic>
        <p:nvPicPr>
          <p:cNvPr id="276" name="Google Shape;276;g3f55f49bfed_0_20"/>
          <p:cNvPicPr preferRelativeResize="0"/>
          <p:nvPr/>
        </p:nvPicPr>
        <p:blipFill>
          <a:blip r:embed="rId3">
            <a:alphaModFix/>
          </a:blip>
          <a:stretch>
            <a:fillRect/>
          </a:stretch>
        </p:blipFill>
        <p:spPr>
          <a:xfrm>
            <a:off x="628713" y="1900200"/>
            <a:ext cx="6619875" cy="22479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sz="2800">
                <a:latin typeface="Times New Roman"/>
                <a:ea typeface="Times New Roman"/>
                <a:cs typeface="Times New Roman"/>
                <a:sym typeface="Times New Roman"/>
              </a:rPr>
              <a:t>Project Metrics</a:t>
            </a:r>
            <a:endParaRPr>
              <a:latin typeface="Times New Roman"/>
              <a:ea typeface="Times New Roman"/>
              <a:cs typeface="Times New Roman"/>
              <a:sym typeface="Times New Roman"/>
            </a:endParaRPr>
          </a:p>
        </p:txBody>
      </p:sp>
      <p:sp>
        <p:nvSpPr>
          <p:cNvPr id="282" name="Google Shape;282;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Productivity</a:t>
            </a:r>
            <a:endParaRPr sz="1200">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Cost Variance</a:t>
            </a:r>
            <a:endParaRPr sz="1200">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Schedule Variance</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g3f95d317413_0_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r>
              <a:rPr lang="en" sz="2400" b="0">
                <a:latin typeface="Times New Roman"/>
                <a:ea typeface="Times New Roman"/>
                <a:cs typeface="Times New Roman"/>
                <a:sym typeface="Times New Roman"/>
              </a:rPr>
              <a:t>Productivity</a:t>
            </a:r>
            <a:endParaRPr sz="2400" b="0">
              <a:latin typeface="Times New Roman"/>
              <a:ea typeface="Times New Roman"/>
              <a:cs typeface="Times New Roman"/>
              <a:sym typeface="Times New Roman"/>
            </a:endParaRPr>
          </a:p>
          <a:p>
            <a:pPr marL="457200" lvl="0" indent="0" algn="l" rtl="0">
              <a:lnSpc>
                <a:spcPct val="115000"/>
              </a:lnSpc>
              <a:spcBef>
                <a:spcPts val="0"/>
              </a:spcBef>
              <a:spcAft>
                <a:spcPts val="0"/>
              </a:spcAft>
              <a:buNone/>
            </a:pPr>
            <a:endParaRPr sz="2400">
              <a:latin typeface="Times New Roman"/>
              <a:ea typeface="Times New Roman"/>
              <a:cs typeface="Times New Roman"/>
              <a:sym typeface="Times New Roman"/>
            </a:endParaRPr>
          </a:p>
        </p:txBody>
      </p:sp>
      <p:sp>
        <p:nvSpPr>
          <p:cNvPr id="288" name="Google Shape;288;g3f95d317413_0_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solidFill>
                  <a:schemeClr val="dk2"/>
                </a:solidFill>
                <a:latin typeface="Times New Roman"/>
                <a:ea typeface="Times New Roman"/>
                <a:cs typeface="Times New Roman"/>
                <a:sym typeface="Times New Roman"/>
              </a:rPr>
              <a:t>Productivity</a:t>
            </a:r>
            <a:r>
              <a:rPr lang="en" sz="1200">
                <a:solidFill>
                  <a:schemeClr val="dk2"/>
                </a:solidFill>
                <a:latin typeface="Times New Roman"/>
                <a:ea typeface="Times New Roman"/>
                <a:cs typeface="Times New Roman"/>
                <a:sym typeface="Times New Roman"/>
              </a:rPr>
              <a:t> measures how much software a team produces for a given amount of effort. </a:t>
            </a:r>
            <a:endParaRPr sz="1200">
              <a:solidFill>
                <a:schemeClr val="dk2"/>
              </a:solidFill>
              <a:latin typeface="Times New Roman"/>
              <a:ea typeface="Times New Roman"/>
              <a:cs typeface="Times New Roman"/>
              <a:sym typeface="Times New Roman"/>
            </a:endParaRPr>
          </a:p>
        </p:txBody>
      </p:sp>
      <p:pic>
        <p:nvPicPr>
          <p:cNvPr id="289" name="Google Shape;289;g3f95d317413_0_4"/>
          <p:cNvPicPr preferRelativeResize="0"/>
          <p:nvPr/>
        </p:nvPicPr>
        <p:blipFill>
          <a:blip r:embed="rId3">
            <a:alphaModFix/>
          </a:blip>
          <a:stretch>
            <a:fillRect/>
          </a:stretch>
        </p:blipFill>
        <p:spPr>
          <a:xfrm>
            <a:off x="569800" y="1752600"/>
            <a:ext cx="6381750" cy="19431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f95d317413_0_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b="0">
                <a:latin typeface="Times New Roman"/>
                <a:ea typeface="Times New Roman"/>
                <a:cs typeface="Times New Roman"/>
                <a:sym typeface="Times New Roman"/>
              </a:rPr>
              <a:t>Cost Variance</a:t>
            </a:r>
            <a:endParaRPr sz="2400" b="0">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2400"/>
          </a:p>
        </p:txBody>
      </p:sp>
      <p:sp>
        <p:nvSpPr>
          <p:cNvPr id="295" name="Google Shape;295;g3f95d317413_0_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solidFill>
                  <a:schemeClr val="dk2"/>
                </a:solidFill>
                <a:latin typeface="Times New Roman"/>
                <a:ea typeface="Times New Roman"/>
                <a:cs typeface="Times New Roman"/>
                <a:sym typeface="Times New Roman"/>
              </a:rPr>
              <a:t>Cost Variance</a:t>
            </a:r>
            <a:r>
              <a:rPr lang="en" sz="1200">
                <a:solidFill>
                  <a:schemeClr val="dk2"/>
                </a:solidFill>
                <a:latin typeface="Times New Roman"/>
                <a:ea typeface="Times New Roman"/>
                <a:cs typeface="Times New Roman"/>
                <a:sym typeface="Times New Roman"/>
              </a:rPr>
              <a:t> measures whether the project is </a:t>
            </a:r>
            <a:r>
              <a:rPr lang="en" sz="1200" b="1">
                <a:solidFill>
                  <a:schemeClr val="dk2"/>
                </a:solidFill>
                <a:latin typeface="Times New Roman"/>
                <a:ea typeface="Times New Roman"/>
                <a:cs typeface="Times New Roman"/>
                <a:sym typeface="Times New Roman"/>
              </a:rPr>
              <a:t>under budget or over budget</a:t>
            </a:r>
            <a:r>
              <a:rPr lang="en" sz="1200">
                <a:solidFill>
                  <a:schemeClr val="dk2"/>
                </a:solidFill>
                <a:latin typeface="Times New Roman"/>
                <a:ea typeface="Times New Roman"/>
                <a:cs typeface="Times New Roman"/>
                <a:sym typeface="Times New Roman"/>
              </a:rPr>
              <a:t>. </a:t>
            </a:r>
            <a:endParaRPr sz="1200">
              <a:solidFill>
                <a:schemeClr val="dk2"/>
              </a:solidFill>
              <a:latin typeface="Times New Roman"/>
              <a:ea typeface="Times New Roman"/>
              <a:cs typeface="Times New Roman"/>
              <a:sym typeface="Times New Roman"/>
            </a:endParaRPr>
          </a:p>
        </p:txBody>
      </p:sp>
      <p:pic>
        <p:nvPicPr>
          <p:cNvPr id="296" name="Google Shape;296;g3f95d317413_0_9"/>
          <p:cNvPicPr preferRelativeResize="0"/>
          <p:nvPr/>
        </p:nvPicPr>
        <p:blipFill>
          <a:blip r:embed="rId3">
            <a:alphaModFix/>
          </a:blip>
          <a:stretch>
            <a:fillRect/>
          </a:stretch>
        </p:blipFill>
        <p:spPr>
          <a:xfrm>
            <a:off x="1571625" y="1738313"/>
            <a:ext cx="6000750" cy="16668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3f95d317413_0_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400" b="0">
                <a:latin typeface="Times New Roman"/>
                <a:ea typeface="Times New Roman"/>
                <a:cs typeface="Times New Roman"/>
                <a:sym typeface="Times New Roman"/>
              </a:rPr>
              <a:t>Schedule Variance</a:t>
            </a:r>
            <a:endParaRPr sz="2400">
              <a:latin typeface="Times New Roman"/>
              <a:ea typeface="Times New Roman"/>
              <a:cs typeface="Times New Roman"/>
              <a:sym typeface="Times New Roman"/>
            </a:endParaRPr>
          </a:p>
        </p:txBody>
      </p:sp>
      <p:sp>
        <p:nvSpPr>
          <p:cNvPr id="302" name="Google Shape;302;g3f95d317413_0_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a:solidFill>
                  <a:schemeClr val="dk2"/>
                </a:solidFill>
                <a:latin typeface="Times New Roman"/>
                <a:ea typeface="Times New Roman"/>
                <a:cs typeface="Times New Roman"/>
                <a:sym typeface="Times New Roman"/>
              </a:rPr>
              <a:t>Schedule Variance</a:t>
            </a:r>
            <a:r>
              <a:rPr lang="en" sz="1200">
                <a:solidFill>
                  <a:schemeClr val="dk2"/>
                </a:solidFill>
                <a:latin typeface="Times New Roman"/>
                <a:ea typeface="Times New Roman"/>
                <a:cs typeface="Times New Roman"/>
                <a:sym typeface="Times New Roman"/>
              </a:rPr>
              <a:t> measures whether the project is </a:t>
            </a:r>
            <a:r>
              <a:rPr lang="en" sz="1200" b="1">
                <a:solidFill>
                  <a:schemeClr val="dk2"/>
                </a:solidFill>
                <a:latin typeface="Times New Roman"/>
                <a:ea typeface="Times New Roman"/>
                <a:cs typeface="Times New Roman"/>
                <a:sym typeface="Times New Roman"/>
              </a:rPr>
              <a:t>ahead of or behind schedule</a:t>
            </a:r>
            <a:r>
              <a:rPr lang="en" sz="1200">
                <a:solidFill>
                  <a:schemeClr val="dk2"/>
                </a:solidFill>
                <a:latin typeface="Times New Roman"/>
                <a:ea typeface="Times New Roman"/>
                <a:cs typeface="Times New Roman"/>
                <a:sym typeface="Times New Roman"/>
              </a:rPr>
              <a:t>. </a:t>
            </a:r>
            <a:endParaRPr sz="1200">
              <a:solidFill>
                <a:schemeClr val="dk2"/>
              </a:solidFill>
              <a:latin typeface="Times New Roman"/>
              <a:ea typeface="Times New Roman"/>
              <a:cs typeface="Times New Roman"/>
              <a:sym typeface="Times New Roman"/>
            </a:endParaRPr>
          </a:p>
        </p:txBody>
      </p:sp>
      <p:pic>
        <p:nvPicPr>
          <p:cNvPr id="303" name="Google Shape;303;g3f95d317413_0_14"/>
          <p:cNvPicPr preferRelativeResize="0"/>
          <p:nvPr/>
        </p:nvPicPr>
        <p:blipFill>
          <a:blip r:embed="rId3">
            <a:alphaModFix/>
          </a:blip>
          <a:stretch>
            <a:fillRect/>
          </a:stretch>
        </p:blipFill>
        <p:spPr>
          <a:xfrm>
            <a:off x="1064201" y="1824051"/>
            <a:ext cx="6455800" cy="1637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sz="2800">
                <a:solidFill>
                  <a:schemeClr val="dk2"/>
                </a:solidFill>
                <a:latin typeface="Times New Roman"/>
                <a:ea typeface="Times New Roman"/>
                <a:cs typeface="Times New Roman"/>
                <a:sym typeface="Times New Roman"/>
              </a:rPr>
              <a:t>Maintenance Metrics</a:t>
            </a:r>
            <a:endParaRPr>
              <a:latin typeface="Times New Roman"/>
              <a:ea typeface="Times New Roman"/>
              <a:cs typeface="Times New Roman"/>
              <a:sym typeface="Times New Roman"/>
            </a:endParaRPr>
          </a:p>
        </p:txBody>
      </p:sp>
      <p:sp>
        <p:nvSpPr>
          <p:cNvPr id="309" name="Google Shape;309;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04800" algn="l" rtl="0">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Software maturity index (SMI)</a:t>
            </a:r>
            <a:endParaRPr sz="1200">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Change Requests</a:t>
            </a:r>
            <a:endParaRPr sz="1200">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Outstanding Requests</a:t>
            </a:r>
            <a:endParaRPr sz="1200">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Impact Analysis Time</a:t>
            </a:r>
            <a:endParaRPr sz="1200">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Change Implementation Time</a:t>
            </a:r>
            <a:endParaRPr sz="1200">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Maintenance Cost</a:t>
            </a:r>
            <a:endParaRPr sz="1200">
              <a:solidFill>
                <a:schemeClr val="dk2"/>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Code Churn</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g3f946b0c4ee_0_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400" b="0">
                <a:latin typeface="Times New Roman"/>
                <a:ea typeface="Times New Roman"/>
                <a:cs typeface="Times New Roman"/>
                <a:sym typeface="Times New Roman"/>
              </a:rPr>
              <a:t>Software Maturity Index (SMI)</a:t>
            </a:r>
            <a:endParaRPr sz="2400">
              <a:latin typeface="Times New Roman"/>
              <a:ea typeface="Times New Roman"/>
              <a:cs typeface="Times New Roman"/>
              <a:sym typeface="Times New Roman"/>
            </a:endParaRPr>
          </a:p>
        </p:txBody>
      </p:sp>
      <p:sp>
        <p:nvSpPr>
          <p:cNvPr id="315" name="Google Shape;315;g3f946b0c4ee_0_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chemeClr val="dk2"/>
                </a:solidFill>
                <a:latin typeface="Times New Roman"/>
                <a:ea typeface="Times New Roman"/>
                <a:cs typeface="Times New Roman"/>
                <a:sym typeface="Times New Roman"/>
              </a:rPr>
              <a:t>Software Maturity Index (SMI) that provides an indication of the stability of a software product (based on changes that occur for each release of the product). The following information is determined: </a:t>
            </a:r>
            <a:endParaRPr sz="1200">
              <a:solidFill>
                <a:schemeClr val="dk2"/>
              </a:solidFill>
              <a:latin typeface="Times New Roman"/>
              <a:ea typeface="Times New Roman"/>
              <a:cs typeface="Times New Roman"/>
              <a:sym typeface="Times New Roman"/>
            </a:endParaRPr>
          </a:p>
        </p:txBody>
      </p:sp>
      <p:pic>
        <p:nvPicPr>
          <p:cNvPr id="316" name="Google Shape;316;g3f946b0c4ee_0_19"/>
          <p:cNvPicPr preferRelativeResize="0"/>
          <p:nvPr/>
        </p:nvPicPr>
        <p:blipFill>
          <a:blip r:embed="rId3">
            <a:alphaModFix/>
          </a:blip>
          <a:stretch>
            <a:fillRect/>
          </a:stretch>
        </p:blipFill>
        <p:spPr>
          <a:xfrm>
            <a:off x="304740" y="1939192"/>
            <a:ext cx="9144001" cy="1917915"/>
          </a:xfrm>
          <a:prstGeom prst="rect">
            <a:avLst/>
          </a:prstGeom>
          <a:noFill/>
          <a:ln>
            <a:noFill/>
          </a:ln>
        </p:spPr>
      </p:pic>
      <p:pic>
        <p:nvPicPr>
          <p:cNvPr id="317" name="Google Shape;317;g3f946b0c4ee_0_19"/>
          <p:cNvPicPr preferRelativeResize="0"/>
          <p:nvPr/>
        </p:nvPicPr>
        <p:blipFill>
          <a:blip r:embed="rId4">
            <a:alphaModFix/>
          </a:blip>
          <a:stretch>
            <a:fillRect/>
          </a:stretch>
        </p:blipFill>
        <p:spPr>
          <a:xfrm>
            <a:off x="448900" y="3710613"/>
            <a:ext cx="5695950" cy="15335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g3f946b0c4ee_0_10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400" b="0">
                <a:latin typeface="Times New Roman"/>
                <a:ea typeface="Times New Roman"/>
                <a:cs typeface="Times New Roman"/>
                <a:sym typeface="Times New Roman"/>
              </a:rPr>
              <a:t>Impact Analysis Time</a:t>
            </a:r>
            <a:endParaRPr>
              <a:latin typeface="Times New Roman"/>
              <a:ea typeface="Times New Roman"/>
              <a:cs typeface="Times New Roman"/>
              <a:sym typeface="Times New Roman"/>
            </a:endParaRPr>
          </a:p>
        </p:txBody>
      </p:sp>
      <p:sp>
        <p:nvSpPr>
          <p:cNvPr id="323" name="Google Shape;323;g3f946b0c4ee_0_10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a:solidFill>
                  <a:schemeClr val="dk2"/>
                </a:solidFill>
                <a:latin typeface="Times New Roman"/>
                <a:ea typeface="Times New Roman"/>
                <a:cs typeface="Times New Roman"/>
                <a:sym typeface="Times New Roman"/>
              </a:rPr>
              <a:t>Measures the average time required to determine the impact of a change.</a:t>
            </a:r>
            <a:endParaRPr>
              <a:solidFill>
                <a:schemeClr val="dk2"/>
              </a:solidFill>
              <a:latin typeface="Times New Roman"/>
              <a:ea typeface="Times New Roman"/>
              <a:cs typeface="Times New Roman"/>
              <a:sym typeface="Times New Roman"/>
            </a:endParaRPr>
          </a:p>
          <a:p>
            <a:pPr marL="0" lvl="0" indent="0" algn="l" rtl="0">
              <a:spcBef>
                <a:spcPts val="1200"/>
              </a:spcBef>
              <a:spcAft>
                <a:spcPts val="0"/>
              </a:spcAft>
              <a:buNone/>
            </a:pPr>
            <a:endParaRPr>
              <a:solidFill>
                <a:schemeClr val="dk2"/>
              </a:solidFill>
              <a:latin typeface="Times New Roman"/>
              <a:ea typeface="Times New Roman"/>
              <a:cs typeface="Times New Roman"/>
              <a:sym typeface="Times New Roman"/>
            </a:endParaRPr>
          </a:p>
        </p:txBody>
      </p:sp>
      <p:pic>
        <p:nvPicPr>
          <p:cNvPr id="324" name="Google Shape;324;g3f946b0c4ee_0_104"/>
          <p:cNvPicPr preferRelativeResize="0"/>
          <p:nvPr/>
        </p:nvPicPr>
        <p:blipFill>
          <a:blip r:embed="rId3">
            <a:alphaModFix/>
          </a:blip>
          <a:stretch>
            <a:fillRect/>
          </a:stretch>
        </p:blipFill>
        <p:spPr>
          <a:xfrm>
            <a:off x="1319213" y="2076450"/>
            <a:ext cx="6505575" cy="990600"/>
          </a:xfrm>
          <a:prstGeom prst="rect">
            <a:avLst/>
          </a:prstGeom>
          <a:noFill/>
          <a:ln>
            <a:noFill/>
          </a:ln>
        </p:spPr>
      </p:pic>
      <p:pic>
        <p:nvPicPr>
          <p:cNvPr id="325" name="Google Shape;325;g3f946b0c4ee_0_104"/>
          <p:cNvPicPr preferRelativeResize="0"/>
          <p:nvPr/>
        </p:nvPicPr>
        <p:blipFill>
          <a:blip r:embed="rId3">
            <a:alphaModFix/>
          </a:blip>
          <a:stretch>
            <a:fillRect/>
          </a:stretch>
        </p:blipFill>
        <p:spPr>
          <a:xfrm>
            <a:off x="1471613" y="2228850"/>
            <a:ext cx="6505575" cy="990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g3f946b0c4ee_0_9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400" b="0">
                <a:latin typeface="Times New Roman"/>
                <a:ea typeface="Times New Roman"/>
                <a:cs typeface="Times New Roman"/>
                <a:sym typeface="Times New Roman"/>
              </a:rPr>
              <a:t>Change Implementation Time</a:t>
            </a:r>
            <a:endParaRPr sz="2400">
              <a:latin typeface="Times New Roman"/>
              <a:ea typeface="Times New Roman"/>
              <a:cs typeface="Times New Roman"/>
              <a:sym typeface="Times New Roman"/>
            </a:endParaRPr>
          </a:p>
        </p:txBody>
      </p:sp>
      <p:sp>
        <p:nvSpPr>
          <p:cNvPr id="331" name="Google Shape;331;g3f946b0c4ee_0_9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dk2"/>
                </a:solidFill>
                <a:latin typeface="Times New Roman"/>
                <a:ea typeface="Times New Roman"/>
                <a:cs typeface="Times New Roman"/>
                <a:sym typeface="Times New Roman"/>
              </a:rPr>
              <a:t>Measures the average effort to implement changes. </a:t>
            </a:r>
            <a:endParaRPr>
              <a:solidFill>
                <a:schemeClr val="dk2"/>
              </a:solidFill>
              <a:latin typeface="Times New Roman"/>
              <a:ea typeface="Times New Roman"/>
              <a:cs typeface="Times New Roman"/>
              <a:sym typeface="Times New Roman"/>
            </a:endParaRPr>
          </a:p>
        </p:txBody>
      </p:sp>
      <p:pic>
        <p:nvPicPr>
          <p:cNvPr id="332" name="Google Shape;332;g3f946b0c4ee_0_97"/>
          <p:cNvPicPr preferRelativeResize="0"/>
          <p:nvPr/>
        </p:nvPicPr>
        <p:blipFill>
          <a:blip r:embed="rId3">
            <a:alphaModFix/>
          </a:blip>
          <a:stretch>
            <a:fillRect/>
          </a:stretch>
        </p:blipFill>
        <p:spPr>
          <a:xfrm>
            <a:off x="490538" y="2195513"/>
            <a:ext cx="8162925" cy="7524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3f946b0c4ee_0_9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400" b="0">
                <a:latin typeface="Times New Roman"/>
                <a:ea typeface="Times New Roman"/>
                <a:cs typeface="Times New Roman"/>
                <a:sym typeface="Times New Roman"/>
              </a:rPr>
              <a:t>Code Churn</a:t>
            </a:r>
            <a:endParaRPr>
              <a:latin typeface="Times New Roman"/>
              <a:ea typeface="Times New Roman"/>
              <a:cs typeface="Times New Roman"/>
              <a:sym typeface="Times New Roman"/>
            </a:endParaRPr>
          </a:p>
        </p:txBody>
      </p:sp>
      <p:sp>
        <p:nvSpPr>
          <p:cNvPr id="338" name="Google Shape;338;g3f946b0c4ee_0_9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dk2"/>
                </a:solidFill>
                <a:latin typeface="Times New Roman"/>
                <a:ea typeface="Times New Roman"/>
                <a:cs typeface="Times New Roman"/>
                <a:sym typeface="Times New Roman"/>
              </a:rPr>
              <a:t>Measures the amount of source code modified. </a:t>
            </a:r>
            <a:endParaRPr>
              <a:solidFill>
                <a:schemeClr val="dk2"/>
              </a:solidFill>
              <a:latin typeface="Times New Roman"/>
              <a:ea typeface="Times New Roman"/>
              <a:cs typeface="Times New Roman"/>
              <a:sym typeface="Times New Roman"/>
            </a:endParaRPr>
          </a:p>
        </p:txBody>
      </p:sp>
      <p:pic>
        <p:nvPicPr>
          <p:cNvPr id="339" name="Google Shape;339;g3f946b0c4ee_0_90"/>
          <p:cNvPicPr preferRelativeResize="0"/>
          <p:nvPr/>
        </p:nvPicPr>
        <p:blipFill>
          <a:blip r:embed="rId3">
            <a:alphaModFix/>
          </a:blip>
          <a:stretch>
            <a:fillRect/>
          </a:stretch>
        </p:blipFill>
        <p:spPr>
          <a:xfrm>
            <a:off x="1585913" y="2228850"/>
            <a:ext cx="5972175" cy="685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g3f946b0c4ee_0_8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400">
                <a:latin typeface="Times New Roman"/>
                <a:ea typeface="Times New Roman"/>
                <a:cs typeface="Times New Roman"/>
                <a:sym typeface="Times New Roman"/>
              </a:rPr>
              <a:t>Change Requests</a:t>
            </a:r>
            <a:r>
              <a:rPr lang="en" sz="2400" b="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p:txBody>
      </p:sp>
      <p:pic>
        <p:nvPicPr>
          <p:cNvPr id="346" name="Google Shape;346;g3f946b0c4ee_0_81"/>
          <p:cNvPicPr preferRelativeResize="0"/>
          <p:nvPr/>
        </p:nvPicPr>
        <p:blipFill>
          <a:blip r:embed="rId3">
            <a:alphaModFix/>
          </a:blip>
          <a:stretch>
            <a:fillRect/>
          </a:stretch>
        </p:blipFill>
        <p:spPr>
          <a:xfrm>
            <a:off x="187612" y="1762550"/>
            <a:ext cx="8768775" cy="8092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g3f946b0c4ee_0_114"/>
          <p:cNvSpPr txBox="1">
            <a:spLocks noGrp="1"/>
          </p:cNvSpPr>
          <p:nvPr>
            <p:ph type="title"/>
          </p:nvPr>
        </p:nvSpPr>
        <p:spPr>
          <a:xfrm>
            <a:off x="680725" y="47647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Times New Roman"/>
                <a:ea typeface="Times New Roman"/>
                <a:cs typeface="Times New Roman"/>
                <a:sym typeface="Times New Roman"/>
              </a:rPr>
              <a:t>Software Estimation (Chapter 26)</a:t>
            </a:r>
            <a:endParaRPr sz="2400">
              <a:latin typeface="Times New Roman"/>
              <a:ea typeface="Times New Roman"/>
              <a:cs typeface="Times New Roman"/>
              <a:sym typeface="Times New Roman"/>
            </a:endParaRPr>
          </a:p>
        </p:txBody>
      </p:sp>
      <p:sp>
        <p:nvSpPr>
          <p:cNvPr id="352" name="Google Shape;352;g3f946b0c4ee_0_114"/>
          <p:cNvSpPr txBox="1">
            <a:spLocks noGrp="1"/>
          </p:cNvSpPr>
          <p:nvPr>
            <p:ph type="body" idx="1"/>
          </p:nvPr>
        </p:nvSpPr>
        <p:spPr>
          <a:xfrm>
            <a:off x="727650" y="1236700"/>
            <a:ext cx="7688700" cy="2261100"/>
          </a:xfrm>
          <a:prstGeom prst="rect">
            <a:avLst/>
          </a:prstGeom>
        </p:spPr>
        <p:txBody>
          <a:bodyPr spcFirstLastPara="1" wrap="square" lIns="91425" tIns="91425" rIns="91425" bIns="91425" anchor="t" anchorCtr="0">
            <a:normAutofit/>
          </a:bodyPr>
          <a:lstStyle/>
          <a:p>
            <a:pPr marL="457200" lvl="0" indent="-304800" algn="l" rtl="0">
              <a:spcBef>
                <a:spcPts val="50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“Estimation determines how much money, effort, resources, and time it will take to build a specific system or product.”</a:t>
            </a:r>
            <a:r>
              <a:rPr lang="en" sz="1200">
                <a:solidFill>
                  <a:schemeClr val="dk2"/>
                </a:solidFill>
                <a:latin typeface="Times New Roman"/>
                <a:ea typeface="Times New Roman"/>
                <a:cs typeface="Times New Roman"/>
                <a:sym typeface="Times New Roman"/>
              </a:rPr>
              <a:t> </a:t>
            </a:r>
            <a:endParaRPr sz="1200">
              <a:solidFill>
                <a:schemeClr val="dk2"/>
              </a:solidFill>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Supports planning and decision making. </a:t>
            </a:r>
            <a:endParaRPr sz="1200">
              <a:solidFill>
                <a:schemeClr val="dk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g3f946b0c4ee_0_122"/>
          <p:cNvSpPr txBox="1">
            <a:spLocks noGrp="1"/>
          </p:cNvSpPr>
          <p:nvPr>
            <p:ph type="title"/>
          </p:nvPr>
        </p:nvSpPr>
        <p:spPr>
          <a:xfrm>
            <a:off x="727650" y="6226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40">
                <a:latin typeface="Times New Roman"/>
                <a:ea typeface="Times New Roman"/>
                <a:cs typeface="Times New Roman"/>
                <a:sym typeface="Times New Roman"/>
              </a:rPr>
              <a:t>Software Project Estimation</a:t>
            </a:r>
            <a:endParaRPr sz="2440">
              <a:latin typeface="Times New Roman"/>
              <a:ea typeface="Times New Roman"/>
              <a:cs typeface="Times New Roman"/>
              <a:sym typeface="Times New Roman"/>
            </a:endParaRPr>
          </a:p>
        </p:txBody>
      </p:sp>
      <p:sp>
        <p:nvSpPr>
          <p:cNvPr id="358" name="Google Shape;358;g3f946b0c4ee_0_122"/>
          <p:cNvSpPr txBox="1">
            <a:spLocks noGrp="1"/>
          </p:cNvSpPr>
          <p:nvPr>
            <p:ph type="body" idx="1"/>
          </p:nvPr>
        </p:nvSpPr>
        <p:spPr>
          <a:xfrm>
            <a:off x="694650" y="1441200"/>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sz="120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Past Data/Past Experience </a:t>
            </a:r>
            <a:endParaRPr sz="120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Available Documents/Knowledge </a:t>
            </a:r>
            <a:endParaRPr sz="120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Assumptions </a:t>
            </a:r>
            <a:endParaRPr sz="120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Identified Risks</a:t>
            </a:r>
            <a:r>
              <a:rPr lang="en" sz="1200">
                <a:solidFill>
                  <a:schemeClr val="dk2"/>
                </a:solidFill>
                <a:latin typeface="Times New Roman"/>
                <a:ea typeface="Times New Roman"/>
                <a:cs typeface="Times New Roman"/>
                <a:sym typeface="Times New Roman"/>
              </a:rPr>
              <a:t> </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g3f946b0c4ee_0_130"/>
          <p:cNvSpPr txBox="1">
            <a:spLocks noGrp="1"/>
          </p:cNvSpPr>
          <p:nvPr>
            <p:ph type="title"/>
          </p:nvPr>
        </p:nvSpPr>
        <p:spPr>
          <a:xfrm>
            <a:off x="666800" y="6017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40">
                <a:latin typeface="Times New Roman"/>
                <a:ea typeface="Times New Roman"/>
                <a:cs typeface="Times New Roman"/>
                <a:sym typeface="Times New Roman"/>
              </a:rPr>
              <a:t>Steps to Project Estimation</a:t>
            </a:r>
            <a:endParaRPr sz="2440">
              <a:latin typeface="Times New Roman"/>
              <a:ea typeface="Times New Roman"/>
              <a:cs typeface="Times New Roman"/>
              <a:sym typeface="Times New Roman"/>
            </a:endParaRPr>
          </a:p>
        </p:txBody>
      </p:sp>
      <p:sp>
        <p:nvSpPr>
          <p:cNvPr id="364" name="Google Shape;364;g3f946b0c4ee_0_130"/>
          <p:cNvSpPr txBox="1">
            <a:spLocks noGrp="1"/>
          </p:cNvSpPr>
          <p:nvPr>
            <p:ph type="body" idx="1"/>
          </p:nvPr>
        </p:nvSpPr>
        <p:spPr>
          <a:xfrm>
            <a:off x="727650" y="15220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sz="120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Software size estimation  </a:t>
            </a:r>
            <a:endParaRPr sz="120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Software effort estimation  </a:t>
            </a:r>
            <a:endParaRPr sz="120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Software time estimation  </a:t>
            </a:r>
            <a:endParaRPr sz="120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Software cost estimation</a:t>
            </a:r>
            <a:r>
              <a:rPr lang="en" sz="1200">
                <a:solidFill>
                  <a:schemeClr val="dk2"/>
                </a:solidFill>
                <a:latin typeface="Times New Roman"/>
                <a:ea typeface="Times New Roman"/>
                <a:cs typeface="Times New Roman"/>
                <a:sym typeface="Times New Roman"/>
              </a:rPr>
              <a:t> </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g3f946b0c4ee_0_13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b="0">
                <a:highlight>
                  <a:srgbClr val="FFFFFF"/>
                </a:highlight>
                <a:latin typeface="Times New Roman"/>
                <a:ea typeface="Times New Roman"/>
                <a:cs typeface="Times New Roman"/>
                <a:sym typeface="Times New Roman"/>
              </a:rPr>
              <a:t>Software size</a:t>
            </a:r>
            <a:endParaRPr sz="2400">
              <a:latin typeface="Times New Roman"/>
              <a:ea typeface="Times New Roman"/>
              <a:cs typeface="Times New Roman"/>
              <a:sym typeface="Times New Roman"/>
            </a:endParaRPr>
          </a:p>
        </p:txBody>
      </p:sp>
      <p:sp>
        <p:nvSpPr>
          <p:cNvPr id="370" name="Google Shape;370;g3f946b0c4ee_0_136"/>
          <p:cNvSpPr txBox="1">
            <a:spLocks noGrp="1"/>
          </p:cNvSpPr>
          <p:nvPr>
            <p:ph type="body" idx="1"/>
          </p:nvPr>
        </p:nvSpPr>
        <p:spPr>
          <a:xfrm>
            <a:off x="727650" y="1853850"/>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sz="120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KLOC </a:t>
            </a:r>
            <a:endParaRPr sz="120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Number Of Function Point</a:t>
            </a:r>
            <a:r>
              <a:rPr lang="en" sz="1200">
                <a:solidFill>
                  <a:schemeClr val="dk2"/>
                </a:solidFill>
                <a:latin typeface="Times New Roman"/>
                <a:ea typeface="Times New Roman"/>
                <a:cs typeface="Times New Roman"/>
                <a:sym typeface="Times New Roman"/>
              </a:rPr>
              <a:t> </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g3f946b0c4ee_0_148"/>
          <p:cNvSpPr txBox="1">
            <a:spLocks noGrp="1"/>
          </p:cNvSpPr>
          <p:nvPr>
            <p:ph type="title"/>
          </p:nvPr>
        </p:nvSpPr>
        <p:spPr>
          <a:xfrm>
            <a:off x="727650" y="636550"/>
            <a:ext cx="7688700" cy="535200"/>
          </a:xfrm>
          <a:prstGeom prst="rect">
            <a:avLst/>
          </a:prstGeom>
        </p:spPr>
        <p:txBody>
          <a:bodyPr spcFirstLastPara="1" wrap="square" lIns="91425" tIns="91425" rIns="91425" bIns="91425" anchor="t" anchorCtr="0">
            <a:noAutofit/>
          </a:bodyPr>
          <a:lstStyle/>
          <a:p>
            <a:pPr marL="457200" lvl="0" indent="-228600" algn="l" rtl="0">
              <a:lnSpc>
                <a:spcPct val="115000"/>
              </a:lnSpc>
              <a:spcBef>
                <a:spcPts val="0"/>
              </a:spcBef>
              <a:spcAft>
                <a:spcPts val="0"/>
              </a:spcAft>
              <a:buClr>
                <a:schemeClr val="dk2"/>
              </a:buClr>
              <a:buSzPts val="2400"/>
              <a:buFont typeface="Times New Roman"/>
              <a:buNone/>
            </a:pPr>
            <a:r>
              <a:rPr lang="en" sz="2400" b="0">
                <a:latin typeface="Times New Roman"/>
                <a:ea typeface="Times New Roman"/>
                <a:cs typeface="Times New Roman"/>
                <a:sym typeface="Times New Roman"/>
              </a:rPr>
              <a:t>Effort Estimation</a:t>
            </a:r>
            <a:endParaRPr sz="2400">
              <a:latin typeface="Times New Roman"/>
              <a:ea typeface="Times New Roman"/>
              <a:cs typeface="Times New Roman"/>
              <a:sym typeface="Times New Roman"/>
            </a:endParaRPr>
          </a:p>
        </p:txBody>
      </p:sp>
      <p:sp>
        <p:nvSpPr>
          <p:cNvPr id="376" name="Google Shape;376;g3f946b0c4ee_0_148"/>
          <p:cNvSpPr txBox="1">
            <a:spLocks noGrp="1"/>
          </p:cNvSpPr>
          <p:nvPr>
            <p:ph type="body" idx="1"/>
          </p:nvPr>
        </p:nvSpPr>
        <p:spPr>
          <a:xfrm>
            <a:off x="687675" y="1441200"/>
            <a:ext cx="7688700" cy="22611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Clr>
                <a:schemeClr val="dk2"/>
              </a:buClr>
              <a:buSzPts val="1200"/>
              <a:buFont typeface="Times New Roman"/>
              <a:buChar char="●"/>
            </a:pPr>
            <a:r>
              <a:rPr lang="en" sz="1200">
                <a:solidFill>
                  <a:schemeClr val="dk2"/>
                </a:solidFill>
                <a:uFill>
                  <a:noFill/>
                </a:u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Is</a:t>
            </a:r>
            <a:r>
              <a:rPr lang="en" sz="1200">
                <a:solidFill>
                  <a:schemeClr val="dk2"/>
                </a:solidFill>
                <a:latin typeface="Times New Roman"/>
                <a:ea typeface="Times New Roman"/>
                <a:cs typeface="Times New Roman"/>
                <a:sym typeface="Times New Roman"/>
              </a:rPr>
              <a:t> calculated in Person-hour Or person-days or Person-month. </a:t>
            </a:r>
            <a:endParaRPr sz="1200">
              <a:solidFill>
                <a:schemeClr val="dk2"/>
              </a:solidFill>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For effort estimation software size should be known. </a:t>
            </a:r>
            <a:endParaRPr sz="1200">
              <a:solidFill>
                <a:schemeClr val="dk2"/>
              </a:solidFill>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software size can be converted into efforts by using some standard formulas. e,g cocomo-II</a:t>
            </a:r>
            <a:endParaRPr sz="1200">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g3f946b0c4ee_0_154"/>
          <p:cNvSpPr txBox="1">
            <a:spLocks noGrp="1"/>
          </p:cNvSpPr>
          <p:nvPr>
            <p:ph type="title"/>
          </p:nvPr>
        </p:nvSpPr>
        <p:spPr>
          <a:xfrm>
            <a:off x="659850" y="6783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Cost Estimation</a:t>
            </a:r>
            <a:endParaRPr/>
          </a:p>
        </p:txBody>
      </p:sp>
      <p:sp>
        <p:nvSpPr>
          <p:cNvPr id="382" name="Google Shape;382;g3f946b0c4ee_0_154"/>
          <p:cNvSpPr txBox="1">
            <a:spLocks noGrp="1"/>
          </p:cNvSpPr>
          <p:nvPr>
            <p:ph type="body" idx="1"/>
          </p:nvPr>
        </p:nvSpPr>
        <p:spPr>
          <a:xfrm>
            <a:off x="659850" y="1612550"/>
            <a:ext cx="7688700" cy="22611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The cost of a maintenance project is the resources - personnel, machines, time and money - expended on effecting change.</a:t>
            </a:r>
            <a:endParaRPr sz="1200">
              <a:solidFill>
                <a:srgbClr val="000000"/>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One way of estimating the cost of a maintenance task is from historical data collected for a similar task.</a:t>
            </a:r>
            <a:endParaRPr sz="1200">
              <a:solidFill>
                <a:srgbClr val="000000"/>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A second way of estimating cost is through mathematical models. One of these was Boehm's COCOMO model adapted for maintenance.</a:t>
            </a:r>
            <a:endParaRPr sz="1200">
              <a:solidFill>
                <a:srgbClr val="000000"/>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According to Boehm, the cost of maintenance is affected by attributes of factors called cost drivers. Examples of cost drivers are database size, program complexity, use of modern programming practices and applications experience of the maintenance personnel.</a:t>
            </a:r>
            <a:endParaRPr sz="1200">
              <a:solidFill>
                <a:srgbClr val="000000"/>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A third measure of cost is time in person-months required to modify a program.</a:t>
            </a:r>
            <a:endParaRPr sz="1200">
              <a:solidFill>
                <a:srgbClr val="000000"/>
              </a:solidFill>
              <a:latin typeface="Times New Roman"/>
              <a:ea typeface="Times New Roman"/>
              <a:cs typeface="Times New Roman"/>
              <a:sym typeface="Times New Roman"/>
            </a:endParaRPr>
          </a:p>
          <a:p>
            <a:pPr marL="0" lvl="0" indent="0" algn="l" rtl="0">
              <a:spcBef>
                <a:spcPts val="0"/>
              </a:spcBef>
              <a:spcAft>
                <a:spcPts val="0"/>
              </a:spcAft>
              <a:buNone/>
            </a:pP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g3f946b0c4ee_0_142"/>
          <p:cNvSpPr txBox="1">
            <a:spLocks noGrp="1"/>
          </p:cNvSpPr>
          <p:nvPr>
            <p:ph type="title"/>
          </p:nvPr>
        </p:nvSpPr>
        <p:spPr>
          <a:xfrm>
            <a:off x="666800" y="594825"/>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b="0">
                <a:solidFill>
                  <a:srgbClr val="000000"/>
                </a:solidFill>
                <a:latin typeface="Times New Roman"/>
                <a:ea typeface="Times New Roman"/>
                <a:cs typeface="Times New Roman"/>
                <a:sym typeface="Times New Roman"/>
              </a:rPr>
              <a:t>Empirical Estimation Technique</a:t>
            </a:r>
            <a:endParaRPr sz="2400" b="0">
              <a:solidFill>
                <a:srgbClr val="000000"/>
              </a:solidFill>
              <a:latin typeface="Times New Roman"/>
              <a:ea typeface="Times New Roman"/>
              <a:cs typeface="Times New Roman"/>
              <a:sym typeface="Times New Roman"/>
            </a:endParaRPr>
          </a:p>
          <a:p>
            <a:pPr marL="0" lvl="0" indent="0" algn="l" rtl="0">
              <a:spcBef>
                <a:spcPts val="0"/>
              </a:spcBef>
              <a:spcAft>
                <a:spcPts val="0"/>
              </a:spcAft>
              <a:buNone/>
            </a:pPr>
            <a:endParaRPr sz="2400">
              <a:latin typeface="Times New Roman"/>
              <a:ea typeface="Times New Roman"/>
              <a:cs typeface="Times New Roman"/>
              <a:sym typeface="Times New Roman"/>
            </a:endParaRPr>
          </a:p>
        </p:txBody>
      </p:sp>
      <p:sp>
        <p:nvSpPr>
          <p:cNvPr id="388" name="Google Shape;388;g3f946b0c4ee_0_142"/>
          <p:cNvSpPr txBox="1">
            <a:spLocks noGrp="1"/>
          </p:cNvSpPr>
          <p:nvPr>
            <p:ph type="body" idx="1"/>
          </p:nvPr>
        </p:nvSpPr>
        <p:spPr>
          <a:xfrm>
            <a:off x="666800" y="1441200"/>
            <a:ext cx="7688700" cy="22611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COCOMO-I: COCOMO stands for COnstructive COst MOdel, developed by Barry W. Boehm. It divides the software product into three categories of software: organic, semi-detached and embedded.</a:t>
            </a:r>
            <a:endParaRPr sz="1200">
              <a:solidFill>
                <a:schemeClr val="dk2"/>
              </a:solidFill>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COCOMO-II : </a:t>
            </a:r>
            <a:r>
              <a:rPr lang="en" sz="1200">
                <a:solidFill>
                  <a:schemeClr val="dk2"/>
                </a:solidFill>
                <a:highlight>
                  <a:srgbClr val="FFFFFF"/>
                </a:highlight>
                <a:latin typeface="Times New Roman"/>
                <a:ea typeface="Times New Roman"/>
                <a:cs typeface="Times New Roman"/>
                <a:sym typeface="Times New Roman"/>
              </a:rPr>
              <a:t>The motivations behind COCOMO II were object-oriented and component-based development, software reuse and commercial off-the-shelf integration, iterative and spiral development models, and modern tooling. </a:t>
            </a:r>
            <a:endParaRPr sz="120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highlight>
                  <a:srgbClr val="FFFFFF"/>
                </a:highlight>
                <a:latin typeface="Times New Roman"/>
                <a:ea typeface="Times New Roman"/>
                <a:cs typeface="Times New Roman"/>
                <a:sym typeface="Times New Roman"/>
              </a:rPr>
              <a:t>COCOMO II offers three sub-models, each suited to a different phase of a project's life, includes -  Application Composition Model, Early Design Model</a:t>
            </a:r>
            <a:r>
              <a:rPr lang="en" sz="1200">
                <a:solidFill>
                  <a:schemeClr val="dk2"/>
                </a:solidFill>
                <a:latin typeface="Times New Roman"/>
                <a:ea typeface="Times New Roman"/>
                <a:cs typeface="Times New Roman"/>
                <a:sym typeface="Times New Roman"/>
              </a:rPr>
              <a:t> , </a:t>
            </a:r>
            <a:r>
              <a:rPr lang="en" sz="1200">
                <a:solidFill>
                  <a:schemeClr val="dk2"/>
                </a:solidFill>
                <a:highlight>
                  <a:srgbClr val="FFFFFF"/>
                </a:highlight>
                <a:latin typeface="Times New Roman"/>
                <a:ea typeface="Times New Roman"/>
                <a:cs typeface="Times New Roman"/>
                <a:sym typeface="Times New Roman"/>
              </a:rPr>
              <a:t>Post-Architecture Model</a:t>
            </a:r>
            <a:r>
              <a:rPr lang="en" sz="1200">
                <a:solidFill>
                  <a:schemeClr val="dk2"/>
                </a:solidFill>
                <a:latin typeface="Times New Roman"/>
                <a:ea typeface="Times New Roman"/>
                <a:cs typeface="Times New Roman"/>
                <a:sym typeface="Times New Roman"/>
              </a:rPr>
              <a:t> </a:t>
            </a:r>
            <a:endParaRPr sz="1200">
              <a:solidFill>
                <a:schemeClr val="dk2"/>
              </a:solidFill>
              <a:highlight>
                <a:srgbClr val="FFFFFF"/>
              </a:highlight>
              <a:latin typeface="Times New Roman"/>
              <a:ea typeface="Times New Roman"/>
              <a:cs typeface="Times New Roman"/>
              <a:sym typeface="Times New Roman"/>
            </a:endParaRPr>
          </a:p>
          <a:p>
            <a:pPr marL="0" lvl="0" indent="0" algn="l" rtl="0">
              <a:spcBef>
                <a:spcPts val="1100"/>
              </a:spcBef>
              <a:spcAft>
                <a:spcPts val="0"/>
              </a:spcAft>
              <a:buNone/>
            </a:pPr>
            <a:endParaRPr sz="1200">
              <a:solidFill>
                <a:schemeClr val="dk2"/>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g3f946b0c4ee_0_159"/>
          <p:cNvSpPr txBox="1">
            <a:spLocks noGrp="1"/>
          </p:cNvSpPr>
          <p:nvPr>
            <p:ph type="title"/>
          </p:nvPr>
        </p:nvSpPr>
        <p:spPr>
          <a:xfrm>
            <a:off x="659850" y="734025"/>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b="0">
                <a:latin typeface="Times New Roman"/>
                <a:ea typeface="Times New Roman"/>
                <a:cs typeface="Times New Roman"/>
                <a:sym typeface="Times New Roman"/>
              </a:rPr>
              <a:t>COCOMO-I</a:t>
            </a:r>
            <a:endParaRPr sz="2400">
              <a:latin typeface="Times New Roman"/>
              <a:ea typeface="Times New Roman"/>
              <a:cs typeface="Times New Roman"/>
              <a:sym typeface="Times New Roman"/>
            </a:endParaRPr>
          </a:p>
        </p:txBody>
      </p:sp>
      <p:sp>
        <p:nvSpPr>
          <p:cNvPr id="394" name="Google Shape;394;g3f946b0c4ee_0_159"/>
          <p:cNvSpPr txBox="1">
            <a:spLocks noGrp="1"/>
          </p:cNvSpPr>
          <p:nvPr>
            <p:ph type="body" idx="1"/>
          </p:nvPr>
        </p:nvSpPr>
        <p:spPr>
          <a:xfrm>
            <a:off x="659850" y="1473350"/>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Clr>
                <a:schemeClr val="dk2"/>
              </a:buClr>
              <a:buSzPts val="1300"/>
              <a:buFont typeface="Times New Roman"/>
              <a:buChar char="●"/>
            </a:pPr>
            <a:r>
              <a:rPr lang="en" sz="1200">
                <a:solidFill>
                  <a:schemeClr val="dk2"/>
                </a:solidFill>
                <a:highlight>
                  <a:srgbClr val="FFFFFF"/>
                </a:highlight>
                <a:latin typeface="Times New Roman"/>
                <a:ea typeface="Times New Roman"/>
                <a:cs typeface="Times New Roman"/>
                <a:sym typeface="Times New Roman"/>
              </a:rPr>
              <a:t>COCOMO (Constructive Cost Model) is a parametric software cost estimation model. </a:t>
            </a:r>
            <a:endParaRPr sz="1200">
              <a:solidFill>
                <a:schemeClr val="dk2"/>
              </a:solidFill>
              <a:highlight>
                <a:srgbClr val="FFFFFF"/>
              </a:highlight>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Font typeface="Times New Roman"/>
              <a:buChar char="●"/>
            </a:pPr>
            <a:r>
              <a:rPr lang="en" sz="1200">
                <a:solidFill>
                  <a:schemeClr val="dk2"/>
                </a:solidFill>
                <a:highlight>
                  <a:srgbClr val="FFFFFF"/>
                </a:highlight>
                <a:latin typeface="Times New Roman"/>
                <a:ea typeface="Times New Roman"/>
                <a:cs typeface="Times New Roman"/>
                <a:sym typeface="Times New Roman"/>
              </a:rPr>
              <a:t>It takes one primary input, specifically the estimated size of a software project measured in Thousands of Lines of Code (KLOC), </a:t>
            </a:r>
            <a:endParaRPr sz="1200">
              <a:solidFill>
                <a:schemeClr val="dk2"/>
              </a:solidFill>
              <a:highlight>
                <a:srgbClr val="FFFFFF"/>
              </a:highlight>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Font typeface="Times New Roman"/>
              <a:buChar char="●"/>
            </a:pPr>
            <a:r>
              <a:rPr lang="en" sz="1200">
                <a:solidFill>
                  <a:schemeClr val="dk2"/>
                </a:solidFill>
                <a:highlight>
                  <a:srgbClr val="FFFFFF"/>
                </a:highlight>
                <a:latin typeface="Times New Roman"/>
                <a:ea typeface="Times New Roman"/>
                <a:cs typeface="Times New Roman"/>
                <a:sym typeface="Times New Roman"/>
              </a:rPr>
              <a:t>Predicts three things - </a:t>
            </a:r>
            <a:endParaRPr sz="1200">
              <a:solidFill>
                <a:schemeClr val="dk2"/>
              </a:solidFill>
              <a:highlight>
                <a:srgbClr val="FFFFFF"/>
              </a:highlight>
              <a:latin typeface="Times New Roman"/>
              <a:ea typeface="Times New Roman"/>
              <a:cs typeface="Times New Roman"/>
              <a:sym typeface="Times New Roman"/>
            </a:endParaRPr>
          </a:p>
          <a:p>
            <a:pPr marL="914400" lvl="1" indent="-298450" algn="l" rtl="0">
              <a:spcBef>
                <a:spcPts val="0"/>
              </a:spcBef>
              <a:spcAft>
                <a:spcPts val="0"/>
              </a:spcAft>
              <a:buClr>
                <a:schemeClr val="dk2"/>
              </a:buClr>
              <a:buSzPts val="1100"/>
              <a:buFont typeface="Times New Roman"/>
              <a:buChar char="○"/>
            </a:pPr>
            <a:r>
              <a:rPr lang="en" sz="1200">
                <a:solidFill>
                  <a:schemeClr val="dk2"/>
                </a:solidFill>
                <a:highlight>
                  <a:srgbClr val="FFFFFF"/>
                </a:highlight>
                <a:latin typeface="Times New Roman"/>
                <a:ea typeface="Times New Roman"/>
                <a:cs typeface="Times New Roman"/>
                <a:sym typeface="Times New Roman"/>
              </a:rPr>
              <a:t>Total effort in person-months (PM), </a:t>
            </a:r>
            <a:endParaRPr sz="1200">
              <a:solidFill>
                <a:schemeClr val="dk2"/>
              </a:solidFill>
              <a:highlight>
                <a:srgbClr val="FFFFFF"/>
              </a:highlight>
              <a:latin typeface="Times New Roman"/>
              <a:ea typeface="Times New Roman"/>
              <a:cs typeface="Times New Roman"/>
              <a:sym typeface="Times New Roman"/>
            </a:endParaRPr>
          </a:p>
          <a:p>
            <a:pPr marL="914400" lvl="1" indent="-298450" algn="l" rtl="0">
              <a:spcBef>
                <a:spcPts val="0"/>
              </a:spcBef>
              <a:spcAft>
                <a:spcPts val="0"/>
              </a:spcAft>
              <a:buClr>
                <a:schemeClr val="dk2"/>
              </a:buClr>
              <a:buSzPts val="1100"/>
              <a:buFont typeface="Times New Roman"/>
              <a:buChar char="○"/>
            </a:pPr>
            <a:r>
              <a:rPr lang="en" sz="1200">
                <a:solidFill>
                  <a:schemeClr val="dk2"/>
                </a:solidFill>
                <a:highlight>
                  <a:srgbClr val="FFFFFF"/>
                </a:highlight>
                <a:latin typeface="Times New Roman"/>
                <a:ea typeface="Times New Roman"/>
                <a:cs typeface="Times New Roman"/>
                <a:sym typeface="Times New Roman"/>
              </a:rPr>
              <a:t>Development time in months</a:t>
            </a:r>
            <a:endParaRPr sz="1200">
              <a:solidFill>
                <a:schemeClr val="dk2"/>
              </a:solidFill>
              <a:highlight>
                <a:srgbClr val="FFFFFF"/>
              </a:highlight>
              <a:latin typeface="Times New Roman"/>
              <a:ea typeface="Times New Roman"/>
              <a:cs typeface="Times New Roman"/>
              <a:sym typeface="Times New Roman"/>
            </a:endParaRPr>
          </a:p>
          <a:p>
            <a:pPr marL="914400" lvl="1" indent="-298450" algn="l" rtl="0">
              <a:spcBef>
                <a:spcPts val="0"/>
              </a:spcBef>
              <a:spcAft>
                <a:spcPts val="0"/>
              </a:spcAft>
              <a:buClr>
                <a:schemeClr val="dk2"/>
              </a:buClr>
              <a:buSzPts val="1100"/>
              <a:buFont typeface="Times New Roman"/>
              <a:buChar char="○"/>
            </a:pPr>
            <a:r>
              <a:rPr lang="en" sz="1200">
                <a:solidFill>
                  <a:schemeClr val="dk2"/>
                </a:solidFill>
                <a:highlight>
                  <a:srgbClr val="FFFFFF"/>
                </a:highlight>
                <a:latin typeface="Times New Roman"/>
                <a:ea typeface="Times New Roman"/>
                <a:cs typeface="Times New Roman"/>
                <a:sym typeface="Times New Roman"/>
              </a:rPr>
              <a:t>The number of people needed.</a:t>
            </a:r>
            <a:r>
              <a:rPr lang="en" sz="1100">
                <a:solidFill>
                  <a:schemeClr val="dk2"/>
                </a:solidFill>
                <a:latin typeface="Times New Roman"/>
                <a:ea typeface="Times New Roman"/>
                <a:cs typeface="Times New Roman"/>
                <a:sym typeface="Times New Roman"/>
              </a:rPr>
              <a:t> </a:t>
            </a:r>
            <a:endParaRPr>
              <a:solidFill>
                <a:schemeClr val="dk2"/>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g3f946b0c4ee_0_16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00" name="Google Shape;400;g3f946b0c4ee_0_16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401" name="Google Shape;401;g3f946b0c4ee_0_165"/>
          <p:cNvPicPr preferRelativeResize="0"/>
          <p:nvPr/>
        </p:nvPicPr>
        <p:blipFill>
          <a:blip r:embed="rId3">
            <a:alphaModFix/>
          </a:blip>
          <a:stretch>
            <a:fillRect/>
          </a:stretch>
        </p:blipFill>
        <p:spPr>
          <a:xfrm>
            <a:off x="637196" y="55675"/>
            <a:ext cx="6728158" cy="51435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g3f946b0c4ee_0_177"/>
          <p:cNvSpPr txBox="1">
            <a:spLocks noGrp="1"/>
          </p:cNvSpPr>
          <p:nvPr>
            <p:ph type="title"/>
          </p:nvPr>
        </p:nvSpPr>
        <p:spPr>
          <a:xfrm>
            <a:off x="757300" y="72007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Times New Roman"/>
                <a:ea typeface="Times New Roman"/>
                <a:cs typeface="Times New Roman"/>
                <a:sym typeface="Times New Roman"/>
              </a:rPr>
              <a:t>Project Mode</a:t>
            </a:r>
            <a:endParaRPr sz="2400">
              <a:latin typeface="Times New Roman"/>
              <a:ea typeface="Times New Roman"/>
              <a:cs typeface="Times New Roman"/>
              <a:sym typeface="Times New Roman"/>
            </a:endParaRPr>
          </a:p>
        </p:txBody>
      </p:sp>
      <p:sp>
        <p:nvSpPr>
          <p:cNvPr id="407" name="Google Shape;407;g3f946b0c4ee_0_177"/>
          <p:cNvSpPr txBox="1">
            <a:spLocks noGrp="1"/>
          </p:cNvSpPr>
          <p:nvPr>
            <p:ph type="body" idx="1"/>
          </p:nvPr>
        </p:nvSpPr>
        <p:spPr>
          <a:xfrm>
            <a:off x="673775" y="1494225"/>
            <a:ext cx="7688700" cy="22611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900" b="1">
                <a:solidFill>
                  <a:schemeClr val="dk2"/>
                </a:solidFill>
                <a:highlight>
                  <a:srgbClr val="FFFFFF"/>
                </a:highlight>
                <a:latin typeface="Times New Roman"/>
                <a:ea typeface="Times New Roman"/>
                <a:cs typeface="Times New Roman"/>
                <a:sym typeface="Times New Roman"/>
              </a:rPr>
              <a:t>Organic mode</a:t>
            </a:r>
            <a:endParaRPr sz="900" b="1">
              <a:solidFill>
                <a:schemeClr val="dk2"/>
              </a:solidFill>
              <a:highlight>
                <a:srgbClr val="FFFFFF"/>
              </a:highlight>
              <a:latin typeface="Times New Roman"/>
              <a:ea typeface="Times New Roman"/>
              <a:cs typeface="Times New Roman"/>
              <a:sym typeface="Times New Roman"/>
            </a:endParaRPr>
          </a:p>
          <a:p>
            <a:pPr marL="0" lvl="0" indent="0" algn="l" rtl="0">
              <a:spcBef>
                <a:spcPts val="1200"/>
              </a:spcBef>
              <a:spcAft>
                <a:spcPts val="0"/>
              </a:spcAft>
              <a:buNone/>
            </a:pPr>
            <a:r>
              <a:rPr lang="en" sz="900">
                <a:solidFill>
                  <a:schemeClr val="dk2"/>
                </a:solidFill>
                <a:highlight>
                  <a:srgbClr val="FFFFFF"/>
                </a:highlight>
                <a:latin typeface="Times New Roman"/>
                <a:ea typeface="Times New Roman"/>
                <a:cs typeface="Times New Roman"/>
                <a:sym typeface="Times New Roman"/>
              </a:rPr>
              <a:t>Organic mode covers small to medium projects where the team has solid experience with the application domain, requirements are relatively well understood, and there is no significant external pressure from hardware constraints or regulatory requirements. A payroll system, a data processing application, or an inventory management tool would typically fall here.</a:t>
            </a:r>
            <a:endParaRPr sz="900">
              <a:solidFill>
                <a:schemeClr val="dk2"/>
              </a:solidFill>
              <a:highlight>
                <a:srgbClr val="FFFFFF"/>
              </a:highlight>
              <a:latin typeface="Times New Roman"/>
              <a:ea typeface="Times New Roman"/>
              <a:cs typeface="Times New Roman"/>
              <a:sym typeface="Times New Roman"/>
            </a:endParaRPr>
          </a:p>
          <a:p>
            <a:pPr marL="0" lvl="0" indent="0" algn="l" rtl="0">
              <a:spcBef>
                <a:spcPts val="1100"/>
              </a:spcBef>
              <a:spcAft>
                <a:spcPts val="0"/>
              </a:spcAft>
              <a:buNone/>
            </a:pPr>
            <a:r>
              <a:rPr lang="en" sz="900" b="1">
                <a:solidFill>
                  <a:schemeClr val="dk2"/>
                </a:solidFill>
                <a:highlight>
                  <a:srgbClr val="FFFFFF"/>
                </a:highlight>
                <a:latin typeface="Times New Roman"/>
                <a:ea typeface="Times New Roman"/>
                <a:cs typeface="Times New Roman"/>
                <a:sym typeface="Times New Roman"/>
              </a:rPr>
              <a:t>Semi-detached mode</a:t>
            </a:r>
            <a:endParaRPr sz="900" b="1">
              <a:solidFill>
                <a:schemeClr val="dk2"/>
              </a:solidFill>
              <a:highlight>
                <a:srgbClr val="FFFFFF"/>
              </a:highlight>
              <a:latin typeface="Times New Roman"/>
              <a:ea typeface="Times New Roman"/>
              <a:cs typeface="Times New Roman"/>
              <a:sym typeface="Times New Roman"/>
            </a:endParaRPr>
          </a:p>
          <a:p>
            <a:pPr marL="0" lvl="0" indent="0" algn="l" rtl="0">
              <a:spcBef>
                <a:spcPts val="1100"/>
              </a:spcBef>
              <a:spcAft>
                <a:spcPts val="0"/>
              </a:spcAft>
              <a:buNone/>
            </a:pPr>
            <a:r>
              <a:rPr lang="en" sz="900">
                <a:solidFill>
                  <a:schemeClr val="dk2"/>
                </a:solidFill>
                <a:highlight>
                  <a:srgbClr val="FFFFFF"/>
                </a:highlight>
                <a:latin typeface="Times New Roman"/>
                <a:ea typeface="Times New Roman"/>
                <a:cs typeface="Times New Roman"/>
                <a:sym typeface="Times New Roman"/>
              </a:rPr>
              <a:t>Semi-detached mode sits in the middle. Teams in this category have mixed experience: some members know the domain well, others do not. The project has moderate complexity, and there may be some interaction with new hardware or external systems.</a:t>
            </a:r>
            <a:endParaRPr sz="900">
              <a:solidFill>
                <a:schemeClr val="dk2"/>
              </a:solidFill>
              <a:highlight>
                <a:srgbClr val="FFFFFF"/>
              </a:highlight>
              <a:latin typeface="Times New Roman"/>
              <a:ea typeface="Times New Roman"/>
              <a:cs typeface="Times New Roman"/>
              <a:sym typeface="Times New Roman"/>
            </a:endParaRPr>
          </a:p>
          <a:p>
            <a:pPr marL="0" lvl="0" indent="0" algn="l" rtl="0">
              <a:spcBef>
                <a:spcPts val="1200"/>
              </a:spcBef>
              <a:spcAft>
                <a:spcPts val="0"/>
              </a:spcAft>
              <a:buNone/>
            </a:pPr>
            <a:r>
              <a:rPr lang="en" sz="900" b="1">
                <a:solidFill>
                  <a:schemeClr val="dk2"/>
                </a:solidFill>
                <a:highlight>
                  <a:srgbClr val="FFFFFF"/>
                </a:highlight>
                <a:latin typeface="Times New Roman"/>
                <a:ea typeface="Times New Roman"/>
                <a:cs typeface="Times New Roman"/>
                <a:sym typeface="Times New Roman"/>
              </a:rPr>
              <a:t>Embedded mode</a:t>
            </a:r>
            <a:endParaRPr sz="900" b="1">
              <a:solidFill>
                <a:schemeClr val="dk2"/>
              </a:solidFill>
              <a:highlight>
                <a:srgbClr val="FFFFFF"/>
              </a:highlight>
              <a:latin typeface="Times New Roman"/>
              <a:ea typeface="Times New Roman"/>
              <a:cs typeface="Times New Roman"/>
              <a:sym typeface="Times New Roman"/>
            </a:endParaRPr>
          </a:p>
          <a:p>
            <a:pPr marL="0" lvl="0" indent="0" algn="l" rtl="0">
              <a:spcBef>
                <a:spcPts val="1200"/>
              </a:spcBef>
              <a:spcAft>
                <a:spcPts val="0"/>
              </a:spcAft>
              <a:buNone/>
            </a:pPr>
            <a:r>
              <a:rPr lang="en" sz="900">
                <a:solidFill>
                  <a:schemeClr val="dk2"/>
                </a:solidFill>
                <a:highlight>
                  <a:srgbClr val="FFFFFF"/>
                </a:highlight>
                <a:latin typeface="Times New Roman"/>
                <a:ea typeface="Times New Roman"/>
                <a:cs typeface="Times New Roman"/>
                <a:sym typeface="Times New Roman"/>
              </a:rPr>
              <a:t>Embedded mode applies to projects with tight operational constraints: strict hardware requirements, real-time processing demands, regulatory standards, or aerospace and defense requirements. The team may be large and technically skilled, but the complexity of integration, testing, and validation drives effort up sharply as project size increases.</a:t>
            </a:r>
            <a:endParaRPr sz="900">
              <a:solidFill>
                <a:schemeClr val="dk2"/>
              </a:solidFill>
              <a:highlight>
                <a:srgbClr val="FFFFFF"/>
              </a:highlight>
              <a:latin typeface="Times New Roman"/>
              <a:ea typeface="Times New Roman"/>
              <a:cs typeface="Times New Roman"/>
              <a:sym typeface="Times New Roman"/>
            </a:endParaRPr>
          </a:p>
          <a:p>
            <a:pPr marL="0" lvl="0" indent="0" algn="l" rtl="0">
              <a:spcBef>
                <a:spcPts val="1100"/>
              </a:spcBef>
              <a:spcAft>
                <a:spcPts val="0"/>
              </a:spcAft>
              <a:buNone/>
            </a:pPr>
            <a:endParaRPr sz="900">
              <a:solidFill>
                <a:schemeClr val="dk2"/>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g3f946b0c4ee_0_17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413" name="Google Shape;413;g3f946b0c4ee_0_17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414" name="Google Shape;414;g3f946b0c4ee_0_171"/>
          <p:cNvPicPr preferRelativeResize="0"/>
          <p:nvPr/>
        </p:nvPicPr>
        <p:blipFill>
          <a:blip r:embed="rId3">
            <a:alphaModFix/>
          </a:blip>
          <a:stretch>
            <a:fillRect/>
          </a:stretch>
        </p:blipFill>
        <p:spPr>
          <a:xfrm>
            <a:off x="102288" y="883263"/>
            <a:ext cx="6962775" cy="32099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g3f946b0c4ee_0_185"/>
          <p:cNvSpPr txBox="1">
            <a:spLocks noGrp="1"/>
          </p:cNvSpPr>
          <p:nvPr>
            <p:ph type="title"/>
          </p:nvPr>
        </p:nvSpPr>
        <p:spPr>
          <a:xfrm>
            <a:off x="666825" y="2050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COCOMO - II</a:t>
            </a:r>
            <a:endParaRPr/>
          </a:p>
        </p:txBody>
      </p:sp>
      <p:pic>
        <p:nvPicPr>
          <p:cNvPr id="421" name="Google Shape;421;g3f946b0c4ee_0_185"/>
          <p:cNvPicPr preferRelativeResize="0"/>
          <p:nvPr/>
        </p:nvPicPr>
        <p:blipFill>
          <a:blip r:embed="rId3">
            <a:alphaModFix/>
          </a:blip>
          <a:stretch>
            <a:fillRect/>
          </a:stretch>
        </p:blipFill>
        <p:spPr>
          <a:xfrm>
            <a:off x="875625" y="827575"/>
            <a:ext cx="6267450" cy="37528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g3f946b0c4ee_0_191"/>
          <p:cNvSpPr txBox="1">
            <a:spLocks noGrp="1"/>
          </p:cNvSpPr>
          <p:nvPr>
            <p:ph type="title"/>
          </p:nvPr>
        </p:nvSpPr>
        <p:spPr>
          <a:xfrm>
            <a:off x="666800" y="629600"/>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b="0">
                <a:solidFill>
                  <a:srgbClr val="05192D"/>
                </a:solidFill>
                <a:latin typeface="Times New Roman"/>
                <a:ea typeface="Times New Roman"/>
                <a:cs typeface="Times New Roman"/>
                <a:sym typeface="Times New Roman"/>
              </a:rPr>
              <a:t>Five Scale Factors in COCOMO II </a:t>
            </a:r>
            <a:endParaRPr sz="2400">
              <a:latin typeface="Times New Roman"/>
              <a:ea typeface="Times New Roman"/>
              <a:cs typeface="Times New Roman"/>
              <a:sym typeface="Times New Roman"/>
            </a:endParaRPr>
          </a:p>
        </p:txBody>
      </p:sp>
      <p:sp>
        <p:nvSpPr>
          <p:cNvPr id="427" name="Google Shape;427;g3f946b0c4ee_0_191"/>
          <p:cNvSpPr txBox="1">
            <a:spLocks noGrp="1"/>
          </p:cNvSpPr>
          <p:nvPr>
            <p:ph type="body" idx="1"/>
          </p:nvPr>
        </p:nvSpPr>
        <p:spPr>
          <a:xfrm>
            <a:off x="666800" y="1494250"/>
            <a:ext cx="7688700" cy="22611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Clr>
                <a:schemeClr val="dk2"/>
              </a:buClr>
              <a:buSzPts val="1200"/>
              <a:buChar char="●"/>
            </a:pPr>
            <a:r>
              <a:rPr lang="en" sz="1200">
                <a:solidFill>
                  <a:schemeClr val="dk2"/>
                </a:solidFill>
                <a:latin typeface="Times New Roman"/>
                <a:ea typeface="Times New Roman"/>
                <a:cs typeface="Times New Roman"/>
                <a:sym typeface="Times New Roman"/>
              </a:rPr>
              <a:t>Precedentedness (</a:t>
            </a:r>
            <a:r>
              <a:rPr lang="en" sz="1200">
                <a:solidFill>
                  <a:schemeClr val="dk2"/>
                </a:solidFill>
                <a:highlight>
                  <a:srgbClr val="F7F7FC"/>
                </a:highlight>
                <a:latin typeface="Times New Roman"/>
                <a:ea typeface="Times New Roman"/>
                <a:cs typeface="Times New Roman"/>
                <a:sym typeface="Times New Roman"/>
              </a:rPr>
              <a:t>PREC</a:t>
            </a:r>
            <a:r>
              <a:rPr lang="en" sz="1200">
                <a:solidFill>
                  <a:schemeClr val="dk2"/>
                </a:solidFill>
                <a:latin typeface="Times New Roman"/>
                <a:ea typeface="Times New Roman"/>
                <a:cs typeface="Times New Roman"/>
                <a:sym typeface="Times New Roman"/>
              </a:rPr>
              <a:t>), </a:t>
            </a:r>
            <a:endParaRPr sz="1200">
              <a:solidFill>
                <a:schemeClr val="dk2"/>
              </a:solidFill>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Char char="●"/>
            </a:pPr>
            <a:r>
              <a:rPr lang="en" sz="1200">
                <a:solidFill>
                  <a:schemeClr val="dk2"/>
                </a:solidFill>
                <a:latin typeface="Times New Roman"/>
                <a:ea typeface="Times New Roman"/>
                <a:cs typeface="Times New Roman"/>
                <a:sym typeface="Times New Roman"/>
              </a:rPr>
              <a:t>Development flexibility (</a:t>
            </a:r>
            <a:r>
              <a:rPr lang="en" sz="1200">
                <a:solidFill>
                  <a:schemeClr val="dk2"/>
                </a:solidFill>
                <a:highlight>
                  <a:srgbClr val="F7F7FC"/>
                </a:highlight>
                <a:latin typeface="Times New Roman"/>
                <a:ea typeface="Times New Roman"/>
                <a:cs typeface="Times New Roman"/>
                <a:sym typeface="Times New Roman"/>
              </a:rPr>
              <a:t>FLEX</a:t>
            </a:r>
            <a:r>
              <a:rPr lang="en" sz="1200">
                <a:solidFill>
                  <a:schemeClr val="dk2"/>
                </a:solidFill>
                <a:latin typeface="Times New Roman"/>
                <a:ea typeface="Times New Roman"/>
                <a:cs typeface="Times New Roman"/>
                <a:sym typeface="Times New Roman"/>
              </a:rPr>
              <a:t>), </a:t>
            </a:r>
            <a:endParaRPr sz="1200">
              <a:solidFill>
                <a:schemeClr val="dk2"/>
              </a:solidFill>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Char char="●"/>
            </a:pPr>
            <a:r>
              <a:rPr lang="en" sz="1200">
                <a:solidFill>
                  <a:schemeClr val="dk2"/>
                </a:solidFill>
                <a:latin typeface="Times New Roman"/>
                <a:ea typeface="Times New Roman"/>
                <a:cs typeface="Times New Roman"/>
                <a:sym typeface="Times New Roman"/>
              </a:rPr>
              <a:t>Architecture and risk resolution (</a:t>
            </a:r>
            <a:r>
              <a:rPr lang="en" sz="1200">
                <a:solidFill>
                  <a:schemeClr val="dk2"/>
                </a:solidFill>
                <a:highlight>
                  <a:srgbClr val="F7F7FC"/>
                </a:highlight>
                <a:latin typeface="Times New Roman"/>
                <a:ea typeface="Times New Roman"/>
                <a:cs typeface="Times New Roman"/>
                <a:sym typeface="Times New Roman"/>
              </a:rPr>
              <a:t>RESL</a:t>
            </a:r>
            <a:r>
              <a:rPr lang="en" sz="1200">
                <a:solidFill>
                  <a:schemeClr val="dk2"/>
                </a:solidFill>
                <a:latin typeface="Times New Roman"/>
                <a:ea typeface="Times New Roman"/>
                <a:cs typeface="Times New Roman"/>
                <a:sym typeface="Times New Roman"/>
              </a:rPr>
              <a:t>), </a:t>
            </a:r>
            <a:endParaRPr sz="1200">
              <a:solidFill>
                <a:schemeClr val="dk2"/>
              </a:solidFill>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Char char="●"/>
            </a:pPr>
            <a:r>
              <a:rPr lang="en" sz="1200">
                <a:solidFill>
                  <a:schemeClr val="dk2"/>
                </a:solidFill>
                <a:latin typeface="Times New Roman"/>
                <a:ea typeface="Times New Roman"/>
                <a:cs typeface="Times New Roman"/>
                <a:sym typeface="Times New Roman"/>
              </a:rPr>
              <a:t>Team cohesion (</a:t>
            </a:r>
            <a:r>
              <a:rPr lang="en" sz="1200">
                <a:solidFill>
                  <a:schemeClr val="dk2"/>
                </a:solidFill>
                <a:highlight>
                  <a:srgbClr val="F7F7FC"/>
                </a:highlight>
                <a:latin typeface="Times New Roman"/>
                <a:ea typeface="Times New Roman"/>
                <a:cs typeface="Times New Roman"/>
                <a:sym typeface="Times New Roman"/>
              </a:rPr>
              <a:t>TEAM</a:t>
            </a:r>
            <a:r>
              <a:rPr lang="en" sz="1200">
                <a:solidFill>
                  <a:schemeClr val="dk2"/>
                </a:solidFill>
                <a:latin typeface="Times New Roman"/>
                <a:ea typeface="Times New Roman"/>
                <a:cs typeface="Times New Roman"/>
                <a:sym typeface="Times New Roman"/>
              </a:rPr>
              <a:t>)</a:t>
            </a:r>
            <a:endParaRPr sz="1200">
              <a:solidFill>
                <a:schemeClr val="dk2"/>
              </a:solidFill>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Char char="●"/>
            </a:pPr>
            <a:r>
              <a:rPr lang="en" sz="1200">
                <a:solidFill>
                  <a:schemeClr val="dk2"/>
                </a:solidFill>
                <a:latin typeface="Times New Roman"/>
                <a:ea typeface="Times New Roman"/>
                <a:cs typeface="Times New Roman"/>
                <a:sym typeface="Times New Roman"/>
              </a:rPr>
              <a:t>Process maturity (</a:t>
            </a:r>
            <a:r>
              <a:rPr lang="en" sz="1200">
                <a:solidFill>
                  <a:schemeClr val="dk2"/>
                </a:solidFill>
                <a:highlight>
                  <a:srgbClr val="F7F7FC"/>
                </a:highlight>
                <a:latin typeface="Times New Roman"/>
                <a:ea typeface="Times New Roman"/>
                <a:cs typeface="Times New Roman"/>
                <a:sym typeface="Times New Roman"/>
              </a:rPr>
              <a:t>PMAT</a:t>
            </a:r>
            <a:r>
              <a:rPr lang="en" sz="1200">
                <a:solidFill>
                  <a:schemeClr val="dk2"/>
                </a:solidFill>
                <a:latin typeface="Times New Roman"/>
                <a:ea typeface="Times New Roman"/>
                <a:cs typeface="Times New Roman"/>
                <a:sym typeface="Times New Roman"/>
              </a:rPr>
              <a:t>). </a:t>
            </a:r>
            <a:endParaRPr sz="1200">
              <a:solidFill>
                <a:schemeClr val="dk2"/>
              </a:solidFill>
              <a:latin typeface="Times New Roman"/>
              <a:ea typeface="Times New Roman"/>
              <a:cs typeface="Times New Roman"/>
              <a:sym typeface="Times New Roman"/>
            </a:endParaRPr>
          </a:p>
          <a:p>
            <a:pPr marL="457200" lvl="0" indent="0" algn="l" rtl="0">
              <a:spcBef>
                <a:spcPts val="0"/>
              </a:spcBef>
              <a:spcAft>
                <a:spcPts val="0"/>
              </a:spcAft>
              <a:buNone/>
            </a:pPr>
            <a:endParaRPr sz="1200">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sz="1200">
                <a:solidFill>
                  <a:schemeClr val="dk2"/>
                </a:solidFill>
                <a:latin typeface="Times New Roman"/>
                <a:ea typeface="Times New Roman"/>
                <a:cs typeface="Times New Roman"/>
                <a:sym typeface="Times New Roman"/>
              </a:rPr>
              <a:t>Each is rated on a scale from Very Low to Extra High, and their combined sum determines </a:t>
            </a:r>
            <a:r>
              <a:rPr lang="en" sz="1200">
                <a:solidFill>
                  <a:schemeClr val="dk2"/>
                </a:solidFill>
                <a:highlight>
                  <a:srgbClr val="F7F7FC"/>
                </a:highlight>
                <a:latin typeface="Times New Roman"/>
                <a:ea typeface="Times New Roman"/>
                <a:cs typeface="Times New Roman"/>
                <a:sym typeface="Times New Roman"/>
              </a:rPr>
              <a:t>E</a:t>
            </a:r>
            <a:r>
              <a:rPr lang="en" sz="1200">
                <a:solidFill>
                  <a:schemeClr val="dk2"/>
                </a:solidFill>
                <a:latin typeface="Times New Roman"/>
                <a:ea typeface="Times New Roman"/>
                <a:cs typeface="Times New Roman"/>
                <a:sym typeface="Times New Roman"/>
              </a:rPr>
              <a:t> in the effort formula. A higher sum means a less mature, less familiar, riskier project, which means a higher exponent and more effort. </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g3f946b0c4ee_0_197"/>
          <p:cNvSpPr txBox="1">
            <a:spLocks noGrp="1"/>
          </p:cNvSpPr>
          <p:nvPr>
            <p:ph type="title"/>
          </p:nvPr>
        </p:nvSpPr>
        <p:spPr>
          <a:xfrm>
            <a:off x="687675" y="643500"/>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b="0">
                <a:latin typeface="Times New Roman"/>
                <a:ea typeface="Times New Roman"/>
                <a:cs typeface="Times New Roman"/>
                <a:sym typeface="Times New Roman"/>
              </a:rPr>
              <a:t>Cost drivers</a:t>
            </a:r>
            <a:endParaRPr sz="2400">
              <a:latin typeface="Times New Roman"/>
              <a:ea typeface="Times New Roman"/>
              <a:cs typeface="Times New Roman"/>
              <a:sym typeface="Times New Roman"/>
            </a:endParaRPr>
          </a:p>
        </p:txBody>
      </p:sp>
      <p:sp>
        <p:nvSpPr>
          <p:cNvPr id="433" name="Google Shape;433;g3f946b0c4ee_0_197"/>
          <p:cNvSpPr txBox="1">
            <a:spLocks noGrp="1"/>
          </p:cNvSpPr>
          <p:nvPr>
            <p:ph type="body" idx="1"/>
          </p:nvPr>
        </p:nvSpPr>
        <p:spPr>
          <a:xfrm>
            <a:off x="727650" y="1494225"/>
            <a:ext cx="7688700" cy="22611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Cost drivers, by contrast, are multiplicative adjustments applied to the baseline effort. </a:t>
            </a:r>
            <a:endParaRPr sz="1200">
              <a:solidFill>
                <a:schemeClr val="dk2"/>
              </a:solidFill>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200">
                <a:solidFill>
                  <a:schemeClr val="dk2"/>
                </a:solidFill>
                <a:latin typeface="Times New Roman"/>
                <a:ea typeface="Times New Roman"/>
                <a:cs typeface="Times New Roman"/>
                <a:sym typeface="Times New Roman"/>
              </a:rPr>
              <a:t>COCOMO II has 17 cost drivers in the Post-Architecture model, compared to 15 in Intermediate COCOMO I. </a:t>
            </a:r>
            <a:endParaRPr sz="1200">
              <a:solidFill>
                <a:schemeClr val="dk2"/>
              </a:solidFill>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Char char="●"/>
            </a:pPr>
            <a:r>
              <a:rPr lang="en" sz="1200">
                <a:solidFill>
                  <a:schemeClr val="dk2"/>
                </a:solidFill>
                <a:latin typeface="Times New Roman"/>
                <a:ea typeface="Times New Roman"/>
                <a:cs typeface="Times New Roman"/>
                <a:sym typeface="Times New Roman"/>
              </a:rPr>
              <a:t>The additions in COCOMO II include factors for required reusability (</a:t>
            </a:r>
            <a:r>
              <a:rPr lang="en" sz="1200">
                <a:solidFill>
                  <a:schemeClr val="dk2"/>
                </a:solidFill>
                <a:highlight>
                  <a:srgbClr val="F7F7FC"/>
                </a:highlight>
                <a:latin typeface="Times New Roman"/>
                <a:ea typeface="Times New Roman"/>
                <a:cs typeface="Times New Roman"/>
                <a:sym typeface="Times New Roman"/>
              </a:rPr>
              <a:t>RUSE</a:t>
            </a:r>
            <a:r>
              <a:rPr lang="en" sz="1200">
                <a:solidFill>
                  <a:schemeClr val="dk2"/>
                </a:solidFill>
                <a:latin typeface="Times New Roman"/>
                <a:ea typeface="Times New Roman"/>
                <a:cs typeface="Times New Roman"/>
                <a:sym typeface="Times New Roman"/>
              </a:rPr>
              <a:t>), documentation requirements (</a:t>
            </a:r>
            <a:r>
              <a:rPr lang="en" sz="1200">
                <a:solidFill>
                  <a:schemeClr val="dk2"/>
                </a:solidFill>
                <a:highlight>
                  <a:srgbClr val="F7F7FC"/>
                </a:highlight>
                <a:latin typeface="Times New Roman"/>
                <a:ea typeface="Times New Roman"/>
                <a:cs typeface="Times New Roman"/>
                <a:sym typeface="Times New Roman"/>
              </a:rPr>
              <a:t>DOCU</a:t>
            </a:r>
            <a:r>
              <a:rPr lang="en" sz="1200">
                <a:solidFill>
                  <a:schemeClr val="dk2"/>
                </a:solidFill>
                <a:latin typeface="Times New Roman"/>
                <a:ea typeface="Times New Roman"/>
                <a:cs typeface="Times New Roman"/>
                <a:sym typeface="Times New Roman"/>
              </a:rPr>
              <a:t>), platform volatility (</a:t>
            </a:r>
            <a:r>
              <a:rPr lang="en" sz="1200">
                <a:solidFill>
                  <a:schemeClr val="dk2"/>
                </a:solidFill>
                <a:highlight>
                  <a:srgbClr val="F7F7FC"/>
                </a:highlight>
                <a:latin typeface="Times New Roman"/>
                <a:ea typeface="Times New Roman"/>
                <a:cs typeface="Times New Roman"/>
                <a:sym typeface="Times New Roman"/>
              </a:rPr>
              <a:t>PVOL</a:t>
            </a:r>
            <a:r>
              <a:rPr lang="en" sz="1200">
                <a:solidFill>
                  <a:schemeClr val="dk2"/>
                </a:solidFill>
                <a:latin typeface="Times New Roman"/>
                <a:ea typeface="Times New Roman"/>
                <a:cs typeface="Times New Roman"/>
                <a:sym typeface="Times New Roman"/>
              </a:rPr>
              <a:t>), personnel continuity (</a:t>
            </a:r>
            <a:r>
              <a:rPr lang="en" sz="1200">
                <a:solidFill>
                  <a:schemeClr val="dk2"/>
                </a:solidFill>
                <a:highlight>
                  <a:srgbClr val="F7F7FC"/>
                </a:highlight>
                <a:latin typeface="Times New Roman"/>
                <a:ea typeface="Times New Roman"/>
                <a:cs typeface="Times New Roman"/>
                <a:sym typeface="Times New Roman"/>
              </a:rPr>
              <a:t>PCON</a:t>
            </a:r>
            <a:r>
              <a:rPr lang="en" sz="1200">
                <a:solidFill>
                  <a:schemeClr val="dk2"/>
                </a:solidFill>
                <a:latin typeface="Times New Roman"/>
                <a:ea typeface="Times New Roman"/>
                <a:cs typeface="Times New Roman"/>
                <a:sym typeface="Times New Roman"/>
              </a:rPr>
              <a:t>), application experience (</a:t>
            </a:r>
            <a:r>
              <a:rPr lang="en" sz="1200">
                <a:solidFill>
                  <a:schemeClr val="dk2"/>
                </a:solidFill>
                <a:highlight>
                  <a:srgbClr val="F7F7FC"/>
                </a:highlight>
                <a:latin typeface="Times New Roman"/>
                <a:ea typeface="Times New Roman"/>
                <a:cs typeface="Times New Roman"/>
                <a:sym typeface="Times New Roman"/>
              </a:rPr>
              <a:t>APEX</a:t>
            </a:r>
            <a:r>
              <a:rPr lang="en" sz="1200">
                <a:solidFill>
                  <a:schemeClr val="dk2"/>
                </a:solidFill>
                <a:latin typeface="Times New Roman"/>
                <a:ea typeface="Times New Roman"/>
                <a:cs typeface="Times New Roman"/>
                <a:sym typeface="Times New Roman"/>
              </a:rPr>
              <a:t>), platform experience (</a:t>
            </a:r>
            <a:r>
              <a:rPr lang="en" sz="1200">
                <a:solidFill>
                  <a:schemeClr val="dk2"/>
                </a:solidFill>
                <a:highlight>
                  <a:srgbClr val="F7F7FC"/>
                </a:highlight>
                <a:latin typeface="Times New Roman"/>
                <a:ea typeface="Times New Roman"/>
                <a:cs typeface="Times New Roman"/>
                <a:sym typeface="Times New Roman"/>
              </a:rPr>
              <a:t>PLEX</a:t>
            </a:r>
            <a:r>
              <a:rPr lang="en" sz="1200">
                <a:solidFill>
                  <a:schemeClr val="dk2"/>
                </a:solidFill>
                <a:latin typeface="Times New Roman"/>
                <a:ea typeface="Times New Roman"/>
                <a:cs typeface="Times New Roman"/>
                <a:sym typeface="Times New Roman"/>
              </a:rPr>
              <a:t>), language and tool experience (</a:t>
            </a:r>
            <a:r>
              <a:rPr lang="en" sz="1200">
                <a:solidFill>
                  <a:schemeClr val="dk2"/>
                </a:solidFill>
                <a:highlight>
                  <a:srgbClr val="F7F7FC"/>
                </a:highlight>
                <a:latin typeface="Times New Roman"/>
                <a:ea typeface="Times New Roman"/>
                <a:cs typeface="Times New Roman"/>
                <a:sym typeface="Times New Roman"/>
              </a:rPr>
              <a:t>LTEX</a:t>
            </a:r>
            <a:r>
              <a:rPr lang="en" sz="1200">
                <a:solidFill>
                  <a:schemeClr val="dk2"/>
                </a:solidFill>
                <a:latin typeface="Times New Roman"/>
                <a:ea typeface="Times New Roman"/>
                <a:cs typeface="Times New Roman"/>
                <a:sym typeface="Times New Roman"/>
              </a:rPr>
              <a:t>), and multisite development (</a:t>
            </a:r>
            <a:r>
              <a:rPr lang="en" sz="1200">
                <a:solidFill>
                  <a:schemeClr val="dk2"/>
                </a:solidFill>
                <a:highlight>
                  <a:srgbClr val="F7F7FC"/>
                </a:highlight>
                <a:latin typeface="Times New Roman"/>
                <a:ea typeface="Times New Roman"/>
                <a:cs typeface="Times New Roman"/>
                <a:sym typeface="Times New Roman"/>
              </a:rPr>
              <a:t>SITE</a:t>
            </a:r>
            <a:r>
              <a:rPr lang="en" sz="1200">
                <a:solidFill>
                  <a:schemeClr val="dk2"/>
                </a:solidFill>
                <a:latin typeface="Times New Roman"/>
                <a:ea typeface="Times New Roman"/>
                <a:cs typeface="Times New Roman"/>
                <a:sym typeface="Times New Roman"/>
              </a:rPr>
              <a:t>). </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g3f946b0c4ee_0_203"/>
          <p:cNvSpPr txBox="1">
            <a:spLocks noGrp="1"/>
          </p:cNvSpPr>
          <p:nvPr>
            <p:ph type="title"/>
          </p:nvPr>
        </p:nvSpPr>
        <p:spPr>
          <a:xfrm>
            <a:off x="771200" y="6992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40">
                <a:latin typeface="Times New Roman"/>
                <a:ea typeface="Times New Roman"/>
                <a:cs typeface="Times New Roman"/>
                <a:sym typeface="Times New Roman"/>
              </a:rPr>
              <a:t>Advantages </a:t>
            </a:r>
            <a:endParaRPr sz="2440">
              <a:latin typeface="Times New Roman"/>
              <a:ea typeface="Times New Roman"/>
              <a:cs typeface="Times New Roman"/>
              <a:sym typeface="Times New Roman"/>
            </a:endParaRPr>
          </a:p>
        </p:txBody>
      </p:sp>
      <p:sp>
        <p:nvSpPr>
          <p:cNvPr id="439" name="Google Shape;439;g3f946b0c4ee_0_203"/>
          <p:cNvSpPr txBox="1">
            <a:spLocks noGrp="1"/>
          </p:cNvSpPr>
          <p:nvPr>
            <p:ph type="body" idx="1"/>
          </p:nvPr>
        </p:nvSpPr>
        <p:spPr>
          <a:xfrm>
            <a:off x="687675" y="1348075"/>
            <a:ext cx="7688700" cy="22611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2"/>
              </a:buClr>
              <a:buSzPts val="1200"/>
              <a:buFont typeface="Times New Roman"/>
              <a:buChar char="●"/>
            </a:pPr>
            <a:r>
              <a:rPr lang="en" sz="1400" dirty="0">
                <a:solidFill>
                  <a:schemeClr val="dk2"/>
                </a:solidFill>
                <a:highlight>
                  <a:srgbClr val="FFFFFF"/>
                </a:highlight>
                <a:latin typeface="Times New Roman"/>
                <a:ea typeface="Times New Roman"/>
                <a:cs typeface="Times New Roman"/>
                <a:sym typeface="Times New Roman"/>
              </a:rPr>
              <a:t>The model's primary strength is </a:t>
            </a:r>
            <a:r>
              <a:rPr lang="en" sz="1400" dirty="0">
                <a:solidFill>
                  <a:srgbClr val="0000FF"/>
                </a:solidFill>
                <a:highlight>
                  <a:srgbClr val="FFFFFF"/>
                </a:highlight>
                <a:latin typeface="Times New Roman"/>
                <a:ea typeface="Times New Roman"/>
                <a:cs typeface="Times New Roman"/>
                <a:sym typeface="Times New Roman"/>
              </a:rPr>
              <a:t>transparency.</a:t>
            </a:r>
            <a:r>
              <a:rPr lang="en" sz="1400" dirty="0">
                <a:solidFill>
                  <a:schemeClr val="dk2"/>
                </a:solidFill>
                <a:highlight>
                  <a:srgbClr val="FFFFFF"/>
                </a:highlight>
                <a:latin typeface="Times New Roman"/>
                <a:ea typeface="Times New Roman"/>
                <a:cs typeface="Times New Roman"/>
                <a:sym typeface="Times New Roman"/>
              </a:rPr>
              <a:t> Unlike proprietary estimation tools, COCOMO publishes all its equations, constants, and calibration methodology. Anyone can audit the inputs and verify the outputs. This makes it useful in government, defense, and aerospace procurement, where mathematical auditability is often a legal or contractual requirement.</a:t>
            </a:r>
            <a:endParaRPr sz="1400" dirty="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400" dirty="0">
                <a:solidFill>
                  <a:schemeClr val="dk2"/>
                </a:solidFill>
                <a:highlight>
                  <a:srgbClr val="FFFFFF"/>
                </a:highlight>
                <a:latin typeface="Times New Roman"/>
                <a:ea typeface="Times New Roman"/>
                <a:cs typeface="Times New Roman"/>
                <a:sym typeface="Times New Roman"/>
              </a:rPr>
              <a:t>The model can also be </a:t>
            </a:r>
            <a:r>
              <a:rPr lang="en" sz="1400" dirty="0">
                <a:solidFill>
                  <a:srgbClr val="0000FF"/>
                </a:solidFill>
                <a:highlight>
                  <a:srgbClr val="FFFFFF"/>
                </a:highlight>
                <a:latin typeface="Times New Roman"/>
                <a:ea typeface="Times New Roman"/>
                <a:cs typeface="Times New Roman"/>
                <a:sym typeface="Times New Roman"/>
              </a:rPr>
              <a:t>recalibrated.</a:t>
            </a:r>
            <a:r>
              <a:rPr lang="en" sz="1400" dirty="0">
                <a:solidFill>
                  <a:schemeClr val="dk2"/>
                </a:solidFill>
                <a:highlight>
                  <a:srgbClr val="FFFFFF"/>
                </a:highlight>
                <a:latin typeface="Times New Roman"/>
                <a:ea typeface="Times New Roman"/>
                <a:cs typeface="Times New Roman"/>
                <a:sym typeface="Times New Roman"/>
              </a:rPr>
              <a:t> Organizations that collect their own project history data can adjust the constants to reflect their specific environment, team composition, and technology stack. This is important because the default constants come from datasets that are now decades old.</a:t>
            </a:r>
            <a:endParaRPr sz="1400" dirty="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400" dirty="0">
                <a:solidFill>
                  <a:schemeClr val="dk2"/>
                </a:solidFill>
                <a:highlight>
                  <a:srgbClr val="FFFFFF"/>
                </a:highlight>
                <a:latin typeface="Times New Roman"/>
                <a:ea typeface="Times New Roman"/>
                <a:cs typeface="Times New Roman"/>
                <a:sym typeface="Times New Roman"/>
              </a:rPr>
              <a:t>The three-level structure (Basic → Intermediate → Detailed) is another practical benefit. Early in a project, when little is known, you use Basic for a rough estimate. As the project matures and more is understood about the team and environment, you move to Intermediate or Detailed for more refined planning.</a:t>
            </a:r>
            <a:endParaRPr sz="1400" dirty="0">
              <a:solidFill>
                <a:schemeClr val="dk2"/>
              </a:solidFill>
              <a:highlight>
                <a:srgbClr val="FFFFFF"/>
              </a:highlight>
              <a:latin typeface="Times New Roman"/>
              <a:ea typeface="Times New Roman"/>
              <a:cs typeface="Times New Roman"/>
              <a:sym typeface="Times New Roman"/>
            </a:endParaRPr>
          </a:p>
          <a:p>
            <a:pPr marL="0" lvl="0" indent="0" algn="l" rtl="0">
              <a:spcBef>
                <a:spcPts val="1100"/>
              </a:spcBef>
              <a:spcAft>
                <a:spcPts val="0"/>
              </a:spcAft>
              <a:buNone/>
            </a:pPr>
            <a:endParaRPr sz="1400" dirty="0">
              <a:solidFill>
                <a:schemeClr val="dk2"/>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g3f946b0c4ee_0_209"/>
          <p:cNvSpPr txBox="1">
            <a:spLocks noGrp="1"/>
          </p:cNvSpPr>
          <p:nvPr>
            <p:ph type="title"/>
          </p:nvPr>
        </p:nvSpPr>
        <p:spPr>
          <a:xfrm>
            <a:off x="727650" y="6644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40">
                <a:latin typeface="Times New Roman"/>
                <a:ea typeface="Times New Roman"/>
                <a:cs typeface="Times New Roman"/>
                <a:sym typeface="Times New Roman"/>
              </a:rPr>
              <a:t>Limitations</a:t>
            </a:r>
            <a:endParaRPr sz="2440">
              <a:latin typeface="Times New Roman"/>
              <a:ea typeface="Times New Roman"/>
              <a:cs typeface="Times New Roman"/>
              <a:sym typeface="Times New Roman"/>
            </a:endParaRPr>
          </a:p>
        </p:txBody>
      </p:sp>
      <p:sp>
        <p:nvSpPr>
          <p:cNvPr id="445" name="Google Shape;445;g3f946b0c4ee_0_209"/>
          <p:cNvSpPr txBox="1">
            <a:spLocks noGrp="1"/>
          </p:cNvSpPr>
          <p:nvPr>
            <p:ph type="body" idx="1"/>
          </p:nvPr>
        </p:nvSpPr>
        <p:spPr>
          <a:xfrm>
            <a:off x="727650" y="1327175"/>
            <a:ext cx="7688700" cy="22611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2"/>
              </a:buClr>
              <a:buSzPts val="1200"/>
              <a:buFont typeface="Times New Roman"/>
              <a:buChar char="●"/>
            </a:pPr>
            <a:r>
              <a:rPr lang="en" sz="1600" dirty="0">
                <a:solidFill>
                  <a:schemeClr val="dk2"/>
                </a:solidFill>
                <a:highlight>
                  <a:srgbClr val="FFFFFF"/>
                </a:highlight>
                <a:latin typeface="Times New Roman"/>
                <a:ea typeface="Times New Roman"/>
                <a:cs typeface="Times New Roman"/>
                <a:sym typeface="Times New Roman"/>
              </a:rPr>
              <a:t>The biggest limitation is COCOMO's dependency on KLOC. To use COCOMO, you need to estimate the size of a project in lines of code before you write any code. In the early stages of a project, exactly when estimation matters most, this is notoriously difficult to do accurately.</a:t>
            </a:r>
            <a:endParaRPr sz="1600" dirty="0">
              <a:solidFill>
                <a:schemeClr val="dk2"/>
              </a:solidFill>
              <a:highlight>
                <a:srgbClr val="FFFFFF"/>
              </a:highlight>
              <a:latin typeface="Times New Roman"/>
              <a:ea typeface="Times New Roman"/>
              <a:cs typeface="Times New Roman"/>
              <a:sym typeface="Times New Roman"/>
            </a:endParaRPr>
          </a:p>
          <a:p>
            <a:pPr marL="457200" lvl="0" indent="-304800" algn="l" rtl="0">
              <a:spcBef>
                <a:spcPts val="0"/>
              </a:spcBef>
              <a:spcAft>
                <a:spcPts val="0"/>
              </a:spcAft>
              <a:buClr>
                <a:schemeClr val="dk2"/>
              </a:buClr>
              <a:buSzPts val="1200"/>
              <a:buFont typeface="Times New Roman"/>
              <a:buChar char="●"/>
            </a:pPr>
            <a:r>
              <a:rPr lang="en" sz="1600" dirty="0">
                <a:solidFill>
                  <a:schemeClr val="dk2"/>
                </a:solidFill>
                <a:highlight>
                  <a:srgbClr val="FFFFFF"/>
                </a:highlight>
                <a:latin typeface="Times New Roman"/>
                <a:ea typeface="Times New Roman"/>
                <a:cs typeface="Times New Roman"/>
                <a:sym typeface="Times New Roman"/>
              </a:rPr>
              <a:t>Even when KLOC can be estimated, the constants in COCOMO I come from 63 projects built under the waterfall model between 1968 and 1979. The constants in COCOMO II come from 161 projects from the 1990s. Neither dataset includes cloud-native systems, mobile applications, microservices architectures, or modern DevOps pipelines. Applying these constants directly to a modern project without local calibration produces unreliable estimates.</a:t>
            </a:r>
            <a:endParaRPr sz="1600" dirty="0">
              <a:solidFill>
                <a:schemeClr val="dk2"/>
              </a:solidFill>
              <a:highlight>
                <a:srgbClr val="FFFFFF"/>
              </a:highlight>
              <a:latin typeface="Times New Roman"/>
              <a:ea typeface="Times New Roman"/>
              <a:cs typeface="Times New Roman"/>
              <a:sym typeface="Times New Roman"/>
            </a:endParaRPr>
          </a:p>
          <a:p>
            <a:pPr marL="0" lvl="0" indent="0" algn="l" rtl="0">
              <a:spcBef>
                <a:spcPts val="1100"/>
              </a:spcBef>
              <a:spcAft>
                <a:spcPts val="1100"/>
              </a:spcAft>
              <a:buNone/>
            </a:pPr>
            <a:endParaRPr sz="1600" dirty="0">
              <a:solidFill>
                <a:schemeClr val="dk2"/>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g3f9510dc93c_0_0"/>
          <p:cNvSpPr txBox="1">
            <a:spLocks noGrp="1"/>
          </p:cNvSpPr>
          <p:nvPr>
            <p:ph type="title"/>
          </p:nvPr>
        </p:nvSpPr>
        <p:spPr>
          <a:xfrm>
            <a:off x="642850" y="5826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40">
                <a:latin typeface="Times New Roman"/>
                <a:ea typeface="Times New Roman"/>
                <a:cs typeface="Times New Roman"/>
                <a:sym typeface="Times New Roman"/>
              </a:rPr>
              <a:t>Estimation for Agile Development </a:t>
            </a:r>
            <a:endParaRPr sz="2440">
              <a:latin typeface="Times New Roman"/>
              <a:ea typeface="Times New Roman"/>
              <a:cs typeface="Times New Roman"/>
              <a:sym typeface="Times New Roman"/>
            </a:endParaRPr>
          </a:p>
        </p:txBody>
      </p:sp>
      <p:sp>
        <p:nvSpPr>
          <p:cNvPr id="451" name="Google Shape;451;g3f9510dc93c_0_0"/>
          <p:cNvSpPr txBox="1">
            <a:spLocks noGrp="1"/>
          </p:cNvSpPr>
          <p:nvPr>
            <p:ph type="body" idx="1"/>
          </p:nvPr>
        </p:nvSpPr>
        <p:spPr>
          <a:xfrm>
            <a:off x="727650" y="1273575"/>
            <a:ext cx="7688700" cy="2261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Clr>
                <a:schemeClr val="dk2"/>
              </a:buClr>
              <a:buSzPts val="1300"/>
              <a:buFont typeface="Times New Roman"/>
              <a:buChar char="●"/>
            </a:pPr>
            <a:r>
              <a:rPr lang="en" sz="1400" dirty="0">
                <a:solidFill>
                  <a:schemeClr val="dk2"/>
                </a:solidFill>
                <a:latin typeface="Times New Roman"/>
                <a:ea typeface="Times New Roman"/>
                <a:cs typeface="Times New Roman"/>
                <a:sym typeface="Times New Roman"/>
              </a:rPr>
              <a:t>Each user scenario (the equivalent of a mini use case created at the very start of a project by end users or other stakeholders) is considered separately for estimation purposes. </a:t>
            </a:r>
            <a:endParaRPr sz="1400" dirty="0">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Font typeface="Times New Roman"/>
              <a:buChar char="●"/>
            </a:pPr>
            <a:r>
              <a:rPr lang="en" sz="1400" dirty="0">
                <a:solidFill>
                  <a:schemeClr val="dk2"/>
                </a:solidFill>
                <a:latin typeface="Times New Roman"/>
                <a:ea typeface="Times New Roman"/>
                <a:cs typeface="Times New Roman"/>
                <a:sym typeface="Times New Roman"/>
              </a:rPr>
              <a:t>The scenario is decomposed into the set of software engineering tasks that will be required to develop it. </a:t>
            </a:r>
            <a:endParaRPr sz="1400" dirty="0">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Font typeface="Times New Roman"/>
              <a:buChar char="●"/>
            </a:pPr>
            <a:r>
              <a:rPr lang="en" sz="1400" dirty="0">
                <a:solidFill>
                  <a:schemeClr val="dk2"/>
                </a:solidFill>
                <a:latin typeface="Times New Roman"/>
                <a:ea typeface="Times New Roman"/>
                <a:cs typeface="Times New Roman"/>
                <a:sym typeface="Times New Roman"/>
              </a:rPr>
              <a:t>The effort required for each task is estimated separately. Note: Estimation can be based on historical data, an empirical model, or “experience.” </a:t>
            </a:r>
            <a:endParaRPr sz="1400" dirty="0">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Font typeface="Times New Roman"/>
              <a:buChar char="●"/>
            </a:pPr>
            <a:r>
              <a:rPr lang="en" sz="1400" dirty="0">
                <a:solidFill>
                  <a:schemeClr val="dk2"/>
                </a:solidFill>
                <a:latin typeface="Times New Roman"/>
                <a:ea typeface="Times New Roman"/>
                <a:cs typeface="Times New Roman"/>
                <a:sym typeface="Times New Roman"/>
              </a:rPr>
              <a:t>Alternatively, the “volume” of the scenario can be estimated in LOC, FP, or some other volume-oriented measure (e.g., use-case count). </a:t>
            </a:r>
            <a:endParaRPr sz="1400" dirty="0">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Font typeface="Times New Roman"/>
              <a:buChar char="●"/>
            </a:pPr>
            <a:r>
              <a:rPr lang="en" sz="1400" dirty="0">
                <a:solidFill>
                  <a:schemeClr val="dk2"/>
                </a:solidFill>
                <a:latin typeface="Times New Roman"/>
                <a:ea typeface="Times New Roman"/>
                <a:cs typeface="Times New Roman"/>
                <a:sym typeface="Times New Roman"/>
              </a:rPr>
              <a:t>Estimates for each task are summed to create an estimate for the scenario. </a:t>
            </a:r>
            <a:endParaRPr sz="1400" dirty="0">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Font typeface="Times New Roman"/>
              <a:buChar char="●"/>
            </a:pPr>
            <a:r>
              <a:rPr lang="en" sz="1400" dirty="0">
                <a:solidFill>
                  <a:schemeClr val="dk2"/>
                </a:solidFill>
                <a:latin typeface="Times New Roman"/>
                <a:ea typeface="Times New Roman"/>
                <a:cs typeface="Times New Roman"/>
                <a:sym typeface="Times New Roman"/>
              </a:rPr>
              <a:t>Alternatively, the volume estimate for the scenario is translated into effort using historical data. </a:t>
            </a:r>
            <a:endParaRPr sz="1400" dirty="0">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Font typeface="Times New Roman"/>
              <a:buChar char="●"/>
            </a:pPr>
            <a:r>
              <a:rPr lang="en" sz="1400" dirty="0">
                <a:solidFill>
                  <a:schemeClr val="dk2"/>
                </a:solidFill>
                <a:latin typeface="Times New Roman"/>
                <a:ea typeface="Times New Roman"/>
                <a:cs typeface="Times New Roman"/>
                <a:sym typeface="Times New Roman"/>
              </a:rPr>
              <a:t>The effort estimates for all scenarios that are to be implemented for a given software increment are summed to develop the effort estimate for the increment </a:t>
            </a:r>
            <a:endParaRPr sz="1400" dirty="0">
              <a:solidFill>
                <a:schemeClr val="dk2"/>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g3f9510dc93c_0_7"/>
          <p:cNvSpPr txBox="1">
            <a:spLocks noGrp="1"/>
          </p:cNvSpPr>
          <p:nvPr>
            <p:ph type="title"/>
          </p:nvPr>
        </p:nvSpPr>
        <p:spPr>
          <a:xfrm>
            <a:off x="582250" y="5999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40">
                <a:latin typeface="Times New Roman"/>
                <a:ea typeface="Times New Roman"/>
                <a:cs typeface="Times New Roman"/>
                <a:sym typeface="Times New Roman"/>
              </a:rPr>
              <a:t>Estimation for WebApp Projects </a:t>
            </a:r>
            <a:endParaRPr sz="2440">
              <a:latin typeface="Times New Roman"/>
              <a:ea typeface="Times New Roman"/>
              <a:cs typeface="Times New Roman"/>
              <a:sym typeface="Times New Roman"/>
            </a:endParaRPr>
          </a:p>
        </p:txBody>
      </p:sp>
      <p:sp>
        <p:nvSpPr>
          <p:cNvPr id="457" name="Google Shape;457;g3f9510dc93c_0_7"/>
          <p:cNvSpPr txBox="1">
            <a:spLocks noGrp="1"/>
          </p:cNvSpPr>
          <p:nvPr>
            <p:ph type="body" idx="1"/>
          </p:nvPr>
        </p:nvSpPr>
        <p:spPr>
          <a:xfrm>
            <a:off x="727650" y="1441200"/>
            <a:ext cx="7688700" cy="2261100"/>
          </a:xfrm>
          <a:prstGeom prst="rect">
            <a:avLst/>
          </a:prstGeom>
        </p:spPr>
        <p:txBody>
          <a:bodyPr spcFirstLastPara="1" wrap="square" lIns="91425" tIns="91425" rIns="91425" bIns="91425" anchor="t" anchorCtr="0">
            <a:normAutofit fontScale="92500"/>
          </a:bodyPr>
          <a:lstStyle/>
          <a:p>
            <a:pPr marL="457200" lvl="0" indent="0" algn="l" rtl="0">
              <a:spcBef>
                <a:spcPts val="0"/>
              </a:spcBef>
              <a:spcAft>
                <a:spcPts val="0"/>
              </a:spcAft>
              <a:buNone/>
            </a:pPr>
            <a:r>
              <a:rPr lang="en">
                <a:solidFill>
                  <a:schemeClr val="dk2"/>
                </a:solidFill>
                <a:latin typeface="Times New Roman"/>
                <a:ea typeface="Times New Roman"/>
                <a:cs typeface="Times New Roman"/>
                <a:sym typeface="Times New Roman"/>
              </a:rPr>
              <a:t>Consider the followings to adapt function points for WebApp estimation: </a:t>
            </a:r>
            <a:endParaRPr>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Font typeface="Times New Roman"/>
              <a:buChar char="●"/>
            </a:pPr>
            <a:r>
              <a:rPr lang="en">
                <a:solidFill>
                  <a:schemeClr val="dk2"/>
                </a:solidFill>
                <a:latin typeface="Times New Roman"/>
                <a:ea typeface="Times New Roman"/>
                <a:cs typeface="Times New Roman"/>
                <a:sym typeface="Times New Roman"/>
              </a:rPr>
              <a:t>Inputs are each input screen or form (for example, CGI or Java), each maintenance screen, and if you use a tab notebook metaphor anywhere, each tab. </a:t>
            </a:r>
            <a:endParaRPr>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Font typeface="Times New Roman"/>
              <a:buChar char="●"/>
            </a:pPr>
            <a:r>
              <a:rPr lang="en">
                <a:solidFill>
                  <a:schemeClr val="dk2"/>
                </a:solidFill>
                <a:latin typeface="Times New Roman"/>
                <a:ea typeface="Times New Roman"/>
                <a:cs typeface="Times New Roman"/>
                <a:sym typeface="Times New Roman"/>
              </a:rPr>
              <a:t>Outputs are each static Web page, each dynamic Web page script (for example, ASP, ISAPI, or other DHTML script), and each report (whether Web based or administrative in nature). </a:t>
            </a:r>
            <a:endParaRPr>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Font typeface="Times New Roman"/>
              <a:buChar char="●"/>
            </a:pPr>
            <a:r>
              <a:rPr lang="en">
                <a:solidFill>
                  <a:schemeClr val="dk2"/>
                </a:solidFill>
                <a:latin typeface="Times New Roman"/>
                <a:ea typeface="Times New Roman"/>
                <a:cs typeface="Times New Roman"/>
                <a:sym typeface="Times New Roman"/>
              </a:rPr>
              <a:t>Tables are each logical table in the database plus, if you are using XML to store data in a file, each XML object (or collection of XML attributes). </a:t>
            </a:r>
            <a:endParaRPr>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Font typeface="Times New Roman"/>
              <a:buChar char="●"/>
            </a:pPr>
            <a:r>
              <a:rPr lang="en">
                <a:solidFill>
                  <a:schemeClr val="dk2"/>
                </a:solidFill>
                <a:latin typeface="Times New Roman"/>
                <a:ea typeface="Times New Roman"/>
                <a:cs typeface="Times New Roman"/>
                <a:sym typeface="Times New Roman"/>
              </a:rPr>
              <a:t>Interfaces retain their definition as logical files (for example, unique record formats) into our out-of-the-system boundaries. </a:t>
            </a:r>
            <a:endParaRPr>
              <a:solidFill>
                <a:schemeClr val="dk2"/>
              </a:solidFill>
              <a:latin typeface="Times New Roman"/>
              <a:ea typeface="Times New Roman"/>
              <a:cs typeface="Times New Roman"/>
              <a:sym typeface="Times New Roman"/>
            </a:endParaRPr>
          </a:p>
          <a:p>
            <a:pPr marL="457200" lvl="0" indent="-311150" algn="l" rtl="0">
              <a:spcBef>
                <a:spcPts val="0"/>
              </a:spcBef>
              <a:spcAft>
                <a:spcPts val="0"/>
              </a:spcAft>
              <a:buClr>
                <a:schemeClr val="dk2"/>
              </a:buClr>
              <a:buSzPts val="1300"/>
              <a:buFont typeface="Times New Roman"/>
              <a:buChar char="●"/>
            </a:pPr>
            <a:r>
              <a:rPr lang="en">
                <a:solidFill>
                  <a:schemeClr val="dk2"/>
                </a:solidFill>
                <a:latin typeface="Times New Roman"/>
                <a:ea typeface="Times New Roman"/>
                <a:cs typeface="Times New Roman"/>
                <a:sym typeface="Times New Roman"/>
              </a:rPr>
              <a:t>Queries are each externally published or use a message-oriented interface. A typical example is DCOM or COM external references </a:t>
            </a:r>
            <a:endParaRPr>
              <a:solidFill>
                <a:schemeClr val="dk2"/>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TotalTime>
  <Words>3058</Words>
  <Application>Microsoft Office PowerPoint</Application>
  <PresentationFormat>On-screen Show (16:9)</PresentationFormat>
  <Paragraphs>259</Paragraphs>
  <Slides>55</Slides>
  <Notes>55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Times New Roman</vt:lpstr>
      <vt:lpstr>Lato</vt:lpstr>
      <vt:lpstr>Arial</vt:lpstr>
      <vt:lpstr>Consolas</vt:lpstr>
      <vt:lpstr>Arial Black</vt:lpstr>
      <vt:lpstr>Raleway</vt:lpstr>
      <vt:lpstr>Streamline</vt:lpstr>
      <vt:lpstr>Chapter 23, 25,26 </vt:lpstr>
      <vt:lpstr>Software Measurement &amp; Metrics</vt:lpstr>
      <vt:lpstr>Characteristics of Measurement Procedure </vt:lpstr>
      <vt:lpstr>Types of Metrics</vt:lpstr>
      <vt:lpstr>Product Metrics</vt:lpstr>
      <vt:lpstr>LOC</vt:lpstr>
      <vt:lpstr>Cyclomatic Complexity</vt:lpstr>
      <vt:lpstr>Cyclomatic Complexity</vt:lpstr>
      <vt:lpstr>Cyclomatic Complexity</vt:lpstr>
      <vt:lpstr>Cyclomatic Complexity</vt:lpstr>
      <vt:lpstr>Cyclomatic Complexity</vt:lpstr>
      <vt:lpstr>Cyclomatic Complexity</vt:lpstr>
      <vt:lpstr>Cyclomatic Complexity</vt:lpstr>
      <vt:lpstr>Cyclomatic Complexity</vt:lpstr>
      <vt:lpstr>Coupling &amp; Cohesion </vt:lpstr>
      <vt:lpstr>Maintainability Index </vt:lpstr>
      <vt:lpstr>Function point (FP)</vt:lpstr>
      <vt:lpstr>Function Domain for FP</vt:lpstr>
      <vt:lpstr>Function Point Formula</vt:lpstr>
      <vt:lpstr>Unadjusted Function Point </vt:lpstr>
      <vt:lpstr>Value Adjustment Factor </vt:lpstr>
      <vt:lpstr>Process Metrics</vt:lpstr>
      <vt:lpstr>Defect Density</vt:lpstr>
      <vt:lpstr>DRE</vt:lpstr>
      <vt:lpstr>MTTR</vt:lpstr>
      <vt:lpstr>MTBF</vt:lpstr>
      <vt:lpstr>Test Coverage</vt:lpstr>
      <vt:lpstr>Project Metrics</vt:lpstr>
      <vt:lpstr>Productivity </vt:lpstr>
      <vt:lpstr>Cost Variance </vt:lpstr>
      <vt:lpstr>Schedule Variance</vt:lpstr>
      <vt:lpstr>Maintenance Metrics</vt:lpstr>
      <vt:lpstr>Software Maturity Index (SMI)</vt:lpstr>
      <vt:lpstr>Impact Analysis Time</vt:lpstr>
      <vt:lpstr>Change Implementation Time</vt:lpstr>
      <vt:lpstr>Code Churn</vt:lpstr>
      <vt:lpstr>Change Requests </vt:lpstr>
      <vt:lpstr>Software Estimation (Chapter 26)</vt:lpstr>
      <vt:lpstr>Software Project Estimation</vt:lpstr>
      <vt:lpstr>Steps to Project Estimation</vt:lpstr>
      <vt:lpstr>Software size</vt:lpstr>
      <vt:lpstr>Effort Estimation</vt:lpstr>
      <vt:lpstr>Cost Estimation</vt:lpstr>
      <vt:lpstr>Empirical Estimation Technique </vt:lpstr>
      <vt:lpstr>COCOMO-I</vt:lpstr>
      <vt:lpstr>PowerPoint Presentation</vt:lpstr>
      <vt:lpstr>Project Mode</vt:lpstr>
      <vt:lpstr>PowerPoint Presentation</vt:lpstr>
      <vt:lpstr>COCOMO - II</vt:lpstr>
      <vt:lpstr>Five Scale Factors in COCOMO II </vt:lpstr>
      <vt:lpstr>Cost drivers</vt:lpstr>
      <vt:lpstr>Advantages </vt:lpstr>
      <vt:lpstr>Limitations</vt:lpstr>
      <vt:lpstr>Estimation for Agile Development </vt:lpstr>
      <vt:lpstr>Estimation for WebApp Projects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Namisa__ __</cp:lastModifiedBy>
  <cp:revision>8</cp:revision>
  <dcterms:modified xsi:type="dcterms:W3CDTF">2026-09-09T11:03:42Z</dcterms:modified>
</cp:coreProperties>
</file>