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1" r:id="rId6"/>
    <p:sldId id="312" r:id="rId7"/>
    <p:sldId id="313" r:id="rId8"/>
    <p:sldId id="314" r:id="rId9"/>
    <p:sldId id="260" r:id="rId10"/>
    <p:sldId id="269" r:id="rId11"/>
    <p:sldId id="271" r:id="rId12"/>
    <p:sldId id="272" r:id="rId13"/>
    <p:sldId id="274" r:id="rId14"/>
    <p:sldId id="275" r:id="rId15"/>
    <p:sldId id="276" r:id="rId16"/>
    <p:sldId id="310" r:id="rId17"/>
    <p:sldId id="284" r:id="rId18"/>
    <p:sldId id="285" r:id="rId19"/>
    <p:sldId id="286" r:id="rId20"/>
    <p:sldId id="287" r:id="rId21"/>
    <p:sldId id="288" r:id="rId22"/>
    <p:sldId id="289" r:id="rId23"/>
    <p:sldId id="290" r:id="rId24"/>
    <p:sldId id="291" r:id="rId25"/>
    <p:sldId id="292" r:id="rId26"/>
    <p:sldId id="293" r:id="rId27"/>
    <p:sldId id="315" r:id="rId28"/>
  </p:sldIdLst>
  <p:sldSz cx="9144000" cy="5143500" type="screen16x9"/>
  <p:notesSz cx="6858000" cy="9144000"/>
  <p:embeddedFontLst>
    <p:embeddedFont>
      <p:font typeface="Lato" panose="020F0502020204030203" pitchFamily="34" charset="0"/>
      <p:regular r:id="rId30"/>
      <p:bold r:id="rId31"/>
      <p:italic r:id="rId32"/>
      <p:boldItalic r:id="rId33"/>
    </p:embeddedFont>
    <p:embeddedFont>
      <p:font typeface="Raleway" pitchFamily="2" charset="0"/>
      <p:regular r:id="rId34"/>
      <p:bold r:id="rId35"/>
      <p:italic r:id="rId36"/>
      <p:boldItalic r:id="rId3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font" Target="fonts/font8.fntdata"/><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16f4f32369_0_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16f4f32369_0_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16f4f32369_0_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16f4f32369_0_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116f4f32369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116f4f32369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164724c048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164724c048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1164724c04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1164724c048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1164724c048_0_1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1164724c048_0_1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1164724c04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1164724c04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1164724c048_0_1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1164724c048_0_1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164724c048_0_1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164724c048_0_1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164724c048_0_2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164724c048_0_2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1164724c048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1164724c048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1164724c048_0_2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1164724c048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g1164724c048_0_26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8" name="Google Shape;268;g1164724c048_0_2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164724c048_0_2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164724c048_0_2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1164724c048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1164724c048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1164724c048_0_29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1164724c048_0_2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174b96f26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174b96f26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
        <p:cNvGrpSpPr/>
        <p:nvPr/>
      </p:nvGrpSpPr>
      <p:grpSpPr>
        <a:xfrm>
          <a:off x="0" y="0"/>
          <a:ext cx="0" cy="0"/>
          <a:chOff x="0" y="0"/>
          <a:chExt cx="0" cy="0"/>
        </a:xfrm>
      </p:grpSpPr>
      <p:sp>
        <p:nvSpPr>
          <p:cNvPr id="299" name="Google Shape;299;g1174b96f26e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 name="Google Shape;300;g1174b96f26e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113f1d093b4_1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8" name="Google Shape;308;g113f1d093b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113f1d093b4_1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4" name="Google Shape;314;g113f1d093b4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113f1d093b4_1_3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113f1d093b4_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lt2"/>
        </a:solidFill>
        <a:effectLst/>
      </p:bgPr>
    </p:bg>
    <p:spTree>
      <p:nvGrpSpPr>
        <p:cNvPr id="1"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a:endParaRPr/>
          </a:p>
        </p:txBody>
      </p:sp>
      <p:sp>
        <p:nvSpPr>
          <p:cNvPr id="15" name="Google Shape;15;p2"/>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16" name="Google Shape;16;p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 name="Google Shape;21;p3"/>
          <p:cNvSpPr txBox="1">
            <a:spLocks noGrp="1"/>
          </p:cNvSpPr>
          <p:nvPr>
            <p:ph type="title"/>
          </p:nvPr>
        </p:nvSpPr>
        <p:spPr>
          <a:xfrm>
            <a:off x="729450" y="1322450"/>
            <a:ext cx="7688400" cy="15186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22" name="Google Shape;22;p3"/>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 name="Google Shape;28;p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29" name="Google Shape;29;p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0" name="Google Shape;30;p4"/>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 name="Google Shape;36;p5"/>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37" name="Google Shape;37;p5"/>
          <p:cNvSpPr txBox="1">
            <a:spLocks noGrp="1"/>
          </p:cNvSpPr>
          <p:nvPr>
            <p:ph type="body" idx="1"/>
          </p:nvPr>
        </p:nvSpPr>
        <p:spPr>
          <a:xfrm>
            <a:off x="729325"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8" name="Google Shape;38;p5"/>
          <p:cNvSpPr txBox="1">
            <a:spLocks noGrp="1"/>
          </p:cNvSpPr>
          <p:nvPr>
            <p:ph type="body" idx="2"/>
          </p:nvPr>
        </p:nvSpPr>
        <p:spPr>
          <a:xfrm>
            <a:off x="4643604" y="2078875"/>
            <a:ext cx="3774300" cy="22611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39" name="Google Shape;39;p5"/>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6"/>
          <p:cNvSpPr txBox="1">
            <a:spLocks noGrp="1"/>
          </p:cNvSpPr>
          <p:nvPr>
            <p:ph type="title"/>
          </p:nvPr>
        </p:nvSpPr>
        <p:spPr>
          <a:xfrm>
            <a:off x="729450" y="1318650"/>
            <a:ext cx="7688400" cy="535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46" name="Google Shape;46;p6"/>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7"/>
          <p:cNvSpPr txBox="1">
            <a:spLocks noGrp="1"/>
          </p:cNvSpPr>
          <p:nvPr>
            <p:ph type="title"/>
          </p:nvPr>
        </p:nvSpPr>
        <p:spPr>
          <a:xfrm>
            <a:off x="730000" y="1318650"/>
            <a:ext cx="3300900" cy="13815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53" name="Google Shape;53;p7"/>
          <p:cNvSpPr txBox="1">
            <a:spLocks noGrp="1"/>
          </p:cNvSpPr>
          <p:nvPr>
            <p:ph type="body" idx="1"/>
          </p:nvPr>
        </p:nvSpPr>
        <p:spPr>
          <a:xfrm>
            <a:off x="721225" y="2781725"/>
            <a:ext cx="3300900" cy="1597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4" name="Google Shape;54;p7"/>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3"/>
        </a:solidFill>
        <a:effectLst/>
      </p:bgPr>
    </p:bg>
    <p:spTree>
      <p:nvGrpSpPr>
        <p:cNvPr id="1"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 name="Google Shape;59;p8"/>
          <p:cNvSpPr txBox="1">
            <a:spLocks noGrp="1"/>
          </p:cNvSpPr>
          <p:nvPr>
            <p:ph type="title"/>
          </p:nvPr>
        </p:nvSpPr>
        <p:spPr>
          <a:xfrm>
            <a:off x="729450" y="864300"/>
            <a:ext cx="7021200" cy="29850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a:endParaRPr/>
          </a:p>
        </p:txBody>
      </p:sp>
      <p:sp>
        <p:nvSpPr>
          <p:cNvPr id="60" name="Google Shape;60;p8"/>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9"/>
          <p:cNvSpPr txBox="1">
            <a:spLocks noGrp="1"/>
          </p:cNvSpPr>
          <p:nvPr>
            <p:ph type="title"/>
          </p:nvPr>
        </p:nvSpPr>
        <p:spPr>
          <a:xfrm>
            <a:off x="730000" y="1318650"/>
            <a:ext cx="3300900" cy="1687200"/>
          </a:xfrm>
          <a:prstGeom prst="rect">
            <a:avLst/>
          </a:prstGeom>
        </p:spPr>
        <p:txBody>
          <a:bodyPr spcFirstLastPara="1" wrap="square" lIns="91425" tIns="91425" rIns="91425" bIns="91425" anchor="t" anchorCtr="0">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a:endParaRPr/>
          </a:p>
        </p:txBody>
      </p:sp>
      <p:sp>
        <p:nvSpPr>
          <p:cNvPr id="67" name="Google Shape;67;p9"/>
          <p:cNvSpPr txBox="1">
            <a:spLocks noGrp="1"/>
          </p:cNvSpPr>
          <p:nvPr>
            <p:ph type="subTitle" idx="1"/>
          </p:nvPr>
        </p:nvSpPr>
        <p:spPr>
          <a:xfrm>
            <a:off x="724950" y="3161525"/>
            <a:ext cx="3300900" cy="7590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a:endParaRPr/>
          </a:p>
        </p:txBody>
      </p:sp>
      <p:sp>
        <p:nvSpPr>
          <p:cNvPr id="68" name="Google Shape;68;p9"/>
          <p:cNvSpPr txBox="1">
            <a:spLocks noGrp="1"/>
          </p:cNvSpPr>
          <p:nvPr>
            <p:ph type="body" idx="2"/>
          </p:nvPr>
        </p:nvSpPr>
        <p:spPr>
          <a:xfrm>
            <a:off x="5174225" y="1352625"/>
            <a:ext cx="3374400" cy="302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9" name="Google Shape;69;p9"/>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70"/>
        <p:cNvGrpSpPr/>
        <p:nvPr/>
      </p:nvGrpSpPr>
      <p:grpSpPr>
        <a:xfrm>
          <a:off x="0" y="0"/>
          <a:ext cx="0" cy="0"/>
          <a:chOff x="0" y="0"/>
          <a:chExt cx="0" cy="0"/>
        </a:xfrm>
      </p:grpSpPr>
      <p:sp>
        <p:nvSpPr>
          <p:cNvPr id="71" name="Google Shape;71;p10"/>
          <p:cNvSpPr txBox="1">
            <a:spLocks noGrp="1"/>
          </p:cNvSpPr>
          <p:nvPr>
            <p:ph type="body" idx="1"/>
          </p:nvPr>
        </p:nvSpPr>
        <p:spPr>
          <a:xfrm>
            <a:off x="724950" y="4372551"/>
            <a:ext cx="7697400" cy="4605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300"/>
              <a:buNone/>
              <a:defRPr/>
            </a:lvl1pPr>
          </a:lstStyle>
          <a:p>
            <a:endParaRPr/>
          </a:p>
        </p:txBody>
      </p:sp>
      <p:sp>
        <p:nvSpPr>
          <p:cNvPr id="72" name="Google Shape;72;p10"/>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bg>
      <p:bgPr>
        <a:solidFill>
          <a:schemeClr val="dk1"/>
        </a:solidFill>
        <a:effectLst/>
      </p:bgPr>
    </p:bg>
    <p:spTree>
      <p:nvGrpSpPr>
        <p:cNvPr id="1"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7" name="Google Shape;77;p11"/>
          <p:cNvSpPr txBox="1">
            <a:spLocks noGrp="1"/>
          </p:cNvSpPr>
          <p:nvPr>
            <p:ph type="title" hasCustomPrompt="1"/>
          </p:nvPr>
        </p:nvSpPr>
        <p:spPr>
          <a:xfrm>
            <a:off x="729450" y="733950"/>
            <a:ext cx="7688400" cy="1244700"/>
          </a:xfrm>
          <a:prstGeom prst="rect">
            <a:avLst/>
          </a:prstGeom>
        </p:spPr>
        <p:txBody>
          <a:bodyPr spcFirstLastPara="1" wrap="square" lIns="91425" tIns="91425" rIns="91425" bIns="91425" anchor="t" anchorCtr="0">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a:spLocks noGrp="1"/>
          </p:cNvSpPr>
          <p:nvPr>
            <p:ph type="body" idx="1"/>
          </p:nvPr>
        </p:nvSpPr>
        <p:spPr>
          <a:xfrm>
            <a:off x="729450" y="2272888"/>
            <a:ext cx="7688400" cy="15804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Clr>
                <a:schemeClr val="lt1"/>
              </a:buClr>
              <a:buSzPts val="1300"/>
              <a:buChar char="●"/>
              <a:defRPr>
                <a:solidFill>
                  <a:schemeClr val="lt1"/>
                </a:solidFill>
              </a:defRPr>
            </a:lvl1pPr>
            <a:lvl2pPr marL="914400" lvl="1" indent="-298450">
              <a:spcBef>
                <a:spcPts val="0"/>
              </a:spcBef>
              <a:spcAft>
                <a:spcPts val="0"/>
              </a:spcAft>
              <a:buClr>
                <a:schemeClr val="lt1"/>
              </a:buClr>
              <a:buSzPts val="1100"/>
              <a:buChar char="○"/>
              <a:defRPr>
                <a:solidFill>
                  <a:schemeClr val="lt1"/>
                </a:solidFill>
              </a:defRPr>
            </a:lvl2pPr>
            <a:lvl3pPr marL="1371600" lvl="2" indent="-298450">
              <a:spcBef>
                <a:spcPts val="0"/>
              </a:spcBef>
              <a:spcAft>
                <a:spcPts val="0"/>
              </a:spcAft>
              <a:buClr>
                <a:schemeClr val="lt1"/>
              </a:buClr>
              <a:buSzPts val="1100"/>
              <a:buChar char="■"/>
              <a:defRPr>
                <a:solidFill>
                  <a:schemeClr val="lt1"/>
                </a:solidFill>
              </a:defRPr>
            </a:lvl3pPr>
            <a:lvl4pPr marL="1828800" lvl="3" indent="-298450">
              <a:spcBef>
                <a:spcPts val="0"/>
              </a:spcBef>
              <a:spcAft>
                <a:spcPts val="0"/>
              </a:spcAft>
              <a:buClr>
                <a:schemeClr val="lt1"/>
              </a:buClr>
              <a:buSzPts val="1100"/>
              <a:buChar char="●"/>
              <a:defRPr>
                <a:solidFill>
                  <a:schemeClr val="lt1"/>
                </a:solidFill>
              </a:defRPr>
            </a:lvl4pPr>
            <a:lvl5pPr marL="2286000" lvl="4" indent="-298450">
              <a:spcBef>
                <a:spcPts val="0"/>
              </a:spcBef>
              <a:spcAft>
                <a:spcPts val="0"/>
              </a:spcAft>
              <a:buClr>
                <a:schemeClr val="lt1"/>
              </a:buClr>
              <a:buSzPts val="1100"/>
              <a:buChar char="○"/>
              <a:defRPr>
                <a:solidFill>
                  <a:schemeClr val="lt1"/>
                </a:solidFill>
              </a:defRPr>
            </a:lvl5pPr>
            <a:lvl6pPr marL="2743200" lvl="5" indent="-298450">
              <a:spcBef>
                <a:spcPts val="0"/>
              </a:spcBef>
              <a:spcAft>
                <a:spcPts val="0"/>
              </a:spcAft>
              <a:buClr>
                <a:schemeClr val="lt1"/>
              </a:buClr>
              <a:buSzPts val="1100"/>
              <a:buChar char="■"/>
              <a:defRPr>
                <a:solidFill>
                  <a:schemeClr val="lt1"/>
                </a:solidFill>
              </a:defRPr>
            </a:lvl6pPr>
            <a:lvl7pPr marL="3200400" lvl="6" indent="-298450">
              <a:spcBef>
                <a:spcPts val="0"/>
              </a:spcBef>
              <a:spcAft>
                <a:spcPts val="0"/>
              </a:spcAft>
              <a:buClr>
                <a:schemeClr val="lt1"/>
              </a:buClr>
              <a:buSzPts val="1100"/>
              <a:buChar char="●"/>
              <a:defRPr>
                <a:solidFill>
                  <a:schemeClr val="lt1"/>
                </a:solidFill>
              </a:defRPr>
            </a:lvl7pPr>
            <a:lvl8pPr marL="3657600" lvl="7" indent="-298450">
              <a:spcBef>
                <a:spcPts val="0"/>
              </a:spcBef>
              <a:spcAft>
                <a:spcPts val="0"/>
              </a:spcAft>
              <a:buClr>
                <a:schemeClr val="lt1"/>
              </a:buClr>
              <a:buSzPts val="1100"/>
              <a:buChar char="○"/>
              <a:defRPr>
                <a:solidFill>
                  <a:schemeClr val="lt1"/>
                </a:solidFill>
              </a:defRPr>
            </a:lvl8pPr>
            <a:lvl9pPr marL="4114800" lvl="8" indent="-298450">
              <a:spcBef>
                <a:spcPts val="0"/>
              </a:spcBef>
              <a:spcAft>
                <a:spcPts val="0"/>
              </a:spcAft>
              <a:buClr>
                <a:schemeClr val="lt1"/>
              </a:buClr>
              <a:buSzPts val="1100"/>
              <a:buChar char="■"/>
              <a:defRPr>
                <a:solidFill>
                  <a:schemeClr val="lt1"/>
                </a:solidFill>
              </a:defRPr>
            </a:lvl9pPr>
          </a:lstStyle>
          <a:p>
            <a:endParaRPr/>
          </a:p>
        </p:txBody>
      </p:sp>
      <p:sp>
        <p:nvSpPr>
          <p:cNvPr id="79" name="Google Shape;79;p11"/>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536302" y="4749851"/>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treamlin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sz="2800" b="1">
                <a:solidFill>
                  <a:schemeClr val="dk2"/>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marL="914400" lvl="1"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marL="1371600" lvl="2"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marL="1828800" lvl="3"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marL="2286000" lvl="4"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marL="2743200" lvl="5"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marL="3200400" lvl="6"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marL="3657600" lvl="7"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marL="4114800" lvl="8" indent="-29845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536302" y="4749851"/>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hyperlink" Target="https://www.apriorit.com/qa-blog/252-impact-analysis"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3"/>
          <p:cNvSpPr txBox="1">
            <a:spLocks noGrp="1"/>
          </p:cNvSpPr>
          <p:nvPr>
            <p:ph type="ctrTitle"/>
          </p:nvPr>
        </p:nvSpPr>
        <p:spPr>
          <a:xfrm>
            <a:off x="729450" y="1322450"/>
            <a:ext cx="7688100" cy="1664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Chapter 12</a:t>
            </a:r>
            <a:endParaRPr/>
          </a:p>
        </p:txBody>
      </p:sp>
      <p:sp>
        <p:nvSpPr>
          <p:cNvPr id="87" name="Google Shape;87;p13"/>
          <p:cNvSpPr txBox="1">
            <a:spLocks noGrp="1"/>
          </p:cNvSpPr>
          <p:nvPr>
            <p:ph type="subTitle" idx="1"/>
          </p:nvPr>
        </p:nvSpPr>
        <p:spPr>
          <a:xfrm>
            <a:off x="729627" y="3172900"/>
            <a:ext cx="7688100" cy="541200"/>
          </a:xfrm>
          <a:prstGeom prst="rect">
            <a:avLst/>
          </a:prstGeom>
        </p:spPr>
        <p:txBody>
          <a:bodyPr spcFirstLastPara="1" wrap="square" lIns="91425" tIns="91425" rIns="91425" bIns="91425" anchor="t" anchorCtr="0">
            <a:normAutofit fontScale="70000" lnSpcReduction="20000"/>
          </a:bodyPr>
          <a:lstStyle/>
          <a:p>
            <a:pPr marL="0" lvl="0" indent="0" algn="l" rtl="0">
              <a:spcBef>
                <a:spcPts val="0"/>
              </a:spcBef>
              <a:spcAft>
                <a:spcPts val="0"/>
              </a:spcAft>
              <a:buNone/>
            </a:pPr>
            <a:r>
              <a:rPr lang="en" sz="4200" b="1">
                <a:solidFill>
                  <a:schemeClr val="dk2"/>
                </a:solidFill>
                <a:latin typeface="Raleway"/>
                <a:ea typeface="Raleway"/>
                <a:cs typeface="Raleway"/>
                <a:sym typeface="Raleway"/>
              </a:rPr>
              <a:t>Impact Analysis</a:t>
            </a:r>
            <a:endParaRPr sz="4200" b="1">
              <a:solidFill>
                <a:schemeClr val="dk2"/>
              </a:solidFill>
              <a:latin typeface="Raleway"/>
              <a:ea typeface="Raleway"/>
              <a:cs typeface="Raleway"/>
              <a:sym typeface="Raleway"/>
            </a:endParaRPr>
          </a:p>
          <a:p>
            <a:pPr marL="0" lvl="0" indent="0" algn="l" rtl="0">
              <a:spcBef>
                <a:spcPts val="0"/>
              </a:spcBef>
              <a:spcAft>
                <a:spcPts val="0"/>
              </a:spcAft>
              <a:buNone/>
            </a:pP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4"/>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Overview</a:t>
            </a:r>
            <a:endParaRPr/>
          </a:p>
        </p:txBody>
      </p:sp>
      <p:sp>
        <p:nvSpPr>
          <p:cNvPr id="93" name="Google Shape;93;p14"/>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457200" lvl="0" indent="-311150" algn="l" rtl="0">
              <a:spcBef>
                <a:spcPts val="0"/>
              </a:spcBef>
              <a:spcAft>
                <a:spcPts val="0"/>
              </a:spcAft>
              <a:buClr>
                <a:schemeClr val="dk2"/>
              </a:buClr>
              <a:buSzPts val="1300"/>
              <a:buChar char="●"/>
            </a:pPr>
            <a:r>
              <a:rPr lang="en">
                <a:solidFill>
                  <a:schemeClr val="dk2"/>
                </a:solidFill>
              </a:rPr>
              <a:t>Impact Analysis (Reason, Traceability, Ripple Effect)</a:t>
            </a:r>
            <a:endParaRPr>
              <a:solidFill>
                <a:schemeClr val="dk2"/>
              </a:solidFill>
            </a:endParaRPr>
          </a:p>
          <a:p>
            <a:pPr marL="457200" lvl="0" indent="-311150" algn="l" rtl="0">
              <a:spcBef>
                <a:spcPts val="0"/>
              </a:spcBef>
              <a:spcAft>
                <a:spcPts val="0"/>
              </a:spcAft>
              <a:buClr>
                <a:schemeClr val="dk2"/>
              </a:buClr>
              <a:buSzPts val="1300"/>
              <a:buChar char="●"/>
            </a:pPr>
            <a:r>
              <a:rPr lang="en">
                <a:solidFill>
                  <a:schemeClr val="dk2"/>
                </a:solidFill>
              </a:rPr>
              <a:t>Impact analysis process</a:t>
            </a:r>
            <a:endParaRPr>
              <a:solidFill>
                <a:schemeClr val="dk2"/>
              </a:solidFill>
            </a:endParaRPr>
          </a:p>
          <a:p>
            <a:pPr marL="457200" lvl="0" indent="-311150" algn="l" rtl="0">
              <a:spcBef>
                <a:spcPts val="0"/>
              </a:spcBef>
              <a:spcAft>
                <a:spcPts val="0"/>
              </a:spcAft>
              <a:buClr>
                <a:schemeClr val="dk2"/>
              </a:buClr>
              <a:buSzPts val="1300"/>
              <a:buChar char="●"/>
            </a:pPr>
            <a:r>
              <a:rPr lang="en">
                <a:solidFill>
                  <a:schemeClr val="dk2"/>
                </a:solidFill>
              </a:rPr>
              <a:t>Dependency based impact analysis</a:t>
            </a:r>
            <a:endParaRPr>
              <a:solidFill>
                <a:schemeClr val="dk2"/>
              </a:solidFill>
            </a:endParaRPr>
          </a:p>
          <a:p>
            <a:pPr marL="457200" lvl="0" indent="-311150" algn="l" rtl="0">
              <a:spcBef>
                <a:spcPts val="0"/>
              </a:spcBef>
              <a:spcAft>
                <a:spcPts val="0"/>
              </a:spcAft>
              <a:buClr>
                <a:schemeClr val="dk2"/>
              </a:buClr>
              <a:buSzPts val="1300"/>
              <a:buChar char="●"/>
            </a:pPr>
            <a:r>
              <a:rPr lang="en">
                <a:solidFill>
                  <a:schemeClr val="dk2"/>
                </a:solidFill>
              </a:rPr>
              <a:t>Ripple Effect</a:t>
            </a:r>
            <a:endParaRPr>
              <a:solidFill>
                <a:schemeClr val="dk2"/>
              </a:solidFill>
            </a:endParaRPr>
          </a:p>
          <a:p>
            <a:pPr marL="457200" lvl="0" indent="-311150" algn="l" rtl="0">
              <a:spcBef>
                <a:spcPts val="0"/>
              </a:spcBef>
              <a:spcAft>
                <a:spcPts val="0"/>
              </a:spcAft>
              <a:buClr>
                <a:schemeClr val="dk2"/>
              </a:buClr>
              <a:buSzPts val="1300"/>
              <a:buChar char="●"/>
            </a:pPr>
            <a:r>
              <a:rPr lang="en">
                <a:solidFill>
                  <a:schemeClr val="dk2"/>
                </a:solidFill>
              </a:rPr>
              <a:t>Change Propagation Model</a:t>
            </a:r>
            <a:endParaRPr>
              <a:solidFill>
                <a:schemeClr val="dk2"/>
              </a:solidFill>
            </a:endParaRPr>
          </a:p>
          <a:p>
            <a:pPr marL="457200" lvl="0" indent="0" algn="l" rtl="0">
              <a:spcBef>
                <a:spcPts val="1200"/>
              </a:spcBef>
              <a:spcAft>
                <a:spcPts val="1200"/>
              </a:spcAft>
              <a:buNone/>
            </a:pPr>
            <a:endParaRPr>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5"/>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latin typeface="Times New Roman" panose="02020603050405020304" pitchFamily="18" charset="0"/>
                <a:cs typeface="Times New Roman" panose="02020603050405020304" pitchFamily="18" charset="0"/>
              </a:rPr>
              <a:t>Impact Analysis</a:t>
            </a:r>
            <a:endParaRPr>
              <a:latin typeface="Times New Roman" panose="02020603050405020304" pitchFamily="18" charset="0"/>
              <a:cs typeface="Times New Roman" panose="02020603050405020304" pitchFamily="18" charset="0"/>
            </a:endParaRPr>
          </a:p>
        </p:txBody>
      </p:sp>
      <p:sp>
        <p:nvSpPr>
          <p:cNvPr id="99" name="Google Shape;99;p15"/>
          <p:cNvSpPr txBox="1">
            <a:spLocks noGrp="1"/>
          </p:cNvSpPr>
          <p:nvPr>
            <p:ph type="body" idx="1"/>
          </p:nvPr>
        </p:nvSpPr>
        <p:spPr>
          <a:xfrm>
            <a:off x="729450" y="1240675"/>
            <a:ext cx="7688700" cy="2261100"/>
          </a:xfrm>
          <a:prstGeom prst="rect">
            <a:avLst/>
          </a:prstGeom>
        </p:spPr>
        <p:txBody>
          <a:bodyPr spcFirstLastPara="1" wrap="square" lIns="91425" tIns="91425" rIns="91425" bIns="91425" anchor="t" anchorCtr="0">
            <a:normAutofit/>
          </a:bodyPr>
          <a:lstStyle/>
          <a:p>
            <a:pPr marL="285750" indent="-285750"/>
            <a:r>
              <a:rPr lang="en-US" dirty="0">
                <a:solidFill>
                  <a:schemeClr val="bg2"/>
                </a:solidFill>
                <a:latin typeface="Times New Roman" panose="02020603050405020304" pitchFamily="18" charset="0"/>
                <a:cs typeface="Times New Roman" panose="02020603050405020304" pitchFamily="18" charset="0"/>
              </a:rPr>
              <a:t>Structured process of evaluating the potential direct and indirect consequences of a proposed change before it is implemented.</a:t>
            </a:r>
          </a:p>
          <a:p>
            <a:pPr marL="285750" indent="-285750"/>
            <a:r>
              <a:rPr lang="en-US" dirty="0">
                <a:solidFill>
                  <a:schemeClr val="bg2"/>
                </a:solidFill>
                <a:latin typeface="Times New Roman" panose="02020603050405020304" pitchFamily="18" charset="0"/>
                <a:cs typeface="Times New Roman" panose="02020603050405020304" pitchFamily="18" charset="0"/>
              </a:rPr>
              <a:t>It helps organizations understand how modifications – whether in software, business processes, or project workflows – might affect existing systems, resources, and stakeholders. </a:t>
            </a:r>
          </a:p>
          <a:p>
            <a:pPr marL="0" lvl="0" indent="0">
              <a:buNone/>
            </a:pPr>
            <a:endParaRPr lang="en-US"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16"/>
          <p:cNvSpPr txBox="1">
            <a:spLocks noGrp="1"/>
          </p:cNvSpPr>
          <p:nvPr>
            <p:ph type="title"/>
          </p:nvPr>
        </p:nvSpPr>
        <p:spPr>
          <a:xfrm>
            <a:off x="729450" y="556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dirty="0">
                <a:latin typeface="Times New Roman" panose="02020603050405020304" pitchFamily="18" charset="0"/>
                <a:cs typeface="Times New Roman" panose="02020603050405020304" pitchFamily="18" charset="0"/>
              </a:rPr>
              <a:t>Importance of Impact Analysis</a:t>
            </a:r>
            <a:endParaRPr dirty="0">
              <a:latin typeface="Times New Roman" panose="02020603050405020304" pitchFamily="18" charset="0"/>
              <a:cs typeface="Times New Roman" panose="02020603050405020304" pitchFamily="18" charset="0"/>
            </a:endParaRPr>
          </a:p>
        </p:txBody>
      </p:sp>
      <p:sp>
        <p:nvSpPr>
          <p:cNvPr id="105" name="Google Shape;105;p16"/>
          <p:cNvSpPr txBox="1">
            <a:spLocks noGrp="1"/>
          </p:cNvSpPr>
          <p:nvPr>
            <p:ph type="body" idx="1"/>
          </p:nvPr>
        </p:nvSpPr>
        <p:spPr>
          <a:xfrm>
            <a:off x="729450" y="1279125"/>
            <a:ext cx="7688700" cy="2261100"/>
          </a:xfrm>
          <a:prstGeom prst="rect">
            <a:avLst/>
          </a:prstGeom>
        </p:spPr>
        <p:txBody>
          <a:bodyPr spcFirstLastPara="1" wrap="square" lIns="91425" tIns="91425" rIns="91425" bIns="91425" anchor="t" anchorCtr="0">
            <a:normAutofit/>
          </a:bodyPr>
          <a:lstStyle/>
          <a:p>
            <a:r>
              <a:rPr lang="en-US" b="1" dirty="0">
                <a:solidFill>
                  <a:schemeClr val="bg2"/>
                </a:solidFill>
                <a:latin typeface="Times New Roman" panose="02020603050405020304" pitchFamily="18" charset="0"/>
                <a:cs typeface="Times New Roman" panose="02020603050405020304" pitchFamily="18" charset="0"/>
              </a:rPr>
              <a:t>Risk Mitigation:</a:t>
            </a:r>
            <a:r>
              <a:rPr lang="en-US" dirty="0">
                <a:solidFill>
                  <a:schemeClr val="bg2"/>
                </a:solidFill>
                <a:latin typeface="Times New Roman" panose="02020603050405020304" pitchFamily="18" charset="0"/>
                <a:cs typeface="Times New Roman" panose="02020603050405020304" pitchFamily="18" charset="0"/>
              </a:rPr>
              <a:t> Identifies potential issues early, preventing disruptions and costly errors.</a:t>
            </a:r>
          </a:p>
          <a:p>
            <a:r>
              <a:rPr lang="en-US" b="1" dirty="0">
                <a:solidFill>
                  <a:schemeClr val="bg2"/>
                </a:solidFill>
                <a:latin typeface="Times New Roman" panose="02020603050405020304" pitchFamily="18" charset="0"/>
                <a:cs typeface="Times New Roman" panose="02020603050405020304" pitchFamily="18" charset="0"/>
              </a:rPr>
              <a:t>Cost Efficiency:</a:t>
            </a:r>
            <a:r>
              <a:rPr lang="en-US" dirty="0">
                <a:solidFill>
                  <a:schemeClr val="bg2"/>
                </a:solidFill>
                <a:latin typeface="Times New Roman" panose="02020603050405020304" pitchFamily="18" charset="0"/>
                <a:cs typeface="Times New Roman" panose="02020603050405020304" pitchFamily="18" charset="0"/>
              </a:rPr>
              <a:t> Reduces waste by optimizing resources and avoiding unnecessary expenditures.</a:t>
            </a:r>
          </a:p>
          <a:p>
            <a:r>
              <a:rPr lang="en-US" b="1" dirty="0">
                <a:solidFill>
                  <a:schemeClr val="bg2"/>
                </a:solidFill>
                <a:latin typeface="Times New Roman" panose="02020603050405020304" pitchFamily="18" charset="0"/>
                <a:cs typeface="Times New Roman" panose="02020603050405020304" pitchFamily="18" charset="0"/>
              </a:rPr>
              <a:t>Strategic Decision-Making:</a:t>
            </a:r>
            <a:r>
              <a:rPr lang="en-US" dirty="0">
                <a:solidFill>
                  <a:schemeClr val="bg2"/>
                </a:solidFill>
                <a:latin typeface="Times New Roman" panose="02020603050405020304" pitchFamily="18" charset="0"/>
                <a:cs typeface="Times New Roman" panose="02020603050405020304" pitchFamily="18" charset="0"/>
              </a:rPr>
              <a:t> Offers data-driven insights to align changes with business goals.</a:t>
            </a:r>
          </a:p>
          <a:p>
            <a:r>
              <a:rPr lang="en-US" b="1" dirty="0">
                <a:solidFill>
                  <a:schemeClr val="bg2"/>
                </a:solidFill>
                <a:latin typeface="Times New Roman" panose="02020603050405020304" pitchFamily="18" charset="0"/>
                <a:cs typeface="Times New Roman" panose="02020603050405020304" pitchFamily="18" charset="0"/>
              </a:rPr>
              <a:t>Regulatory Compliance:</a:t>
            </a:r>
            <a:r>
              <a:rPr lang="en-US" dirty="0">
                <a:solidFill>
                  <a:schemeClr val="bg2"/>
                </a:solidFill>
                <a:latin typeface="Times New Roman" panose="02020603050405020304" pitchFamily="18" charset="0"/>
                <a:cs typeface="Times New Roman" panose="02020603050405020304" pitchFamily="18" charset="0"/>
              </a:rPr>
              <a:t> Ensures adherence to industry standards and legal requirements.</a:t>
            </a:r>
          </a:p>
          <a:p>
            <a:r>
              <a:rPr lang="en-US" b="1" dirty="0">
                <a:solidFill>
                  <a:schemeClr val="bg2"/>
                </a:solidFill>
                <a:latin typeface="Times New Roman" panose="02020603050405020304" pitchFamily="18" charset="0"/>
                <a:cs typeface="Times New Roman" panose="02020603050405020304" pitchFamily="18" charset="0"/>
              </a:rPr>
              <a:t>Stakeholder Confidence:</a:t>
            </a:r>
            <a:r>
              <a:rPr lang="en-US" dirty="0">
                <a:solidFill>
                  <a:schemeClr val="bg2"/>
                </a:solidFill>
                <a:latin typeface="Times New Roman" panose="02020603050405020304" pitchFamily="18" charset="0"/>
                <a:cs typeface="Times New Roman" panose="02020603050405020304" pitchFamily="18" charset="0"/>
              </a:rPr>
              <a:t> Builds trust by demonstrating a proactive approach to change management.</a:t>
            </a:r>
          </a:p>
          <a:p>
            <a:pPr marL="0" lvl="0" indent="0" algn="l" rtl="0">
              <a:spcBef>
                <a:spcPts val="1200"/>
              </a:spcBef>
              <a:spcAft>
                <a:spcPts val="1200"/>
              </a:spcAft>
              <a:buNone/>
            </a:pPr>
            <a:endParaRPr dirty="0">
              <a:solidFill>
                <a:schemeClr val="bg2"/>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18"/>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Impact Analysis and Ripple effect</a:t>
            </a:r>
            <a:endParaRPr/>
          </a:p>
        </p:txBody>
      </p:sp>
      <p:sp>
        <p:nvSpPr>
          <p:cNvPr id="117" name="Google Shape;117;p18"/>
          <p:cNvSpPr txBox="1">
            <a:spLocks noGrp="1"/>
          </p:cNvSpPr>
          <p:nvPr>
            <p:ph type="body" idx="1"/>
          </p:nvPr>
        </p:nvSpPr>
        <p:spPr>
          <a:xfrm>
            <a:off x="729450" y="1240675"/>
            <a:ext cx="7688700" cy="30645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dirty="0">
                <a:solidFill>
                  <a:srgbClr val="000000"/>
                </a:solidFill>
              </a:rPr>
              <a:t>Ripple effect means that a modification to a single variable may require several parts of the software system to be modified. The concept of ripple effect has relevance in software evolution because it concerns changes and their effects</a:t>
            </a:r>
            <a:endParaRPr dirty="0">
              <a:solidFill>
                <a:srgbClr val="000000"/>
              </a:solidFill>
            </a:endParaRPr>
          </a:p>
          <a:p>
            <a:pPr marL="0" lvl="0" indent="0" algn="l" rtl="0">
              <a:spcBef>
                <a:spcPts val="1200"/>
              </a:spcBef>
              <a:spcAft>
                <a:spcPts val="1200"/>
              </a:spcAft>
              <a:buNone/>
            </a:pPr>
            <a:r>
              <a:rPr lang="en" dirty="0">
                <a:solidFill>
                  <a:srgbClr val="000000"/>
                </a:solidFill>
              </a:rPr>
              <a:t>Measurement of ripple effects can provide the following information about an evolving software system: </a:t>
            </a:r>
            <a:br>
              <a:rPr lang="en" dirty="0">
                <a:solidFill>
                  <a:srgbClr val="000000"/>
                </a:solidFill>
              </a:rPr>
            </a:br>
            <a:r>
              <a:rPr lang="en" dirty="0">
                <a:solidFill>
                  <a:srgbClr val="000000"/>
                </a:solidFill>
              </a:rPr>
              <a:t>(i) between successive versions of the same system, measurement of ripple effect will tell us how the software’s complexity has changed;</a:t>
            </a:r>
            <a:br>
              <a:rPr lang="en" dirty="0">
                <a:solidFill>
                  <a:srgbClr val="000000"/>
                </a:solidFill>
              </a:rPr>
            </a:br>
            <a:r>
              <a:rPr lang="en" dirty="0">
                <a:solidFill>
                  <a:srgbClr val="000000"/>
                </a:solidFill>
              </a:rPr>
              <a:t>(ii) when a new module is added to the system, measurement of ripple effect on the system will tell us how the software’s complexity has changed because of the addition of the new module.</a:t>
            </a:r>
            <a:endParaRPr dirty="0">
              <a:solidFill>
                <a:srgbClr val="00000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957A2-8AF4-52C2-745B-B28B0A07308A}"/>
              </a:ext>
            </a:extLst>
          </p:cNvPr>
          <p:cNvSpPr>
            <a:spLocks noGrp="1"/>
          </p:cNvSpPr>
          <p:nvPr>
            <p:ph type="title"/>
          </p:nvPr>
        </p:nvSpPr>
        <p:spPr>
          <a:xfrm>
            <a:off x="420067" y="176214"/>
            <a:ext cx="7688700" cy="535200"/>
          </a:xfrm>
        </p:spPr>
        <p:txBody>
          <a:bodyPr>
            <a:normAutofit fontScale="90000"/>
          </a:bodyPr>
          <a:lstStyle/>
          <a:p>
            <a:r>
              <a:rPr lang="en-US" dirty="0"/>
              <a:t>Ripple Effect Example: Hotel Booking System</a:t>
            </a:r>
          </a:p>
        </p:txBody>
      </p:sp>
      <p:sp>
        <p:nvSpPr>
          <p:cNvPr id="3" name="Text Placeholder 2">
            <a:extLst>
              <a:ext uri="{FF2B5EF4-FFF2-40B4-BE49-F238E27FC236}">
                <a16:creationId xmlns:a16="http://schemas.microsoft.com/office/drawing/2014/main" id="{055331C0-49BA-4F9C-FACD-609FC599D2BB}"/>
              </a:ext>
            </a:extLst>
          </p:cNvPr>
          <p:cNvSpPr>
            <a:spLocks noGrp="1"/>
          </p:cNvSpPr>
          <p:nvPr>
            <p:ph type="body" idx="1"/>
          </p:nvPr>
        </p:nvSpPr>
        <p:spPr>
          <a:xfrm>
            <a:off x="420067" y="1260728"/>
            <a:ext cx="7688700" cy="2261100"/>
          </a:xfrm>
        </p:spPr>
        <p:txBody>
          <a:bodyPr/>
          <a:lstStyle/>
          <a:p>
            <a:r>
              <a:rPr lang="en-US" dirty="0"/>
              <a:t>You want to make change the cancellation policy logic for hotel bookings</a:t>
            </a:r>
          </a:p>
        </p:txBody>
      </p:sp>
      <p:pic>
        <p:nvPicPr>
          <p:cNvPr id="5" name="Picture 4">
            <a:extLst>
              <a:ext uri="{FF2B5EF4-FFF2-40B4-BE49-F238E27FC236}">
                <a16:creationId xmlns:a16="http://schemas.microsoft.com/office/drawing/2014/main" id="{0E4661D6-BC45-3E6B-4534-A4D0F36262E5}"/>
              </a:ext>
            </a:extLst>
          </p:cNvPr>
          <p:cNvPicPr>
            <a:picLocks noChangeAspect="1"/>
          </p:cNvPicPr>
          <p:nvPr/>
        </p:nvPicPr>
        <p:blipFill>
          <a:blip r:embed="rId2"/>
          <a:stretch>
            <a:fillRect/>
          </a:stretch>
        </p:blipFill>
        <p:spPr>
          <a:xfrm>
            <a:off x="1376838" y="1590633"/>
            <a:ext cx="5775157" cy="3301027"/>
          </a:xfrm>
          <a:prstGeom prst="rect">
            <a:avLst/>
          </a:prstGeom>
        </p:spPr>
      </p:pic>
    </p:spTree>
    <p:extLst>
      <p:ext uri="{BB962C8B-B14F-4D97-AF65-F5344CB8AC3E}">
        <p14:creationId xmlns:p14="http://schemas.microsoft.com/office/powerpoint/2010/main" val="304051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86C5D-B91C-8ABA-25D7-B0843DF8F5EC}"/>
              </a:ext>
            </a:extLst>
          </p:cNvPr>
          <p:cNvSpPr>
            <a:spLocks noGrp="1"/>
          </p:cNvSpPr>
          <p:nvPr>
            <p:ph type="title"/>
          </p:nvPr>
        </p:nvSpPr>
        <p:spPr>
          <a:xfrm>
            <a:off x="727650" y="466127"/>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Impact Analysis Methods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BA2ABD8-4ECE-FBAF-C92B-1BEAD64E2996}"/>
              </a:ext>
            </a:extLst>
          </p:cNvPr>
          <p:cNvSpPr>
            <a:spLocks noGrp="1"/>
          </p:cNvSpPr>
          <p:nvPr>
            <p:ph type="body" idx="1"/>
          </p:nvPr>
        </p:nvSpPr>
        <p:spPr>
          <a:xfrm>
            <a:off x="640072" y="1441200"/>
            <a:ext cx="7688700" cy="2261100"/>
          </a:xfrm>
        </p:spPr>
        <p:txBody>
          <a:bodyPr/>
          <a:lstStyle/>
          <a:p>
            <a:r>
              <a:rPr lang="en-US" b="1" dirty="0">
                <a:solidFill>
                  <a:schemeClr val="bg2"/>
                </a:solidFill>
                <a:latin typeface="Times New Roman" panose="02020603050405020304" pitchFamily="18" charset="0"/>
                <a:cs typeface="Times New Roman" panose="02020603050405020304" pitchFamily="18" charset="0"/>
              </a:rPr>
              <a:t>Traceability impact analysis: U</a:t>
            </a:r>
            <a:r>
              <a:rPr lang="en-US" dirty="0">
                <a:solidFill>
                  <a:schemeClr val="bg2"/>
                </a:solidFill>
                <a:latin typeface="Times New Roman" panose="02020603050405020304" pitchFamily="18" charset="0"/>
                <a:cs typeface="Times New Roman" panose="02020603050405020304" pitchFamily="18" charset="0"/>
              </a:rPr>
              <a:t>sed to find out/explore the relationships between different product components. </a:t>
            </a:r>
          </a:p>
          <a:p>
            <a:r>
              <a:rPr lang="en-US" b="1" dirty="0">
                <a:solidFill>
                  <a:schemeClr val="bg2"/>
                </a:solidFill>
                <a:latin typeface="Times New Roman" panose="02020603050405020304" pitchFamily="18" charset="0"/>
                <a:cs typeface="Times New Roman" panose="02020603050405020304" pitchFamily="18" charset="0"/>
              </a:rPr>
              <a:t>Dependency impact analysis: E</a:t>
            </a:r>
            <a:r>
              <a:rPr lang="en-US" dirty="0">
                <a:solidFill>
                  <a:schemeClr val="bg2"/>
                </a:solidFill>
                <a:latin typeface="Times New Roman" panose="02020603050405020304" pitchFamily="18" charset="0"/>
                <a:cs typeface="Times New Roman" panose="02020603050405020304" pitchFamily="18" charset="0"/>
              </a:rPr>
              <a:t>xamines dependencies, the effects that a change may have on the entire system, not on a specific area.</a:t>
            </a:r>
          </a:p>
          <a:p>
            <a:r>
              <a:rPr lang="en-US" b="1" dirty="0">
                <a:solidFill>
                  <a:schemeClr val="bg2"/>
                </a:solidFill>
                <a:latin typeface="Times New Roman" panose="02020603050405020304" pitchFamily="18" charset="0"/>
                <a:cs typeface="Times New Roman" panose="02020603050405020304" pitchFamily="18" charset="0"/>
              </a:rPr>
              <a:t>Experimental impact analysis: B</a:t>
            </a:r>
            <a:r>
              <a:rPr lang="en-US" dirty="0">
                <a:solidFill>
                  <a:schemeClr val="bg2"/>
                </a:solidFill>
                <a:latin typeface="Times New Roman" panose="02020603050405020304" pitchFamily="18" charset="0"/>
                <a:cs typeface="Times New Roman" panose="02020603050405020304" pitchFamily="18" charset="0"/>
              </a:rPr>
              <a:t>ased on past similar impact patterns to predict the impact of future changes.</a:t>
            </a:r>
          </a:p>
        </p:txBody>
      </p:sp>
    </p:spTree>
    <p:extLst>
      <p:ext uri="{BB962C8B-B14F-4D97-AF65-F5344CB8AC3E}">
        <p14:creationId xmlns:p14="http://schemas.microsoft.com/office/powerpoint/2010/main" val="32790487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887027-E7CB-A098-CEC4-7C2724455DB2}"/>
              </a:ext>
            </a:extLst>
          </p:cNvPr>
          <p:cNvSpPr>
            <a:spLocks noGrp="1"/>
          </p:cNvSpPr>
          <p:nvPr>
            <p:ph type="title"/>
          </p:nvPr>
        </p:nvSpPr>
        <p:spPr>
          <a:xfrm>
            <a:off x="667573" y="651757"/>
            <a:ext cx="7688700" cy="535200"/>
          </a:xfrm>
        </p:spPr>
        <p:txBody>
          <a:bodyPr>
            <a:normAutofit fontScale="90000"/>
          </a:bodyPr>
          <a:lstStyle/>
          <a:p>
            <a:r>
              <a:rPr lang="en-US" dirty="0">
                <a:latin typeface="Times New Roman" panose="02020603050405020304" pitchFamily="18" charset="0"/>
                <a:cs typeface="Times New Roman" panose="02020603050405020304" pitchFamily="18" charset="0"/>
              </a:rPr>
              <a:t>Impact Analysis Process</a:t>
            </a:r>
          </a:p>
        </p:txBody>
      </p:sp>
      <p:sp>
        <p:nvSpPr>
          <p:cNvPr id="3" name="Text Placeholder 2">
            <a:extLst>
              <a:ext uri="{FF2B5EF4-FFF2-40B4-BE49-F238E27FC236}">
                <a16:creationId xmlns:a16="http://schemas.microsoft.com/office/drawing/2014/main" id="{14CC62AB-1205-E1C1-B3D1-78E287363EAC}"/>
              </a:ext>
            </a:extLst>
          </p:cNvPr>
          <p:cNvSpPr>
            <a:spLocks noGrp="1"/>
          </p:cNvSpPr>
          <p:nvPr>
            <p:ph type="body" idx="1"/>
          </p:nvPr>
        </p:nvSpPr>
        <p:spPr>
          <a:xfrm>
            <a:off x="727650" y="1441200"/>
            <a:ext cx="7688700" cy="2261100"/>
          </a:xfrm>
        </p:spPr>
        <p:txBody>
          <a:bodyPr/>
          <a:lstStyle/>
          <a:p>
            <a:r>
              <a:rPr lang="en-US" dirty="0">
                <a:solidFill>
                  <a:schemeClr val="bg2"/>
                </a:solidFill>
                <a:latin typeface="Times New Roman" panose="02020603050405020304" pitchFamily="18" charset="0"/>
                <a:cs typeface="Times New Roman" panose="02020603050405020304" pitchFamily="18" charset="0"/>
              </a:rPr>
              <a:t>Gather a team</a:t>
            </a:r>
          </a:p>
          <a:p>
            <a:r>
              <a:rPr lang="en-US" dirty="0">
                <a:solidFill>
                  <a:schemeClr val="bg2"/>
                </a:solidFill>
                <a:latin typeface="Times New Roman" panose="02020603050405020304" pitchFamily="18" charset="0"/>
                <a:cs typeface="Times New Roman" panose="02020603050405020304" pitchFamily="18" charset="0"/>
              </a:rPr>
              <a:t>Brainstorm</a:t>
            </a:r>
          </a:p>
          <a:p>
            <a:r>
              <a:rPr lang="en-US" dirty="0">
                <a:solidFill>
                  <a:schemeClr val="bg2"/>
                </a:solidFill>
                <a:latin typeface="Times New Roman" panose="02020603050405020304" pitchFamily="18" charset="0"/>
                <a:cs typeface="Times New Roman" panose="02020603050405020304" pitchFamily="18" charset="0"/>
              </a:rPr>
              <a:t>Evaluate</a:t>
            </a:r>
          </a:p>
          <a:p>
            <a:r>
              <a:rPr lang="en-US" dirty="0">
                <a:solidFill>
                  <a:schemeClr val="bg2"/>
                </a:solidFill>
                <a:latin typeface="Times New Roman" panose="02020603050405020304" pitchFamily="18" charset="0"/>
                <a:cs typeface="Times New Roman" panose="02020603050405020304" pitchFamily="18" charset="0"/>
              </a:rPr>
              <a:t>Report findings</a:t>
            </a:r>
          </a:p>
          <a:p>
            <a:r>
              <a:rPr lang="en-US" dirty="0">
                <a:solidFill>
                  <a:schemeClr val="bg2"/>
                </a:solidFill>
                <a:latin typeface="Times New Roman" panose="02020603050405020304" pitchFamily="18" charset="0"/>
                <a:cs typeface="Times New Roman" panose="02020603050405020304" pitchFamily="18" charset="0"/>
              </a:rPr>
              <a:t>Make adjustments</a:t>
            </a:r>
          </a:p>
          <a:p>
            <a:r>
              <a:rPr lang="en-US" dirty="0">
                <a:solidFill>
                  <a:schemeClr val="bg2"/>
                </a:solidFill>
                <a:latin typeface="Times New Roman" panose="02020603050405020304" pitchFamily="18" charset="0"/>
                <a:cs typeface="Times New Roman" panose="02020603050405020304" pitchFamily="18" charset="0"/>
              </a:rPr>
              <a:t>Implement the change</a:t>
            </a:r>
          </a:p>
        </p:txBody>
      </p:sp>
    </p:spTree>
    <p:extLst>
      <p:ext uri="{BB962C8B-B14F-4D97-AF65-F5344CB8AC3E}">
        <p14:creationId xmlns:p14="http://schemas.microsoft.com/office/powerpoint/2010/main" val="4315599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7"/>
          <p:cNvSpPr txBox="1">
            <a:spLocks noGrp="1"/>
          </p:cNvSpPr>
          <p:nvPr>
            <p:ph type="title"/>
          </p:nvPr>
        </p:nvSpPr>
        <p:spPr>
          <a:xfrm>
            <a:off x="729450" y="632850"/>
            <a:ext cx="7688700" cy="535200"/>
          </a:xfrm>
          <a:prstGeom prst="rect">
            <a:avLst/>
          </a:prstGeom>
        </p:spPr>
        <p:txBody>
          <a:bodyPr spcFirstLastPara="1" wrap="square" lIns="91425" tIns="91425" rIns="91425" bIns="91425" anchor="t" anchorCtr="0">
            <a:normAutofit fontScale="90000"/>
          </a:bodyPr>
          <a:lstStyle/>
          <a:p>
            <a:pPr lvl="0"/>
            <a:r>
              <a:rPr lang="en-US" dirty="0">
                <a:solidFill>
                  <a:schemeClr val="bg2"/>
                </a:solidFill>
                <a:latin typeface="Times New Roman" panose="02020603050405020304" pitchFamily="18" charset="0"/>
                <a:cs typeface="Times New Roman" panose="02020603050405020304" pitchFamily="18" charset="0"/>
              </a:rPr>
              <a:t>Traceability impact analysis</a:t>
            </a:r>
            <a:endParaRPr dirty="0"/>
          </a:p>
        </p:txBody>
      </p:sp>
      <p:sp>
        <p:nvSpPr>
          <p:cNvPr id="111" name="Google Shape;111;p17"/>
          <p:cNvSpPr txBox="1">
            <a:spLocks noGrp="1"/>
          </p:cNvSpPr>
          <p:nvPr>
            <p:ph type="body" idx="1"/>
          </p:nvPr>
        </p:nvSpPr>
        <p:spPr>
          <a:xfrm>
            <a:off x="729450" y="1164475"/>
            <a:ext cx="7688700" cy="3064500"/>
          </a:xfrm>
          <a:prstGeom prst="rect">
            <a:avLst/>
          </a:prstGeom>
        </p:spPr>
        <p:txBody>
          <a:bodyPr spcFirstLastPara="1" wrap="square" lIns="91425" tIns="91425" rIns="91425" bIns="91425" anchor="t" anchorCtr="0">
            <a:normAutofit/>
          </a:bodyPr>
          <a:lstStyle/>
          <a:p>
            <a:pPr marL="285750" indent="-285750"/>
            <a:r>
              <a:rPr lang="en" dirty="0">
                <a:solidFill>
                  <a:srgbClr val="000000"/>
                </a:solidFill>
              </a:rPr>
              <a:t>Traceability is the ability to trace between software artifacts generated and modified during the software product life cycle. </a:t>
            </a:r>
          </a:p>
          <a:p>
            <a:pPr marL="285750" indent="-285750"/>
            <a:r>
              <a:rPr lang="en" dirty="0">
                <a:solidFill>
                  <a:srgbClr val="000000"/>
                </a:solidFill>
              </a:rPr>
              <a:t>Helps software developers understand the relationships among all the software artifacts in a project.</a:t>
            </a:r>
          </a:p>
          <a:p>
            <a:pPr marL="285750" indent="-285750"/>
            <a:r>
              <a:rPr lang="en" dirty="0">
                <a:solidFill>
                  <a:srgbClr val="000000"/>
                </a:solidFill>
              </a:rPr>
              <a:t>There are two broad kinds of traceability -  </a:t>
            </a:r>
            <a:r>
              <a:rPr lang="en-US" dirty="0">
                <a:solidFill>
                  <a:srgbClr val="000000"/>
                </a:solidFill>
              </a:rPr>
              <a:t>horizontal (external) traceability and vertical (internal) traceability.</a:t>
            </a:r>
          </a:p>
          <a:p>
            <a:pPr marL="285750" indent="-285750"/>
            <a:r>
              <a:rPr lang="en" dirty="0">
                <a:solidFill>
                  <a:srgbClr val="000000"/>
                </a:solidFill>
              </a:rPr>
              <a:t>Traceability of artifacts between different models is known as </a:t>
            </a:r>
            <a:r>
              <a:rPr lang="en" dirty="0">
                <a:solidFill>
                  <a:srgbClr val="FFC000"/>
                </a:solidFill>
              </a:rPr>
              <a:t>external traceability</a:t>
            </a:r>
            <a:r>
              <a:rPr lang="en" dirty="0">
                <a:solidFill>
                  <a:srgbClr val="000000"/>
                </a:solidFill>
              </a:rPr>
              <a:t>, whereas </a:t>
            </a:r>
            <a:r>
              <a:rPr lang="en" dirty="0">
                <a:solidFill>
                  <a:srgbClr val="FFC000"/>
                </a:solidFill>
              </a:rPr>
              <a:t>internal traceability </a:t>
            </a:r>
            <a:r>
              <a:rPr lang="en" dirty="0">
                <a:solidFill>
                  <a:srgbClr val="000000"/>
                </a:solidFill>
              </a:rPr>
              <a:t>refers to tracing dependent artifacts within the same model. Internal traceability primarily focuses on source code artifacts.</a:t>
            </a:r>
            <a:endParaRPr lang="en-US" dirty="0">
              <a:solidFill>
                <a:srgbClr val="0000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6"/>
          <p:cNvSpPr txBox="1">
            <a:spLocks noGrp="1"/>
          </p:cNvSpPr>
          <p:nvPr>
            <p:ph type="title"/>
          </p:nvPr>
        </p:nvSpPr>
        <p:spPr>
          <a:xfrm>
            <a:off x="55682" y="0"/>
            <a:ext cx="7688700" cy="535200"/>
          </a:xfrm>
          <a:prstGeom prst="rect">
            <a:avLst/>
          </a:prstGeom>
        </p:spPr>
        <p:txBody>
          <a:bodyPr spcFirstLastPara="1" wrap="square" lIns="91425" tIns="91425" rIns="91425" bIns="91425" anchor="t" anchorCtr="0">
            <a:normAutofit fontScale="90000"/>
          </a:bodyPr>
          <a:lstStyle/>
          <a:p>
            <a:pPr lvl="0"/>
            <a:r>
              <a:rPr lang="en" dirty="0">
                <a:latin typeface="Lato"/>
                <a:ea typeface="Lato"/>
                <a:cs typeface="Lato"/>
                <a:sym typeface="Lato"/>
              </a:rPr>
              <a:t>Analysis of Traceability Graph</a:t>
            </a:r>
            <a:br>
              <a:rPr lang="en" dirty="0">
                <a:latin typeface="Lato"/>
                <a:ea typeface="Lato"/>
                <a:cs typeface="Lato"/>
                <a:sym typeface="Lato"/>
              </a:rPr>
            </a:br>
            <a:endParaRPr dirty="0"/>
          </a:p>
        </p:txBody>
      </p:sp>
      <p:sp>
        <p:nvSpPr>
          <p:cNvPr id="165" name="Google Shape;165;p26"/>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66" name="Google Shape;166;p26"/>
          <p:cNvPicPr preferRelativeResize="0"/>
          <p:nvPr/>
        </p:nvPicPr>
        <p:blipFill>
          <a:blip r:embed="rId3">
            <a:alphaModFix/>
          </a:blip>
          <a:stretch>
            <a:fillRect/>
          </a:stretch>
        </p:blipFill>
        <p:spPr>
          <a:xfrm>
            <a:off x="673863" y="643579"/>
            <a:ext cx="6785100" cy="42332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p28"/>
          <p:cNvSpPr txBox="1">
            <a:spLocks noGrp="1"/>
          </p:cNvSpPr>
          <p:nvPr>
            <p:ph type="title"/>
          </p:nvPr>
        </p:nvSpPr>
        <p:spPr>
          <a:xfrm>
            <a:off x="729450" y="13186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endParaRPr/>
          </a:p>
        </p:txBody>
      </p:sp>
      <p:sp>
        <p:nvSpPr>
          <p:cNvPr id="178" name="Google Shape;178;p28"/>
          <p:cNvSpPr txBox="1">
            <a:spLocks noGrp="1"/>
          </p:cNvSpPr>
          <p:nvPr>
            <p:ph type="body" idx="1"/>
          </p:nvPr>
        </p:nvSpPr>
        <p:spPr>
          <a:xfrm>
            <a:off x="729450" y="2078875"/>
            <a:ext cx="7688700" cy="2261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pic>
        <p:nvPicPr>
          <p:cNvPr id="179" name="Google Shape;179;p28"/>
          <p:cNvPicPr preferRelativeResize="0"/>
          <p:nvPr/>
        </p:nvPicPr>
        <p:blipFill>
          <a:blip r:embed="rId3">
            <a:alphaModFix/>
          </a:blip>
          <a:stretch>
            <a:fillRect/>
          </a:stretch>
        </p:blipFill>
        <p:spPr>
          <a:xfrm>
            <a:off x="1670402" y="1318650"/>
            <a:ext cx="5912750" cy="3533775"/>
          </a:xfrm>
          <a:prstGeom prst="rect">
            <a:avLst/>
          </a:prstGeom>
          <a:noFill/>
          <a:ln>
            <a:noFill/>
          </a:ln>
        </p:spPr>
      </p:pic>
      <p:sp>
        <p:nvSpPr>
          <p:cNvPr id="180" name="Google Shape;180;p28"/>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lvl="0"/>
            <a:r>
              <a:rPr lang="en" dirty="0">
                <a:latin typeface="Lato"/>
                <a:ea typeface="Lato"/>
                <a:cs typeface="Lato"/>
                <a:sym typeface="Lato"/>
              </a:rPr>
              <a:t>Analysis of Traceability Graph</a:t>
            </a:r>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pic>
        <p:nvPicPr>
          <p:cNvPr id="185" name="Google Shape;185;p29"/>
          <p:cNvPicPr preferRelativeResize="0"/>
          <p:nvPr/>
        </p:nvPicPr>
        <p:blipFill>
          <a:blip r:embed="rId3">
            <a:alphaModFix/>
          </a:blip>
          <a:stretch>
            <a:fillRect/>
          </a:stretch>
        </p:blipFill>
        <p:spPr>
          <a:xfrm>
            <a:off x="2043900" y="1194575"/>
            <a:ext cx="5971925" cy="3600450"/>
          </a:xfrm>
          <a:prstGeom prst="rect">
            <a:avLst/>
          </a:prstGeom>
          <a:noFill/>
          <a:ln>
            <a:noFill/>
          </a:ln>
        </p:spPr>
      </p:pic>
      <p:sp>
        <p:nvSpPr>
          <p:cNvPr id="186" name="Google Shape;186;p29"/>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lvl="0"/>
            <a:r>
              <a:rPr lang="en" dirty="0">
                <a:latin typeface="Lato"/>
                <a:ea typeface="Lato"/>
                <a:cs typeface="Lato"/>
                <a:sym typeface="Lato"/>
              </a:rPr>
              <a:t>Analysis of Traceability Graph</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1"/>
          <p:cNvSpPr txBox="1">
            <a:spLocks noGrp="1"/>
          </p:cNvSpPr>
          <p:nvPr>
            <p:ph type="body" idx="1"/>
          </p:nvPr>
        </p:nvSpPr>
        <p:spPr>
          <a:xfrm>
            <a:off x="729450" y="1387775"/>
            <a:ext cx="3055800" cy="35961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br>
              <a:rPr lang="en" b="1" dirty="0"/>
            </a:br>
            <a:br>
              <a:rPr lang="en" dirty="0">
                <a:solidFill>
                  <a:srgbClr val="000000"/>
                </a:solidFill>
              </a:rPr>
            </a:br>
            <a:r>
              <a:rPr lang="en" dirty="0">
                <a:solidFill>
                  <a:srgbClr val="000000"/>
                </a:solidFill>
              </a:rPr>
              <a:t>Each SLO represents a software artifact connected to other artifacts. The artifacts can be arbitrary entities, ranging from a requirement of the entire system to the definition of a variable. </a:t>
            </a:r>
            <a:br>
              <a:rPr lang="en" dirty="0">
                <a:solidFill>
                  <a:srgbClr val="000000"/>
                </a:solidFill>
              </a:rPr>
            </a:br>
            <a:endParaRPr dirty="0">
              <a:solidFill>
                <a:srgbClr val="000000"/>
              </a:solidFill>
            </a:endParaRPr>
          </a:p>
        </p:txBody>
      </p:sp>
      <p:pic>
        <p:nvPicPr>
          <p:cNvPr id="198" name="Google Shape;198;p31"/>
          <p:cNvPicPr preferRelativeResize="0"/>
          <p:nvPr/>
        </p:nvPicPr>
        <p:blipFill>
          <a:blip r:embed="rId3">
            <a:alphaModFix/>
          </a:blip>
          <a:stretch>
            <a:fillRect/>
          </a:stretch>
        </p:blipFill>
        <p:spPr>
          <a:xfrm>
            <a:off x="3679213" y="1318638"/>
            <a:ext cx="5381625" cy="2714625"/>
          </a:xfrm>
          <a:prstGeom prst="rect">
            <a:avLst/>
          </a:prstGeom>
          <a:noFill/>
          <a:ln>
            <a:noFill/>
          </a:ln>
        </p:spPr>
      </p:pic>
      <p:sp>
        <p:nvSpPr>
          <p:cNvPr id="199" name="Google Shape;199;p31"/>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Impact Analysis Process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5" name="Google Shape;205;p32"/>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Impact Analysis Process</a:t>
            </a:r>
            <a:endParaRPr/>
          </a:p>
        </p:txBody>
      </p:sp>
      <p:pic>
        <p:nvPicPr>
          <p:cNvPr id="206" name="Google Shape;206;p32"/>
          <p:cNvPicPr preferRelativeResize="0"/>
          <p:nvPr/>
        </p:nvPicPr>
        <p:blipFill>
          <a:blip r:embed="rId3">
            <a:alphaModFix/>
          </a:blip>
          <a:stretch>
            <a:fillRect/>
          </a:stretch>
        </p:blipFill>
        <p:spPr>
          <a:xfrm>
            <a:off x="1386955" y="1339929"/>
            <a:ext cx="5053950" cy="2247171"/>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2" name="Google Shape;212;p33"/>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Impact Analysis Process</a:t>
            </a:r>
            <a:endParaRPr/>
          </a:p>
        </p:txBody>
      </p:sp>
      <p:pic>
        <p:nvPicPr>
          <p:cNvPr id="213" name="Google Shape;213;p33"/>
          <p:cNvPicPr preferRelativeResize="0"/>
          <p:nvPr/>
        </p:nvPicPr>
        <p:blipFill>
          <a:blip r:embed="rId3">
            <a:alphaModFix/>
          </a:blip>
          <a:stretch>
            <a:fillRect/>
          </a:stretch>
        </p:blipFill>
        <p:spPr>
          <a:xfrm>
            <a:off x="1349854" y="1332952"/>
            <a:ext cx="5053950" cy="22481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6B95-F837-4157-6A5A-B400F6AD8369}"/>
              </a:ext>
            </a:extLst>
          </p:cNvPr>
          <p:cNvSpPr>
            <a:spLocks noGrp="1"/>
          </p:cNvSpPr>
          <p:nvPr>
            <p:ph type="title"/>
          </p:nvPr>
        </p:nvSpPr>
        <p:spPr/>
        <p:txBody>
          <a:bodyPr>
            <a:normAutofit fontScale="90000"/>
          </a:bodyPr>
          <a:lstStyle/>
          <a:p>
            <a:r>
              <a:rPr lang="en-US" dirty="0"/>
              <a:t>Dependency based Impact Analysis</a:t>
            </a:r>
          </a:p>
        </p:txBody>
      </p:sp>
      <p:sp>
        <p:nvSpPr>
          <p:cNvPr id="3" name="Text Placeholder 2">
            <a:extLst>
              <a:ext uri="{FF2B5EF4-FFF2-40B4-BE49-F238E27FC236}">
                <a16:creationId xmlns:a16="http://schemas.microsoft.com/office/drawing/2014/main" id="{95CFD28A-7E85-CD64-9103-6FC7B54109A7}"/>
              </a:ext>
            </a:extLst>
          </p:cNvPr>
          <p:cNvSpPr>
            <a:spLocks noGrp="1"/>
          </p:cNvSpPr>
          <p:nvPr>
            <p:ph type="body" idx="1"/>
          </p:nvPr>
        </p:nvSpPr>
        <p:spPr/>
        <p:txBody>
          <a:bodyPr/>
          <a:lstStyle/>
          <a:p>
            <a:pPr marL="146050" indent="0">
              <a:buNone/>
            </a:pPr>
            <a:r>
              <a:rPr lang="en-US" dirty="0">
                <a:hlinkClick r:id="rId2"/>
              </a:rPr>
              <a:t>https://www.apriorit.com/qa-blog/252-impact-analysis</a:t>
            </a:r>
            <a:endParaRPr lang="en-US" dirty="0"/>
          </a:p>
        </p:txBody>
      </p:sp>
    </p:spTree>
    <p:extLst>
      <p:ext uri="{BB962C8B-B14F-4D97-AF65-F5344CB8AC3E}">
        <p14:creationId xmlns:p14="http://schemas.microsoft.com/office/powerpoint/2010/main" val="17984046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1"/>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65" name="Google Shape;265;p41"/>
          <p:cNvSpPr txBox="1"/>
          <p:nvPr/>
        </p:nvSpPr>
        <p:spPr>
          <a:xfrm>
            <a:off x="794850" y="1464700"/>
            <a:ext cx="8003100" cy="2339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Lato"/>
                <a:ea typeface="Lato"/>
                <a:cs typeface="Lato"/>
                <a:sym typeface="Lato"/>
              </a:rPr>
              <a:t>Dependency-based impact analysis techniques identify the impact of changes by analyzing syntactic dependencies, because syntactic dependencies are likely to cause semantic dependencies.</a:t>
            </a:r>
            <a:br>
              <a:rPr lang="en" dirty="0">
                <a:latin typeface="Lato"/>
                <a:ea typeface="Lato"/>
                <a:cs typeface="Lato"/>
                <a:sym typeface="Lato"/>
              </a:rPr>
            </a:br>
            <a:br>
              <a:rPr lang="en" dirty="0">
                <a:latin typeface="Lato"/>
                <a:ea typeface="Lato"/>
                <a:cs typeface="Lato"/>
                <a:sym typeface="Lato"/>
              </a:rPr>
            </a:br>
            <a:r>
              <a:rPr lang="en" dirty="0">
                <a:latin typeface="Lato"/>
                <a:ea typeface="Lato"/>
                <a:cs typeface="Lato"/>
                <a:sym typeface="Lato"/>
              </a:rPr>
              <a:t>Two traditional impact analysis techniques are explained in this section. The first technique is based on </a:t>
            </a:r>
            <a:r>
              <a:rPr lang="en" dirty="0">
                <a:solidFill>
                  <a:srgbClr val="FFC000"/>
                </a:solidFill>
                <a:latin typeface="Lato"/>
                <a:ea typeface="Lato"/>
                <a:cs typeface="Lato"/>
                <a:sym typeface="Lato"/>
              </a:rPr>
              <a:t>call graph</a:t>
            </a:r>
            <a:r>
              <a:rPr lang="en" dirty="0">
                <a:latin typeface="Lato"/>
                <a:ea typeface="Lato"/>
                <a:cs typeface="Lato"/>
                <a:sym typeface="Lato"/>
              </a:rPr>
              <a:t>, whereas the second one is based on </a:t>
            </a:r>
            <a:r>
              <a:rPr lang="en" dirty="0">
                <a:solidFill>
                  <a:srgbClr val="FFC000"/>
                </a:solidFill>
                <a:latin typeface="Lato"/>
                <a:ea typeface="Lato"/>
                <a:cs typeface="Lato"/>
                <a:sym typeface="Lato"/>
              </a:rPr>
              <a:t>dependency graph</a:t>
            </a:r>
            <a:br>
              <a:rPr lang="en" dirty="0">
                <a:latin typeface="Lato"/>
                <a:ea typeface="Lato"/>
                <a:cs typeface="Lato"/>
                <a:sym typeface="Lato"/>
              </a:rPr>
            </a:br>
            <a:br>
              <a:rPr lang="en" dirty="0">
                <a:latin typeface="Lato"/>
                <a:ea typeface="Lato"/>
                <a:cs typeface="Lato"/>
                <a:sym typeface="Lato"/>
              </a:rPr>
            </a:br>
            <a:r>
              <a:rPr lang="en" dirty="0">
                <a:solidFill>
                  <a:srgbClr val="0070C0"/>
                </a:solidFill>
                <a:latin typeface="Lato"/>
                <a:ea typeface="Lato"/>
                <a:cs typeface="Lato"/>
                <a:sym typeface="Lato"/>
              </a:rPr>
              <a:t>Call Graph:</a:t>
            </a:r>
            <a:br>
              <a:rPr lang="en" dirty="0">
                <a:latin typeface="Lato"/>
                <a:ea typeface="Lato"/>
                <a:cs typeface="Lato"/>
                <a:sym typeface="Lato"/>
              </a:rPr>
            </a:br>
            <a:br>
              <a:rPr lang="en" dirty="0">
                <a:latin typeface="Lato"/>
                <a:ea typeface="Lato"/>
                <a:cs typeface="Lato"/>
                <a:sym typeface="Lato"/>
              </a:rPr>
            </a:br>
            <a:r>
              <a:rPr lang="en" dirty="0">
                <a:latin typeface="Lato"/>
                <a:ea typeface="Lato"/>
                <a:cs typeface="Lato"/>
                <a:sym typeface="Lato"/>
              </a:rPr>
              <a:t>A call graph is a directed graph in which a node represents a function, a component, or a method, and an edge between two nodes A and B means that A may invoke B.</a:t>
            </a:r>
            <a:endParaRPr dirty="0">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42"/>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71" name="Google Shape;271;p42"/>
          <p:cNvSpPr txBox="1"/>
          <p:nvPr/>
        </p:nvSpPr>
        <p:spPr>
          <a:xfrm>
            <a:off x="794850" y="1464700"/>
            <a:ext cx="31152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Call Graph:</a:t>
            </a:r>
            <a:br>
              <a:rPr lang="en">
                <a:latin typeface="Lato"/>
                <a:ea typeface="Lato"/>
                <a:cs typeface="Lato"/>
                <a:sym typeface="Lato"/>
              </a:rPr>
            </a:br>
            <a:r>
              <a:rPr lang="en">
                <a:latin typeface="Lato"/>
                <a:ea typeface="Lato"/>
                <a:cs typeface="Lato"/>
                <a:sym typeface="Lato"/>
              </a:rPr>
              <a:t>Let P be a program, G be the call graph obtained from P, and p be some procedure in P. </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A key assumption in the call-graph-based technique is that some change in p has the potential to impact changes in all nodes reachable from p in G.</a:t>
            </a:r>
            <a:br>
              <a:rPr lang="en">
                <a:latin typeface="Lato"/>
                <a:ea typeface="Lato"/>
                <a:cs typeface="Lato"/>
                <a:sym typeface="Lato"/>
              </a:rPr>
            </a:br>
            <a:endParaRPr>
              <a:latin typeface="Lato"/>
              <a:ea typeface="Lato"/>
              <a:cs typeface="Lato"/>
              <a:sym typeface="Lato"/>
            </a:endParaRPr>
          </a:p>
        </p:txBody>
      </p:sp>
      <p:pic>
        <p:nvPicPr>
          <p:cNvPr id="272" name="Google Shape;272;p42"/>
          <p:cNvPicPr preferRelativeResize="0"/>
          <p:nvPr/>
        </p:nvPicPr>
        <p:blipFill>
          <a:blip r:embed="rId3">
            <a:alphaModFix/>
          </a:blip>
          <a:stretch>
            <a:fillRect/>
          </a:stretch>
        </p:blipFill>
        <p:spPr>
          <a:xfrm>
            <a:off x="4247600" y="1665425"/>
            <a:ext cx="4838700" cy="17145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3"/>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78" name="Google Shape;278;p43"/>
          <p:cNvSpPr txBox="1"/>
          <p:nvPr/>
        </p:nvSpPr>
        <p:spPr>
          <a:xfrm>
            <a:off x="794850" y="1464700"/>
            <a:ext cx="8003100" cy="27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Lato"/>
                <a:ea typeface="Lato"/>
                <a:cs typeface="Lato"/>
                <a:sym typeface="Lato"/>
              </a:rPr>
              <a:t>Call Graph:</a:t>
            </a:r>
            <a:br>
              <a:rPr lang="en" dirty="0">
                <a:latin typeface="Lato"/>
                <a:ea typeface="Lato"/>
                <a:cs typeface="Lato"/>
                <a:sym typeface="Lato"/>
              </a:rPr>
            </a:br>
            <a:br>
              <a:rPr lang="en" dirty="0">
                <a:latin typeface="Lato"/>
                <a:ea typeface="Lato"/>
                <a:cs typeface="Lato"/>
                <a:sym typeface="Lato"/>
              </a:rPr>
            </a:br>
            <a:r>
              <a:rPr lang="en" dirty="0">
                <a:latin typeface="Lato"/>
                <a:ea typeface="Lato"/>
                <a:cs typeface="Lato"/>
                <a:sym typeface="Lato"/>
              </a:rPr>
              <a:t>Call-graph-based approach to impact analysis suffers from many disadvantages as follows: </a:t>
            </a:r>
            <a:br>
              <a:rPr lang="en" dirty="0">
                <a:latin typeface="Lato"/>
                <a:ea typeface="Lato"/>
                <a:cs typeface="Lato"/>
                <a:sym typeface="Lato"/>
              </a:rPr>
            </a:br>
            <a:endParaRPr dirty="0">
              <a:latin typeface="Lato"/>
              <a:ea typeface="Lato"/>
              <a:cs typeface="Lato"/>
              <a:sym typeface="Lato"/>
            </a:endParaRPr>
          </a:p>
          <a:p>
            <a:pPr marL="457200" lvl="0" indent="-317500" algn="l" rtl="0">
              <a:spcBef>
                <a:spcPts val="0"/>
              </a:spcBef>
              <a:spcAft>
                <a:spcPts val="0"/>
              </a:spcAft>
              <a:buSzPts val="1400"/>
              <a:buFont typeface="Lato"/>
              <a:buChar char="●"/>
            </a:pPr>
            <a:r>
              <a:rPr lang="en" dirty="0">
                <a:latin typeface="Lato"/>
                <a:ea typeface="Lato"/>
                <a:cs typeface="Lato"/>
                <a:sym typeface="Lato"/>
              </a:rPr>
              <a:t>A call graph represents the potential calls by a single procedure, while ignoring the dynamic aspects. Consequently, impact analysis based on call graphs can produce an </a:t>
            </a:r>
            <a:r>
              <a:rPr lang="en" dirty="0">
                <a:solidFill>
                  <a:srgbClr val="FFC000"/>
                </a:solidFill>
                <a:latin typeface="Lato"/>
                <a:ea typeface="Lato"/>
                <a:cs typeface="Lato"/>
                <a:sym typeface="Lato"/>
              </a:rPr>
              <a:t>imprecise impact set.</a:t>
            </a:r>
            <a:r>
              <a:rPr lang="en" dirty="0">
                <a:latin typeface="Lato"/>
                <a:ea typeface="Lato"/>
                <a:cs typeface="Lato"/>
                <a:sym typeface="Lato"/>
              </a:rPr>
              <a:t> For example, in Figure 6.7, one cannot determine the conditions that cause impacts of changes to propagate from M to other procedures. </a:t>
            </a:r>
            <a:endParaRPr dirty="0">
              <a:latin typeface="Lato"/>
              <a:ea typeface="Lato"/>
              <a:cs typeface="Lato"/>
              <a:sym typeface="Lato"/>
            </a:endParaRPr>
          </a:p>
          <a:p>
            <a:pPr marL="457200" lvl="0" indent="-317500" algn="l" rtl="0">
              <a:spcBef>
                <a:spcPts val="0"/>
              </a:spcBef>
              <a:spcAft>
                <a:spcPts val="0"/>
              </a:spcAft>
              <a:buSzPts val="1400"/>
              <a:buFont typeface="Lato"/>
              <a:buChar char="●"/>
            </a:pPr>
            <a:r>
              <a:rPr lang="en" dirty="0">
                <a:latin typeface="Lato"/>
                <a:ea typeface="Lato"/>
                <a:cs typeface="Lato"/>
                <a:sym typeface="Lato"/>
              </a:rPr>
              <a:t>Generally, a call graph captures no information flowing via returns. Therefore, impact propagations due to procedure returns are not captured in the call-graph- based technique. Suppose that in Figure 6.7, </a:t>
            </a:r>
            <a:r>
              <a:rPr lang="en" dirty="0">
                <a:solidFill>
                  <a:srgbClr val="FFC000"/>
                </a:solidFill>
                <a:latin typeface="Lato"/>
                <a:ea typeface="Lato"/>
                <a:cs typeface="Lato"/>
                <a:sym typeface="Lato"/>
              </a:rPr>
              <a:t>D is modified and control returns to C. Now, following the return to C, it cannot be inferred whether impacts of changing E propagates into none, both, A, or B.</a:t>
            </a:r>
            <a:endParaRPr dirty="0">
              <a:solidFill>
                <a:srgbClr val="FFC000"/>
              </a:solidFill>
              <a:latin typeface="Lato"/>
              <a:ea typeface="Lato"/>
              <a:cs typeface="Lato"/>
              <a:sym typeface="Lat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4"/>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84" name="Google Shape;284;p44"/>
          <p:cNvSpPr txBox="1"/>
          <p:nvPr/>
        </p:nvSpPr>
        <p:spPr>
          <a:xfrm>
            <a:off x="794850" y="1464700"/>
            <a:ext cx="80031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latin typeface="Lato"/>
                <a:ea typeface="Lato"/>
                <a:cs typeface="Lato"/>
                <a:sym typeface="Lato"/>
              </a:rPr>
              <a:t>Call Graph:</a:t>
            </a:r>
            <a:br>
              <a:rPr lang="en" dirty="0">
                <a:latin typeface="Lato"/>
                <a:ea typeface="Lato"/>
                <a:cs typeface="Lato"/>
                <a:sym typeface="Lato"/>
              </a:rPr>
            </a:br>
            <a:br>
              <a:rPr lang="en" dirty="0">
                <a:latin typeface="Lato"/>
                <a:ea typeface="Lato"/>
                <a:cs typeface="Lato"/>
                <a:sym typeface="Lato"/>
              </a:rPr>
            </a:br>
            <a:r>
              <a:rPr lang="en" dirty="0">
                <a:latin typeface="Lato"/>
                <a:ea typeface="Lato"/>
                <a:cs typeface="Lato"/>
                <a:sym typeface="Lato"/>
              </a:rPr>
              <a:t>To address the aforementioned issues, Law and Rothermel defined a technique called </a:t>
            </a:r>
            <a:r>
              <a:rPr lang="en" dirty="0">
                <a:solidFill>
                  <a:srgbClr val="FFC000"/>
                </a:solidFill>
                <a:latin typeface="Lato"/>
                <a:ea typeface="Lato"/>
                <a:cs typeface="Lato"/>
                <a:sym typeface="Lato"/>
              </a:rPr>
              <a:t>path-based dynamic impact analysis</a:t>
            </a:r>
            <a:r>
              <a:rPr lang="en" dirty="0">
                <a:latin typeface="Lato"/>
                <a:ea typeface="Lato"/>
                <a:cs typeface="Lato"/>
                <a:sym typeface="Lato"/>
              </a:rPr>
              <a:t> that uses whole path profiling to estimate the effects of changes. </a:t>
            </a:r>
            <a:br>
              <a:rPr lang="en" dirty="0">
                <a:latin typeface="Lato"/>
                <a:ea typeface="Lato"/>
                <a:cs typeface="Lato"/>
                <a:sym typeface="Lato"/>
              </a:rPr>
            </a:br>
            <a:br>
              <a:rPr lang="en" dirty="0">
                <a:latin typeface="Lato"/>
                <a:ea typeface="Lato"/>
                <a:cs typeface="Lato"/>
                <a:sym typeface="Lato"/>
              </a:rPr>
            </a:br>
            <a:r>
              <a:rPr lang="en" dirty="0">
                <a:latin typeface="Lato"/>
                <a:ea typeface="Lato"/>
                <a:cs typeface="Lato"/>
                <a:sym typeface="Lato"/>
              </a:rPr>
              <a:t>In this approach, if a procedure p is changed, then one considers the impact that is likely to propagate along those executable paths that are seen to be passing through p. As a result, any procedure, that is invoked after p but still appears on the call stack after p terminates, is assumed to be potentially impacted. </a:t>
            </a:r>
            <a:br>
              <a:rPr lang="en" dirty="0">
                <a:latin typeface="Lato"/>
                <a:ea typeface="Lato"/>
                <a:cs typeface="Lato"/>
                <a:sym typeface="Lato"/>
              </a:rPr>
            </a:br>
            <a:br>
              <a:rPr lang="en" dirty="0">
                <a:latin typeface="Lato"/>
                <a:ea typeface="Lato"/>
                <a:cs typeface="Lato"/>
                <a:sym typeface="Lato"/>
              </a:rPr>
            </a:br>
            <a:endParaRPr dirty="0">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5"/>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90" name="Google Shape;290;p45"/>
          <p:cNvSpPr txBox="1"/>
          <p:nvPr/>
        </p:nvSpPr>
        <p:spPr>
          <a:xfrm>
            <a:off x="794850" y="1464700"/>
            <a:ext cx="8003100" cy="320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Call Graph:</a:t>
            </a: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Let us consider an execution trace as shown in Figure 6.8. The trace corresponds to a program whose call graph is shown in Figure 6.7. In the figure, r and x represent function returns and program exits, respectively. Let procedure E be modified. The impact of the modification with respect to the given trace is computed by forward searching in the trace to find: (i) procedures that are indirectly or directly invoked by E; and (ii) procedures that are invoked after E terminates. One can identify the procedures into which E returns by performing backward search in the given trace. For example, in the given trace, E does not invoke other entities, but it returns into M, A, and C. Due to a modification in E, the set of potentially impacted procedures is {M, A,C, E}.</a:t>
            </a:r>
            <a:br>
              <a:rPr lang="en">
                <a:latin typeface="Lato"/>
                <a:ea typeface="Lato"/>
                <a:cs typeface="Lato"/>
                <a:sym typeface="Lato"/>
              </a:rPr>
            </a:br>
            <a:br>
              <a:rPr lang="en">
                <a:latin typeface="Lato"/>
                <a:ea typeface="Lato"/>
                <a:cs typeface="Lato"/>
                <a:sym typeface="Lato"/>
              </a:rPr>
            </a:br>
            <a:endParaRPr>
              <a:latin typeface="Lato"/>
              <a:ea typeface="Lato"/>
              <a:cs typeface="Lato"/>
              <a:sym typeface="Lato"/>
            </a:endParaRPr>
          </a:p>
        </p:txBody>
      </p:sp>
      <p:pic>
        <p:nvPicPr>
          <p:cNvPr id="291" name="Google Shape;291;p45"/>
          <p:cNvPicPr preferRelativeResize="0"/>
          <p:nvPr/>
        </p:nvPicPr>
        <p:blipFill>
          <a:blip r:embed="rId3">
            <a:alphaModFix/>
          </a:blip>
          <a:stretch>
            <a:fillRect/>
          </a:stretch>
        </p:blipFill>
        <p:spPr>
          <a:xfrm>
            <a:off x="2353800" y="1170850"/>
            <a:ext cx="4210125" cy="765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6"/>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297" name="Google Shape;297;p46"/>
          <p:cNvSpPr txBox="1"/>
          <p:nvPr/>
        </p:nvSpPr>
        <p:spPr>
          <a:xfrm>
            <a:off x="794850" y="1464700"/>
            <a:ext cx="80031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Program Dependency Graph:</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In the program dependency graph (PDG) of a program: </a:t>
            </a:r>
            <a:br>
              <a:rPr lang="en">
                <a:latin typeface="Lato"/>
                <a:ea typeface="Lato"/>
                <a:cs typeface="Lato"/>
                <a:sym typeface="Lato"/>
              </a:rPr>
            </a:br>
            <a:r>
              <a:rPr lang="en">
                <a:latin typeface="Lato"/>
                <a:ea typeface="Lato"/>
                <a:cs typeface="Lato"/>
                <a:sym typeface="Lato"/>
              </a:rPr>
              <a:t>(i) each simple statement is represented by a node, also called a vertex; and </a:t>
            </a:r>
            <a:br>
              <a:rPr lang="en">
                <a:latin typeface="Lato"/>
                <a:ea typeface="Lato"/>
                <a:cs typeface="Lato"/>
                <a:sym typeface="Lato"/>
              </a:rPr>
            </a:br>
            <a:r>
              <a:rPr lang="en">
                <a:latin typeface="Lato"/>
                <a:ea typeface="Lato"/>
                <a:cs typeface="Lato"/>
                <a:sym typeface="Lato"/>
              </a:rPr>
              <a:t>(ii) each predicate expression is represented by a node.</a:t>
            </a:r>
            <a:endParaRPr>
              <a:latin typeface="Lato"/>
              <a:ea typeface="Lato"/>
              <a:cs typeface="Lato"/>
              <a:sym typeface="Lato"/>
            </a:endParaRPr>
          </a:p>
          <a:p>
            <a:pPr marL="0" lvl="0" indent="0" algn="l" rtl="0">
              <a:spcBef>
                <a:spcPts val="0"/>
              </a:spcBef>
              <a:spcAft>
                <a:spcPts val="0"/>
              </a:spcAft>
              <a:buNone/>
            </a:pP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There are two types of edges in a PDG: data dependency edges and control dependency edges.</a:t>
            </a:r>
            <a:br>
              <a:rPr lang="en">
                <a:latin typeface="Lato"/>
                <a:ea typeface="Lato"/>
                <a:cs typeface="Lato"/>
                <a:sym typeface="Lato"/>
              </a:rPr>
            </a:br>
            <a:r>
              <a:rPr lang="en">
                <a:latin typeface="Lato"/>
                <a:ea typeface="Lato"/>
                <a:cs typeface="Lato"/>
                <a:sym typeface="Lato"/>
              </a:rPr>
              <a:t>In the following figure Data dependencies are shown as solid edges, whereas control dependencies are shown as dashed edges.</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1"/>
        <p:cNvGrpSpPr/>
        <p:nvPr/>
      </p:nvGrpSpPr>
      <p:grpSpPr>
        <a:xfrm>
          <a:off x="0" y="0"/>
          <a:ext cx="0" cy="0"/>
          <a:chOff x="0" y="0"/>
          <a:chExt cx="0" cy="0"/>
        </a:xfrm>
      </p:grpSpPr>
      <p:sp>
        <p:nvSpPr>
          <p:cNvPr id="302" name="Google Shape;302;p47"/>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303" name="Google Shape;303;p47"/>
          <p:cNvSpPr txBox="1"/>
          <p:nvPr/>
        </p:nvSpPr>
        <p:spPr>
          <a:xfrm>
            <a:off x="794850" y="1159900"/>
            <a:ext cx="80031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Program Dependency Graph:</a:t>
            </a: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endParaRPr>
              <a:latin typeface="Lato"/>
              <a:ea typeface="Lato"/>
              <a:cs typeface="Lato"/>
              <a:sym typeface="Lato"/>
            </a:endParaRPr>
          </a:p>
        </p:txBody>
      </p:sp>
      <p:pic>
        <p:nvPicPr>
          <p:cNvPr id="304" name="Google Shape;304;p47"/>
          <p:cNvPicPr preferRelativeResize="0"/>
          <p:nvPr/>
        </p:nvPicPr>
        <p:blipFill>
          <a:blip r:embed="rId3">
            <a:alphaModFix/>
          </a:blip>
          <a:stretch>
            <a:fillRect/>
          </a:stretch>
        </p:blipFill>
        <p:spPr>
          <a:xfrm>
            <a:off x="-2012" y="1476763"/>
            <a:ext cx="2314575" cy="3286125"/>
          </a:xfrm>
          <a:prstGeom prst="rect">
            <a:avLst/>
          </a:prstGeom>
          <a:noFill/>
          <a:ln>
            <a:noFill/>
          </a:ln>
        </p:spPr>
      </p:pic>
      <p:pic>
        <p:nvPicPr>
          <p:cNvPr id="305" name="Google Shape;305;p47"/>
          <p:cNvPicPr preferRelativeResize="0"/>
          <p:nvPr/>
        </p:nvPicPr>
        <p:blipFill>
          <a:blip r:embed="rId4">
            <a:alphaModFix/>
          </a:blip>
          <a:stretch>
            <a:fillRect/>
          </a:stretch>
        </p:blipFill>
        <p:spPr>
          <a:xfrm>
            <a:off x="2684232" y="1568675"/>
            <a:ext cx="6210924" cy="319422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48"/>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311" name="Google Shape;311;p48"/>
          <p:cNvSpPr txBox="1"/>
          <p:nvPr/>
        </p:nvSpPr>
        <p:spPr>
          <a:xfrm>
            <a:off x="794850" y="1159900"/>
            <a:ext cx="8003100" cy="2555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Static Program Slice:</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A static program slice is identified from a PDG as follows: </a:t>
            </a:r>
            <a:br>
              <a:rPr lang="en">
                <a:latin typeface="Lato"/>
                <a:ea typeface="Lato"/>
                <a:cs typeface="Lato"/>
                <a:sym typeface="Lato"/>
              </a:rPr>
            </a:br>
            <a:r>
              <a:rPr lang="en">
                <a:latin typeface="Lato"/>
                <a:ea typeface="Lato"/>
                <a:cs typeface="Lato"/>
                <a:sym typeface="Lato"/>
              </a:rPr>
              <a:t>(i) for a variable var at node n, identify all reaching definitions of var; and </a:t>
            </a:r>
            <a:br>
              <a:rPr lang="en">
                <a:latin typeface="Lato"/>
                <a:ea typeface="Lato"/>
                <a:cs typeface="Lato"/>
                <a:sym typeface="Lato"/>
              </a:rPr>
            </a:br>
            <a:r>
              <a:rPr lang="en">
                <a:latin typeface="Lato"/>
                <a:ea typeface="Lato"/>
                <a:cs typeface="Lato"/>
                <a:sym typeface="Lato"/>
              </a:rPr>
              <a:t>(ii) find all nodes in the PDG which are reachable from those nodes.</a:t>
            </a:r>
            <a:endParaRPr>
              <a:latin typeface="Lato"/>
              <a:ea typeface="Lato"/>
              <a:cs typeface="Lato"/>
              <a:sym typeface="Lato"/>
            </a:endParaRPr>
          </a:p>
          <a:p>
            <a:pPr marL="0" lvl="0" indent="0" algn="l" rtl="0">
              <a:spcBef>
                <a:spcPts val="0"/>
              </a:spcBef>
              <a:spcAft>
                <a:spcPts val="0"/>
              </a:spcAft>
              <a:buNone/>
            </a:pPr>
            <a:br>
              <a:rPr lang="en">
                <a:latin typeface="Lato"/>
                <a:ea typeface="Lato"/>
                <a:cs typeface="Lato"/>
                <a:sym typeface="Lato"/>
              </a:rPr>
            </a:br>
            <a:r>
              <a:rPr lang="en">
                <a:latin typeface="Lato"/>
                <a:ea typeface="Lato"/>
                <a:cs typeface="Lato"/>
                <a:sym typeface="Lato"/>
              </a:rPr>
              <a:t>The visited nodes in the traversal process constitute the desired slice.</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Consider the program in Figure 6.9 and variable Y at S10. First, find all the reaching definitions of Y at node S10—and the answer is the set of nodes {S3, S6, and S8}. Next, find the set of all nodes which are reachable from {S3, S6, and S8}—and the answer is the set {S1, S2, S3, S5, S6, S8}.</a:t>
            </a:r>
            <a:endParaRPr>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49"/>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317" name="Google Shape;317;p49"/>
          <p:cNvSpPr txBox="1"/>
          <p:nvPr/>
        </p:nvSpPr>
        <p:spPr>
          <a:xfrm>
            <a:off x="794850" y="1159900"/>
            <a:ext cx="8003100" cy="1477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Program Dependency Graph:</a:t>
            </a: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br>
              <a:rPr lang="en">
                <a:latin typeface="Lato"/>
                <a:ea typeface="Lato"/>
                <a:cs typeface="Lato"/>
                <a:sym typeface="Lato"/>
              </a:rPr>
            </a:br>
            <a:endParaRPr>
              <a:latin typeface="Lato"/>
              <a:ea typeface="Lato"/>
              <a:cs typeface="Lato"/>
              <a:sym typeface="Lato"/>
            </a:endParaRPr>
          </a:p>
        </p:txBody>
      </p:sp>
      <p:pic>
        <p:nvPicPr>
          <p:cNvPr id="318" name="Google Shape;318;p49"/>
          <p:cNvPicPr preferRelativeResize="0"/>
          <p:nvPr/>
        </p:nvPicPr>
        <p:blipFill>
          <a:blip r:embed="rId3">
            <a:alphaModFix/>
          </a:blip>
          <a:stretch>
            <a:fillRect/>
          </a:stretch>
        </p:blipFill>
        <p:spPr>
          <a:xfrm>
            <a:off x="-2012" y="1476763"/>
            <a:ext cx="2314575" cy="3286125"/>
          </a:xfrm>
          <a:prstGeom prst="rect">
            <a:avLst/>
          </a:prstGeom>
          <a:noFill/>
          <a:ln>
            <a:noFill/>
          </a:ln>
        </p:spPr>
      </p:pic>
      <p:pic>
        <p:nvPicPr>
          <p:cNvPr id="319" name="Google Shape;319;p49"/>
          <p:cNvPicPr preferRelativeResize="0"/>
          <p:nvPr/>
        </p:nvPicPr>
        <p:blipFill>
          <a:blip r:embed="rId4">
            <a:alphaModFix/>
          </a:blip>
          <a:stretch>
            <a:fillRect/>
          </a:stretch>
        </p:blipFill>
        <p:spPr>
          <a:xfrm>
            <a:off x="2699100" y="1568675"/>
            <a:ext cx="6210924" cy="31942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50"/>
          <p:cNvSpPr txBox="1">
            <a:spLocks noGrp="1"/>
          </p:cNvSpPr>
          <p:nvPr>
            <p:ph type="title"/>
          </p:nvPr>
        </p:nvSpPr>
        <p:spPr>
          <a:xfrm>
            <a:off x="729450" y="480450"/>
            <a:ext cx="7688700" cy="5352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
              <a:t>Dependency-based Impact Analysis</a:t>
            </a:r>
            <a:endParaRPr/>
          </a:p>
        </p:txBody>
      </p:sp>
      <p:sp>
        <p:nvSpPr>
          <p:cNvPr id="325" name="Google Shape;325;p50"/>
          <p:cNvSpPr txBox="1"/>
          <p:nvPr/>
        </p:nvSpPr>
        <p:spPr>
          <a:xfrm>
            <a:off x="729450" y="1159900"/>
            <a:ext cx="8003100" cy="3417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a:latin typeface="Lato"/>
                <a:ea typeface="Lato"/>
                <a:cs typeface="Lato"/>
                <a:sym typeface="Lato"/>
              </a:rPr>
              <a:t>Dynamic Program Slice:</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Referring to the static slice example discussed above, only one of the three assignment statements, S3, S6, or S8, may be executed for any input value of X. Consider the input value −1 for the variable X. For −1 as the value of X, only S3 is executed. Therefore, with respect to variable Y at S10, the dynamic slice will contain only {S1, S2, and S3}. </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For −1 as the value of X, if the value of Y is incorrect at S10, one can infer that either fi is erroneous at S3 or the “if” condition at S2 is incorrect. Thus, a dynamic slice is more useful in localizing the defect than the static slice.</a:t>
            </a:r>
            <a:br>
              <a:rPr lang="en">
                <a:latin typeface="Lato"/>
                <a:ea typeface="Lato"/>
                <a:cs typeface="Lato"/>
                <a:sym typeface="Lato"/>
              </a:rPr>
            </a:br>
            <a:br>
              <a:rPr lang="en">
                <a:latin typeface="Lato"/>
                <a:ea typeface="Lato"/>
                <a:cs typeface="Lato"/>
                <a:sym typeface="Lato"/>
              </a:rPr>
            </a:br>
            <a:r>
              <a:rPr lang="en">
                <a:latin typeface="Lato"/>
                <a:ea typeface="Lato"/>
                <a:cs typeface="Lato"/>
                <a:sym typeface="Lato"/>
              </a:rPr>
              <a:t>A simple way to finding dynamic slices is as follows: </a:t>
            </a:r>
            <a:br>
              <a:rPr lang="en">
                <a:latin typeface="Lato"/>
                <a:ea typeface="Lato"/>
                <a:cs typeface="Lato"/>
                <a:sym typeface="Lato"/>
              </a:rPr>
            </a:br>
            <a:r>
              <a:rPr lang="en">
                <a:latin typeface="Lato"/>
                <a:ea typeface="Lato"/>
                <a:cs typeface="Lato"/>
                <a:sym typeface="Lato"/>
              </a:rPr>
              <a:t>(i) for the current test, mark the executed nodes in the PDG; and </a:t>
            </a:r>
            <a:br>
              <a:rPr lang="en">
                <a:latin typeface="Lato"/>
                <a:ea typeface="Lato"/>
                <a:cs typeface="Lato"/>
                <a:sym typeface="Lato"/>
              </a:rPr>
            </a:br>
            <a:r>
              <a:rPr lang="en">
                <a:latin typeface="Lato"/>
                <a:ea typeface="Lato"/>
                <a:cs typeface="Lato"/>
                <a:sym typeface="Lato"/>
              </a:rPr>
              <a:t>(ii) traverse the marked nodes in the graph.</a:t>
            </a:r>
            <a:endParaRPr>
              <a:latin typeface="Lato"/>
              <a:ea typeface="Lato"/>
              <a:cs typeface="Lato"/>
              <a:sym typeface="Lato"/>
            </a:endParaRPr>
          </a:p>
          <a:p>
            <a:pPr marL="0" lvl="0" indent="0" algn="l" rtl="0">
              <a:spcBef>
                <a:spcPts val="0"/>
              </a:spcBef>
              <a:spcAft>
                <a:spcPts val="0"/>
              </a:spcAft>
              <a:buNone/>
            </a:pPr>
            <a:endParaRPr>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790471-DEDF-0A24-C7E1-9DC90B07B39D}"/>
              </a:ext>
            </a:extLst>
          </p:cNvPr>
          <p:cNvSpPr>
            <a:spLocks noGrp="1"/>
          </p:cNvSpPr>
          <p:nvPr>
            <p:ph type="title"/>
          </p:nvPr>
        </p:nvSpPr>
        <p:spPr/>
        <p:txBody>
          <a:bodyPr>
            <a:normAutofit fontScale="90000"/>
          </a:bodyPr>
          <a:lstStyle/>
          <a:p>
            <a:r>
              <a:rPr lang="en-US" dirty="0">
                <a:latin typeface="Times New Roman" panose="02020603050405020304" pitchFamily="18" charset="0"/>
                <a:cs typeface="Times New Roman" panose="02020603050405020304" pitchFamily="18" charset="0"/>
              </a:rPr>
              <a:t>Impact Analysis Evaluation</a:t>
            </a:r>
          </a:p>
        </p:txBody>
      </p:sp>
      <p:sp>
        <p:nvSpPr>
          <p:cNvPr id="3" name="Text Placeholder 2">
            <a:extLst>
              <a:ext uri="{FF2B5EF4-FFF2-40B4-BE49-F238E27FC236}">
                <a16:creationId xmlns:a16="http://schemas.microsoft.com/office/drawing/2014/main" id="{E1E6ABF9-F3D6-D592-921E-63F3CDC96CD2}"/>
              </a:ext>
            </a:extLst>
          </p:cNvPr>
          <p:cNvSpPr>
            <a:spLocks noGrp="1"/>
          </p:cNvSpPr>
          <p:nvPr>
            <p:ph type="body" idx="1"/>
          </p:nvPr>
        </p:nvSpPr>
        <p:spPr/>
        <p:txBody>
          <a:bodyPr/>
          <a:lstStyle/>
          <a:p>
            <a:r>
              <a:rPr lang="en-US" dirty="0">
                <a:solidFill>
                  <a:schemeClr val="bg2"/>
                </a:solidFill>
                <a:latin typeface="Times New Roman" panose="02020603050405020304" pitchFamily="18" charset="0"/>
                <a:cs typeface="Times New Roman" panose="02020603050405020304" pitchFamily="18" charset="0"/>
              </a:rPr>
              <a:t>Göçmen, I.S., </a:t>
            </a:r>
            <a:r>
              <a:rPr lang="en-US" dirty="0" err="1">
                <a:solidFill>
                  <a:schemeClr val="bg2"/>
                </a:solidFill>
                <a:latin typeface="Times New Roman" panose="02020603050405020304" pitchFamily="18" charset="0"/>
                <a:cs typeface="Times New Roman" panose="02020603050405020304" pitchFamily="18" charset="0"/>
              </a:rPr>
              <a:t>Cezayir</a:t>
            </a:r>
            <a:r>
              <a:rPr lang="en-US" dirty="0">
                <a:solidFill>
                  <a:schemeClr val="bg2"/>
                </a:solidFill>
                <a:latin typeface="Times New Roman" panose="02020603050405020304" pitchFamily="18" charset="0"/>
                <a:cs typeface="Times New Roman" panose="02020603050405020304" pitchFamily="18" charset="0"/>
              </a:rPr>
              <a:t>, A.S. and Tüzün, E., 2025. Enhanced code reviews using pull request based change impact analysis. Empirical Software Engineering, 30(3), p.64.</a:t>
            </a:r>
          </a:p>
        </p:txBody>
      </p:sp>
    </p:spTree>
    <p:extLst>
      <p:ext uri="{BB962C8B-B14F-4D97-AF65-F5344CB8AC3E}">
        <p14:creationId xmlns:p14="http://schemas.microsoft.com/office/powerpoint/2010/main" val="106805254"/>
      </p:ext>
    </p:extLst>
  </p:cSld>
  <p:clrMapOvr>
    <a:masterClrMapping/>
  </p:clrMapOvr>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1722</TotalTime>
  <Words>1636</Words>
  <Application>Microsoft Office PowerPoint</Application>
  <PresentationFormat>On-screen Show (16:9)</PresentationFormat>
  <Paragraphs>73</Paragraphs>
  <Slides>27</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Lato</vt:lpstr>
      <vt:lpstr>Times New Roman</vt:lpstr>
      <vt:lpstr>Arial</vt:lpstr>
      <vt:lpstr>Raleway</vt:lpstr>
      <vt:lpstr>Streamline</vt:lpstr>
      <vt:lpstr>Chapter 12</vt:lpstr>
      <vt:lpstr>Overview</vt:lpstr>
      <vt:lpstr>Impact Analysis</vt:lpstr>
      <vt:lpstr>Importance of Impact Analysis</vt:lpstr>
      <vt:lpstr>Impact Analysis and Ripple effect</vt:lpstr>
      <vt:lpstr>Ripple Effect Example: Hotel Booking System</vt:lpstr>
      <vt:lpstr>Impact Analysis Methods </vt:lpstr>
      <vt:lpstr>Impact Analysis Process</vt:lpstr>
      <vt:lpstr>Traceability impact analysis</vt:lpstr>
      <vt:lpstr>Analysis of Traceability Graph </vt:lpstr>
      <vt:lpstr>PowerPoint Presentation</vt:lpstr>
      <vt:lpstr>Analysis of Traceability Graph</vt:lpstr>
      <vt:lpstr>Impact Analysis Process</vt:lpstr>
      <vt:lpstr>Impact Analysis Process</vt:lpstr>
      <vt:lpstr>Impact Analysis Process</vt:lpstr>
      <vt:lpstr>Dependency based Impact Analysis</vt:lpstr>
      <vt:lpstr>Dependency-based Impact Analysis</vt:lpstr>
      <vt:lpstr>Dependency-based Impact Analysis</vt:lpstr>
      <vt:lpstr>Dependency-based Impact Analysis</vt:lpstr>
      <vt:lpstr>Dependency-based Impact Analysis</vt:lpstr>
      <vt:lpstr>Dependency-based Impact Analysis</vt:lpstr>
      <vt:lpstr>Dependency-based Impact Analysis</vt:lpstr>
      <vt:lpstr>Dependency-based Impact Analysis</vt:lpstr>
      <vt:lpstr>Dependency-based Impact Analysis</vt:lpstr>
      <vt:lpstr>Dependency-based Impact Analysis</vt:lpstr>
      <vt:lpstr>Dependency-based Impact Analysis</vt:lpstr>
      <vt:lpstr>Impact Analysis Evaluation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Namisa__ __</cp:lastModifiedBy>
  <cp:revision>14</cp:revision>
  <dcterms:modified xsi:type="dcterms:W3CDTF">2026-07-01T17:20:46Z</dcterms:modified>
</cp:coreProperties>
</file>