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7"/>
  </p:notesMasterIdLst>
  <p:handoutMasterIdLst>
    <p:handoutMasterId r:id="rId38"/>
  </p:handoutMasterIdLst>
  <p:sldIdLst>
    <p:sldId id="256" r:id="rId2"/>
    <p:sldId id="257" r:id="rId3"/>
    <p:sldId id="258" r:id="rId4"/>
    <p:sldId id="320" r:id="rId5"/>
    <p:sldId id="259" r:id="rId6"/>
    <p:sldId id="260" r:id="rId7"/>
    <p:sldId id="310" r:id="rId8"/>
    <p:sldId id="311" r:id="rId9"/>
    <p:sldId id="312" r:id="rId10"/>
    <p:sldId id="261" r:id="rId11"/>
    <p:sldId id="262" r:id="rId12"/>
    <p:sldId id="313" r:id="rId13"/>
    <p:sldId id="314" r:id="rId14"/>
    <p:sldId id="263" r:id="rId15"/>
    <p:sldId id="266" r:id="rId16"/>
    <p:sldId id="269" r:id="rId17"/>
    <p:sldId id="273" r:id="rId18"/>
    <p:sldId id="276" r:id="rId19"/>
    <p:sldId id="315" r:id="rId20"/>
    <p:sldId id="277" r:id="rId21"/>
    <p:sldId id="317" r:id="rId22"/>
    <p:sldId id="318" r:id="rId23"/>
    <p:sldId id="316" r:id="rId24"/>
    <p:sldId id="278" r:id="rId25"/>
    <p:sldId id="280" r:id="rId26"/>
    <p:sldId id="281" r:id="rId27"/>
    <p:sldId id="282" r:id="rId28"/>
    <p:sldId id="297" r:id="rId29"/>
    <p:sldId id="298" r:id="rId30"/>
    <p:sldId id="299" r:id="rId31"/>
    <p:sldId id="300" r:id="rId32"/>
    <p:sldId id="301" r:id="rId33"/>
    <p:sldId id="302" r:id="rId34"/>
    <p:sldId id="303" r:id="rId35"/>
    <p:sldId id="321" r:id="rId36"/>
  </p:sldIdLst>
  <p:sldSz cx="9144000" cy="5143500" type="screen16x9"/>
  <p:notesSz cx="6858000" cy="9144000"/>
  <p:embeddedFontLst>
    <p:embeddedFont>
      <p:font typeface="Lato" panose="020F0502020204030203" pitchFamily="34" charset="0"/>
      <p:regular r:id="rId39"/>
      <p:bold r:id="rId40"/>
      <p:italic r:id="rId41"/>
      <p:boldItalic r:id="rId42"/>
    </p:embeddedFont>
    <p:embeddedFont>
      <p:font typeface="Raleway"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52" autoAdjust="0"/>
  </p:normalViewPr>
  <p:slideViewPr>
    <p:cSldViewPr snapToGrid="0">
      <p:cViewPr>
        <p:scale>
          <a:sx n="125" d="100"/>
          <a:sy n="125" d="100"/>
        </p:scale>
        <p:origin x="254" y="-21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1A6BCB-6762-B884-158D-A1CD5A464A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6D17737-12CA-6695-66D9-5FC1D65328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D685E9-9182-41A2-9872-2BD555C53804}" type="datetimeFigureOut">
              <a:rPr lang="en-US" smtClean="0"/>
              <a:t>8/6/2026</a:t>
            </a:fld>
            <a:endParaRPr lang="en-US"/>
          </a:p>
        </p:txBody>
      </p:sp>
      <p:sp>
        <p:nvSpPr>
          <p:cNvPr id="4" name="Footer Placeholder 3">
            <a:extLst>
              <a:ext uri="{FF2B5EF4-FFF2-40B4-BE49-F238E27FC236}">
                <a16:creationId xmlns:a16="http://schemas.microsoft.com/office/drawing/2014/main" id="{7228119F-9CEA-B0A7-1243-77C7E6E5382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27B681-4DD2-06DA-8427-C4AEA00967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49741A2-572B-43FD-9446-CF446DF0A4FD}" type="slidenum">
              <a:rPr lang="en-US" smtClean="0"/>
              <a:t>‹#›</a:t>
            </a:fld>
            <a:endParaRPr lang="en-US"/>
          </a:p>
        </p:txBody>
      </p:sp>
    </p:spTree>
    <p:extLst>
      <p:ext uri="{BB962C8B-B14F-4D97-AF65-F5344CB8AC3E}">
        <p14:creationId xmlns:p14="http://schemas.microsoft.com/office/powerpoint/2010/main" val="13663903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18054ac77c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18054ac77c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18054ac77c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18054ac77c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18054ac77c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18054ac77c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18054ac77c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18054ac77c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18054ac77c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18054ac77c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18054ac77c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18054ac77c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18054ac77c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18054ac77c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18054ac77c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18054ac77c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18054ac77c_0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118054ac77c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11826f8c79a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11826f8c79a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1826f8c79a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11826f8c79a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183b15ecb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1183b15ecb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183b15ecb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183b15ecb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183b15ecb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183b15ecb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183b15ecb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183b15ecb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1183b15ecb2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1183b15ecb2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16b540311f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116b540311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184cccdee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184cccdee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1184cccdeea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1184cccdeea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1184cccdeea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1184cccdee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1184cccdeea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1184cccdeea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1184cccdeea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1184cccdee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1184cccdeea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1184cccdeea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www.linkedin.com/pulse/strategies-modernizing-legacy-systems-step-by-step-guide-ouderkirk/"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https://www.linkedin.com/pulse/strategies-modernizing-legacy-systems-step-by-step-guide-ouderkirk/"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bg2"/>
                </a:solidFill>
                <a:latin typeface="Times New Roman" panose="02020603050405020304" pitchFamily="18" charset="0"/>
                <a:cs typeface="Times New Roman" panose="02020603050405020304" pitchFamily="18" charset="0"/>
              </a:rPr>
              <a:t>Chapter 13	</a:t>
            </a:r>
            <a:endParaRPr dirty="0">
              <a:solidFill>
                <a:schemeClr val="bg2"/>
              </a:solidFill>
              <a:latin typeface="Times New Roman" panose="02020603050405020304" pitchFamily="18" charset="0"/>
              <a:cs typeface="Times New Roman" panose="02020603050405020304" pitchFamily="18" charset="0"/>
            </a:endParaRPr>
          </a:p>
        </p:txBody>
      </p:sp>
      <p:sp>
        <p:nvSpPr>
          <p:cNvPr id="87" name="Google Shape;87;p13"/>
          <p:cNvSpPr txBox="1">
            <a:spLocks noGrp="1"/>
          </p:cNvSpPr>
          <p:nvPr>
            <p:ph type="subTitle" idx="1"/>
          </p:nvPr>
        </p:nvSpPr>
        <p:spPr>
          <a:xfrm>
            <a:off x="729450" y="3200401"/>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bg2"/>
                </a:solidFill>
                <a:latin typeface="Times New Roman" panose="02020603050405020304" pitchFamily="18" charset="0"/>
                <a:cs typeface="Times New Roman" panose="02020603050405020304" pitchFamily="18" charset="0"/>
              </a:rPr>
              <a:t>Legacy Information System</a:t>
            </a:r>
            <a:endParaRPr dirty="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Overview</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92500" lnSpcReduction="10000"/>
          </a:bodyPr>
          <a:lstStyle/>
          <a:p>
            <a:pPr marL="457200" lvl="0" indent="-311150" algn="l" rtl="0">
              <a:spcBef>
                <a:spcPts val="0"/>
              </a:spcBef>
              <a:spcAft>
                <a:spcPts val="0"/>
              </a:spcAft>
              <a:buClr>
                <a:srgbClr val="000000"/>
              </a:buClr>
              <a:buSzPts val="1300"/>
              <a:buChar char="●"/>
            </a:pPr>
            <a:r>
              <a:rPr lang="en" dirty="0">
                <a:solidFill>
                  <a:srgbClr val="000000"/>
                </a:solidFill>
              </a:rPr>
              <a:t>Legacy Information System</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Solutions For LIS</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Wrapper</a:t>
            </a:r>
            <a:endParaRPr dirty="0">
              <a:solidFill>
                <a:srgbClr val="000000"/>
              </a:solidFill>
            </a:endParaRPr>
          </a:p>
          <a:p>
            <a:pPr marL="914400" lvl="1" indent="-298450" algn="l" rtl="0">
              <a:spcBef>
                <a:spcPts val="0"/>
              </a:spcBef>
              <a:spcAft>
                <a:spcPts val="0"/>
              </a:spcAft>
              <a:buClr>
                <a:srgbClr val="000000"/>
              </a:buClr>
              <a:buSzPts val="1100"/>
              <a:buChar char="○"/>
            </a:pPr>
            <a:r>
              <a:rPr lang="en" dirty="0">
                <a:solidFill>
                  <a:srgbClr val="000000"/>
                </a:solidFill>
              </a:rPr>
              <a:t>Def</a:t>
            </a:r>
            <a:endParaRPr dirty="0">
              <a:solidFill>
                <a:srgbClr val="000000"/>
              </a:solidFill>
            </a:endParaRPr>
          </a:p>
          <a:p>
            <a:pPr marL="914400" lvl="1" indent="-298450" algn="l" rtl="0">
              <a:spcBef>
                <a:spcPts val="0"/>
              </a:spcBef>
              <a:spcAft>
                <a:spcPts val="0"/>
              </a:spcAft>
              <a:buClr>
                <a:srgbClr val="000000"/>
              </a:buClr>
              <a:buSzPts val="1100"/>
              <a:buChar char="○"/>
            </a:pPr>
            <a:r>
              <a:rPr lang="en" dirty="0">
                <a:solidFill>
                  <a:srgbClr val="000000"/>
                </a:solidFill>
              </a:rPr>
              <a:t>Types of Wrapping (Database,System, Application, Function)</a:t>
            </a:r>
            <a:endParaRPr dirty="0">
              <a:solidFill>
                <a:srgbClr val="000000"/>
              </a:solidFill>
            </a:endParaRPr>
          </a:p>
          <a:p>
            <a:pPr marL="914400" lvl="1" indent="-298450" algn="l" rtl="0">
              <a:spcBef>
                <a:spcPts val="0"/>
              </a:spcBef>
              <a:spcAft>
                <a:spcPts val="0"/>
              </a:spcAft>
              <a:buClr>
                <a:srgbClr val="000000"/>
              </a:buClr>
              <a:buSzPts val="1100"/>
              <a:buChar char="○"/>
            </a:pPr>
            <a:r>
              <a:rPr lang="en" dirty="0">
                <a:solidFill>
                  <a:srgbClr val="000000"/>
                </a:solidFill>
              </a:rPr>
              <a:t>Encapsulation Level (Process, Transaction, Program, Module, Procedure)</a:t>
            </a:r>
            <a:endParaRPr dirty="0">
              <a:solidFill>
                <a:srgbClr val="000000"/>
              </a:solidFill>
            </a:endParaRPr>
          </a:p>
          <a:p>
            <a:pPr marL="914400" lvl="1" indent="-298450" algn="l" rtl="0">
              <a:spcBef>
                <a:spcPts val="0"/>
              </a:spcBef>
              <a:spcAft>
                <a:spcPts val="0"/>
              </a:spcAft>
              <a:buClr>
                <a:srgbClr val="000000"/>
              </a:buClr>
              <a:buSzPts val="1100"/>
              <a:buChar char="○"/>
            </a:pPr>
            <a:r>
              <a:rPr lang="en" dirty="0">
                <a:solidFill>
                  <a:srgbClr val="000000"/>
                </a:solidFill>
              </a:rPr>
              <a:t>Constructing Wrapper (two interface and three event driven modules)</a:t>
            </a:r>
            <a:endParaRPr dirty="0">
              <a:solidFill>
                <a:srgbClr val="000000"/>
              </a:solidFill>
            </a:endParaRPr>
          </a:p>
          <a:p>
            <a:pPr marL="914400" lvl="1" indent="-298450" algn="l" rtl="0">
              <a:spcBef>
                <a:spcPts val="0"/>
              </a:spcBef>
              <a:spcAft>
                <a:spcPts val="0"/>
              </a:spcAft>
              <a:buClr>
                <a:srgbClr val="000000"/>
              </a:buClr>
              <a:buSzPts val="1100"/>
              <a:buChar char="○"/>
            </a:pPr>
            <a:r>
              <a:rPr lang="en" dirty="0">
                <a:solidFill>
                  <a:srgbClr val="000000"/>
                </a:solidFill>
              </a:rPr>
              <a:t>Adapting Program for wrapper (Transaction, Program, Module, Procedure)</a:t>
            </a:r>
            <a:endParaRPr dirty="0">
              <a:solidFill>
                <a:srgbClr val="000000"/>
              </a:solidFill>
            </a:endParaRPr>
          </a:p>
          <a:p>
            <a:pPr marL="914400" lvl="1" indent="-298450" algn="l" rtl="0">
              <a:spcBef>
                <a:spcPts val="0"/>
              </a:spcBef>
              <a:spcAft>
                <a:spcPts val="0"/>
              </a:spcAft>
              <a:buClr>
                <a:srgbClr val="000000"/>
              </a:buClr>
              <a:buSzPts val="1100"/>
              <a:buChar char="○"/>
            </a:pPr>
            <a:r>
              <a:rPr lang="en" dirty="0">
                <a:solidFill>
                  <a:srgbClr val="000000"/>
                </a:solidFill>
              </a:rPr>
              <a:t>Screen Scraping</a:t>
            </a:r>
            <a:endParaRPr dirty="0">
              <a:solidFill>
                <a:srgbClr val="000000"/>
              </a:solidFill>
            </a:endParaRPr>
          </a:p>
          <a:p>
            <a:pPr marL="457200" lvl="0" indent="-311150" algn="l" rtl="0">
              <a:spcBef>
                <a:spcPts val="0"/>
              </a:spcBef>
              <a:spcAft>
                <a:spcPts val="0"/>
              </a:spcAft>
              <a:buClr>
                <a:srgbClr val="000000"/>
              </a:buClr>
              <a:buSzPts val="1300"/>
              <a:buChar char="●"/>
            </a:pPr>
            <a:r>
              <a:rPr lang="en" dirty="0">
                <a:solidFill>
                  <a:srgbClr val="000000"/>
                </a:solidFill>
              </a:rPr>
              <a:t>Migration</a:t>
            </a:r>
            <a:endParaRPr dirty="0">
              <a:solidFill>
                <a:srgbClr val="000000"/>
              </a:solidFill>
            </a:endParaRPr>
          </a:p>
          <a:p>
            <a:pPr marL="914400" lvl="1" indent="-298450" algn="l" rtl="0">
              <a:spcBef>
                <a:spcPts val="0"/>
              </a:spcBef>
              <a:spcAft>
                <a:spcPts val="0"/>
              </a:spcAft>
              <a:buClr>
                <a:srgbClr val="000000"/>
              </a:buClr>
              <a:buSzPts val="1100"/>
              <a:buChar char="○"/>
            </a:pPr>
            <a:r>
              <a:rPr lang="en" dirty="0">
                <a:solidFill>
                  <a:srgbClr val="000000"/>
                </a:solidFill>
              </a:rPr>
              <a:t>Migration Planning (13 stage)</a:t>
            </a:r>
            <a:endParaRPr dirty="0">
              <a:solidFill>
                <a:srgbClr val="000000"/>
              </a:solidFill>
            </a:endParaRPr>
          </a:p>
          <a:p>
            <a:pPr marL="914400" lvl="1" indent="-298450" algn="l" rtl="0">
              <a:spcBef>
                <a:spcPts val="0"/>
              </a:spcBef>
              <a:spcAft>
                <a:spcPts val="0"/>
              </a:spcAft>
              <a:buClr>
                <a:srgbClr val="000000"/>
              </a:buClr>
              <a:buSzPts val="1100"/>
              <a:buChar char="○"/>
            </a:pPr>
            <a:r>
              <a:rPr lang="en" dirty="0">
                <a:solidFill>
                  <a:srgbClr val="000000"/>
                </a:solidFill>
              </a:rPr>
              <a:t>Migration Methods (7 methods)</a:t>
            </a:r>
            <a:endParaRPr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Legacy Software </a:t>
            </a:r>
            <a:endParaRPr/>
          </a:p>
        </p:txBody>
      </p:sp>
      <p:sp>
        <p:nvSpPr>
          <p:cNvPr id="99" name="Google Shape;99;p15"/>
          <p:cNvSpPr txBox="1">
            <a:spLocks noGrp="1"/>
          </p:cNvSpPr>
          <p:nvPr>
            <p:ph type="body" idx="1"/>
          </p:nvPr>
        </p:nvSpPr>
        <p:spPr>
          <a:xfrm>
            <a:off x="729450" y="1391950"/>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000000"/>
                </a:solidFill>
              </a:rPr>
              <a:t>Legacy system:</a:t>
            </a:r>
            <a:br>
              <a:rPr lang="en" dirty="0">
                <a:solidFill>
                  <a:srgbClr val="000000"/>
                </a:solidFill>
              </a:rPr>
            </a:br>
            <a:r>
              <a:rPr lang="en" dirty="0">
                <a:solidFill>
                  <a:srgbClr val="000000"/>
                </a:solidFill>
              </a:rPr>
              <a:t>“Any information system that significantly resists modification and evolution to meet new and constantly changing business requirements.”</a:t>
            </a:r>
            <a:endParaRPr dirty="0">
              <a:solidFill>
                <a:srgbClr val="000000"/>
              </a:solidFill>
            </a:endParaRPr>
          </a:p>
          <a:p>
            <a:pPr marL="0" lvl="0" indent="0" algn="l" rtl="0">
              <a:spcBef>
                <a:spcPts val="1200"/>
              </a:spcBef>
              <a:spcAft>
                <a:spcPts val="1200"/>
              </a:spcAft>
              <a:buNone/>
            </a:pPr>
            <a:endParaRPr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9D2D2-FC27-C3B8-F853-9BE305C3B503}"/>
              </a:ext>
            </a:extLst>
          </p:cNvPr>
          <p:cNvSpPr>
            <a:spLocks noGrp="1"/>
          </p:cNvSpPr>
          <p:nvPr>
            <p:ph type="title"/>
          </p:nvPr>
        </p:nvSpPr>
        <p:spPr>
          <a:xfrm>
            <a:off x="598821" y="617380"/>
            <a:ext cx="7688700" cy="535200"/>
          </a:xfrm>
        </p:spPr>
        <p:txBody>
          <a:bodyPr>
            <a:noAutofit/>
          </a:bodyPr>
          <a:lstStyle/>
          <a:p>
            <a:r>
              <a:rPr lang="en-US" sz="2400" b="0" dirty="0">
                <a:solidFill>
                  <a:schemeClr val="bg2"/>
                </a:solidFill>
                <a:latin typeface="Times New Roman" panose="02020603050405020304" pitchFamily="18" charset="0"/>
                <a:cs typeface="Times New Roman" panose="02020603050405020304" pitchFamily="18" charset="0"/>
              </a:rPr>
              <a:t>Why are legacy systems still used? </a:t>
            </a:r>
            <a:br>
              <a:rPr lang="en-US" sz="2400" b="0" dirty="0">
                <a:solidFill>
                  <a:schemeClr val="bg2"/>
                </a:solidFill>
                <a:latin typeface="Times New Roman" panose="02020603050405020304" pitchFamily="18" charset="0"/>
                <a:cs typeface="Times New Roman" panose="02020603050405020304" pitchFamily="18" charset="0"/>
              </a:rPr>
            </a:br>
            <a:endParaRPr lang="en-US" sz="2400" dirty="0">
              <a:solidFill>
                <a:schemeClr val="bg2"/>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BD610D8-2D6F-CE67-5D99-D0C9BA4DA1EA}"/>
              </a:ext>
            </a:extLst>
          </p:cNvPr>
          <p:cNvSpPr>
            <a:spLocks noGrp="1"/>
          </p:cNvSpPr>
          <p:nvPr>
            <p:ph type="body" idx="1"/>
          </p:nvPr>
        </p:nvSpPr>
        <p:spPr>
          <a:xfrm>
            <a:off x="598821" y="1563236"/>
            <a:ext cx="7688700" cy="2261100"/>
          </a:xfrm>
        </p:spPr>
        <p:txBody>
          <a:bodyPr>
            <a:normAutofit fontScale="92500" lnSpcReduction="10000"/>
          </a:bodyPr>
          <a:lstStyle/>
          <a:p>
            <a:pPr fontAlgn="base"/>
            <a:r>
              <a:rPr lang="en-US" dirty="0">
                <a:solidFill>
                  <a:schemeClr val="bg2"/>
                </a:solidFill>
                <a:latin typeface="Times New Roman" panose="02020603050405020304" pitchFamily="18" charset="0"/>
                <a:cs typeface="Times New Roman" panose="02020603050405020304" pitchFamily="18" charset="0"/>
              </a:rPr>
              <a:t>They still fulfill a business need or they are </a:t>
            </a:r>
            <a:r>
              <a:rPr lang="en-US" b="1" dirty="0">
                <a:solidFill>
                  <a:schemeClr val="bg2"/>
                </a:solidFill>
                <a:latin typeface="Times New Roman" panose="02020603050405020304" pitchFamily="18" charset="0"/>
                <a:cs typeface="Times New Roman" panose="02020603050405020304" pitchFamily="18" charset="0"/>
              </a:rPr>
              <a:t>mission-critical systems</a:t>
            </a:r>
            <a:r>
              <a:rPr lang="en-US" dirty="0">
                <a:solidFill>
                  <a:schemeClr val="bg2"/>
                </a:solidFill>
                <a:latin typeface="Times New Roman" panose="02020603050405020304" pitchFamily="18" charset="0"/>
                <a:cs typeface="Times New Roman" panose="02020603050405020304" pitchFamily="18" charset="0"/>
              </a:rPr>
              <a:t>.</a:t>
            </a:r>
          </a:p>
          <a:p>
            <a:pPr fontAlgn="base"/>
            <a:r>
              <a:rPr lang="en-US" dirty="0">
                <a:solidFill>
                  <a:schemeClr val="bg2"/>
                </a:solidFill>
                <a:latin typeface="Times New Roman" panose="02020603050405020304" pitchFamily="18" charset="0"/>
                <a:cs typeface="Times New Roman" panose="02020603050405020304" pitchFamily="18" charset="0"/>
              </a:rPr>
              <a:t>It is an old </a:t>
            </a:r>
            <a:r>
              <a:rPr lang="en-US" b="1" dirty="0">
                <a:solidFill>
                  <a:schemeClr val="bg2"/>
                </a:solidFill>
                <a:latin typeface="Times New Roman" panose="02020603050405020304" pitchFamily="18" charset="0"/>
                <a:cs typeface="Times New Roman" panose="02020603050405020304" pitchFamily="18" charset="0"/>
              </a:rPr>
              <a:t>technology investment</a:t>
            </a:r>
            <a:r>
              <a:rPr lang="en-US" dirty="0">
                <a:solidFill>
                  <a:schemeClr val="bg2"/>
                </a:solidFill>
                <a:latin typeface="Times New Roman" panose="02020603050405020304" pitchFamily="18" charset="0"/>
                <a:cs typeface="Times New Roman" panose="02020603050405020304" pitchFamily="18" charset="0"/>
              </a:rPr>
              <a:t> that has not been recovered yet. Since deploying a company’s IT systems is expensive. Therefore, organizations need to use them for a certain period of time in order to recover such investment. </a:t>
            </a:r>
          </a:p>
          <a:p>
            <a:pPr fontAlgn="base"/>
            <a:r>
              <a:rPr lang="en-US" dirty="0">
                <a:solidFill>
                  <a:schemeClr val="bg2"/>
                </a:solidFill>
                <a:latin typeface="Times New Roman" panose="02020603050405020304" pitchFamily="18" charset="0"/>
                <a:cs typeface="Times New Roman" panose="02020603050405020304" pitchFamily="18" charset="0"/>
              </a:rPr>
              <a:t>Replacing a legacy system involves investing a quantity of </a:t>
            </a:r>
            <a:r>
              <a:rPr lang="en-US" b="1" dirty="0">
                <a:solidFill>
                  <a:schemeClr val="bg2"/>
                </a:solidFill>
                <a:latin typeface="Times New Roman" panose="02020603050405020304" pitchFamily="18" charset="0"/>
                <a:cs typeface="Times New Roman" panose="02020603050405020304" pitchFamily="18" charset="0"/>
              </a:rPr>
              <a:t>resources</a:t>
            </a:r>
            <a:r>
              <a:rPr lang="en-US" dirty="0">
                <a:solidFill>
                  <a:schemeClr val="bg2"/>
                </a:solidFill>
                <a:latin typeface="Times New Roman" panose="02020603050405020304" pitchFamily="18" charset="0"/>
                <a:cs typeface="Times New Roman" panose="02020603050405020304" pitchFamily="18" charset="0"/>
              </a:rPr>
              <a:t> — money, time and staff.</a:t>
            </a:r>
          </a:p>
          <a:p>
            <a:pPr fontAlgn="base"/>
            <a:r>
              <a:rPr lang="en-US" dirty="0">
                <a:solidFill>
                  <a:schemeClr val="bg2"/>
                </a:solidFill>
                <a:latin typeface="Times New Roman" panose="02020603050405020304" pitchFamily="18" charset="0"/>
                <a:cs typeface="Times New Roman" panose="02020603050405020304" pitchFamily="18" charset="0"/>
              </a:rPr>
              <a:t>The company lacks the </a:t>
            </a:r>
            <a:r>
              <a:rPr lang="en-US" b="1" dirty="0">
                <a:solidFill>
                  <a:schemeClr val="bg2"/>
                </a:solidFill>
                <a:latin typeface="Times New Roman" panose="02020603050405020304" pitchFamily="18" charset="0"/>
                <a:cs typeface="Times New Roman" panose="02020603050405020304" pitchFamily="18" charset="0"/>
              </a:rPr>
              <a:t>IT skills</a:t>
            </a:r>
            <a:r>
              <a:rPr lang="en-US" dirty="0">
                <a:solidFill>
                  <a:schemeClr val="bg2"/>
                </a:solidFill>
                <a:latin typeface="Times New Roman" panose="02020603050405020304" pitchFamily="18" charset="0"/>
                <a:cs typeface="Times New Roman" panose="02020603050405020304" pitchFamily="18" charset="0"/>
              </a:rPr>
              <a:t> to migrate the legacy system.</a:t>
            </a:r>
          </a:p>
          <a:p>
            <a:pPr fontAlgn="base"/>
            <a:r>
              <a:rPr lang="en-US" dirty="0">
                <a:solidFill>
                  <a:schemeClr val="bg2"/>
                </a:solidFill>
                <a:latin typeface="Times New Roman" panose="02020603050405020304" pitchFamily="18" charset="0"/>
                <a:cs typeface="Times New Roman" panose="02020603050405020304" pitchFamily="18" charset="0"/>
              </a:rPr>
              <a:t>Organizations often lack the </a:t>
            </a:r>
            <a:r>
              <a:rPr lang="en-US" b="1" dirty="0">
                <a:solidFill>
                  <a:schemeClr val="bg2"/>
                </a:solidFill>
                <a:latin typeface="Times New Roman" panose="02020603050405020304" pitchFamily="18" charset="0"/>
                <a:cs typeface="Times New Roman" panose="02020603050405020304" pitchFamily="18" charset="0"/>
              </a:rPr>
              <a:t>technical specifications</a:t>
            </a:r>
            <a:r>
              <a:rPr lang="en-US" dirty="0">
                <a:solidFill>
                  <a:schemeClr val="bg2"/>
                </a:solidFill>
                <a:latin typeface="Times New Roman" panose="02020603050405020304" pitchFamily="18" charset="0"/>
                <a:cs typeface="Times New Roman" panose="02020603050405020304" pitchFamily="18" charset="0"/>
              </a:rPr>
              <a:t> to create a new system with the same features as the legacy system. This is often due to the fact that systems are usually modified by many people during their lifespan in order to adapt them to the specific needs of the business.</a:t>
            </a:r>
          </a:p>
          <a:p>
            <a:pPr fontAlgn="base"/>
            <a:r>
              <a:rPr lang="en-US" dirty="0">
                <a:solidFill>
                  <a:schemeClr val="bg2"/>
                </a:solidFill>
                <a:latin typeface="Times New Roman" panose="02020603050405020304" pitchFamily="18" charset="0"/>
                <a:cs typeface="Times New Roman" panose="02020603050405020304" pitchFamily="18" charset="0"/>
              </a:rPr>
              <a:t>The organization does not wish to replace it.</a:t>
            </a:r>
          </a:p>
          <a:p>
            <a:endParaRPr lang="en-US"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0421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Solutions for Legacy Software </a:t>
            </a:r>
            <a:endParaRPr/>
          </a:p>
        </p:txBody>
      </p:sp>
      <p:sp>
        <p:nvSpPr>
          <p:cNvPr id="105" name="Google Shape;105;p16"/>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000000"/>
                </a:solidFill>
              </a:rPr>
              <a:t>There are several categories of solutions for legacy information system (LIS) or simply legacy system. These solutions generally fall into six categories as follows</a:t>
            </a:r>
            <a:endParaRPr dirty="0">
              <a:solidFill>
                <a:srgbClr val="000000"/>
              </a:solidFill>
            </a:endParaRPr>
          </a:p>
          <a:p>
            <a:pPr marL="457200" lvl="0" indent="-311150" algn="l" rtl="0">
              <a:spcBef>
                <a:spcPts val="1200"/>
              </a:spcBef>
              <a:spcAft>
                <a:spcPts val="0"/>
              </a:spcAft>
              <a:buClr>
                <a:srgbClr val="000000"/>
              </a:buClr>
              <a:buSzPts val="1300"/>
              <a:buChar char="●"/>
            </a:pPr>
            <a:r>
              <a:rPr lang="en" b="1" dirty="0">
                <a:solidFill>
                  <a:srgbClr val="000000"/>
                </a:solidFill>
              </a:rPr>
              <a:t>Freeze:</a:t>
            </a:r>
            <a:r>
              <a:rPr lang="en" dirty="0">
                <a:solidFill>
                  <a:srgbClr val="000000"/>
                </a:solidFill>
              </a:rPr>
              <a:t> The organization decides to not carry out further work on an LIS. </a:t>
            </a:r>
            <a:endParaRPr dirty="0">
              <a:solidFill>
                <a:srgbClr val="000000"/>
              </a:solidFill>
            </a:endParaRPr>
          </a:p>
          <a:p>
            <a:pPr marL="457200" lvl="0" indent="-311150" algn="l" rtl="0">
              <a:spcBef>
                <a:spcPts val="0"/>
              </a:spcBef>
              <a:spcAft>
                <a:spcPts val="0"/>
              </a:spcAft>
              <a:buClr>
                <a:srgbClr val="000000"/>
              </a:buClr>
              <a:buSzPts val="1300"/>
              <a:buChar char="●"/>
            </a:pPr>
            <a:r>
              <a:rPr lang="en" b="1" dirty="0">
                <a:solidFill>
                  <a:srgbClr val="000000"/>
                </a:solidFill>
              </a:rPr>
              <a:t>Outsource: </a:t>
            </a:r>
            <a:r>
              <a:rPr lang="en" dirty="0">
                <a:solidFill>
                  <a:srgbClr val="000000"/>
                </a:solidFill>
              </a:rPr>
              <a:t>The organization may outsource it to a specialist organization offering this service. </a:t>
            </a:r>
            <a:endParaRPr dirty="0">
              <a:solidFill>
                <a:srgbClr val="000000"/>
              </a:solidFill>
            </a:endParaRPr>
          </a:p>
          <a:p>
            <a:pPr marL="457200" lvl="0" indent="-311150" algn="l" rtl="0">
              <a:spcBef>
                <a:spcPts val="0"/>
              </a:spcBef>
              <a:spcAft>
                <a:spcPts val="0"/>
              </a:spcAft>
              <a:buClr>
                <a:srgbClr val="000000"/>
              </a:buClr>
              <a:buSzPts val="1300"/>
              <a:buChar char="●"/>
            </a:pPr>
            <a:r>
              <a:rPr lang="en" b="1" dirty="0">
                <a:solidFill>
                  <a:srgbClr val="000000"/>
                </a:solidFill>
              </a:rPr>
              <a:t>Carry on maintenance: </a:t>
            </a:r>
            <a:r>
              <a:rPr lang="en" dirty="0">
                <a:solidFill>
                  <a:srgbClr val="000000"/>
                </a:solidFill>
              </a:rPr>
              <a:t>Despite all the problems associated with supporting a software system, the organization decides to carry on maintenance for another period.</a:t>
            </a:r>
            <a:endParaRPr dirty="0">
              <a:solidFill>
                <a:srgbClr val="000000"/>
              </a:solidFill>
            </a:endParaRPr>
          </a:p>
          <a:p>
            <a:pPr marL="457200" lvl="0" indent="-311150" algn="l" rtl="0">
              <a:spcBef>
                <a:spcPts val="0"/>
              </a:spcBef>
              <a:spcAft>
                <a:spcPts val="0"/>
              </a:spcAft>
              <a:buClr>
                <a:srgbClr val="000000"/>
              </a:buClr>
              <a:buSzPts val="1300"/>
              <a:buChar char="●"/>
            </a:pPr>
            <a:r>
              <a:rPr lang="en" b="1" dirty="0">
                <a:solidFill>
                  <a:srgbClr val="000000"/>
                </a:solidFill>
              </a:rPr>
              <a:t>Discard and redevelop: </a:t>
            </a:r>
            <a:r>
              <a:rPr lang="en" dirty="0">
                <a:solidFill>
                  <a:srgbClr val="000000"/>
                </a:solidFill>
              </a:rPr>
              <a:t>The organization throws all the software away and redevelops the application once again from scratch, using a new hardware platform and modern architecture tools and database. </a:t>
            </a:r>
            <a:endParaRPr dirty="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Solutions for Legacy Software </a:t>
            </a:r>
            <a:endParaRPr/>
          </a:p>
        </p:txBody>
      </p:sp>
      <p:sp>
        <p:nvSpPr>
          <p:cNvPr id="111" name="Google Shape;111;p17"/>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Clr>
                <a:srgbClr val="000000"/>
              </a:buClr>
              <a:buSzPts val="1300"/>
              <a:buChar char="●"/>
            </a:pPr>
            <a:r>
              <a:rPr lang="en" b="1" dirty="0">
                <a:solidFill>
                  <a:srgbClr val="000000"/>
                </a:solidFill>
              </a:rPr>
              <a:t>Wrap:</a:t>
            </a:r>
          </a:p>
          <a:p>
            <a:pPr lvl="1" indent="-311150">
              <a:buClr>
                <a:srgbClr val="000000"/>
              </a:buClr>
              <a:buSzPts val="1300"/>
              <a:buFont typeface="Courier New" panose="02070309020205020404" pitchFamily="49" charset="0"/>
              <a:buChar char="o"/>
            </a:pPr>
            <a:r>
              <a:rPr lang="en" dirty="0">
                <a:solidFill>
                  <a:srgbClr val="000000"/>
                </a:solidFill>
              </a:rPr>
              <a:t>Black-box-based modernization technique.</a:t>
            </a:r>
          </a:p>
          <a:p>
            <a:pPr lvl="1" indent="-311150">
              <a:buClr>
                <a:srgbClr val="000000"/>
              </a:buClr>
              <a:buSzPts val="1300"/>
              <a:buFont typeface="Courier New" panose="02070309020205020404" pitchFamily="49" charset="0"/>
              <a:buChar char="o"/>
            </a:pPr>
            <a:r>
              <a:rPr lang="en" dirty="0">
                <a:solidFill>
                  <a:srgbClr val="000000"/>
                </a:solidFill>
              </a:rPr>
              <a:t>Surround the LIS with a new layer of software to hide the complexity of the existing interfaces, applications, and data, with the new interfaces. </a:t>
            </a:r>
          </a:p>
          <a:p>
            <a:pPr lvl="1" indent="-311150">
              <a:buClr>
                <a:srgbClr val="000000"/>
              </a:buClr>
              <a:buSzPts val="1300"/>
              <a:buFont typeface="Courier New" panose="02070309020205020404" pitchFamily="49" charset="0"/>
              <a:buChar char="o"/>
            </a:pPr>
            <a:r>
              <a:rPr lang="en-US" dirty="0">
                <a:solidFill>
                  <a:srgbClr val="000000"/>
                </a:solidFill>
              </a:rPr>
              <a:t>Gives existing components a modern and improved appearance.</a:t>
            </a:r>
            <a:endParaRPr lang="en" dirty="0">
              <a:solidFill>
                <a:srgbClr val="000000"/>
              </a:solidFill>
            </a:endParaRPr>
          </a:p>
          <a:p>
            <a:pPr lvl="1" indent="-311150">
              <a:buClr>
                <a:srgbClr val="000000"/>
              </a:buClr>
              <a:buSzPts val="1300"/>
              <a:buFont typeface="Courier New" panose="02070309020205020404" pitchFamily="49" charset="0"/>
              <a:buChar char="o"/>
            </a:pPr>
            <a:endParaRPr lang="en" b="1" dirty="0">
              <a:solidFill>
                <a:srgbClr val="000000"/>
              </a:solidFill>
            </a:endParaRPr>
          </a:p>
          <a:p>
            <a:pPr marL="457200" lvl="0" indent="-311150" algn="l" rtl="0">
              <a:spcBef>
                <a:spcPts val="0"/>
              </a:spcBef>
              <a:spcAft>
                <a:spcPts val="0"/>
              </a:spcAft>
              <a:buClr>
                <a:srgbClr val="000000"/>
              </a:buClr>
              <a:buSzPts val="1300"/>
              <a:buChar char="●"/>
            </a:pPr>
            <a:r>
              <a:rPr lang="en" b="1" dirty="0">
                <a:solidFill>
                  <a:srgbClr val="000000"/>
                </a:solidFill>
              </a:rPr>
              <a:t>Migrate:</a:t>
            </a:r>
          </a:p>
          <a:p>
            <a:pPr lvl="1" indent="-311150">
              <a:buClr>
                <a:srgbClr val="000000"/>
              </a:buClr>
              <a:buSzPts val="1300"/>
              <a:buFont typeface="Courier New" panose="02070309020205020404" pitchFamily="49" charset="0"/>
              <a:buChar char="o"/>
            </a:pPr>
            <a:r>
              <a:rPr lang="en-US" dirty="0">
                <a:solidFill>
                  <a:srgbClr val="000000"/>
                </a:solidFill>
              </a:rPr>
              <a:t>A</a:t>
            </a:r>
            <a:r>
              <a:rPr lang="en" dirty="0">
                <a:solidFill>
                  <a:srgbClr val="000000"/>
                </a:solidFill>
              </a:rPr>
              <a:t> LIS is ported to a modern platform, </a:t>
            </a:r>
          </a:p>
          <a:p>
            <a:pPr lvl="1" indent="-311150">
              <a:buClr>
                <a:srgbClr val="000000"/>
              </a:buClr>
              <a:buSzPts val="1300"/>
              <a:buFont typeface="Courier New" panose="02070309020205020404" pitchFamily="49" charset="0"/>
              <a:buChar char="o"/>
            </a:pPr>
            <a:r>
              <a:rPr lang="en" dirty="0">
                <a:solidFill>
                  <a:srgbClr val="000000"/>
                </a:solidFill>
              </a:rPr>
              <a:t>Retaining most of the system’s functionality and introducing minimal disturbance in the business environment. </a:t>
            </a:r>
          </a:p>
          <a:p>
            <a:pPr lvl="1" indent="-311150">
              <a:buClr>
                <a:srgbClr val="000000"/>
              </a:buClr>
              <a:buSzPts val="1300"/>
              <a:buFont typeface="Courier New" panose="02070309020205020404" pitchFamily="49" charset="0"/>
              <a:buChar char="o"/>
            </a:pPr>
            <a:r>
              <a:rPr lang="en" dirty="0">
                <a:solidFill>
                  <a:srgbClr val="000000"/>
                </a:solidFill>
              </a:rPr>
              <a:t>Avoids the expensive and long process of new development. </a:t>
            </a:r>
          </a:p>
          <a:p>
            <a:pPr lvl="1" indent="-311150">
              <a:buClr>
                <a:srgbClr val="000000"/>
              </a:buClr>
              <a:buSzPts val="1300"/>
              <a:buFont typeface="Courier New" panose="02070309020205020404" pitchFamily="49" charset="0"/>
              <a:buChar char="o"/>
            </a:pPr>
            <a:r>
              <a:rPr lang="en" dirty="0">
                <a:solidFill>
                  <a:srgbClr val="000000"/>
                </a:solidFill>
              </a:rPr>
              <a:t>Reuse of portions of the LIS, namely, implementation, design, specification, and requirements, is maximized.</a:t>
            </a:r>
          </a:p>
          <a:p>
            <a:pPr lvl="1" indent="-311150">
              <a:buClr>
                <a:srgbClr val="000000"/>
              </a:buClr>
              <a:buSzPts val="1300"/>
              <a:buFont typeface="Courier New" panose="02070309020205020404" pitchFamily="49" charset="0"/>
              <a:buChar char="o"/>
            </a:pPr>
            <a:r>
              <a:rPr lang="en" dirty="0">
                <a:solidFill>
                  <a:srgbClr val="000000"/>
                </a:solidFill>
              </a:rPr>
              <a:t>Target system runs in a different computing environment.</a:t>
            </a:r>
            <a:endParaRPr dirty="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A1F0D-C127-A816-615F-644FE6C602B8}"/>
              </a:ext>
            </a:extLst>
          </p:cNvPr>
          <p:cNvSpPr>
            <a:spLocks noGrp="1"/>
          </p:cNvSpPr>
          <p:nvPr>
            <p:ph type="title"/>
          </p:nvPr>
        </p:nvSpPr>
        <p:spPr>
          <a:xfrm>
            <a:off x="674448" y="0"/>
            <a:ext cx="7688700" cy="535200"/>
          </a:xfrm>
        </p:spPr>
        <p:txBody>
          <a:bodyPr>
            <a:normAutofit fontScale="90000"/>
          </a:bodyPr>
          <a:lstStyle/>
          <a:p>
            <a:r>
              <a:rPr lang="en-US" sz="2800" dirty="0">
                <a:solidFill>
                  <a:schemeClr val="bg2"/>
                </a:solidFill>
                <a:latin typeface="Times New Roman" panose="02020603050405020304" pitchFamily="18" charset="0"/>
                <a:cs typeface="Times New Roman" panose="02020603050405020304" pitchFamily="18" charset="0"/>
              </a:rPr>
              <a:t>Legacy Systems: Challenges and Available Solutions</a:t>
            </a:r>
            <a:br>
              <a:rPr lang="en-US" sz="2800" dirty="0">
                <a:solidFill>
                  <a:schemeClr val="bg2"/>
                </a:solidFill>
                <a:latin typeface="Times New Roman" panose="02020603050405020304" pitchFamily="18" charset="0"/>
                <a:cs typeface="Times New Roman" panose="02020603050405020304" pitchFamily="18" charset="0"/>
              </a:rPr>
            </a:br>
            <a:endParaRPr lang="en-US" dirty="0"/>
          </a:p>
        </p:txBody>
      </p:sp>
      <p:pic>
        <p:nvPicPr>
          <p:cNvPr id="5" name="Picture 4">
            <a:extLst>
              <a:ext uri="{FF2B5EF4-FFF2-40B4-BE49-F238E27FC236}">
                <a16:creationId xmlns:a16="http://schemas.microsoft.com/office/drawing/2014/main" id="{ED3CD669-522F-12E7-BC4F-1A1A723BA9E1}"/>
              </a:ext>
            </a:extLst>
          </p:cNvPr>
          <p:cNvPicPr>
            <a:picLocks noChangeAspect="1"/>
          </p:cNvPicPr>
          <p:nvPr/>
        </p:nvPicPr>
        <p:blipFill>
          <a:blip r:embed="rId2"/>
          <a:stretch>
            <a:fillRect/>
          </a:stretch>
        </p:blipFill>
        <p:spPr>
          <a:xfrm>
            <a:off x="3755867" y="520429"/>
            <a:ext cx="3237077" cy="4102641"/>
          </a:xfrm>
          <a:prstGeom prst="rect">
            <a:avLst/>
          </a:prstGeom>
        </p:spPr>
      </p:pic>
      <p:sp>
        <p:nvSpPr>
          <p:cNvPr id="4" name="TextBox 3">
            <a:extLst>
              <a:ext uri="{FF2B5EF4-FFF2-40B4-BE49-F238E27FC236}">
                <a16:creationId xmlns:a16="http://schemas.microsoft.com/office/drawing/2014/main" id="{28C2A7B6-7A73-370A-6574-F3B3DCC4F495}"/>
              </a:ext>
            </a:extLst>
          </p:cNvPr>
          <p:cNvSpPr txBox="1"/>
          <p:nvPr/>
        </p:nvSpPr>
        <p:spPr>
          <a:xfrm>
            <a:off x="443700" y="4774168"/>
            <a:ext cx="8364544" cy="369332"/>
          </a:xfrm>
          <a:prstGeom prst="rect">
            <a:avLst/>
          </a:prstGeom>
          <a:noFill/>
        </p:spPr>
        <p:txBody>
          <a:bodyPr wrap="square" rtlCol="0">
            <a:spAutoFit/>
          </a:bodyPr>
          <a:lstStyle/>
          <a:p>
            <a:r>
              <a:rPr lang="en-US" sz="900" dirty="0"/>
              <a:t>Ali, M., Hussain, S., Ashraf, M. and Paracha, M.K., 2020. Addressing software related issues on legacy systems–a review. </a:t>
            </a:r>
            <a:r>
              <a:rPr lang="en-US" sz="900" i="1" dirty="0"/>
              <a:t>International journal of scientific &amp; technology research</a:t>
            </a:r>
            <a:r>
              <a:rPr lang="en-US" sz="900" dirty="0"/>
              <a:t>, </a:t>
            </a:r>
            <a:r>
              <a:rPr lang="en-US" sz="900" i="1" dirty="0"/>
              <a:t>9</a:t>
            </a:r>
            <a:r>
              <a:rPr lang="en-US" sz="900" dirty="0"/>
              <a:t>(03), pp.3738-3742.</a:t>
            </a:r>
          </a:p>
        </p:txBody>
      </p:sp>
    </p:spTree>
    <p:extLst>
      <p:ext uri="{BB962C8B-B14F-4D97-AF65-F5344CB8AC3E}">
        <p14:creationId xmlns:p14="http://schemas.microsoft.com/office/powerpoint/2010/main" val="1940318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B0614-3289-C419-7C2B-D93E84C4D682}"/>
              </a:ext>
            </a:extLst>
          </p:cNvPr>
          <p:cNvSpPr>
            <a:spLocks noGrp="1"/>
          </p:cNvSpPr>
          <p:nvPr>
            <p:ph type="title"/>
          </p:nvPr>
        </p:nvSpPr>
        <p:spPr/>
        <p:txBody>
          <a:bodyPr>
            <a:normAutofit fontScale="90000"/>
          </a:bodyPr>
          <a:lstStyle/>
          <a:p>
            <a:r>
              <a:rPr lang="en-US" dirty="0"/>
              <a:t>Modernizing Legacy Systems</a:t>
            </a:r>
          </a:p>
        </p:txBody>
      </p:sp>
      <p:sp>
        <p:nvSpPr>
          <p:cNvPr id="3" name="Text Placeholder 2">
            <a:extLst>
              <a:ext uri="{FF2B5EF4-FFF2-40B4-BE49-F238E27FC236}">
                <a16:creationId xmlns:a16="http://schemas.microsoft.com/office/drawing/2014/main" id="{2132F143-17F8-CFEE-8192-75455E8CA3F2}"/>
              </a:ext>
            </a:extLst>
          </p:cNvPr>
          <p:cNvSpPr>
            <a:spLocks noGrp="1"/>
          </p:cNvSpPr>
          <p:nvPr>
            <p:ph type="body" idx="1"/>
          </p:nvPr>
        </p:nvSpPr>
        <p:spPr/>
        <p:txBody>
          <a:bodyPr>
            <a:normAutofit/>
          </a:bodyPr>
          <a:lstStyle/>
          <a:p>
            <a:r>
              <a:rPr lang="en-US" b="1" dirty="0">
                <a:solidFill>
                  <a:schemeClr val="bg2"/>
                </a:solidFill>
                <a:latin typeface="Times New Roman" panose="02020603050405020304" pitchFamily="18" charset="0"/>
                <a:cs typeface="Times New Roman" panose="02020603050405020304" pitchFamily="18" charset="0"/>
              </a:rPr>
              <a:t>Re-hosting </a:t>
            </a:r>
          </a:p>
          <a:p>
            <a:pPr marL="615950" lvl="1" indent="0">
              <a:buNone/>
            </a:pPr>
            <a:r>
              <a:rPr lang="en-US" dirty="0">
                <a:solidFill>
                  <a:schemeClr val="bg2"/>
                </a:solidFill>
                <a:latin typeface="Times New Roman" panose="02020603050405020304" pitchFamily="18" charset="0"/>
                <a:cs typeface="Times New Roman" panose="02020603050405020304" pitchFamily="18" charset="0"/>
              </a:rPr>
              <a:t>Use legacy software in different platform without any changes. This will decrease the maintenance cost of legacy hardware. </a:t>
            </a:r>
          </a:p>
          <a:p>
            <a:pPr marL="444500" indent="-285750"/>
            <a:r>
              <a:rPr lang="en-US" b="1" dirty="0">
                <a:solidFill>
                  <a:schemeClr val="bg2"/>
                </a:solidFill>
                <a:latin typeface="Times New Roman" panose="02020603050405020304" pitchFamily="18" charset="0"/>
                <a:cs typeface="Times New Roman" panose="02020603050405020304" pitchFamily="18" charset="0"/>
              </a:rPr>
              <a:t>Re-placing</a:t>
            </a:r>
          </a:p>
          <a:p>
            <a:pPr marL="615950" lvl="1" indent="0">
              <a:buNone/>
            </a:pPr>
            <a:r>
              <a:rPr lang="en-US" dirty="0">
                <a:solidFill>
                  <a:schemeClr val="bg2"/>
                </a:solidFill>
                <a:latin typeface="Times New Roman" panose="02020603050405020304" pitchFamily="18" charset="0"/>
                <a:cs typeface="Times New Roman" panose="02020603050405020304" pitchFamily="18" charset="0"/>
              </a:rPr>
              <a:t> Replacement techniques is used whenever existing system cannot fulfill the all requirement of any organization/business. But in software legacy systems, replacing is done rewriting or adding new functionalities in old software's. </a:t>
            </a:r>
          </a:p>
          <a:p>
            <a:r>
              <a:rPr lang="en-US" b="1" dirty="0">
                <a:solidFill>
                  <a:schemeClr val="bg2"/>
                </a:solidFill>
                <a:latin typeface="Times New Roman" panose="02020603050405020304" pitchFamily="18" charset="0"/>
                <a:cs typeface="Times New Roman" panose="02020603050405020304" pitchFamily="18" charset="0"/>
              </a:rPr>
              <a:t>Mitigation</a:t>
            </a:r>
            <a:r>
              <a:rPr lang="en-US" dirty="0">
                <a:solidFill>
                  <a:schemeClr val="bg2"/>
                </a:solidFill>
                <a:latin typeface="Times New Roman" panose="02020603050405020304" pitchFamily="18" charset="0"/>
                <a:cs typeface="Times New Roman" panose="02020603050405020304" pitchFamily="18" charset="0"/>
              </a:rPr>
              <a:t> </a:t>
            </a:r>
          </a:p>
          <a:p>
            <a:pPr marL="615950" lvl="1" indent="0">
              <a:buNone/>
            </a:pPr>
            <a:r>
              <a:rPr lang="en-US" dirty="0">
                <a:solidFill>
                  <a:schemeClr val="bg2"/>
                </a:solidFill>
                <a:latin typeface="Times New Roman" panose="02020603050405020304" pitchFamily="18" charset="0"/>
                <a:cs typeface="Times New Roman" panose="02020603050405020304" pitchFamily="18" charset="0"/>
              </a:rPr>
              <a:t>Adding new functionalities in new versions of software to address the error occurred in current versions. This is a technique to move the legacy applications to more flexible environments. </a:t>
            </a:r>
          </a:p>
          <a:p>
            <a:pPr marL="158750" indent="0">
              <a:buNone/>
            </a:pPr>
            <a:endParaRPr lang="en-US" dirty="0">
              <a:solidFill>
                <a:schemeClr val="bg2"/>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5D17D73-AF4F-C98B-B19E-5D346395CBCA}"/>
              </a:ext>
            </a:extLst>
          </p:cNvPr>
          <p:cNvSpPr txBox="1"/>
          <p:nvPr/>
        </p:nvSpPr>
        <p:spPr>
          <a:xfrm>
            <a:off x="643725" y="4495581"/>
            <a:ext cx="8364544" cy="369332"/>
          </a:xfrm>
          <a:prstGeom prst="rect">
            <a:avLst/>
          </a:prstGeom>
          <a:noFill/>
        </p:spPr>
        <p:txBody>
          <a:bodyPr wrap="square" rtlCol="0">
            <a:spAutoFit/>
          </a:bodyPr>
          <a:lstStyle/>
          <a:p>
            <a:r>
              <a:rPr lang="en-US" sz="900" dirty="0"/>
              <a:t>Ali, M., Hussain, S., Ashraf, M. and Paracha, M.K., 2020. Addressing software related issues on legacy systems–a review. </a:t>
            </a:r>
            <a:r>
              <a:rPr lang="en-US" sz="900" i="1" dirty="0"/>
              <a:t>International journal of scientific &amp; technology research</a:t>
            </a:r>
            <a:r>
              <a:rPr lang="en-US" sz="900" dirty="0"/>
              <a:t>, </a:t>
            </a:r>
            <a:r>
              <a:rPr lang="en-US" sz="900" i="1" dirty="0"/>
              <a:t>9</a:t>
            </a:r>
            <a:r>
              <a:rPr lang="en-US" sz="900" dirty="0"/>
              <a:t>(03), pp.3738-3742.</a:t>
            </a:r>
          </a:p>
        </p:txBody>
      </p:sp>
    </p:spTree>
    <p:extLst>
      <p:ext uri="{BB962C8B-B14F-4D97-AF65-F5344CB8AC3E}">
        <p14:creationId xmlns:p14="http://schemas.microsoft.com/office/powerpoint/2010/main" val="141064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9E59F-1E57-842A-CB8D-205D1B4ACF50}"/>
              </a:ext>
            </a:extLst>
          </p:cNvPr>
          <p:cNvSpPr>
            <a:spLocks noGrp="1"/>
          </p:cNvSpPr>
          <p:nvPr>
            <p:ph type="title"/>
          </p:nvPr>
        </p:nvSpPr>
        <p:spPr/>
        <p:txBody>
          <a:bodyPr>
            <a:normAutofit fontScale="90000"/>
          </a:bodyPr>
          <a:lstStyle/>
          <a:p>
            <a:r>
              <a:rPr lang="en-US" dirty="0"/>
              <a:t>Modernizing Legacy Systems</a:t>
            </a:r>
          </a:p>
        </p:txBody>
      </p:sp>
      <p:sp>
        <p:nvSpPr>
          <p:cNvPr id="3" name="Text Placeholder 2">
            <a:extLst>
              <a:ext uri="{FF2B5EF4-FFF2-40B4-BE49-F238E27FC236}">
                <a16:creationId xmlns:a16="http://schemas.microsoft.com/office/drawing/2014/main" id="{05C4B24E-B5F6-D51C-A83D-D00532154235}"/>
              </a:ext>
            </a:extLst>
          </p:cNvPr>
          <p:cNvSpPr>
            <a:spLocks noGrp="1"/>
          </p:cNvSpPr>
          <p:nvPr>
            <p:ph type="body" idx="1"/>
          </p:nvPr>
        </p:nvSpPr>
        <p:spPr/>
        <p:txBody>
          <a:bodyPr>
            <a:normAutofit/>
          </a:bodyPr>
          <a:lstStyle/>
          <a:p>
            <a:r>
              <a:rPr lang="en-US" sz="1000" b="1" dirty="0">
                <a:solidFill>
                  <a:schemeClr val="bg2"/>
                </a:solidFill>
                <a:latin typeface="Times New Roman" panose="02020603050405020304" pitchFamily="18" charset="0"/>
                <a:cs typeface="Times New Roman" panose="02020603050405020304" pitchFamily="18" charset="0"/>
              </a:rPr>
              <a:t>Re-targeting </a:t>
            </a:r>
          </a:p>
          <a:p>
            <a:pPr marL="615950" lvl="1" indent="0">
              <a:buNone/>
            </a:pPr>
            <a:r>
              <a:rPr lang="en-US" sz="1000" dirty="0">
                <a:solidFill>
                  <a:schemeClr val="bg2"/>
                </a:solidFill>
                <a:latin typeface="Times New Roman" panose="02020603050405020304" pitchFamily="18" charset="0"/>
                <a:cs typeface="Times New Roman" panose="02020603050405020304" pitchFamily="18" charset="0"/>
              </a:rPr>
              <a:t>	Transformation of legacy system into new system with some additional features and functionalities. Converting a system 	platform into a new hardware platform. </a:t>
            </a:r>
          </a:p>
          <a:p>
            <a:r>
              <a:rPr lang="en-US" sz="1000" b="1" dirty="0">
                <a:solidFill>
                  <a:schemeClr val="bg2"/>
                </a:solidFill>
                <a:latin typeface="Times New Roman" panose="02020603050405020304" pitchFamily="18" charset="0"/>
                <a:cs typeface="Times New Roman" panose="02020603050405020304" pitchFamily="18" charset="0"/>
              </a:rPr>
              <a:t>Re-vamping</a:t>
            </a:r>
            <a:r>
              <a:rPr lang="en-US" sz="1000" dirty="0">
                <a:solidFill>
                  <a:schemeClr val="bg2"/>
                </a:solidFill>
                <a:latin typeface="Times New Roman" panose="02020603050405020304" pitchFamily="18" charset="0"/>
                <a:cs typeface="Times New Roman" panose="02020603050405020304" pitchFamily="18" charset="0"/>
              </a:rPr>
              <a:t> </a:t>
            </a:r>
          </a:p>
          <a:p>
            <a:pPr marL="146050" indent="0">
              <a:buNone/>
            </a:pPr>
            <a:r>
              <a:rPr lang="en-US" sz="1000" dirty="0">
                <a:solidFill>
                  <a:schemeClr val="bg2"/>
                </a:solidFill>
                <a:latin typeface="Times New Roman" panose="02020603050405020304" pitchFamily="18" charset="0"/>
                <a:cs typeface="Times New Roman" panose="02020603050405020304" pitchFamily="18" charset="0"/>
              </a:rPr>
              <a:t>	Used to replace the user interfere design in new design. It was a most visible  part of any software/application. It is improving 	the visibility and usability of system.</a:t>
            </a:r>
          </a:p>
          <a:p>
            <a:r>
              <a:rPr lang="en-US" sz="1000" b="1" dirty="0">
                <a:solidFill>
                  <a:schemeClr val="bg2"/>
                </a:solidFill>
                <a:latin typeface="Times New Roman" panose="02020603050405020304" pitchFamily="18" charset="0"/>
                <a:cs typeface="Times New Roman" panose="02020603050405020304" pitchFamily="18" charset="0"/>
              </a:rPr>
              <a:t>Wrapping</a:t>
            </a:r>
          </a:p>
          <a:p>
            <a:pPr marL="146050" indent="0">
              <a:buNone/>
            </a:pPr>
            <a:r>
              <a:rPr lang="en-US" sz="1000" dirty="0">
                <a:solidFill>
                  <a:schemeClr val="bg2"/>
                </a:solidFill>
                <a:latin typeface="Times New Roman" panose="02020603050405020304" pitchFamily="18" charset="0"/>
                <a:cs typeface="Times New Roman" panose="02020603050405020304" pitchFamily="18" charset="0"/>
              </a:rPr>
              <a:t>	 Modifies the interaction logics in new version of any old system. This process is cost effective.</a:t>
            </a:r>
          </a:p>
          <a:p>
            <a:r>
              <a:rPr lang="en-US" sz="1000" b="1" dirty="0">
                <a:solidFill>
                  <a:schemeClr val="bg2"/>
                </a:solidFill>
                <a:latin typeface="Times New Roman" panose="02020603050405020304" pitchFamily="18" charset="0"/>
                <a:cs typeface="Times New Roman" panose="02020603050405020304" pitchFamily="18" charset="0"/>
              </a:rPr>
              <a:t>Program translation </a:t>
            </a:r>
          </a:p>
          <a:p>
            <a:pPr marL="146050" indent="0">
              <a:buNone/>
            </a:pPr>
            <a:r>
              <a:rPr lang="en-US" sz="1000" b="1" dirty="0">
                <a:solidFill>
                  <a:schemeClr val="bg2"/>
                </a:solidFill>
                <a:latin typeface="Times New Roman" panose="02020603050405020304" pitchFamily="18" charset="0"/>
                <a:cs typeface="Times New Roman" panose="02020603050405020304" pitchFamily="18" charset="0"/>
              </a:rPr>
              <a:t>	U</a:t>
            </a:r>
            <a:r>
              <a:rPr lang="en-US" sz="1000" dirty="0">
                <a:solidFill>
                  <a:schemeClr val="bg2"/>
                </a:solidFill>
                <a:latin typeface="Times New Roman" panose="02020603050405020304" pitchFamily="18" charset="0"/>
                <a:cs typeface="Times New Roman" panose="02020603050405020304" pitchFamily="18" charset="0"/>
              </a:rPr>
              <a:t>sed to made the cross compatibility of software on different hardware and platforms. </a:t>
            </a:r>
          </a:p>
        </p:txBody>
      </p:sp>
      <p:sp>
        <p:nvSpPr>
          <p:cNvPr id="4" name="TextBox 3">
            <a:extLst>
              <a:ext uri="{FF2B5EF4-FFF2-40B4-BE49-F238E27FC236}">
                <a16:creationId xmlns:a16="http://schemas.microsoft.com/office/drawing/2014/main" id="{0322D0F8-6317-6240-6515-1D6A4511F0CD}"/>
              </a:ext>
            </a:extLst>
          </p:cNvPr>
          <p:cNvSpPr txBox="1"/>
          <p:nvPr/>
        </p:nvSpPr>
        <p:spPr>
          <a:xfrm>
            <a:off x="729450" y="4774168"/>
            <a:ext cx="8364544" cy="369332"/>
          </a:xfrm>
          <a:prstGeom prst="rect">
            <a:avLst/>
          </a:prstGeom>
          <a:noFill/>
        </p:spPr>
        <p:txBody>
          <a:bodyPr wrap="square" rtlCol="0">
            <a:spAutoFit/>
          </a:bodyPr>
          <a:lstStyle/>
          <a:p>
            <a:r>
              <a:rPr lang="en-US" sz="900" dirty="0"/>
              <a:t>Ali, M., Hussain, S., Ashraf, M. and Paracha, M.K., 2020. Addressing software related issues on legacy systems–a review. </a:t>
            </a:r>
            <a:r>
              <a:rPr lang="en-US" sz="900" i="1" dirty="0"/>
              <a:t>International journal of scientific &amp; technology research</a:t>
            </a:r>
            <a:r>
              <a:rPr lang="en-US" sz="900" dirty="0"/>
              <a:t>, </a:t>
            </a:r>
            <a:r>
              <a:rPr lang="en-US" sz="900" i="1" dirty="0"/>
              <a:t>9</a:t>
            </a:r>
            <a:r>
              <a:rPr lang="en-US" sz="900" dirty="0"/>
              <a:t>(03), pp.3738-3742.</a:t>
            </a:r>
          </a:p>
        </p:txBody>
      </p:sp>
    </p:spTree>
    <p:extLst>
      <p:ext uri="{BB962C8B-B14F-4D97-AF65-F5344CB8AC3E}">
        <p14:creationId xmlns:p14="http://schemas.microsoft.com/office/powerpoint/2010/main" val="3714117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Wrapper</a:t>
            </a:r>
            <a:endParaRPr/>
          </a:p>
        </p:txBody>
      </p:sp>
      <p:sp>
        <p:nvSpPr>
          <p:cNvPr id="117" name="Google Shape;117;p18"/>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lvl="0" indent="0">
              <a:spcAft>
                <a:spcPts val="1200"/>
              </a:spcAft>
              <a:buNone/>
            </a:pPr>
            <a:r>
              <a:rPr lang="en-US" sz="1100" b="1" dirty="0">
                <a:solidFill>
                  <a:schemeClr val="bg2"/>
                </a:solidFill>
                <a:latin typeface="Times New Roman" panose="02020603050405020304" pitchFamily="18" charset="0"/>
                <a:cs typeface="Times New Roman" panose="02020603050405020304" pitchFamily="18" charset="0"/>
              </a:rPr>
              <a:t>Wrapping</a:t>
            </a:r>
            <a:r>
              <a:rPr lang="en-US" sz="1100" dirty="0">
                <a:solidFill>
                  <a:schemeClr val="bg2"/>
                </a:solidFill>
                <a:latin typeface="Times New Roman" panose="02020603050405020304" pitchFamily="18" charset="0"/>
                <a:cs typeface="Times New Roman" panose="02020603050405020304" pitchFamily="18" charset="0"/>
              </a:rPr>
              <a:t> a legacy system means </a:t>
            </a:r>
            <a:r>
              <a:rPr lang="en-US" sz="1100" b="1" dirty="0">
                <a:solidFill>
                  <a:schemeClr val="bg2"/>
                </a:solidFill>
                <a:latin typeface="Times New Roman" panose="02020603050405020304" pitchFamily="18" charset="0"/>
                <a:cs typeface="Times New Roman" panose="02020603050405020304" pitchFamily="18" charset="0"/>
              </a:rPr>
              <a:t>encapsulating</a:t>
            </a:r>
            <a:r>
              <a:rPr lang="en-US" sz="1100" dirty="0">
                <a:solidFill>
                  <a:schemeClr val="bg2"/>
                </a:solidFill>
                <a:latin typeface="Times New Roman" panose="02020603050405020304" pitchFamily="18" charset="0"/>
                <a:cs typeface="Times New Roman" panose="02020603050405020304" pitchFamily="18" charset="0"/>
              </a:rPr>
              <a:t> it in a way that </a:t>
            </a:r>
            <a:r>
              <a:rPr lang="en-US" sz="1100" b="1" dirty="0">
                <a:solidFill>
                  <a:schemeClr val="bg2"/>
                </a:solidFill>
                <a:latin typeface="Times New Roman" panose="02020603050405020304" pitchFamily="18" charset="0"/>
                <a:cs typeface="Times New Roman" panose="02020603050405020304" pitchFamily="18" charset="0"/>
              </a:rPr>
              <a:t>hides its internal complexity</a:t>
            </a:r>
            <a:r>
              <a:rPr lang="en-US" sz="1100" dirty="0">
                <a:solidFill>
                  <a:schemeClr val="bg2"/>
                </a:solidFill>
                <a:latin typeface="Times New Roman" panose="02020603050405020304" pitchFamily="18" charset="0"/>
                <a:cs typeface="Times New Roman" panose="02020603050405020304" pitchFamily="18" charset="0"/>
              </a:rPr>
              <a:t> and </a:t>
            </a:r>
            <a:r>
              <a:rPr lang="en-US" sz="1100" b="1" dirty="0">
                <a:solidFill>
                  <a:schemeClr val="bg2"/>
                </a:solidFill>
                <a:latin typeface="Times New Roman" panose="02020603050405020304" pitchFamily="18" charset="0"/>
                <a:cs typeface="Times New Roman" panose="02020603050405020304" pitchFamily="18" charset="0"/>
              </a:rPr>
              <a:t>exposes a modern interface</a:t>
            </a:r>
            <a:r>
              <a:rPr lang="en-US" sz="1100" dirty="0">
                <a:solidFill>
                  <a:schemeClr val="bg2"/>
                </a:solidFill>
                <a:latin typeface="Times New Roman" panose="02020603050405020304" pitchFamily="18" charset="0"/>
                <a:cs typeface="Times New Roman" panose="02020603050405020304" pitchFamily="18" charset="0"/>
              </a:rPr>
              <a:t> (e.g., web service, API) so that new systems can interact with it </a:t>
            </a:r>
            <a:r>
              <a:rPr lang="en-US" sz="1100" b="1" dirty="0">
                <a:solidFill>
                  <a:schemeClr val="bg2"/>
                </a:solidFill>
                <a:latin typeface="Times New Roman" panose="02020603050405020304" pitchFamily="18" charset="0"/>
                <a:cs typeface="Times New Roman" panose="02020603050405020304" pitchFamily="18" charset="0"/>
              </a:rPr>
              <a:t>without needing to understand or modify the legacy code</a:t>
            </a:r>
            <a:r>
              <a:rPr lang="en-US" sz="1100" dirty="0">
                <a:solidFill>
                  <a:schemeClr val="bg2"/>
                </a:solidFill>
                <a:latin typeface="Times New Roman" panose="02020603050405020304" pitchFamily="18" charset="0"/>
                <a:cs typeface="Times New Roman" panose="02020603050405020304" pitchFamily="18" charset="0"/>
              </a:rPr>
              <a:t>.</a:t>
            </a:r>
            <a:br>
              <a:rPr lang="en" sz="1100" dirty="0">
                <a:solidFill>
                  <a:srgbClr val="000000"/>
                </a:solidFill>
                <a:latin typeface="Times New Roman" panose="02020603050405020304" pitchFamily="18" charset="0"/>
                <a:cs typeface="Times New Roman" panose="02020603050405020304" pitchFamily="18" charset="0"/>
              </a:rPr>
            </a:br>
            <a:br>
              <a:rPr lang="en" sz="1100" dirty="0">
                <a:solidFill>
                  <a:srgbClr val="000000"/>
                </a:solidFill>
                <a:latin typeface="Times New Roman" panose="02020603050405020304" pitchFamily="18" charset="0"/>
                <a:cs typeface="Times New Roman" panose="02020603050405020304" pitchFamily="18" charset="0"/>
              </a:rPr>
            </a:br>
            <a:r>
              <a:rPr lang="en" sz="1100" dirty="0">
                <a:solidFill>
                  <a:srgbClr val="000000"/>
                </a:solidFill>
                <a:latin typeface="Times New Roman" panose="02020603050405020304" pitchFamily="18" charset="0"/>
                <a:cs typeface="Times New Roman" panose="02020603050405020304" pitchFamily="18" charset="0"/>
              </a:rPr>
              <a:t>Wrapping is a “black-box” </a:t>
            </a:r>
            <a:r>
              <a:rPr lang="en" sz="1100" dirty="0">
                <a:solidFill>
                  <a:srgbClr val="FFC000"/>
                </a:solidFill>
                <a:latin typeface="Times New Roman" panose="02020603050405020304" pitchFamily="18" charset="0"/>
                <a:cs typeface="Times New Roman" panose="02020603050405020304" pitchFamily="18" charset="0"/>
              </a:rPr>
              <a:t>reengineering activity </a:t>
            </a:r>
            <a:r>
              <a:rPr lang="en" sz="1100" dirty="0">
                <a:solidFill>
                  <a:srgbClr val="000000"/>
                </a:solidFill>
                <a:latin typeface="Times New Roman" panose="02020603050405020304" pitchFamily="18" charset="0"/>
                <a:cs typeface="Times New Roman" panose="02020603050405020304" pitchFamily="18" charset="0"/>
              </a:rPr>
              <a:t>because the interface of the legacy system is analyzed but not its internal details.</a:t>
            </a:r>
          </a:p>
          <a:p>
            <a:pPr marL="0" lvl="0" indent="0">
              <a:spcAft>
                <a:spcPts val="1200"/>
              </a:spcAft>
              <a:buNone/>
            </a:pPr>
            <a:r>
              <a:rPr lang="en" sz="1100" dirty="0">
                <a:solidFill>
                  <a:srgbClr val="000000"/>
                </a:solidFill>
                <a:latin typeface="Times New Roman" panose="02020603050405020304" pitchFamily="18" charset="0"/>
                <a:cs typeface="Times New Roman" panose="02020603050405020304" pitchFamily="18" charset="0"/>
              </a:rPr>
              <a:t>There are four categories of wrappers:</a:t>
            </a:r>
          </a:p>
          <a:p>
            <a:pPr marL="742950" lvl="1" indent="-285750">
              <a:lnSpc>
                <a:spcPct val="100000"/>
              </a:lnSpc>
              <a:spcAft>
                <a:spcPts val="600"/>
              </a:spcAft>
            </a:pPr>
            <a:r>
              <a:rPr lang="en" dirty="0">
                <a:solidFill>
                  <a:srgbClr val="000000"/>
                </a:solidFill>
                <a:latin typeface="Times New Roman" panose="02020603050405020304" pitchFamily="18" charset="0"/>
                <a:cs typeface="Times New Roman" panose="02020603050405020304" pitchFamily="18" charset="0"/>
              </a:rPr>
              <a:t>Database Wrappers.</a:t>
            </a:r>
          </a:p>
          <a:p>
            <a:pPr marL="742950" lvl="1" indent="-285750">
              <a:lnSpc>
                <a:spcPct val="100000"/>
              </a:lnSpc>
              <a:spcAft>
                <a:spcPts val="600"/>
              </a:spcAft>
            </a:pPr>
            <a:r>
              <a:rPr lang="en" dirty="0">
                <a:solidFill>
                  <a:srgbClr val="000000"/>
                </a:solidFill>
                <a:latin typeface="Times New Roman" panose="02020603050405020304" pitchFamily="18" charset="0"/>
                <a:cs typeface="Times New Roman" panose="02020603050405020304" pitchFamily="18" charset="0"/>
              </a:rPr>
              <a:t>System service wrappers.</a:t>
            </a:r>
          </a:p>
          <a:p>
            <a:pPr marL="742950" lvl="1" indent="-285750">
              <a:lnSpc>
                <a:spcPct val="100000"/>
              </a:lnSpc>
              <a:spcAft>
                <a:spcPts val="600"/>
              </a:spcAft>
            </a:pPr>
            <a:r>
              <a:rPr lang="en" dirty="0">
                <a:solidFill>
                  <a:srgbClr val="000000"/>
                </a:solidFill>
                <a:latin typeface="Times New Roman" panose="02020603050405020304" pitchFamily="18" charset="0"/>
                <a:cs typeface="Times New Roman" panose="02020603050405020304" pitchFamily="18" charset="0"/>
              </a:rPr>
              <a:t>Application wrappers.</a:t>
            </a:r>
          </a:p>
          <a:p>
            <a:pPr marL="742950" lvl="1" indent="-285750">
              <a:lnSpc>
                <a:spcPct val="100000"/>
              </a:lnSpc>
              <a:spcAft>
                <a:spcPts val="600"/>
              </a:spcAft>
            </a:pPr>
            <a:r>
              <a:rPr lang="en" dirty="0">
                <a:solidFill>
                  <a:srgbClr val="000000"/>
                </a:solidFill>
                <a:latin typeface="Times New Roman" panose="02020603050405020304" pitchFamily="18" charset="0"/>
                <a:cs typeface="Times New Roman" panose="02020603050405020304" pitchFamily="18" charset="0"/>
              </a:rPr>
              <a:t>Function wrappers.</a:t>
            </a:r>
            <a:br>
              <a:rPr lang="en" dirty="0">
                <a:solidFill>
                  <a:srgbClr val="000000"/>
                </a:solidFill>
                <a:latin typeface="Times New Roman" panose="02020603050405020304" pitchFamily="18" charset="0"/>
                <a:cs typeface="Times New Roman" panose="02020603050405020304" pitchFamily="18" charset="0"/>
              </a:rPr>
            </a:br>
            <a:endParaRPr lang="en" dirty="0">
              <a:solidFill>
                <a:srgbClr val="000000"/>
              </a:solidFill>
              <a:latin typeface="Times New Roman" panose="02020603050405020304" pitchFamily="18" charset="0"/>
              <a:cs typeface="Times New Roman" panose="02020603050405020304" pitchFamily="18" charset="0"/>
            </a:endParaRPr>
          </a:p>
          <a:p>
            <a:pPr marL="285750" indent="-285750">
              <a:spcAft>
                <a:spcPts val="1200"/>
              </a:spcAft>
            </a:pPr>
            <a:endParaRPr lang="en" sz="1100" dirty="0">
              <a:solidFill>
                <a:srgbClr val="000000"/>
              </a:solidFill>
              <a:latin typeface="Times New Roman" panose="02020603050405020304" pitchFamily="18" charset="0"/>
              <a:cs typeface="Times New Roman" panose="02020603050405020304" pitchFamily="18" charset="0"/>
            </a:endParaRPr>
          </a:p>
          <a:p>
            <a:pPr marL="0" lvl="0" indent="0">
              <a:spcAft>
                <a:spcPts val="1200"/>
              </a:spcAft>
              <a:buNone/>
            </a:pPr>
            <a:br>
              <a:rPr lang="en" sz="1100" dirty="0">
                <a:solidFill>
                  <a:srgbClr val="000000"/>
                </a:solidFill>
                <a:latin typeface="Times New Roman" panose="02020603050405020304" pitchFamily="18" charset="0"/>
                <a:cs typeface="Times New Roman" panose="02020603050405020304" pitchFamily="18" charset="0"/>
              </a:rPr>
            </a:br>
            <a:br>
              <a:rPr lang="en" sz="1100" dirty="0">
                <a:solidFill>
                  <a:srgbClr val="000000"/>
                </a:solidFill>
                <a:latin typeface="Times New Roman" panose="02020603050405020304" pitchFamily="18" charset="0"/>
                <a:cs typeface="Times New Roman" panose="02020603050405020304" pitchFamily="18" charset="0"/>
              </a:rPr>
            </a:br>
            <a:endParaRPr sz="1100"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Database Wrappers</a:t>
            </a:r>
          </a:p>
        </p:txBody>
      </p:sp>
      <p:sp>
        <p:nvSpPr>
          <p:cNvPr id="123" name="Google Shape;123;p19"/>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lvl="0" indent="0">
              <a:spcBef>
                <a:spcPts val="1200"/>
              </a:spcBef>
              <a:buNone/>
            </a:pPr>
            <a:r>
              <a:rPr lang="en-US" b="1" dirty="0">
                <a:solidFill>
                  <a:schemeClr val="bg2"/>
                </a:solidFill>
              </a:rPr>
              <a:t>Database wrappers</a:t>
            </a:r>
            <a:r>
              <a:rPr lang="en-US" dirty="0">
                <a:solidFill>
                  <a:schemeClr val="bg2"/>
                </a:solidFill>
              </a:rPr>
              <a:t> are software components designed to enable </a:t>
            </a:r>
            <a:r>
              <a:rPr lang="en-US" b="1" dirty="0">
                <a:solidFill>
                  <a:schemeClr val="bg2"/>
                </a:solidFill>
              </a:rPr>
              <a:t>modern applications</a:t>
            </a:r>
            <a:r>
              <a:rPr lang="en-US" dirty="0">
                <a:solidFill>
                  <a:schemeClr val="bg2"/>
                </a:solidFill>
              </a:rPr>
              <a:t> to interact with </a:t>
            </a:r>
            <a:r>
              <a:rPr lang="en-US" b="1" dirty="0">
                <a:solidFill>
                  <a:schemeClr val="bg2"/>
                </a:solidFill>
              </a:rPr>
              <a:t>legacy databases</a:t>
            </a:r>
            <a:r>
              <a:rPr lang="en-US" dirty="0">
                <a:solidFill>
                  <a:schemeClr val="bg2"/>
                </a:solidFill>
              </a:rPr>
              <a:t> or </a:t>
            </a:r>
            <a:r>
              <a:rPr lang="en-US" b="1" dirty="0">
                <a:solidFill>
                  <a:schemeClr val="bg2"/>
                </a:solidFill>
              </a:rPr>
              <a:t>non-standard data formats</a:t>
            </a:r>
            <a:r>
              <a:rPr lang="en-US" dirty="0">
                <a:solidFill>
                  <a:schemeClr val="bg2"/>
                </a:solidFill>
              </a:rPr>
              <a:t> without modifying the underlying data storage systems.</a:t>
            </a:r>
            <a:br>
              <a:rPr lang="en" dirty="0">
                <a:solidFill>
                  <a:srgbClr val="000000"/>
                </a:solidFill>
              </a:rPr>
            </a:br>
            <a:r>
              <a:rPr lang="en" dirty="0">
                <a:solidFill>
                  <a:srgbClr val="000000"/>
                </a:solidFill>
              </a:rPr>
              <a:t>Database wrappers can be further classified into two types:</a:t>
            </a:r>
          </a:p>
          <a:p>
            <a:pPr marL="742950" lvl="1" indent="-285750">
              <a:buFont typeface="Courier New" panose="02070309020205020404" pitchFamily="49" charset="0"/>
              <a:buChar char="o"/>
            </a:pPr>
            <a:r>
              <a:rPr lang="en" dirty="0">
                <a:solidFill>
                  <a:srgbClr val="000000"/>
                </a:solidFill>
              </a:rPr>
              <a:t>Forward Wrappers</a:t>
            </a:r>
          </a:p>
          <a:p>
            <a:pPr marL="742950" lvl="1" indent="-285750">
              <a:buFont typeface="Courier New" panose="02070309020205020404" pitchFamily="49" charset="0"/>
              <a:buChar char="o"/>
            </a:pPr>
            <a:r>
              <a:rPr lang="en" dirty="0">
                <a:solidFill>
                  <a:srgbClr val="000000"/>
                </a:solidFill>
              </a:rPr>
              <a:t>Backward Wrappers</a:t>
            </a:r>
          </a:p>
          <a:p>
            <a:pPr marL="457200" lvl="1" indent="0">
              <a:buNone/>
            </a:pPr>
            <a:br>
              <a:rPr lang="en" dirty="0">
                <a:solidFill>
                  <a:srgbClr val="000000"/>
                </a:solidFill>
              </a:rPr>
            </a:br>
            <a:endParaRPr dirty="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D3510-7ECC-1D10-82FA-11DCFB5AD547}"/>
              </a:ext>
            </a:extLst>
          </p:cNvPr>
          <p:cNvSpPr>
            <a:spLocks noGrp="1"/>
          </p:cNvSpPr>
          <p:nvPr>
            <p:ph type="title"/>
          </p:nvPr>
        </p:nvSpPr>
        <p:spPr/>
        <p:txBody>
          <a:bodyPr>
            <a:normAutofit fontScale="90000"/>
          </a:bodyPr>
          <a:lstStyle/>
          <a:p>
            <a:r>
              <a:rPr lang="en" dirty="0">
                <a:solidFill>
                  <a:srgbClr val="000000"/>
                </a:solidFill>
              </a:rPr>
              <a:t>Forward Wrappers</a:t>
            </a:r>
            <a:br>
              <a:rPr lang="en" dirty="0">
                <a:solidFill>
                  <a:srgbClr val="000000"/>
                </a:solidFill>
              </a:rPr>
            </a:br>
            <a:endParaRPr lang="en-US" dirty="0"/>
          </a:p>
        </p:txBody>
      </p:sp>
      <p:sp>
        <p:nvSpPr>
          <p:cNvPr id="3" name="Text Placeholder 2">
            <a:extLst>
              <a:ext uri="{FF2B5EF4-FFF2-40B4-BE49-F238E27FC236}">
                <a16:creationId xmlns:a16="http://schemas.microsoft.com/office/drawing/2014/main" id="{FA6A2029-2D1C-6A61-46CB-9269078E8176}"/>
              </a:ext>
            </a:extLst>
          </p:cNvPr>
          <p:cNvSpPr>
            <a:spLocks noGrp="1"/>
          </p:cNvSpPr>
          <p:nvPr>
            <p:ph type="body" idx="1"/>
          </p:nvPr>
        </p:nvSpPr>
        <p:spPr/>
        <p:txBody>
          <a:bodyPr/>
          <a:lstStyle/>
          <a:p>
            <a:r>
              <a:rPr lang="en" dirty="0">
                <a:solidFill>
                  <a:srgbClr val="000000"/>
                </a:solidFill>
              </a:rPr>
              <a:t>Adds a new component to a legacy system. </a:t>
            </a:r>
          </a:p>
          <a:p>
            <a:r>
              <a:rPr lang="en" dirty="0">
                <a:solidFill>
                  <a:srgbClr val="000000"/>
                </a:solidFill>
              </a:rPr>
              <a:t>New component is developed with modern practices, whereas the legacy database and the legacy code are not modified. </a:t>
            </a:r>
          </a:p>
          <a:p>
            <a:r>
              <a:rPr lang="en" dirty="0">
                <a:solidFill>
                  <a:srgbClr val="000000"/>
                </a:solidFill>
              </a:rPr>
              <a:t>The wrapper integrates the new component with the legacy system. </a:t>
            </a:r>
            <a:endParaRPr lang="en-US" dirty="0"/>
          </a:p>
        </p:txBody>
      </p:sp>
    </p:spTree>
    <p:extLst>
      <p:ext uri="{BB962C8B-B14F-4D97-AF65-F5344CB8AC3E}">
        <p14:creationId xmlns:p14="http://schemas.microsoft.com/office/powerpoint/2010/main" val="819221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DCAC-ACFA-63F0-A110-7947ADFE6C0B}"/>
              </a:ext>
            </a:extLst>
          </p:cNvPr>
          <p:cNvSpPr>
            <a:spLocks noGrp="1"/>
          </p:cNvSpPr>
          <p:nvPr>
            <p:ph type="title"/>
          </p:nvPr>
        </p:nvSpPr>
        <p:spPr/>
        <p:txBody>
          <a:bodyPr>
            <a:normAutofit fontScale="90000"/>
          </a:bodyPr>
          <a:lstStyle/>
          <a:p>
            <a:r>
              <a:rPr lang="en" dirty="0">
                <a:solidFill>
                  <a:srgbClr val="000000"/>
                </a:solidFill>
              </a:rPr>
              <a:t>Backward Wrappers</a:t>
            </a:r>
            <a:br>
              <a:rPr lang="en" dirty="0">
                <a:solidFill>
                  <a:srgbClr val="000000"/>
                </a:solidFill>
              </a:rPr>
            </a:br>
            <a:endParaRPr lang="en-US" dirty="0"/>
          </a:p>
        </p:txBody>
      </p:sp>
      <p:sp>
        <p:nvSpPr>
          <p:cNvPr id="3" name="Text Placeholder 2">
            <a:extLst>
              <a:ext uri="{FF2B5EF4-FFF2-40B4-BE49-F238E27FC236}">
                <a16:creationId xmlns:a16="http://schemas.microsoft.com/office/drawing/2014/main" id="{FF341227-8F00-BDC5-515B-31C3CE95CFA1}"/>
              </a:ext>
            </a:extLst>
          </p:cNvPr>
          <p:cNvSpPr>
            <a:spLocks noGrp="1"/>
          </p:cNvSpPr>
          <p:nvPr>
            <p:ph type="body" idx="1"/>
          </p:nvPr>
        </p:nvSpPr>
        <p:spPr/>
        <p:txBody>
          <a:bodyPr/>
          <a:lstStyle/>
          <a:p>
            <a:r>
              <a:rPr lang="en" dirty="0">
                <a:solidFill>
                  <a:srgbClr val="000000"/>
                </a:solidFill>
              </a:rPr>
              <a:t>Data are migrated first following the Database first approach.</a:t>
            </a:r>
          </a:p>
          <a:p>
            <a:r>
              <a:rPr lang="en" dirty="0">
                <a:solidFill>
                  <a:srgbClr val="000000"/>
                </a:solidFill>
              </a:rPr>
              <a:t>New components are developed that use the new database.</a:t>
            </a:r>
          </a:p>
          <a:p>
            <a:r>
              <a:rPr lang="en" dirty="0">
                <a:solidFill>
                  <a:srgbClr val="000000"/>
                </a:solidFill>
              </a:rPr>
              <a:t>Legacy components access the new data via wrappers. </a:t>
            </a:r>
            <a:endParaRPr lang="en-US" dirty="0"/>
          </a:p>
        </p:txBody>
      </p:sp>
    </p:spTree>
    <p:extLst>
      <p:ext uri="{BB962C8B-B14F-4D97-AF65-F5344CB8AC3E}">
        <p14:creationId xmlns:p14="http://schemas.microsoft.com/office/powerpoint/2010/main" val="3534371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Wrapper</a:t>
            </a:r>
            <a:endParaRPr lang="en-US" dirty="0"/>
          </a:p>
        </p:txBody>
      </p:sp>
      <p:sp>
        <p:nvSpPr>
          <p:cNvPr id="5" name="Text Placeholder 4">
            <a:extLst>
              <a:ext uri="{FF2B5EF4-FFF2-40B4-BE49-F238E27FC236}">
                <a16:creationId xmlns:a16="http://schemas.microsoft.com/office/drawing/2014/main" id="{F7B456A1-262E-5F6A-2130-20430E469F13}"/>
              </a:ext>
            </a:extLst>
          </p:cNvPr>
          <p:cNvSpPr>
            <a:spLocks noGrp="1"/>
          </p:cNvSpPr>
          <p:nvPr>
            <p:ph type="body" idx="1"/>
          </p:nvPr>
        </p:nvSpPr>
        <p:spPr/>
        <p:txBody>
          <a:bodyPr/>
          <a:lstStyle/>
          <a:p>
            <a:endParaRPr lang="en-US"/>
          </a:p>
        </p:txBody>
      </p:sp>
      <p:pic>
        <p:nvPicPr>
          <p:cNvPr id="129" name="Google Shape;129;p20"/>
          <p:cNvPicPr preferRelativeResize="0"/>
          <p:nvPr/>
        </p:nvPicPr>
        <p:blipFill>
          <a:blip r:embed="rId3">
            <a:alphaModFix/>
          </a:blip>
          <a:stretch>
            <a:fillRect/>
          </a:stretch>
        </p:blipFill>
        <p:spPr>
          <a:xfrm>
            <a:off x="477951" y="953667"/>
            <a:ext cx="3521869" cy="3823250"/>
          </a:xfrm>
          <a:prstGeom prst="rect">
            <a:avLst/>
          </a:prstGeom>
          <a:noFill/>
          <a:ln>
            <a:noFill/>
          </a:ln>
        </p:spPr>
      </p:pic>
      <p:pic>
        <p:nvPicPr>
          <p:cNvPr id="2" name="Google Shape;142;p22">
            <a:extLst>
              <a:ext uri="{FF2B5EF4-FFF2-40B4-BE49-F238E27FC236}">
                <a16:creationId xmlns:a16="http://schemas.microsoft.com/office/drawing/2014/main" id="{C0C95419-0B75-3B2A-C7A2-1A27BF81A7F7}"/>
              </a:ext>
            </a:extLst>
          </p:cNvPr>
          <p:cNvPicPr preferRelativeResize="0"/>
          <p:nvPr/>
        </p:nvPicPr>
        <p:blipFill>
          <a:blip r:embed="rId4">
            <a:alphaModFix/>
          </a:blip>
          <a:stretch>
            <a:fillRect/>
          </a:stretch>
        </p:blipFill>
        <p:spPr>
          <a:xfrm>
            <a:off x="4754998" y="1101435"/>
            <a:ext cx="3562867" cy="3675482"/>
          </a:xfrm>
          <a:prstGeom prst="rect">
            <a:avLst/>
          </a:prstGeom>
          <a:noFill/>
          <a:ln>
            <a:noFill/>
          </a:ln>
        </p:spPr>
      </p:pic>
      <p:sp>
        <p:nvSpPr>
          <p:cNvPr id="8" name="TextBox 7">
            <a:extLst>
              <a:ext uri="{FF2B5EF4-FFF2-40B4-BE49-F238E27FC236}">
                <a16:creationId xmlns:a16="http://schemas.microsoft.com/office/drawing/2014/main" id="{EAAD308E-95B0-067E-B9BF-D9A0549CD113}"/>
              </a:ext>
            </a:extLst>
          </p:cNvPr>
          <p:cNvSpPr txBox="1"/>
          <p:nvPr/>
        </p:nvSpPr>
        <p:spPr>
          <a:xfrm>
            <a:off x="477951" y="578215"/>
            <a:ext cx="4572000" cy="707886"/>
          </a:xfrm>
          <a:prstGeom prst="rect">
            <a:avLst/>
          </a:prstGeom>
          <a:noFill/>
        </p:spPr>
        <p:txBody>
          <a:bodyPr wrap="square">
            <a:spAutoFit/>
          </a:bodyPr>
          <a:lstStyle/>
          <a:p>
            <a:r>
              <a:rPr lang="en" sz="2000" b="1" dirty="0">
                <a:solidFill>
                  <a:srgbClr val="000000"/>
                </a:solidFill>
                <a:latin typeface="Times New Roman" panose="02020603050405020304" pitchFamily="18" charset="0"/>
                <a:cs typeface="Times New Roman" panose="02020603050405020304" pitchFamily="18" charset="0"/>
              </a:rPr>
              <a:t>Forward and Backward Wrappers</a:t>
            </a:r>
            <a:br>
              <a:rPr lang="en" sz="2000" b="1" dirty="0">
                <a:solidFill>
                  <a:srgbClr val="000000"/>
                </a:solidFill>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lvl="0"/>
            <a:r>
              <a:rPr lang="en" dirty="0">
                <a:solidFill>
                  <a:srgbClr val="000000"/>
                </a:solidFill>
              </a:rPr>
              <a:t>Types of Wrapping</a:t>
            </a:r>
            <a:endParaRPr dirty="0"/>
          </a:p>
        </p:txBody>
      </p:sp>
      <p:sp>
        <p:nvSpPr>
          <p:cNvPr id="148" name="Google Shape;148;p23"/>
          <p:cNvSpPr txBox="1">
            <a:spLocks noGrp="1"/>
          </p:cNvSpPr>
          <p:nvPr>
            <p:ph type="body" idx="1"/>
          </p:nvPr>
        </p:nvSpPr>
        <p:spPr>
          <a:xfrm>
            <a:off x="729450" y="1299082"/>
            <a:ext cx="7688700" cy="3681600"/>
          </a:xfrm>
          <a:prstGeom prst="rect">
            <a:avLst/>
          </a:prstGeom>
        </p:spPr>
        <p:txBody>
          <a:bodyPr spcFirstLastPara="1" wrap="square" lIns="91425" tIns="91425" rIns="91425" bIns="91425" anchor="t" anchorCtr="0">
            <a:normAutofit/>
          </a:bodyPr>
          <a:lstStyle/>
          <a:p>
            <a:pPr marL="146050" lvl="0" indent="0" algn="l" rtl="0">
              <a:spcBef>
                <a:spcPts val="1200"/>
              </a:spcBef>
              <a:spcAft>
                <a:spcPts val="0"/>
              </a:spcAft>
              <a:buClr>
                <a:srgbClr val="000000"/>
              </a:buClr>
              <a:buSzPts val="1300"/>
              <a:buNone/>
            </a:pPr>
            <a:r>
              <a:rPr lang="en" b="1" dirty="0">
                <a:solidFill>
                  <a:srgbClr val="000000"/>
                </a:solidFill>
              </a:rPr>
              <a:t>System service wrappers: </a:t>
            </a:r>
            <a:r>
              <a:rPr lang="en" sz="1200" dirty="0">
                <a:solidFill>
                  <a:srgbClr val="000000"/>
                </a:solidFill>
              </a:rPr>
              <a:t>Support customized access to commonly used system services, namely, routing, sorting, and printing. A client program may access those services without knowing their interfaces. </a:t>
            </a:r>
          </a:p>
          <a:p>
            <a:pPr marL="146050" lvl="0" indent="0" algn="l" rtl="0">
              <a:spcBef>
                <a:spcPts val="1200"/>
              </a:spcBef>
              <a:spcAft>
                <a:spcPts val="0"/>
              </a:spcAft>
              <a:buClr>
                <a:srgbClr val="000000"/>
              </a:buClr>
              <a:buSzPts val="1300"/>
              <a:buNone/>
            </a:pPr>
            <a:endParaRPr sz="1200" dirty="0">
              <a:solidFill>
                <a:srgbClr val="000000"/>
              </a:solidFill>
            </a:endParaRPr>
          </a:p>
          <a:p>
            <a:pPr marL="146050" lvl="0" indent="0" algn="l" rtl="0">
              <a:spcBef>
                <a:spcPts val="0"/>
              </a:spcBef>
              <a:spcAft>
                <a:spcPts val="0"/>
              </a:spcAft>
              <a:buClr>
                <a:srgbClr val="000000"/>
              </a:buClr>
              <a:buSzPts val="1300"/>
              <a:buNone/>
            </a:pPr>
            <a:r>
              <a:rPr lang="en" b="1" dirty="0">
                <a:solidFill>
                  <a:srgbClr val="000000"/>
                </a:solidFill>
              </a:rPr>
              <a:t>Application wrappers: </a:t>
            </a:r>
            <a:r>
              <a:rPr lang="en" sz="1200" b="1" dirty="0">
                <a:solidFill>
                  <a:srgbClr val="000000"/>
                </a:solidFill>
              </a:rPr>
              <a:t>E</a:t>
            </a:r>
            <a:r>
              <a:rPr lang="en" sz="1200" dirty="0">
                <a:solidFill>
                  <a:srgbClr val="000000"/>
                </a:solidFill>
              </a:rPr>
              <a:t>ncapsulate online transactions or batch processes. These wrappers enable new clients to include legacy components as objects and invoke those objects to produce reports or update files. </a:t>
            </a:r>
          </a:p>
          <a:p>
            <a:pPr marL="146050" lvl="0" indent="0" algn="l" rtl="0">
              <a:spcBef>
                <a:spcPts val="0"/>
              </a:spcBef>
              <a:spcAft>
                <a:spcPts val="0"/>
              </a:spcAft>
              <a:buClr>
                <a:srgbClr val="000000"/>
              </a:buClr>
              <a:buSzPts val="1300"/>
              <a:buNone/>
            </a:pPr>
            <a:endParaRPr sz="1200" dirty="0">
              <a:solidFill>
                <a:srgbClr val="000000"/>
              </a:solidFill>
            </a:endParaRPr>
          </a:p>
          <a:p>
            <a:pPr marL="146050" lvl="0" indent="0" algn="l" rtl="0">
              <a:spcBef>
                <a:spcPts val="0"/>
              </a:spcBef>
              <a:spcAft>
                <a:spcPts val="0"/>
              </a:spcAft>
              <a:buClr>
                <a:srgbClr val="000000"/>
              </a:buClr>
              <a:buSzPts val="1300"/>
              <a:buNone/>
            </a:pPr>
            <a:r>
              <a:rPr lang="en" b="1" dirty="0">
                <a:solidFill>
                  <a:srgbClr val="000000"/>
                </a:solidFill>
              </a:rPr>
              <a:t>Function wrappers: </a:t>
            </a:r>
            <a:r>
              <a:rPr lang="en" sz="1200" b="1" dirty="0">
                <a:solidFill>
                  <a:srgbClr val="000000"/>
                </a:solidFill>
              </a:rPr>
              <a:t>P</a:t>
            </a:r>
            <a:r>
              <a:rPr lang="en" sz="1200" dirty="0">
                <a:solidFill>
                  <a:srgbClr val="000000"/>
                </a:solidFill>
              </a:rPr>
              <a:t>rovide an interface to call functions in a wrapped entity. In this mechanism, only certain parts of a program—and not the full program—are invoked from the client applications. Therefore, limited access is provided by function wrappers.</a:t>
            </a:r>
            <a:endParaRPr sz="1200" dirty="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Wrapper</a:t>
            </a:r>
            <a:endParaRPr/>
          </a:p>
        </p:txBody>
      </p:sp>
      <p:sp>
        <p:nvSpPr>
          <p:cNvPr id="166" name="Google Shape;166;p26"/>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b="1"/>
          </a:p>
        </p:txBody>
      </p:sp>
      <p:pic>
        <p:nvPicPr>
          <p:cNvPr id="167" name="Google Shape;167;p26"/>
          <p:cNvPicPr preferRelativeResize="0"/>
          <p:nvPr/>
        </p:nvPicPr>
        <p:blipFill>
          <a:blip r:embed="rId3">
            <a:alphaModFix/>
          </a:blip>
          <a:stretch>
            <a:fillRect/>
          </a:stretch>
        </p:blipFill>
        <p:spPr>
          <a:xfrm>
            <a:off x="2160850" y="1091854"/>
            <a:ext cx="5905579" cy="3981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0"/>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Wrapper</a:t>
            </a:r>
            <a:endParaRPr/>
          </a:p>
        </p:txBody>
      </p:sp>
      <p:sp>
        <p:nvSpPr>
          <p:cNvPr id="191" name="Google Shape;191;p30"/>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000000"/>
                </a:solidFill>
              </a:rPr>
              <a:t>Adapting a Program for Wrapper:</a:t>
            </a:r>
            <a:endParaRPr b="1" dirty="0">
              <a:solidFill>
                <a:srgbClr val="000000"/>
              </a:solidFill>
            </a:endParaRPr>
          </a:p>
          <a:p>
            <a:pPr marL="0" lvl="0" indent="0" algn="l" rtl="0">
              <a:spcBef>
                <a:spcPts val="1200"/>
              </a:spcBef>
              <a:spcAft>
                <a:spcPts val="0"/>
              </a:spcAft>
              <a:buNone/>
            </a:pPr>
            <a:r>
              <a:rPr lang="en" dirty="0">
                <a:solidFill>
                  <a:srgbClr val="000000"/>
                </a:solidFill>
              </a:rPr>
              <a:t>A wrapped program is modified to some extent, and it is expected that the modified programs continue to operate in the normal mode. Therefore, programs are adapted with tools, rather than manually. Manual adaptations are prone to errors. Sneed [12] recommended four types of tools as discussed below.</a:t>
            </a:r>
            <a:endParaRPr dirty="0">
              <a:solidFill>
                <a:srgbClr val="000000"/>
              </a:solidFill>
            </a:endParaRPr>
          </a:p>
          <a:p>
            <a:pPr marL="457200" lvl="0" indent="-311150" algn="l" rtl="0">
              <a:spcAft>
                <a:spcPts val="0"/>
              </a:spcAft>
              <a:buClr>
                <a:srgbClr val="000000"/>
              </a:buClr>
              <a:buSzPts val="1300"/>
              <a:buChar char="●"/>
            </a:pPr>
            <a:r>
              <a:rPr lang="en" dirty="0">
                <a:solidFill>
                  <a:srgbClr val="000000"/>
                </a:solidFill>
              </a:rPr>
              <a:t>Transaction wrapper. </a:t>
            </a:r>
          </a:p>
          <a:p>
            <a:pPr lvl="0">
              <a:buClr>
                <a:srgbClr val="000000"/>
              </a:buClr>
            </a:pPr>
            <a:r>
              <a:rPr lang="en" dirty="0">
                <a:solidFill>
                  <a:srgbClr val="000000"/>
                </a:solidFill>
              </a:rPr>
              <a:t>Program wrapper.</a:t>
            </a:r>
          </a:p>
          <a:p>
            <a:pPr lvl="0">
              <a:buClr>
                <a:srgbClr val="000000"/>
              </a:buClr>
            </a:pPr>
            <a:r>
              <a:rPr lang="en" dirty="0">
                <a:solidFill>
                  <a:srgbClr val="000000"/>
                </a:solidFill>
              </a:rPr>
              <a:t>Module wrapper.</a:t>
            </a:r>
          </a:p>
          <a:p>
            <a:pPr lvl="0">
              <a:buClr>
                <a:srgbClr val="000000"/>
              </a:buClr>
            </a:pPr>
            <a:r>
              <a:rPr lang="en" dirty="0">
                <a:solidFill>
                  <a:srgbClr val="000000"/>
                </a:solidFill>
              </a:rPr>
              <a:t>Procedure wrapper.</a:t>
            </a:r>
            <a:endParaRPr dirty="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3"/>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Wrapper</a:t>
            </a:r>
            <a:endParaRPr/>
          </a:p>
        </p:txBody>
      </p:sp>
      <p:sp>
        <p:nvSpPr>
          <p:cNvPr id="209" name="Google Shape;209;p33"/>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000000"/>
                </a:solidFill>
              </a:rPr>
              <a:t>Screen Scraping:</a:t>
            </a:r>
            <a:endParaRPr b="1" dirty="0">
              <a:solidFill>
                <a:srgbClr val="000000"/>
              </a:solidFill>
            </a:endParaRPr>
          </a:p>
          <a:p>
            <a:pPr marL="0" lvl="0" indent="0" algn="l" rtl="0">
              <a:spcBef>
                <a:spcPts val="1200"/>
              </a:spcBef>
              <a:spcAft>
                <a:spcPts val="0"/>
              </a:spcAft>
              <a:buNone/>
            </a:pPr>
            <a:r>
              <a:rPr lang="en" dirty="0">
                <a:solidFill>
                  <a:srgbClr val="000000"/>
                </a:solidFill>
              </a:rPr>
              <a:t>Screen scraping is a common form of wrapping in which modern, say, graphical, interfaces replace text-based interfaces. </a:t>
            </a:r>
            <a:endParaRPr dirty="0">
              <a:solidFill>
                <a:srgbClr val="000000"/>
              </a:solidFill>
            </a:endParaRPr>
          </a:p>
          <a:p>
            <a:pPr marL="0" lvl="0" indent="0" algn="l" rtl="0">
              <a:spcBef>
                <a:spcPts val="1200"/>
              </a:spcBef>
              <a:spcAft>
                <a:spcPts val="1200"/>
              </a:spcAft>
              <a:buNone/>
            </a:pPr>
            <a:r>
              <a:rPr lang="en" dirty="0">
                <a:solidFill>
                  <a:srgbClr val="000000"/>
                </a:solidFill>
              </a:rPr>
              <a:t>Screen scraping is a short-term solution to a larger problem. Many serious issues are not addressed by simply mounting a GUI on a legacy system. For example, screen scraping </a:t>
            </a:r>
          </a:p>
          <a:p>
            <a:pPr marL="400050" indent="-400050"/>
            <a:r>
              <a:rPr lang="en" dirty="0">
                <a:solidFill>
                  <a:srgbClr val="000000"/>
                </a:solidFill>
              </a:rPr>
              <a:t>Does not evolve to support new functions</a:t>
            </a:r>
          </a:p>
          <a:p>
            <a:pPr marL="400050" indent="-400050"/>
            <a:r>
              <a:rPr lang="en" dirty="0">
                <a:solidFill>
                  <a:srgbClr val="000000"/>
                </a:solidFill>
              </a:rPr>
              <a:t>Incurs high maintenance cost</a:t>
            </a:r>
          </a:p>
          <a:p>
            <a:pPr marL="400050" indent="-400050"/>
            <a:r>
              <a:rPr lang="en" dirty="0">
                <a:solidFill>
                  <a:srgbClr val="000000"/>
                </a:solidFill>
              </a:rPr>
              <a:t>Ignores the problem of overloading. Screen scraping simply provides a straightforward way to continue to use a legacy system via a graphical user interface. </a:t>
            </a:r>
            <a:endParaRPr dirty="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AF5BD-3993-5DDF-FDAE-AEFB18408C55}"/>
              </a:ext>
            </a:extLst>
          </p:cNvPr>
          <p:cNvSpPr>
            <a:spLocks noGrp="1"/>
          </p:cNvSpPr>
          <p:nvPr>
            <p:ph type="title"/>
          </p:nvPr>
        </p:nvSpPr>
        <p:spPr/>
        <p:txBody>
          <a:bodyPr>
            <a:normAutofit fontScale="90000"/>
          </a:bodyPr>
          <a:lstStyle/>
          <a:p>
            <a:r>
              <a:rPr lang="en-US" dirty="0"/>
              <a:t>Benefits and Problems of wrapping</a:t>
            </a:r>
          </a:p>
        </p:txBody>
      </p:sp>
      <p:sp>
        <p:nvSpPr>
          <p:cNvPr id="3" name="Text Placeholder 2">
            <a:extLst>
              <a:ext uri="{FF2B5EF4-FFF2-40B4-BE49-F238E27FC236}">
                <a16:creationId xmlns:a16="http://schemas.microsoft.com/office/drawing/2014/main" id="{A7AE33F3-8429-4141-B4DB-680723DEA990}"/>
              </a:ext>
            </a:extLst>
          </p:cNvPr>
          <p:cNvSpPr>
            <a:spLocks noGrp="1"/>
          </p:cNvSpPr>
          <p:nvPr>
            <p:ph type="body" idx="1"/>
          </p:nvPr>
        </p:nvSpPr>
        <p:spPr/>
        <p:txBody>
          <a:bodyPr>
            <a:noAutofit/>
          </a:bodyPr>
          <a:lstStyle/>
          <a:p>
            <a:pPr marL="146050" indent="0">
              <a:buNone/>
            </a:pPr>
            <a:r>
              <a:rPr lang="en-US" sz="1200" b="1" dirty="0">
                <a:solidFill>
                  <a:schemeClr val="bg2"/>
                </a:solidFill>
                <a:latin typeface="Times New Roman" panose="02020603050405020304" pitchFamily="18" charset="0"/>
                <a:cs typeface="Times New Roman" panose="02020603050405020304" pitchFamily="18" charset="0"/>
              </a:rPr>
              <a:t>Benefits:</a:t>
            </a:r>
          </a:p>
          <a:p>
            <a:pPr>
              <a:buFont typeface="Courier New" panose="02070309020205020404" pitchFamily="49" charset="0"/>
              <a:buChar char="o"/>
            </a:pPr>
            <a:r>
              <a:rPr lang="en-US" sz="1100" dirty="0">
                <a:solidFill>
                  <a:schemeClr val="bg2"/>
                </a:solidFill>
                <a:latin typeface="Times New Roman" panose="02020603050405020304" pitchFamily="18" charset="0"/>
                <a:cs typeface="Times New Roman" panose="02020603050405020304" pitchFamily="18" charset="0"/>
              </a:rPr>
              <a:t>Quick and cost-effective solution. </a:t>
            </a:r>
          </a:p>
          <a:p>
            <a:pPr>
              <a:buFont typeface="Courier New" panose="02070309020205020404" pitchFamily="49" charset="0"/>
              <a:buChar char="o"/>
            </a:pPr>
            <a:r>
              <a:rPr lang="en-US" sz="1100" dirty="0">
                <a:solidFill>
                  <a:schemeClr val="bg2"/>
                </a:solidFill>
                <a:latin typeface="Times New Roman" panose="02020603050405020304" pitchFamily="18" charset="0"/>
                <a:cs typeface="Times New Roman" panose="02020603050405020304" pitchFamily="18" charset="0"/>
              </a:rPr>
              <a:t>Changes and improves a system’s outlook. </a:t>
            </a:r>
          </a:p>
          <a:p>
            <a:pPr>
              <a:buFont typeface="Courier New" panose="02070309020205020404" pitchFamily="49" charset="0"/>
              <a:buChar char="o"/>
            </a:pPr>
            <a:r>
              <a:rPr lang="en-US" sz="1100" dirty="0">
                <a:solidFill>
                  <a:schemeClr val="bg2"/>
                </a:solidFill>
                <a:latin typeface="Times New Roman" panose="02020603050405020304" pitchFamily="18" charset="0"/>
                <a:cs typeface="Times New Roman" panose="02020603050405020304" pitchFamily="18" charset="0"/>
              </a:rPr>
              <a:t>As we use the same components of legacy system which are already tested and trusted by their company.</a:t>
            </a:r>
          </a:p>
          <a:p>
            <a:pPr marL="146050" indent="0">
              <a:buNone/>
            </a:pPr>
            <a:r>
              <a:rPr lang="en-US" sz="1200" b="1" dirty="0">
                <a:solidFill>
                  <a:schemeClr val="bg2"/>
                </a:solidFill>
                <a:latin typeface="Times New Roman" panose="02020603050405020304" pitchFamily="18" charset="0"/>
                <a:cs typeface="Times New Roman" panose="02020603050405020304" pitchFamily="18" charset="0"/>
              </a:rPr>
              <a:t>Problems:</a:t>
            </a:r>
          </a:p>
          <a:p>
            <a:pPr>
              <a:buFont typeface="Courier New" panose="02070309020205020404" pitchFamily="49" charset="0"/>
              <a:buChar char="o"/>
            </a:pPr>
            <a:r>
              <a:rPr lang="en-US" sz="1100" dirty="0">
                <a:solidFill>
                  <a:schemeClr val="bg2"/>
                </a:solidFill>
                <a:latin typeface="Times New Roman" panose="02020603050405020304" pitchFamily="18" charset="0"/>
                <a:cs typeface="Times New Roman" panose="02020603050405020304" pitchFamily="18" charset="0"/>
              </a:rPr>
              <a:t>Wrapping is a short-term solution. </a:t>
            </a:r>
          </a:p>
          <a:p>
            <a:pPr>
              <a:buFont typeface="Courier New" panose="02070309020205020404" pitchFamily="49" charset="0"/>
              <a:buChar char="o"/>
            </a:pPr>
            <a:r>
              <a:rPr lang="en-US" sz="1100" dirty="0">
                <a:solidFill>
                  <a:schemeClr val="bg2"/>
                </a:solidFill>
                <a:latin typeface="Times New Roman" panose="02020603050405020304" pitchFamily="18" charset="0"/>
                <a:cs typeface="Times New Roman" panose="02020603050405020304" pitchFamily="18" charset="0"/>
              </a:rPr>
              <a:t>Complicates system’s maintenance and management. </a:t>
            </a:r>
          </a:p>
          <a:p>
            <a:pPr>
              <a:buFont typeface="Courier New" panose="02070309020205020404" pitchFamily="49" charset="0"/>
              <a:buChar char="o"/>
            </a:pPr>
            <a:r>
              <a:rPr lang="en-US" sz="1100" dirty="0">
                <a:solidFill>
                  <a:schemeClr val="bg2"/>
                </a:solidFill>
                <a:latin typeface="Times New Roman" panose="02020603050405020304" pitchFamily="18" charset="0"/>
                <a:cs typeface="Times New Roman" panose="02020603050405020304" pitchFamily="18" charset="0"/>
              </a:rPr>
              <a:t>Additional software layer is used in wrapping which increases architecture overhead and increases page overload. </a:t>
            </a:r>
          </a:p>
          <a:p>
            <a:pPr>
              <a:buFont typeface="Courier New" panose="02070309020205020404" pitchFamily="49" charset="0"/>
              <a:buChar char="o"/>
            </a:pPr>
            <a:r>
              <a:rPr lang="en-US" sz="1100" dirty="0">
                <a:solidFill>
                  <a:schemeClr val="bg2"/>
                </a:solidFill>
                <a:latin typeface="Times New Roman" panose="02020603050405020304" pitchFamily="18" charset="0"/>
                <a:cs typeface="Times New Roman" panose="02020603050405020304" pitchFamily="18" charset="0"/>
              </a:rPr>
              <a:t>Wrapping do not solve problems already present in maintenance and upgrading.</a:t>
            </a:r>
          </a:p>
          <a:p>
            <a:pPr>
              <a:buFont typeface="Courier New" panose="02070309020205020404" pitchFamily="49" charset="0"/>
              <a:buChar char="o"/>
            </a:pPr>
            <a:r>
              <a:rPr lang="en-US" sz="1100" dirty="0">
                <a:solidFill>
                  <a:schemeClr val="bg2"/>
                </a:solidFill>
                <a:latin typeface="Times New Roman" panose="02020603050405020304" pitchFamily="18" charset="0"/>
                <a:cs typeface="Times New Roman" panose="02020603050405020304" pitchFamily="18" charset="0"/>
              </a:rPr>
              <a:t>Overhead of script interpretation and database access at the page load time. </a:t>
            </a:r>
          </a:p>
          <a:p>
            <a:pPr>
              <a:buFont typeface="Courier New" panose="02070309020205020404" pitchFamily="49" charset="0"/>
              <a:buChar char="o"/>
            </a:pPr>
            <a:r>
              <a:rPr lang="en-US" sz="1100" dirty="0">
                <a:solidFill>
                  <a:schemeClr val="bg2"/>
                </a:solidFill>
                <a:latin typeface="Times New Roman" panose="02020603050405020304" pitchFamily="18" charset="0"/>
                <a:cs typeface="Times New Roman" panose="02020603050405020304" pitchFamily="18" charset="0"/>
              </a:rPr>
              <a:t>Performance and structure is not as better as can be achieved in redevelopment.</a:t>
            </a:r>
            <a:endParaRPr lang="en-US" sz="1100" b="1" dirty="0">
              <a:solidFill>
                <a:schemeClr val="bg2"/>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0F5888E-0BB7-A711-52BD-5C02C21E450A}"/>
              </a:ext>
            </a:extLst>
          </p:cNvPr>
          <p:cNvSpPr txBox="1"/>
          <p:nvPr/>
        </p:nvSpPr>
        <p:spPr>
          <a:xfrm>
            <a:off x="57150" y="4843606"/>
            <a:ext cx="9086850" cy="246221"/>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Aatif, K. and Farhan, S., Migration of Legacy Systems to Web Applications–A Novel Approach. </a:t>
            </a:r>
            <a:r>
              <a:rPr lang="en-US" sz="1000" b="0" i="1" dirty="0">
                <a:solidFill>
                  <a:srgbClr val="222222"/>
                </a:solidFill>
                <a:effectLst/>
                <a:latin typeface="Arial" panose="020B0604020202020204" pitchFamily="34" charset="0"/>
              </a:rPr>
              <a:t>Journal of American Science2013</a:t>
            </a:r>
            <a:r>
              <a:rPr lang="en-US" sz="1000" b="0" i="0" dirty="0">
                <a:solidFill>
                  <a:srgbClr val="222222"/>
                </a:solidFill>
                <a:effectLst/>
                <a:latin typeface="Arial" panose="020B0604020202020204" pitchFamily="34" charset="0"/>
              </a:rPr>
              <a:t>, </a:t>
            </a:r>
            <a:r>
              <a:rPr lang="en-US" sz="1000" b="0" i="1" dirty="0">
                <a:solidFill>
                  <a:srgbClr val="222222"/>
                </a:solidFill>
                <a:effectLst/>
                <a:latin typeface="Arial" panose="020B0604020202020204" pitchFamily="34" charset="0"/>
              </a:rPr>
              <a:t>9</a:t>
            </a:r>
            <a:r>
              <a:rPr lang="en-US" sz="1000" b="0" i="0" dirty="0">
                <a:solidFill>
                  <a:srgbClr val="222222"/>
                </a:solidFill>
                <a:effectLst/>
                <a:latin typeface="Arial" panose="020B0604020202020204" pitchFamily="34" charset="0"/>
              </a:rPr>
              <a:t>, p.11s.</a:t>
            </a:r>
            <a:endParaRPr lang="en-US" sz="1000" dirty="0"/>
          </a:p>
        </p:txBody>
      </p:sp>
    </p:spTree>
    <p:extLst>
      <p:ext uri="{BB962C8B-B14F-4D97-AF65-F5344CB8AC3E}">
        <p14:creationId xmlns:p14="http://schemas.microsoft.com/office/powerpoint/2010/main" val="817996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4"/>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a:t>
            </a:r>
            <a:endParaRPr/>
          </a:p>
        </p:txBody>
      </p:sp>
      <p:sp>
        <p:nvSpPr>
          <p:cNvPr id="215" name="Google Shape;215;p34"/>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285750" indent="-285750"/>
            <a:r>
              <a:rPr lang="en" dirty="0">
                <a:solidFill>
                  <a:schemeClr val="bg2"/>
                </a:solidFill>
              </a:rPr>
              <a:t>When wrapping is unsuitable and redevelopment is not acceptable due to substantial risk, Migration is an alternative </a:t>
            </a:r>
          </a:p>
          <a:p>
            <a:pPr marL="285750" indent="-285750"/>
            <a:r>
              <a:rPr lang="en-US" dirty="0">
                <a:solidFill>
                  <a:schemeClr val="bg2"/>
                </a:solidFill>
              </a:rPr>
              <a:t>Migration is to move an existing, operational system to a new platform, retaining the functionality of the legacy system, while causing as little disruption to the existing operational and business environment as possible.</a:t>
            </a:r>
            <a:endParaRPr lang="en" dirty="0">
              <a:solidFill>
                <a:schemeClr val="bg2"/>
              </a:solidFill>
            </a:endParaRPr>
          </a:p>
          <a:p>
            <a:pPr marL="285750" indent="-285750"/>
            <a:r>
              <a:rPr lang="en" dirty="0">
                <a:solidFill>
                  <a:schemeClr val="bg2"/>
                </a:solidFill>
              </a:rPr>
              <a:t>Migration involves changes, often including restructuring the system, enhancing the functionality, or modifying the attributes. </a:t>
            </a:r>
            <a:endParaRPr dirty="0">
              <a:solidFill>
                <a:schemeClr val="bg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199F6-264E-5875-1764-7404A038041F}"/>
              </a:ext>
            </a:extLst>
          </p:cNvPr>
          <p:cNvSpPr>
            <a:spLocks noGrp="1"/>
          </p:cNvSpPr>
          <p:nvPr>
            <p:ph type="title"/>
          </p:nvPr>
        </p:nvSpPr>
        <p:spPr>
          <a:xfrm>
            <a:off x="691930" y="704287"/>
            <a:ext cx="7688700" cy="535200"/>
          </a:xfrm>
        </p:spPr>
        <p:txBody>
          <a:bodyPr>
            <a:normAutofit fontScale="90000"/>
          </a:bodyPr>
          <a:lstStyle/>
          <a:p>
            <a:r>
              <a:rPr lang="en-US" dirty="0"/>
              <a:t>Strategies for Modernizing Legacy Systems</a:t>
            </a:r>
            <a:br>
              <a:rPr lang="en-US" dirty="0"/>
            </a:br>
            <a:endParaRPr lang="en-US" dirty="0"/>
          </a:p>
        </p:txBody>
      </p:sp>
      <p:sp>
        <p:nvSpPr>
          <p:cNvPr id="3" name="Text Placeholder 2">
            <a:extLst>
              <a:ext uri="{FF2B5EF4-FFF2-40B4-BE49-F238E27FC236}">
                <a16:creationId xmlns:a16="http://schemas.microsoft.com/office/drawing/2014/main" id="{5B255A71-7470-C72D-3581-7194B625A03E}"/>
              </a:ext>
            </a:extLst>
          </p:cNvPr>
          <p:cNvSpPr>
            <a:spLocks noGrp="1"/>
          </p:cNvSpPr>
          <p:nvPr>
            <p:ph type="body" idx="1"/>
          </p:nvPr>
        </p:nvSpPr>
        <p:spPr>
          <a:xfrm>
            <a:off x="727650" y="1441200"/>
            <a:ext cx="7688700" cy="2261100"/>
          </a:xfrm>
        </p:spPr>
        <p:txBody>
          <a:bodyPr>
            <a:noAutofit/>
          </a:bodyPr>
          <a:lstStyle/>
          <a:p>
            <a:pPr marL="146050" indent="0">
              <a:buNone/>
            </a:pPr>
            <a:r>
              <a:rPr lang="en-US" sz="1000" b="1" dirty="0">
                <a:solidFill>
                  <a:schemeClr val="bg2"/>
                </a:solidFill>
                <a:latin typeface="Times New Roman" panose="02020603050405020304" pitchFamily="18" charset="0"/>
                <a:cs typeface="Times New Roman" panose="02020603050405020304" pitchFamily="18" charset="0"/>
              </a:rPr>
              <a:t>Step 1: </a:t>
            </a:r>
            <a:r>
              <a:rPr lang="en-US" sz="1000" dirty="0">
                <a:solidFill>
                  <a:schemeClr val="bg2"/>
                </a:solidFill>
                <a:latin typeface="Times New Roman" panose="02020603050405020304" pitchFamily="18" charset="0"/>
                <a:cs typeface="Times New Roman" panose="02020603050405020304" pitchFamily="18" charset="0"/>
              </a:rPr>
              <a:t>Assess Your Legacy Systems</a:t>
            </a:r>
          </a:p>
          <a:p>
            <a:pPr lvl="1"/>
            <a:r>
              <a:rPr lang="en-US" sz="1000" dirty="0">
                <a:solidFill>
                  <a:schemeClr val="bg2"/>
                </a:solidFill>
                <a:latin typeface="Times New Roman" panose="02020603050405020304" pitchFamily="18" charset="0"/>
                <a:cs typeface="Times New Roman" panose="02020603050405020304" pitchFamily="18" charset="0"/>
              </a:rPr>
              <a:t>Functionality</a:t>
            </a:r>
          </a:p>
          <a:p>
            <a:pPr lvl="1"/>
            <a:r>
              <a:rPr lang="en-US" sz="1000" dirty="0">
                <a:solidFill>
                  <a:schemeClr val="bg2"/>
                </a:solidFill>
                <a:latin typeface="Times New Roman" panose="02020603050405020304" pitchFamily="18" charset="0"/>
                <a:cs typeface="Times New Roman" panose="02020603050405020304" pitchFamily="18" charset="0"/>
              </a:rPr>
              <a:t>Cost Analysis</a:t>
            </a:r>
          </a:p>
          <a:p>
            <a:pPr lvl="1"/>
            <a:r>
              <a:rPr lang="en-US" sz="1000" dirty="0">
                <a:solidFill>
                  <a:schemeClr val="bg2"/>
                </a:solidFill>
                <a:latin typeface="Times New Roman" panose="02020603050405020304" pitchFamily="18" charset="0"/>
                <a:cs typeface="Times New Roman" panose="02020603050405020304" pitchFamily="18" charset="0"/>
              </a:rPr>
              <a:t>Security and Compliance</a:t>
            </a:r>
          </a:p>
          <a:p>
            <a:pPr lvl="1"/>
            <a:r>
              <a:rPr lang="en-US" sz="1000" dirty="0">
                <a:solidFill>
                  <a:schemeClr val="bg2"/>
                </a:solidFill>
                <a:latin typeface="Times New Roman" panose="02020603050405020304" pitchFamily="18" charset="0"/>
                <a:cs typeface="Times New Roman" panose="02020603050405020304" pitchFamily="18" charset="0"/>
              </a:rPr>
              <a:t>Integration Capabilities		</a:t>
            </a:r>
          </a:p>
          <a:p>
            <a:pPr marL="146050" indent="0">
              <a:buNone/>
            </a:pPr>
            <a:r>
              <a:rPr lang="en-US" sz="1000" b="1" dirty="0">
                <a:solidFill>
                  <a:schemeClr val="bg2"/>
                </a:solidFill>
                <a:latin typeface="Times New Roman" panose="02020603050405020304" pitchFamily="18" charset="0"/>
                <a:cs typeface="Times New Roman" panose="02020603050405020304" pitchFamily="18" charset="0"/>
              </a:rPr>
              <a:t>Step 2: </a:t>
            </a:r>
            <a:r>
              <a:rPr lang="en-US" sz="1000" dirty="0">
                <a:solidFill>
                  <a:schemeClr val="bg2"/>
                </a:solidFill>
                <a:latin typeface="Times New Roman" panose="02020603050405020304" pitchFamily="18" charset="0"/>
                <a:cs typeface="Times New Roman" panose="02020603050405020304" pitchFamily="18" charset="0"/>
              </a:rPr>
              <a:t>Define Your Modernization Goals</a:t>
            </a:r>
          </a:p>
          <a:p>
            <a:pPr lvl="1" fontAlgn="base"/>
            <a:r>
              <a:rPr lang="en-US" sz="1000" dirty="0">
                <a:solidFill>
                  <a:schemeClr val="bg2"/>
                </a:solidFill>
                <a:latin typeface="Times New Roman" panose="02020603050405020304" pitchFamily="18" charset="0"/>
                <a:cs typeface="Times New Roman" panose="02020603050405020304" pitchFamily="18" charset="0"/>
              </a:rPr>
              <a:t>Improved Efficiency</a:t>
            </a:r>
          </a:p>
          <a:p>
            <a:pPr lvl="1" fontAlgn="base"/>
            <a:r>
              <a:rPr lang="en-US" sz="1000" dirty="0">
                <a:solidFill>
                  <a:schemeClr val="bg2"/>
                </a:solidFill>
                <a:latin typeface="Times New Roman" panose="02020603050405020304" pitchFamily="18" charset="0"/>
                <a:cs typeface="Times New Roman" panose="02020603050405020304" pitchFamily="18" charset="0"/>
              </a:rPr>
              <a:t>Cost Reduction</a:t>
            </a:r>
          </a:p>
          <a:p>
            <a:pPr lvl="1" fontAlgn="base"/>
            <a:r>
              <a:rPr lang="en-US" sz="1000" dirty="0">
                <a:solidFill>
                  <a:schemeClr val="bg2"/>
                </a:solidFill>
                <a:latin typeface="Times New Roman" panose="02020603050405020304" pitchFamily="18" charset="0"/>
                <a:cs typeface="Times New Roman" panose="02020603050405020304" pitchFamily="18" charset="0"/>
              </a:rPr>
              <a:t>Enhanced Agility</a:t>
            </a:r>
          </a:p>
          <a:p>
            <a:pPr lvl="1" fontAlgn="base"/>
            <a:r>
              <a:rPr lang="en-US" sz="1000" dirty="0">
                <a:solidFill>
                  <a:schemeClr val="bg2"/>
                </a:solidFill>
                <a:latin typeface="Times New Roman" panose="02020603050405020304" pitchFamily="18" charset="0"/>
                <a:cs typeface="Times New Roman" panose="02020603050405020304" pitchFamily="18" charset="0"/>
              </a:rPr>
              <a:t>Enhanced Security</a:t>
            </a:r>
          </a:p>
          <a:p>
            <a:pPr lvl="1" fontAlgn="base"/>
            <a:r>
              <a:rPr lang="en-US" sz="1000" dirty="0">
                <a:solidFill>
                  <a:schemeClr val="bg2"/>
                </a:solidFill>
                <a:latin typeface="Times New Roman" panose="02020603050405020304" pitchFamily="18" charset="0"/>
                <a:cs typeface="Times New Roman" panose="02020603050405020304" pitchFamily="18" charset="0"/>
              </a:rPr>
              <a:t>Compliance</a:t>
            </a:r>
          </a:p>
          <a:p>
            <a:pPr marL="146050" indent="0">
              <a:buNone/>
            </a:pPr>
            <a:r>
              <a:rPr lang="en-US" sz="1000" b="1" dirty="0">
                <a:solidFill>
                  <a:schemeClr val="bg2"/>
                </a:solidFill>
                <a:latin typeface="Times New Roman" panose="02020603050405020304" pitchFamily="18" charset="0"/>
                <a:cs typeface="Times New Roman" panose="02020603050405020304" pitchFamily="18" charset="0"/>
              </a:rPr>
              <a:t>Step 3: </a:t>
            </a:r>
            <a:r>
              <a:rPr lang="en-US" sz="1000" dirty="0">
                <a:solidFill>
                  <a:schemeClr val="bg2"/>
                </a:solidFill>
                <a:latin typeface="Times New Roman" panose="02020603050405020304" pitchFamily="18" charset="0"/>
                <a:cs typeface="Times New Roman" panose="02020603050405020304" pitchFamily="18" charset="0"/>
              </a:rPr>
              <a:t>Create a Modernization Roadmap</a:t>
            </a:r>
          </a:p>
          <a:p>
            <a:pPr lvl="1" fontAlgn="base"/>
            <a:r>
              <a:rPr lang="en-US" sz="1000" dirty="0">
                <a:solidFill>
                  <a:schemeClr val="bg2"/>
                </a:solidFill>
                <a:latin typeface="Times New Roman" panose="02020603050405020304" pitchFamily="18" charset="0"/>
                <a:cs typeface="Times New Roman" panose="02020603050405020304" pitchFamily="18" charset="0"/>
              </a:rPr>
              <a:t>Prioritization</a:t>
            </a:r>
          </a:p>
          <a:p>
            <a:pPr lvl="1" fontAlgn="base"/>
            <a:r>
              <a:rPr lang="en-US" sz="1000" dirty="0">
                <a:solidFill>
                  <a:schemeClr val="bg2"/>
                </a:solidFill>
                <a:latin typeface="Times New Roman" panose="02020603050405020304" pitchFamily="18" charset="0"/>
                <a:cs typeface="Times New Roman" panose="02020603050405020304" pitchFamily="18" charset="0"/>
              </a:rPr>
              <a:t>Technology Selection</a:t>
            </a:r>
          </a:p>
          <a:p>
            <a:pPr lvl="1" fontAlgn="base"/>
            <a:r>
              <a:rPr lang="en-US" sz="1000" dirty="0">
                <a:solidFill>
                  <a:schemeClr val="bg2"/>
                </a:solidFill>
                <a:latin typeface="Times New Roman" panose="02020603050405020304" pitchFamily="18" charset="0"/>
                <a:cs typeface="Times New Roman" panose="02020603050405020304" pitchFamily="18" charset="0"/>
              </a:rPr>
              <a:t>Timeline</a:t>
            </a:r>
          </a:p>
          <a:p>
            <a:pPr lvl="1" fontAlgn="base"/>
            <a:r>
              <a:rPr lang="en-US" sz="1000" dirty="0">
                <a:solidFill>
                  <a:schemeClr val="bg2"/>
                </a:solidFill>
                <a:latin typeface="Times New Roman" panose="02020603050405020304" pitchFamily="18" charset="0"/>
                <a:cs typeface="Times New Roman" panose="02020603050405020304" pitchFamily="18" charset="0"/>
              </a:rPr>
              <a:t>Resource Allocation</a:t>
            </a:r>
          </a:p>
          <a:p>
            <a:endParaRPr lang="en-US" sz="1000" dirty="0">
              <a:solidFill>
                <a:schemeClr val="bg2"/>
              </a:solidFill>
              <a:latin typeface="Times New Roman" panose="02020603050405020304" pitchFamily="18" charset="0"/>
              <a:cs typeface="Times New Roman" panose="02020603050405020304" pitchFamily="18" charset="0"/>
            </a:endParaRPr>
          </a:p>
        </p:txBody>
      </p:sp>
      <p:sp>
        <p:nvSpPr>
          <p:cNvPr id="5" name="TextBox 4">
            <a:hlinkClick r:id="rId2"/>
            <a:extLst>
              <a:ext uri="{FF2B5EF4-FFF2-40B4-BE49-F238E27FC236}">
                <a16:creationId xmlns:a16="http://schemas.microsoft.com/office/drawing/2014/main" id="{E5E6FA33-59C0-D584-0C58-E99D20351C2F}"/>
              </a:ext>
            </a:extLst>
          </p:cNvPr>
          <p:cNvSpPr txBox="1"/>
          <p:nvPr/>
        </p:nvSpPr>
        <p:spPr>
          <a:xfrm>
            <a:off x="171449" y="4565000"/>
            <a:ext cx="8729663" cy="307777"/>
          </a:xfrm>
          <a:prstGeom prst="rect">
            <a:avLst/>
          </a:prstGeom>
          <a:noFill/>
        </p:spPr>
        <p:txBody>
          <a:bodyPr wrap="square">
            <a:spAutoFit/>
          </a:bodyPr>
          <a:lstStyle/>
          <a:p>
            <a:r>
              <a:rPr lang="en-US" dirty="0">
                <a:hlinkClick r:id="rId2"/>
              </a:rPr>
              <a:t>https://www.linkedin.com/pulse/strategies-modernizing-legacy-systems-step-by-step-guide-ouderkirk/</a:t>
            </a:r>
            <a:endParaRPr lang="en-US" dirty="0"/>
          </a:p>
        </p:txBody>
      </p:sp>
    </p:spTree>
    <p:extLst>
      <p:ext uri="{BB962C8B-B14F-4D97-AF65-F5344CB8AC3E}">
        <p14:creationId xmlns:p14="http://schemas.microsoft.com/office/powerpoint/2010/main" val="3168367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BEF1-EFB6-4A15-4E22-70E21BE3CAAD}"/>
              </a:ext>
            </a:extLst>
          </p:cNvPr>
          <p:cNvSpPr>
            <a:spLocks noGrp="1"/>
          </p:cNvSpPr>
          <p:nvPr>
            <p:ph type="title"/>
          </p:nvPr>
        </p:nvSpPr>
        <p:spPr/>
        <p:txBody>
          <a:bodyPr>
            <a:normAutofit fontScale="90000"/>
          </a:bodyPr>
          <a:lstStyle/>
          <a:p>
            <a:r>
              <a:rPr lang="en-US" dirty="0"/>
              <a:t>Strategies for Modernizing Legacy Systems</a:t>
            </a:r>
            <a:br>
              <a:rPr lang="en-US" dirty="0"/>
            </a:br>
            <a:endParaRPr lang="en-US" dirty="0"/>
          </a:p>
        </p:txBody>
      </p:sp>
      <p:sp>
        <p:nvSpPr>
          <p:cNvPr id="3" name="Text Placeholder 2">
            <a:extLst>
              <a:ext uri="{FF2B5EF4-FFF2-40B4-BE49-F238E27FC236}">
                <a16:creationId xmlns:a16="http://schemas.microsoft.com/office/drawing/2014/main" id="{2EF41B56-B769-C44A-5886-91ABC3715CBC}"/>
              </a:ext>
            </a:extLst>
          </p:cNvPr>
          <p:cNvSpPr>
            <a:spLocks noGrp="1"/>
          </p:cNvSpPr>
          <p:nvPr>
            <p:ph type="body" idx="1"/>
          </p:nvPr>
        </p:nvSpPr>
        <p:spPr>
          <a:xfrm>
            <a:off x="727650" y="1853850"/>
            <a:ext cx="7688700" cy="2261100"/>
          </a:xfrm>
        </p:spPr>
        <p:txBody>
          <a:bodyPr>
            <a:noAutofit/>
          </a:bodyPr>
          <a:lstStyle/>
          <a:p>
            <a:pPr marL="146050" indent="0">
              <a:buNone/>
            </a:pPr>
            <a:r>
              <a:rPr lang="en-US" sz="1100" b="1" dirty="0">
                <a:solidFill>
                  <a:schemeClr val="bg2"/>
                </a:solidFill>
                <a:latin typeface="Times New Roman" panose="02020603050405020304" pitchFamily="18" charset="0"/>
                <a:cs typeface="Times New Roman" panose="02020603050405020304" pitchFamily="18" charset="0"/>
              </a:rPr>
              <a:t>Step 4: </a:t>
            </a:r>
            <a:r>
              <a:rPr lang="en-US" sz="1100" dirty="0">
                <a:solidFill>
                  <a:schemeClr val="bg2"/>
                </a:solidFill>
                <a:latin typeface="Times New Roman" panose="02020603050405020304" pitchFamily="18" charset="0"/>
                <a:cs typeface="Times New Roman" panose="02020603050405020304" pitchFamily="18" charset="0"/>
              </a:rPr>
              <a:t>Choose the Right Modernization Approach</a:t>
            </a:r>
          </a:p>
          <a:p>
            <a:pPr lvl="1" fontAlgn="base"/>
            <a:r>
              <a:rPr lang="en-US" dirty="0">
                <a:solidFill>
                  <a:schemeClr val="bg2"/>
                </a:solidFill>
                <a:latin typeface="Times New Roman" panose="02020603050405020304" pitchFamily="18" charset="0"/>
                <a:cs typeface="Times New Roman" panose="02020603050405020304" pitchFamily="18" charset="0"/>
              </a:rPr>
              <a:t>Rehosting (Lift and Shift)</a:t>
            </a:r>
          </a:p>
          <a:p>
            <a:pPr lvl="1" fontAlgn="base"/>
            <a:r>
              <a:rPr lang="en-US" dirty="0" err="1">
                <a:solidFill>
                  <a:schemeClr val="bg2"/>
                </a:solidFill>
                <a:latin typeface="Times New Roman" panose="02020603050405020304" pitchFamily="18" charset="0"/>
                <a:cs typeface="Times New Roman" panose="02020603050405020304" pitchFamily="18" charset="0"/>
              </a:rPr>
              <a:t>Replatforming</a:t>
            </a:r>
            <a:r>
              <a:rPr lang="en-US" dirty="0">
                <a:solidFill>
                  <a:schemeClr val="bg2"/>
                </a:solidFill>
                <a:latin typeface="Times New Roman" panose="02020603050405020304" pitchFamily="18" charset="0"/>
                <a:cs typeface="Times New Roman" panose="02020603050405020304" pitchFamily="18" charset="0"/>
              </a:rPr>
              <a:t> (Lift and Reshape)</a:t>
            </a:r>
          </a:p>
          <a:p>
            <a:pPr lvl="1" fontAlgn="base"/>
            <a:r>
              <a:rPr lang="en-US" dirty="0">
                <a:solidFill>
                  <a:schemeClr val="bg2"/>
                </a:solidFill>
                <a:latin typeface="Times New Roman" panose="02020603050405020304" pitchFamily="18" charset="0"/>
                <a:cs typeface="Times New Roman" panose="02020603050405020304" pitchFamily="18" charset="0"/>
              </a:rPr>
              <a:t>Refactoring (Re-architecting)</a:t>
            </a:r>
          </a:p>
          <a:p>
            <a:pPr lvl="1" fontAlgn="base"/>
            <a:r>
              <a:rPr lang="en-US" dirty="0">
                <a:solidFill>
                  <a:schemeClr val="bg2"/>
                </a:solidFill>
                <a:latin typeface="Times New Roman" panose="02020603050405020304" pitchFamily="18" charset="0"/>
                <a:cs typeface="Times New Roman" panose="02020603050405020304" pitchFamily="18" charset="0"/>
              </a:rPr>
              <a:t>Retirement and Replacement</a:t>
            </a:r>
          </a:p>
          <a:p>
            <a:pPr marL="146050" indent="0">
              <a:buNone/>
            </a:pPr>
            <a:r>
              <a:rPr lang="en-US" sz="1100" b="1" dirty="0">
                <a:solidFill>
                  <a:schemeClr val="bg2"/>
                </a:solidFill>
                <a:latin typeface="Times New Roman" panose="02020603050405020304" pitchFamily="18" charset="0"/>
                <a:cs typeface="Times New Roman" panose="02020603050405020304" pitchFamily="18" charset="0"/>
              </a:rPr>
              <a:t>Step 5: </a:t>
            </a:r>
            <a:r>
              <a:rPr lang="en-US" sz="1100" dirty="0">
                <a:solidFill>
                  <a:schemeClr val="bg2"/>
                </a:solidFill>
                <a:latin typeface="Times New Roman" panose="02020603050405020304" pitchFamily="18" charset="0"/>
                <a:cs typeface="Times New Roman" panose="02020603050405020304" pitchFamily="18" charset="0"/>
              </a:rPr>
              <a:t>Develop a Comprehensive Data Migration Plan</a:t>
            </a:r>
          </a:p>
          <a:p>
            <a:pPr lvl="1">
              <a:buFont typeface="Courier New" panose="02070309020205020404" pitchFamily="49" charset="0"/>
              <a:buChar char="o"/>
            </a:pPr>
            <a:r>
              <a:rPr lang="en-US" dirty="0">
                <a:solidFill>
                  <a:schemeClr val="bg2"/>
                </a:solidFill>
                <a:latin typeface="Times New Roman" panose="02020603050405020304" pitchFamily="18" charset="0"/>
                <a:cs typeface="Times New Roman" panose="02020603050405020304" pitchFamily="18" charset="0"/>
              </a:rPr>
              <a:t>Data Cleansing</a:t>
            </a:r>
          </a:p>
          <a:p>
            <a:pPr lvl="1">
              <a:buFont typeface="Courier New" panose="02070309020205020404" pitchFamily="49" charset="0"/>
              <a:buChar char="o"/>
            </a:pPr>
            <a:r>
              <a:rPr lang="en-US" dirty="0">
                <a:solidFill>
                  <a:schemeClr val="bg2"/>
                </a:solidFill>
                <a:latin typeface="Times New Roman" panose="02020603050405020304" pitchFamily="18" charset="0"/>
                <a:cs typeface="Times New Roman" panose="02020603050405020304" pitchFamily="18" charset="0"/>
              </a:rPr>
              <a:t>Data Mapping</a:t>
            </a:r>
          </a:p>
          <a:p>
            <a:pPr lvl="1">
              <a:buFont typeface="Courier New" panose="02070309020205020404" pitchFamily="49" charset="0"/>
              <a:buChar char="o"/>
            </a:pPr>
            <a:r>
              <a:rPr lang="en-US" dirty="0">
                <a:solidFill>
                  <a:schemeClr val="bg2"/>
                </a:solidFill>
                <a:latin typeface="Times New Roman" panose="02020603050405020304" pitchFamily="18" charset="0"/>
                <a:cs typeface="Times New Roman" panose="02020603050405020304" pitchFamily="18" charset="0"/>
              </a:rPr>
              <a:t>Testing</a:t>
            </a:r>
          </a:p>
          <a:p>
            <a:pPr marL="146050" indent="0">
              <a:buNone/>
            </a:pPr>
            <a:r>
              <a:rPr lang="en-US" sz="1100" b="1" dirty="0">
                <a:solidFill>
                  <a:schemeClr val="bg2"/>
                </a:solidFill>
                <a:latin typeface="Times New Roman" panose="02020603050405020304" pitchFamily="18" charset="0"/>
                <a:cs typeface="Times New Roman" panose="02020603050405020304" pitchFamily="18" charset="0"/>
              </a:rPr>
              <a:t>Step 6: </a:t>
            </a:r>
            <a:r>
              <a:rPr lang="en-US" sz="1100" dirty="0">
                <a:solidFill>
                  <a:schemeClr val="bg2"/>
                </a:solidFill>
                <a:latin typeface="Times New Roman" panose="02020603050405020304" pitchFamily="18" charset="0"/>
                <a:cs typeface="Times New Roman" panose="02020603050405020304" pitchFamily="18" charset="0"/>
              </a:rPr>
              <a:t>Engage Stakeholders and Communicate Effectively</a:t>
            </a:r>
          </a:p>
          <a:p>
            <a:pPr marL="146050" indent="0">
              <a:buNone/>
            </a:pPr>
            <a:r>
              <a:rPr lang="en-US" sz="1100" b="1" dirty="0">
                <a:solidFill>
                  <a:schemeClr val="bg2"/>
                </a:solidFill>
                <a:latin typeface="Times New Roman" panose="02020603050405020304" pitchFamily="18" charset="0"/>
                <a:cs typeface="Times New Roman" panose="02020603050405020304" pitchFamily="18" charset="0"/>
              </a:rPr>
              <a:t>Step 7: </a:t>
            </a:r>
            <a:r>
              <a:rPr lang="en-US" sz="1100" dirty="0">
                <a:solidFill>
                  <a:schemeClr val="bg2"/>
                </a:solidFill>
                <a:latin typeface="Times New Roman" panose="02020603050405020304" pitchFamily="18" charset="0"/>
                <a:cs typeface="Times New Roman" panose="02020603050405020304" pitchFamily="18" charset="0"/>
              </a:rPr>
              <a:t>Execute and Monitor</a:t>
            </a:r>
          </a:p>
          <a:p>
            <a:pPr marL="146050" indent="0">
              <a:buNone/>
            </a:pPr>
            <a:r>
              <a:rPr lang="en-US" sz="1100" b="1" dirty="0">
                <a:solidFill>
                  <a:schemeClr val="bg2"/>
                </a:solidFill>
                <a:latin typeface="Times New Roman" panose="02020603050405020304" pitchFamily="18" charset="0"/>
                <a:cs typeface="Times New Roman" panose="02020603050405020304" pitchFamily="18" charset="0"/>
              </a:rPr>
              <a:t>Step 8: </a:t>
            </a:r>
            <a:r>
              <a:rPr lang="en-US" sz="1100" dirty="0">
                <a:solidFill>
                  <a:schemeClr val="bg2"/>
                </a:solidFill>
                <a:latin typeface="Times New Roman" panose="02020603050405020304" pitchFamily="18" charset="0"/>
                <a:cs typeface="Times New Roman" panose="02020603050405020304" pitchFamily="18" charset="0"/>
              </a:rPr>
              <a:t>Post-Modernization Evaluation</a:t>
            </a:r>
          </a:p>
          <a:p>
            <a:endParaRPr lang="en-US" sz="1100" dirty="0">
              <a:solidFill>
                <a:schemeClr val="bg2"/>
              </a:solidFill>
              <a:latin typeface="Times New Roman" panose="02020603050405020304" pitchFamily="18" charset="0"/>
              <a:cs typeface="Times New Roman" panose="02020603050405020304" pitchFamily="18" charset="0"/>
            </a:endParaRPr>
          </a:p>
        </p:txBody>
      </p:sp>
      <p:sp>
        <p:nvSpPr>
          <p:cNvPr id="4" name="TextBox 3">
            <a:hlinkClick r:id="rId2"/>
            <a:extLst>
              <a:ext uri="{FF2B5EF4-FFF2-40B4-BE49-F238E27FC236}">
                <a16:creationId xmlns:a16="http://schemas.microsoft.com/office/drawing/2014/main" id="{03EF3FD3-E39E-FF7D-D00D-84D16AEE308A}"/>
              </a:ext>
            </a:extLst>
          </p:cNvPr>
          <p:cNvSpPr txBox="1"/>
          <p:nvPr/>
        </p:nvSpPr>
        <p:spPr>
          <a:xfrm>
            <a:off x="171449" y="4565000"/>
            <a:ext cx="8729663" cy="307777"/>
          </a:xfrm>
          <a:prstGeom prst="rect">
            <a:avLst/>
          </a:prstGeom>
          <a:noFill/>
        </p:spPr>
        <p:txBody>
          <a:bodyPr wrap="square">
            <a:spAutoFit/>
          </a:bodyPr>
          <a:lstStyle/>
          <a:p>
            <a:r>
              <a:rPr lang="en-US" dirty="0">
                <a:hlinkClick r:id="rId2"/>
              </a:rPr>
              <a:t>https://www.linkedin.com/pulse/strategies-modernizing-legacy-systems-step-by-step-guide-ouderkirk/</a:t>
            </a:r>
            <a:endParaRPr lang="en-US" dirty="0"/>
          </a:p>
        </p:txBody>
      </p:sp>
    </p:spTree>
    <p:extLst>
      <p:ext uri="{BB962C8B-B14F-4D97-AF65-F5344CB8AC3E}">
        <p14:creationId xmlns:p14="http://schemas.microsoft.com/office/powerpoint/2010/main" val="3220911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B457B-00AE-FE6C-ADDB-7D81EBCA9D2D}"/>
              </a:ext>
            </a:extLst>
          </p:cNvPr>
          <p:cNvSpPr>
            <a:spLocks noGrp="1"/>
          </p:cNvSpPr>
          <p:nvPr>
            <p:ph type="title"/>
          </p:nvPr>
        </p:nvSpPr>
        <p:spPr/>
        <p:txBody>
          <a:bodyPr>
            <a:normAutofit fontScale="90000"/>
          </a:bodyPr>
          <a:lstStyle/>
          <a:p>
            <a:r>
              <a:rPr lang="en-US" dirty="0">
                <a:solidFill>
                  <a:srgbClr val="000000"/>
                </a:solidFill>
              </a:rPr>
              <a:t>Migration steps</a:t>
            </a:r>
            <a:endParaRPr lang="en-US" dirty="0"/>
          </a:p>
        </p:txBody>
      </p:sp>
      <p:sp>
        <p:nvSpPr>
          <p:cNvPr id="3" name="Text Placeholder 2">
            <a:extLst>
              <a:ext uri="{FF2B5EF4-FFF2-40B4-BE49-F238E27FC236}">
                <a16:creationId xmlns:a16="http://schemas.microsoft.com/office/drawing/2014/main" id="{F1C954BA-561E-07F0-B5E7-EE83806F5885}"/>
              </a:ext>
            </a:extLst>
          </p:cNvPr>
          <p:cNvSpPr>
            <a:spLocks noGrp="1"/>
          </p:cNvSpPr>
          <p:nvPr>
            <p:ph type="body" idx="1"/>
          </p:nvPr>
        </p:nvSpPr>
        <p:spPr>
          <a:xfrm>
            <a:off x="729450" y="1853850"/>
            <a:ext cx="7688700" cy="2261100"/>
          </a:xfrm>
        </p:spPr>
        <p:txBody>
          <a:bodyPr>
            <a:normAutofit/>
          </a:bodyPr>
          <a:lstStyle/>
          <a:p>
            <a:pPr marL="0" lvl="0" indent="0">
              <a:spcBef>
                <a:spcPts val="1200"/>
              </a:spcBef>
              <a:buNone/>
            </a:pPr>
            <a:r>
              <a:rPr lang="en-US" dirty="0">
                <a:solidFill>
                  <a:srgbClr val="000000"/>
                </a:solidFill>
              </a:rPr>
              <a:t>LIS migration involves creation of a modern database from the legacy database and adaptation of the application program components accordingly. </a:t>
            </a:r>
          </a:p>
          <a:p>
            <a:pPr marL="0" lvl="0" indent="0">
              <a:spcBef>
                <a:spcPts val="1200"/>
              </a:spcBef>
              <a:buNone/>
            </a:pPr>
            <a:r>
              <a:rPr lang="en-US" dirty="0">
                <a:solidFill>
                  <a:srgbClr val="000000"/>
                </a:solidFill>
              </a:rPr>
              <a:t>A database has two main components: </a:t>
            </a:r>
            <a:r>
              <a:rPr lang="en-US" b="1" dirty="0">
                <a:solidFill>
                  <a:srgbClr val="000000"/>
                </a:solidFill>
              </a:rPr>
              <a:t>schema</a:t>
            </a:r>
            <a:r>
              <a:rPr lang="en-US" dirty="0">
                <a:solidFill>
                  <a:srgbClr val="000000"/>
                </a:solidFill>
              </a:rPr>
              <a:t> of the database and </a:t>
            </a:r>
            <a:r>
              <a:rPr lang="en-US" b="1" dirty="0">
                <a:solidFill>
                  <a:srgbClr val="000000"/>
                </a:solidFill>
              </a:rPr>
              <a:t>data</a:t>
            </a:r>
            <a:r>
              <a:rPr lang="en-US" dirty="0">
                <a:solidFill>
                  <a:srgbClr val="000000"/>
                </a:solidFill>
              </a:rPr>
              <a:t> stored in the database. </a:t>
            </a:r>
          </a:p>
          <a:p>
            <a:pPr marL="0" lvl="0" indent="0">
              <a:spcBef>
                <a:spcPts val="1200"/>
              </a:spcBef>
              <a:buNone/>
            </a:pPr>
            <a:r>
              <a:rPr lang="en-US" dirty="0">
                <a:solidFill>
                  <a:srgbClr val="000000"/>
                </a:solidFill>
              </a:rPr>
              <a:t>Migration comprises three main steps: </a:t>
            </a:r>
          </a:p>
          <a:p>
            <a:pPr marL="285750" indent="-285750"/>
            <a:r>
              <a:rPr lang="en-US" dirty="0">
                <a:solidFill>
                  <a:srgbClr val="000000"/>
                </a:solidFill>
              </a:rPr>
              <a:t>conversion of the existing schema to a target schema</a:t>
            </a:r>
          </a:p>
          <a:p>
            <a:pPr marL="285750" indent="-285750"/>
            <a:r>
              <a:rPr lang="en-US" dirty="0">
                <a:solidFill>
                  <a:srgbClr val="000000"/>
                </a:solidFill>
              </a:rPr>
              <a:t>conversion of data</a:t>
            </a:r>
          </a:p>
          <a:p>
            <a:pPr marL="285750" indent="-285750"/>
            <a:r>
              <a:rPr lang="en-US" dirty="0">
                <a:solidFill>
                  <a:srgbClr val="000000"/>
                </a:solidFill>
              </a:rPr>
              <a:t>conversion of program</a:t>
            </a:r>
          </a:p>
          <a:p>
            <a:endParaRPr lang="en-US" dirty="0"/>
          </a:p>
        </p:txBody>
      </p:sp>
    </p:spTree>
    <p:extLst>
      <p:ext uri="{BB962C8B-B14F-4D97-AF65-F5344CB8AC3E}">
        <p14:creationId xmlns:p14="http://schemas.microsoft.com/office/powerpoint/2010/main" val="2594793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5"/>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Migration Stpes</a:t>
            </a:r>
            <a:endParaRPr dirty="0"/>
          </a:p>
        </p:txBody>
      </p:sp>
      <p:sp>
        <p:nvSpPr>
          <p:cNvPr id="221" name="Google Shape;221;p35"/>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indent="0">
              <a:buNone/>
            </a:pPr>
            <a:r>
              <a:rPr lang="en-US" dirty="0">
                <a:solidFill>
                  <a:schemeClr val="bg2"/>
                </a:solidFill>
                <a:latin typeface="Times New Roman" panose="02020603050405020304" pitchFamily="18" charset="0"/>
                <a:cs typeface="Times New Roman" panose="02020603050405020304" pitchFamily="18" charset="0"/>
              </a:rPr>
              <a:t>Hainaut, J.L., Cleve, A., </a:t>
            </a:r>
            <a:r>
              <a:rPr lang="en-US" dirty="0" err="1">
                <a:solidFill>
                  <a:schemeClr val="bg2"/>
                </a:solidFill>
                <a:latin typeface="Times New Roman" panose="02020603050405020304" pitchFamily="18" charset="0"/>
                <a:cs typeface="Times New Roman" panose="02020603050405020304" pitchFamily="18" charset="0"/>
              </a:rPr>
              <a:t>Henrard</a:t>
            </a:r>
            <a:r>
              <a:rPr lang="en-US" dirty="0">
                <a:solidFill>
                  <a:schemeClr val="bg2"/>
                </a:solidFill>
                <a:latin typeface="Times New Roman" panose="02020603050405020304" pitchFamily="18" charset="0"/>
                <a:cs typeface="Times New Roman" panose="02020603050405020304" pitchFamily="18" charset="0"/>
              </a:rPr>
              <a:t>, J. and Hick, J.M., 2008. Migration of legacy information systems. In </a:t>
            </a:r>
            <a:r>
              <a:rPr lang="en-US" i="1" dirty="0">
                <a:solidFill>
                  <a:schemeClr val="bg2"/>
                </a:solidFill>
                <a:latin typeface="Times New Roman" panose="02020603050405020304" pitchFamily="18" charset="0"/>
                <a:cs typeface="Times New Roman" panose="02020603050405020304" pitchFamily="18" charset="0"/>
              </a:rPr>
              <a:t>Software evolution</a:t>
            </a:r>
            <a:r>
              <a:rPr lang="en-US" dirty="0">
                <a:solidFill>
                  <a:schemeClr val="bg2"/>
                </a:solidFill>
                <a:latin typeface="Times New Roman" panose="02020603050405020304" pitchFamily="18" charset="0"/>
                <a:cs typeface="Times New Roman" panose="02020603050405020304" pitchFamily="18" charset="0"/>
              </a:rPr>
              <a:t> (pp. 105-138). Berlin, Heidelberg: Springer Berlin Heidelberg.</a:t>
            </a:r>
            <a:endParaRPr dirty="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7"/>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a:t>
            </a:r>
            <a:endParaRPr/>
          </a:p>
        </p:txBody>
      </p:sp>
      <p:sp>
        <p:nvSpPr>
          <p:cNvPr id="233" name="Google Shape;233;p37"/>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000000"/>
                </a:solidFill>
              </a:rPr>
              <a:t>Testing and functionality: </a:t>
            </a:r>
            <a:endParaRPr b="1" dirty="0">
              <a:solidFill>
                <a:srgbClr val="000000"/>
              </a:solidFill>
            </a:endParaRPr>
          </a:p>
          <a:p>
            <a:pPr marL="285750" indent="-285750"/>
            <a:r>
              <a:rPr lang="en" dirty="0">
                <a:solidFill>
                  <a:srgbClr val="000000"/>
                </a:solidFill>
              </a:rPr>
              <a:t>Migration engineers spent close to 80% of their time on testing the target system. </a:t>
            </a:r>
          </a:p>
          <a:p>
            <a:pPr marL="285750" indent="-285750"/>
            <a:r>
              <a:rPr lang="en" dirty="0">
                <a:solidFill>
                  <a:srgbClr val="000000"/>
                </a:solidFill>
              </a:rPr>
              <a:t>Outputs of the target system are consistent</a:t>
            </a:r>
            <a:endParaRPr lang="en-US" dirty="0">
              <a:solidFill>
                <a:srgbClr val="000000"/>
              </a:solidFill>
            </a:endParaRPr>
          </a:p>
          <a:p>
            <a:pPr marL="285750" indent="-285750"/>
            <a:r>
              <a:rPr lang="en-US" dirty="0">
                <a:solidFill>
                  <a:srgbClr val="000000"/>
                </a:solidFill>
              </a:rPr>
              <a:t>To justify the project expense and the risk, in practice, migration projects often add new functionalities.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8"/>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a:t>
            </a:r>
            <a:endParaRPr/>
          </a:p>
        </p:txBody>
      </p:sp>
      <p:sp>
        <p:nvSpPr>
          <p:cNvPr id="239" name="Google Shape;239;p38"/>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000000"/>
                </a:solidFill>
              </a:rPr>
              <a:t>Cut over, also referred to as roll over: </a:t>
            </a:r>
            <a:endParaRPr b="1" dirty="0">
              <a:solidFill>
                <a:srgbClr val="000000"/>
              </a:solidFill>
            </a:endParaRPr>
          </a:p>
          <a:p>
            <a:pPr marL="0" lvl="0" indent="0" algn="l" rtl="0">
              <a:spcBef>
                <a:spcPts val="1200"/>
              </a:spcBef>
              <a:spcAft>
                <a:spcPts val="0"/>
              </a:spcAft>
              <a:buNone/>
            </a:pPr>
            <a:r>
              <a:rPr lang="en" dirty="0">
                <a:solidFill>
                  <a:srgbClr val="000000"/>
                </a:solidFill>
              </a:rPr>
              <a:t>The last step of a migration project is the cut over from the LIS to the target system.</a:t>
            </a:r>
            <a:endParaRPr dirty="0">
              <a:solidFill>
                <a:srgbClr val="000000"/>
              </a:solidFill>
            </a:endParaRPr>
          </a:p>
          <a:p>
            <a:pPr marL="0" lvl="0" indent="0" algn="l" rtl="0">
              <a:spcBef>
                <a:spcPts val="1200"/>
              </a:spcBef>
              <a:spcAft>
                <a:spcPts val="0"/>
              </a:spcAft>
              <a:buNone/>
            </a:pPr>
            <a:r>
              <a:rPr lang="en" dirty="0">
                <a:solidFill>
                  <a:srgbClr val="000000"/>
                </a:solidFill>
              </a:rPr>
              <a:t>There are three kinds of transition strategies, as proposed by Simon: </a:t>
            </a:r>
            <a:endParaRPr dirty="0">
              <a:solidFill>
                <a:srgbClr val="000000"/>
              </a:solidFill>
            </a:endParaRPr>
          </a:p>
          <a:p>
            <a:pPr marL="342900" lvl="0" indent="-342900" algn="l" rtl="0">
              <a:spcBef>
                <a:spcPts val="1200"/>
              </a:spcBef>
              <a:spcAft>
                <a:spcPts val="0"/>
              </a:spcAft>
              <a:buAutoNum type="arabicPeriod"/>
            </a:pPr>
            <a:r>
              <a:rPr lang="en" b="1" dirty="0">
                <a:solidFill>
                  <a:srgbClr val="000000"/>
                </a:solidFill>
              </a:rPr>
              <a:t>Cut-and-run. </a:t>
            </a:r>
          </a:p>
          <a:p>
            <a:pPr marL="285750" indent="-285750">
              <a:spcBef>
                <a:spcPts val="1200"/>
              </a:spcBef>
            </a:pPr>
            <a:r>
              <a:rPr lang="en" dirty="0">
                <a:solidFill>
                  <a:srgbClr val="000000"/>
                </a:solidFill>
              </a:rPr>
              <a:t>The simplest transition strategy is to switch off the legacy system and turn on the new system. </a:t>
            </a:r>
          </a:p>
          <a:p>
            <a:pPr marL="285750" indent="-285750">
              <a:spcBef>
                <a:spcPts val="1200"/>
              </a:spcBef>
            </a:pPr>
            <a:r>
              <a:rPr lang="en" dirty="0">
                <a:solidFill>
                  <a:srgbClr val="000000"/>
                </a:solidFill>
              </a:rPr>
              <a:t>Too risky because it would entail the entire information flow to be managed by a completely new system. </a:t>
            </a:r>
            <a:endParaRPr dirty="0">
              <a:solidFill>
                <a:srgbClr val="000000"/>
              </a:solidFill>
            </a:endParaRPr>
          </a:p>
          <a:p>
            <a:pPr marL="0" lvl="0" indent="0" algn="l" rtl="0">
              <a:spcBef>
                <a:spcPts val="1200"/>
              </a:spcBef>
              <a:spcAft>
                <a:spcPts val="1200"/>
              </a:spcAft>
              <a:buNone/>
            </a:pPr>
            <a:endParaRPr dirty="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9"/>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a:t>
            </a:r>
            <a:endParaRPr/>
          </a:p>
        </p:txBody>
      </p:sp>
      <p:sp>
        <p:nvSpPr>
          <p:cNvPr id="245" name="Google Shape;245;p39"/>
          <p:cNvSpPr txBox="1">
            <a:spLocks noGrp="1"/>
          </p:cNvSpPr>
          <p:nvPr>
            <p:ph type="body" idx="1"/>
          </p:nvPr>
        </p:nvSpPr>
        <p:spPr>
          <a:xfrm>
            <a:off x="729450" y="1391950"/>
            <a:ext cx="7688700" cy="368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000000"/>
                </a:solidFill>
              </a:rPr>
              <a:t>Cut over, also referred to as roll over: </a:t>
            </a:r>
            <a:endParaRPr b="1" dirty="0">
              <a:solidFill>
                <a:srgbClr val="000000"/>
              </a:solidFill>
            </a:endParaRPr>
          </a:p>
          <a:p>
            <a:pPr marL="0" lvl="0" indent="0" algn="l" rtl="0">
              <a:spcBef>
                <a:spcPts val="1200"/>
              </a:spcBef>
              <a:spcAft>
                <a:spcPts val="0"/>
              </a:spcAft>
              <a:buNone/>
            </a:pPr>
            <a:r>
              <a:rPr lang="en" b="1" dirty="0">
                <a:solidFill>
                  <a:srgbClr val="000000"/>
                </a:solidFill>
              </a:rPr>
              <a:t>2. Phased interoperability: </a:t>
            </a:r>
          </a:p>
          <a:p>
            <a:pPr marL="285750" indent="-285750"/>
            <a:r>
              <a:rPr lang="en" dirty="0">
                <a:solidFill>
                  <a:srgbClr val="000000"/>
                </a:solidFill>
              </a:rPr>
              <a:t>To reduce risks, cut over is gradually performed in incremental steps. </a:t>
            </a:r>
          </a:p>
          <a:p>
            <a:pPr marL="285750" indent="-285750"/>
            <a:r>
              <a:rPr lang="en" dirty="0">
                <a:solidFill>
                  <a:srgbClr val="000000"/>
                </a:solidFill>
              </a:rPr>
              <a:t>In each step, replace a small number of legacy components— data or application—by their counterparts in the target system. </a:t>
            </a:r>
          </a:p>
          <a:p>
            <a:pPr marL="0" lvl="0" indent="0" algn="l" rtl="0">
              <a:spcBef>
                <a:spcPts val="1200"/>
              </a:spcBef>
              <a:spcAft>
                <a:spcPts val="1200"/>
              </a:spcAft>
              <a:buNone/>
            </a:pPr>
            <a:r>
              <a:rPr lang="en" b="1" dirty="0">
                <a:solidFill>
                  <a:srgbClr val="000000"/>
                </a:solidFill>
              </a:rPr>
              <a:t>3. Parallel operation: </a:t>
            </a:r>
          </a:p>
          <a:p>
            <a:pPr marL="285750" indent="-285750"/>
            <a:r>
              <a:rPr lang="en" dirty="0">
                <a:solidFill>
                  <a:srgbClr val="000000"/>
                </a:solidFill>
              </a:rPr>
              <a:t>The target system and the LIS operate at the same time.</a:t>
            </a:r>
          </a:p>
          <a:p>
            <a:pPr marL="285750" indent="-285750"/>
            <a:r>
              <a:rPr lang="en" dirty="0">
                <a:solidFill>
                  <a:srgbClr val="000000"/>
                </a:solidFill>
              </a:rPr>
              <a:t>Tests are continuously performed on the target system; </a:t>
            </a:r>
          </a:p>
          <a:p>
            <a:pPr marL="285750" indent="-285750"/>
            <a:r>
              <a:rPr lang="en" dirty="0">
                <a:solidFill>
                  <a:srgbClr val="000000"/>
                </a:solidFill>
              </a:rPr>
              <a:t>Once the new system is considered to be reliable, the LIS is taken off service.</a:t>
            </a:r>
            <a:endParaRPr dirty="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4"/>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 Methods</a:t>
            </a:r>
            <a:endParaRPr/>
          </a:p>
        </p:txBody>
      </p:sp>
      <p:sp>
        <p:nvSpPr>
          <p:cNvPr id="339" name="Google Shape;339;p54"/>
          <p:cNvSpPr txBox="1">
            <a:spLocks noGrp="1"/>
          </p:cNvSpPr>
          <p:nvPr>
            <p:ph type="body" idx="1"/>
          </p:nvPr>
        </p:nvSpPr>
        <p:spPr>
          <a:xfrm>
            <a:off x="729450" y="1391950"/>
            <a:ext cx="8414700" cy="3681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a:solidFill>
                  <a:srgbClr val="000000"/>
                </a:solidFill>
              </a:rPr>
              <a:t>No single approach can be applied to all kinds of legacy systems, because they vary in their scale, complexity, and risks of failure while migrating. The seven approaches are as follows: </a:t>
            </a:r>
            <a:endParaRPr sz="1400">
              <a:solidFill>
                <a:srgbClr val="000000"/>
              </a:solidFill>
            </a:endParaRPr>
          </a:p>
          <a:p>
            <a:pPr marL="457200" lvl="0" indent="-317500" algn="l" rtl="0">
              <a:spcBef>
                <a:spcPts val="1200"/>
              </a:spcBef>
              <a:spcAft>
                <a:spcPts val="0"/>
              </a:spcAft>
              <a:buClr>
                <a:srgbClr val="000000"/>
              </a:buClr>
              <a:buSzPts val="1400"/>
              <a:buAutoNum type="arabicPeriod"/>
            </a:pPr>
            <a:r>
              <a:rPr lang="en" sz="1400">
                <a:solidFill>
                  <a:srgbClr val="000000"/>
                </a:solidFill>
              </a:rPr>
              <a:t>Cold turkey </a:t>
            </a:r>
            <a:endParaRPr sz="1400">
              <a:solidFill>
                <a:srgbClr val="000000"/>
              </a:solidFill>
            </a:endParaRPr>
          </a:p>
          <a:p>
            <a:pPr marL="457200" lvl="0" indent="-317500" algn="l" rtl="0">
              <a:spcBef>
                <a:spcPts val="0"/>
              </a:spcBef>
              <a:spcAft>
                <a:spcPts val="0"/>
              </a:spcAft>
              <a:buClr>
                <a:srgbClr val="000000"/>
              </a:buClr>
              <a:buSzPts val="1400"/>
              <a:buAutoNum type="arabicPeriod"/>
            </a:pPr>
            <a:r>
              <a:rPr lang="en" sz="1400">
                <a:solidFill>
                  <a:srgbClr val="000000"/>
                </a:solidFill>
              </a:rPr>
              <a:t>Database first </a:t>
            </a:r>
            <a:endParaRPr sz="1400">
              <a:solidFill>
                <a:srgbClr val="000000"/>
              </a:solidFill>
            </a:endParaRPr>
          </a:p>
          <a:p>
            <a:pPr marL="457200" lvl="0" indent="-317500" algn="l" rtl="0">
              <a:spcBef>
                <a:spcPts val="0"/>
              </a:spcBef>
              <a:spcAft>
                <a:spcPts val="0"/>
              </a:spcAft>
              <a:buClr>
                <a:srgbClr val="000000"/>
              </a:buClr>
              <a:buSzPts val="1400"/>
              <a:buAutoNum type="arabicPeriod"/>
            </a:pPr>
            <a:r>
              <a:rPr lang="en" sz="1400">
                <a:solidFill>
                  <a:srgbClr val="000000"/>
                </a:solidFill>
              </a:rPr>
              <a:t>Database last </a:t>
            </a:r>
            <a:endParaRPr sz="1400">
              <a:solidFill>
                <a:srgbClr val="000000"/>
              </a:solidFill>
            </a:endParaRPr>
          </a:p>
          <a:p>
            <a:pPr marL="457200" lvl="0" indent="-317500" algn="l" rtl="0">
              <a:spcBef>
                <a:spcPts val="0"/>
              </a:spcBef>
              <a:spcAft>
                <a:spcPts val="0"/>
              </a:spcAft>
              <a:buClr>
                <a:srgbClr val="000000"/>
              </a:buClr>
              <a:buSzPts val="1400"/>
              <a:buAutoNum type="arabicPeriod"/>
            </a:pPr>
            <a:r>
              <a:rPr lang="en" sz="1400">
                <a:solidFill>
                  <a:srgbClr val="000000"/>
                </a:solidFill>
              </a:rPr>
              <a:t>Composite database </a:t>
            </a:r>
            <a:endParaRPr sz="1400">
              <a:solidFill>
                <a:srgbClr val="000000"/>
              </a:solidFill>
            </a:endParaRPr>
          </a:p>
          <a:p>
            <a:pPr marL="457200" lvl="0" indent="-317500" algn="l" rtl="0">
              <a:spcBef>
                <a:spcPts val="0"/>
              </a:spcBef>
              <a:spcAft>
                <a:spcPts val="0"/>
              </a:spcAft>
              <a:buClr>
                <a:srgbClr val="000000"/>
              </a:buClr>
              <a:buSzPts val="1400"/>
              <a:buAutoNum type="arabicPeriod"/>
            </a:pPr>
            <a:r>
              <a:rPr lang="en" sz="1400">
                <a:solidFill>
                  <a:srgbClr val="000000"/>
                </a:solidFill>
              </a:rPr>
              <a:t>Chicken little</a:t>
            </a:r>
            <a:endParaRPr sz="1400">
              <a:solidFill>
                <a:srgbClr val="000000"/>
              </a:solidFill>
            </a:endParaRPr>
          </a:p>
          <a:p>
            <a:pPr marL="457200" lvl="0" indent="-317500" algn="l" rtl="0">
              <a:spcBef>
                <a:spcPts val="0"/>
              </a:spcBef>
              <a:spcAft>
                <a:spcPts val="0"/>
              </a:spcAft>
              <a:buClr>
                <a:srgbClr val="000000"/>
              </a:buClr>
              <a:buSzPts val="1400"/>
              <a:buAutoNum type="arabicPeriod"/>
            </a:pPr>
            <a:r>
              <a:rPr lang="en" sz="1400">
                <a:solidFill>
                  <a:srgbClr val="000000"/>
                </a:solidFill>
              </a:rPr>
              <a:t>Butterfly </a:t>
            </a:r>
            <a:endParaRPr sz="1400">
              <a:solidFill>
                <a:srgbClr val="000000"/>
              </a:solidFill>
            </a:endParaRPr>
          </a:p>
          <a:p>
            <a:pPr marL="457200" lvl="0" indent="-317500" algn="l" rtl="0">
              <a:spcBef>
                <a:spcPts val="0"/>
              </a:spcBef>
              <a:spcAft>
                <a:spcPts val="0"/>
              </a:spcAft>
              <a:buClr>
                <a:srgbClr val="000000"/>
              </a:buClr>
              <a:buSzPts val="1400"/>
              <a:buAutoNum type="arabicPeriod"/>
            </a:pPr>
            <a:r>
              <a:rPr lang="en" sz="1400">
                <a:solidFill>
                  <a:srgbClr val="000000"/>
                </a:solidFill>
              </a:rPr>
              <a:t>Iterative</a:t>
            </a:r>
            <a:endParaRPr sz="1400">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5"/>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 Methods</a:t>
            </a:r>
            <a:endParaRPr/>
          </a:p>
        </p:txBody>
      </p:sp>
      <p:sp>
        <p:nvSpPr>
          <p:cNvPr id="345" name="Google Shape;345;p55"/>
          <p:cNvSpPr txBox="1">
            <a:spLocks noGrp="1"/>
          </p:cNvSpPr>
          <p:nvPr>
            <p:ph type="body" idx="1"/>
          </p:nvPr>
        </p:nvSpPr>
        <p:spPr>
          <a:xfrm>
            <a:off x="729450" y="1391950"/>
            <a:ext cx="8414700" cy="3681600"/>
          </a:xfrm>
          <a:prstGeom prst="rect">
            <a:avLst/>
          </a:prstGeom>
        </p:spPr>
        <p:txBody>
          <a:bodyPr spcFirstLastPara="1" wrap="square" lIns="91425" tIns="91425" rIns="91425" bIns="91425" anchor="t" anchorCtr="0">
            <a:normAutofit/>
          </a:bodyPr>
          <a:lstStyle/>
          <a:p>
            <a:pPr marL="0" indent="0">
              <a:buNone/>
            </a:pPr>
            <a:r>
              <a:rPr lang="en" sz="1400" b="1" dirty="0">
                <a:solidFill>
                  <a:srgbClr val="000000"/>
                </a:solidFill>
              </a:rPr>
              <a:t>Cold Turkey (Big Bang approach): </a:t>
            </a:r>
          </a:p>
          <a:p>
            <a:pPr marL="285750" indent="-285750"/>
            <a:r>
              <a:rPr lang="en" sz="1400" dirty="0">
                <a:solidFill>
                  <a:srgbClr val="000000"/>
                </a:solidFill>
              </a:rPr>
              <a:t>Redesigning and recoding the LIS from the very beginning using a new execution platform, modern software architecture, and new tools and databases. </a:t>
            </a:r>
          </a:p>
          <a:p>
            <a:pPr marL="285750" indent="-285750"/>
            <a:r>
              <a:rPr lang="en" sz="1400" dirty="0">
                <a:solidFill>
                  <a:srgbClr val="000000"/>
                </a:solidFill>
              </a:rPr>
              <a:t>The risk of failure is high for this approach to be seriously considered. </a:t>
            </a:r>
          </a:p>
          <a:p>
            <a:pPr marL="285750" indent="-285750"/>
            <a:r>
              <a:rPr lang="en" sz="1400" dirty="0">
                <a:solidFill>
                  <a:srgbClr val="000000"/>
                </a:solidFill>
              </a:rPr>
              <a:t>If a legacy system has stable, well-defined functionality and is small in size, this approach could be adopted.</a:t>
            </a:r>
            <a:endParaRPr sz="1400" dirty="0">
              <a:solidFill>
                <a:srgbClr val="000000"/>
              </a:solidFill>
            </a:endParaRPr>
          </a:p>
          <a:p>
            <a:pPr marL="0" lvl="0" indent="0">
              <a:spcBef>
                <a:spcPts val="1200"/>
              </a:spcBef>
              <a:buNone/>
            </a:pPr>
            <a:r>
              <a:rPr lang="en" sz="1400" b="1" dirty="0">
                <a:solidFill>
                  <a:srgbClr val="000000"/>
                </a:solidFill>
              </a:rPr>
              <a:t>Database First (Forward Migration Method):</a:t>
            </a:r>
            <a:endParaRPr sz="1400" b="1" dirty="0">
              <a:solidFill>
                <a:srgbClr val="000000"/>
              </a:solidFill>
            </a:endParaRPr>
          </a:p>
          <a:p>
            <a:pPr marL="0" lvl="0" indent="0" algn="l" rtl="0">
              <a:spcBef>
                <a:spcPts val="1200"/>
              </a:spcBef>
              <a:spcAft>
                <a:spcPts val="0"/>
              </a:spcAft>
              <a:buNone/>
            </a:pPr>
            <a:r>
              <a:rPr lang="en" sz="1400" dirty="0">
                <a:solidFill>
                  <a:srgbClr val="000000"/>
                </a:solidFill>
              </a:rPr>
              <a:t>This method first migrates the database, including the data, to a modern DBMS, and then gradually migrates the legacy application programs and interfaces.</a:t>
            </a:r>
            <a:endParaRPr sz="1400" dirty="0">
              <a:solidFill>
                <a:srgbClr val="000000"/>
              </a:solidFill>
            </a:endParaRPr>
          </a:p>
          <a:p>
            <a:pPr marL="0" lvl="0" indent="0" algn="l" rtl="0">
              <a:spcBef>
                <a:spcPts val="1200"/>
              </a:spcBef>
              <a:spcAft>
                <a:spcPts val="1200"/>
              </a:spcAft>
              <a:buNone/>
            </a:pPr>
            <a:endParaRPr sz="1400" dirty="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6"/>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 Methods</a:t>
            </a:r>
            <a:endParaRPr/>
          </a:p>
        </p:txBody>
      </p:sp>
      <p:sp>
        <p:nvSpPr>
          <p:cNvPr id="351" name="Google Shape;351;p56"/>
          <p:cNvSpPr txBox="1">
            <a:spLocks noGrp="1"/>
          </p:cNvSpPr>
          <p:nvPr>
            <p:ph type="body" idx="1"/>
          </p:nvPr>
        </p:nvSpPr>
        <p:spPr>
          <a:xfrm>
            <a:off x="119850" y="1163350"/>
            <a:ext cx="4311300" cy="36816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852"/>
              <a:buNone/>
            </a:pPr>
            <a:r>
              <a:rPr lang="en" sz="1385" b="1" dirty="0">
                <a:solidFill>
                  <a:srgbClr val="000000"/>
                </a:solidFill>
              </a:rPr>
              <a:t>Database First:</a:t>
            </a:r>
            <a:endParaRPr sz="1385" b="1" dirty="0">
              <a:solidFill>
                <a:srgbClr val="000000"/>
              </a:solidFill>
            </a:endParaRPr>
          </a:p>
          <a:p>
            <a:pPr marL="0" lvl="0" indent="0" algn="l" rtl="0">
              <a:lnSpc>
                <a:spcPct val="105000"/>
              </a:lnSpc>
              <a:spcBef>
                <a:spcPts val="1200"/>
              </a:spcBef>
              <a:spcAft>
                <a:spcPts val="0"/>
              </a:spcAft>
              <a:buSzPts val="852"/>
              <a:buNone/>
            </a:pPr>
            <a:r>
              <a:rPr lang="en" sz="1385" dirty="0">
                <a:solidFill>
                  <a:srgbClr val="000000"/>
                </a:solidFill>
              </a:rPr>
              <a:t>The LIS simultaneously operates with the new system via a forward gateway while interfaces and legacy applications are being reengineered. </a:t>
            </a:r>
            <a:br>
              <a:rPr lang="en" sz="1385" dirty="0">
                <a:solidFill>
                  <a:srgbClr val="000000"/>
                </a:solidFill>
              </a:rPr>
            </a:br>
            <a:br>
              <a:rPr lang="en" sz="1385" dirty="0">
                <a:solidFill>
                  <a:srgbClr val="000000"/>
                </a:solidFill>
              </a:rPr>
            </a:br>
            <a:endParaRPr sz="1385" dirty="0">
              <a:solidFill>
                <a:srgbClr val="000000"/>
              </a:solidFill>
            </a:endParaRPr>
          </a:p>
        </p:txBody>
      </p:sp>
      <p:pic>
        <p:nvPicPr>
          <p:cNvPr id="352" name="Google Shape;352;p56"/>
          <p:cNvPicPr preferRelativeResize="0"/>
          <p:nvPr/>
        </p:nvPicPr>
        <p:blipFill>
          <a:blip r:embed="rId3">
            <a:alphaModFix/>
          </a:blip>
          <a:stretch>
            <a:fillRect/>
          </a:stretch>
        </p:blipFill>
        <p:spPr>
          <a:xfrm>
            <a:off x="4431000" y="1163350"/>
            <a:ext cx="4610100" cy="34099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7"/>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 Methods</a:t>
            </a:r>
            <a:endParaRPr/>
          </a:p>
        </p:txBody>
      </p:sp>
      <p:sp>
        <p:nvSpPr>
          <p:cNvPr id="358" name="Google Shape;358;p57"/>
          <p:cNvSpPr txBox="1">
            <a:spLocks noGrp="1"/>
          </p:cNvSpPr>
          <p:nvPr>
            <p:ph type="body" idx="1"/>
          </p:nvPr>
        </p:nvSpPr>
        <p:spPr>
          <a:xfrm>
            <a:off x="119850" y="1163350"/>
            <a:ext cx="4311300" cy="3681600"/>
          </a:xfrm>
          <a:prstGeom prst="rect">
            <a:avLst/>
          </a:prstGeom>
        </p:spPr>
        <p:txBody>
          <a:bodyPr spcFirstLastPara="1" wrap="square" lIns="91425" tIns="91425" rIns="91425" bIns="91425" anchor="t" anchorCtr="0">
            <a:noAutofit/>
          </a:bodyPr>
          <a:lstStyle/>
          <a:p>
            <a:pPr marL="0" lvl="0" indent="0">
              <a:lnSpc>
                <a:spcPct val="105000"/>
              </a:lnSpc>
              <a:buSzPts val="852"/>
              <a:buNone/>
            </a:pPr>
            <a:r>
              <a:rPr lang="en" sz="1385" b="1" dirty="0">
                <a:solidFill>
                  <a:srgbClr val="000000"/>
                </a:solidFill>
              </a:rPr>
              <a:t>Database Last (Reverse Migration Method):</a:t>
            </a:r>
            <a:endParaRPr sz="1385" b="1" dirty="0">
              <a:solidFill>
                <a:srgbClr val="000000"/>
              </a:solidFill>
            </a:endParaRPr>
          </a:p>
          <a:p>
            <a:pPr marL="0" lvl="0" indent="0" algn="l" rtl="0">
              <a:lnSpc>
                <a:spcPct val="105000"/>
              </a:lnSpc>
              <a:spcBef>
                <a:spcPts val="1200"/>
              </a:spcBef>
              <a:spcAft>
                <a:spcPts val="0"/>
              </a:spcAft>
              <a:buSzPts val="852"/>
              <a:buNone/>
            </a:pPr>
            <a:r>
              <a:rPr lang="en" sz="1385" dirty="0">
                <a:solidFill>
                  <a:srgbClr val="000000"/>
                </a:solidFill>
              </a:rPr>
              <a:t>It is suitable only for a fully decomposable LIS. </a:t>
            </a:r>
            <a:endParaRPr sz="1385" dirty="0">
              <a:solidFill>
                <a:srgbClr val="000000"/>
              </a:solidFill>
            </a:endParaRPr>
          </a:p>
          <a:p>
            <a:pPr marL="0" lvl="0" indent="0" algn="l" rtl="0">
              <a:lnSpc>
                <a:spcPct val="105000"/>
              </a:lnSpc>
              <a:spcBef>
                <a:spcPts val="1200"/>
              </a:spcBef>
              <a:spcAft>
                <a:spcPts val="0"/>
              </a:spcAft>
              <a:buSzPts val="852"/>
              <a:buNone/>
            </a:pPr>
            <a:r>
              <a:rPr lang="en" sz="1385" dirty="0">
                <a:solidFill>
                  <a:srgbClr val="000000"/>
                </a:solidFill>
              </a:rPr>
              <a:t>legacy applications are incrementally migrated to the target platform, but the legacy database stays on the original platform. </a:t>
            </a:r>
            <a:endParaRPr sz="1385" dirty="0">
              <a:solidFill>
                <a:srgbClr val="000000"/>
              </a:solidFill>
            </a:endParaRPr>
          </a:p>
          <a:p>
            <a:pPr marL="0" lvl="0" indent="0" algn="l" rtl="0">
              <a:lnSpc>
                <a:spcPct val="105000"/>
              </a:lnSpc>
              <a:spcBef>
                <a:spcPts val="1200"/>
              </a:spcBef>
              <a:spcAft>
                <a:spcPts val="0"/>
              </a:spcAft>
              <a:buSzPts val="852"/>
              <a:buNone/>
            </a:pPr>
            <a:r>
              <a:rPr lang="en" sz="1385" dirty="0">
                <a:solidFill>
                  <a:srgbClr val="000000"/>
                </a:solidFill>
              </a:rPr>
              <a:t>Migration of the database is done last. Similar to the database first approach, interoperability of both the information systems is supported by means of a gateway. </a:t>
            </a:r>
            <a:endParaRPr sz="1385" dirty="0">
              <a:solidFill>
                <a:srgbClr val="000000"/>
              </a:solidFill>
            </a:endParaRPr>
          </a:p>
        </p:txBody>
      </p:sp>
      <p:pic>
        <p:nvPicPr>
          <p:cNvPr id="359" name="Google Shape;359;p57"/>
          <p:cNvPicPr preferRelativeResize="0"/>
          <p:nvPr/>
        </p:nvPicPr>
        <p:blipFill>
          <a:blip r:embed="rId3">
            <a:alphaModFix/>
          </a:blip>
          <a:stretch>
            <a:fillRect/>
          </a:stretch>
        </p:blipFill>
        <p:spPr>
          <a:xfrm>
            <a:off x="4583550" y="1244250"/>
            <a:ext cx="4362450" cy="3505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58"/>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 Methods</a:t>
            </a:r>
            <a:endParaRPr/>
          </a:p>
        </p:txBody>
      </p:sp>
      <p:sp>
        <p:nvSpPr>
          <p:cNvPr id="365" name="Google Shape;365;p58"/>
          <p:cNvSpPr txBox="1">
            <a:spLocks noGrp="1"/>
          </p:cNvSpPr>
          <p:nvPr>
            <p:ph type="body" idx="1"/>
          </p:nvPr>
        </p:nvSpPr>
        <p:spPr>
          <a:xfrm>
            <a:off x="119850" y="1163350"/>
            <a:ext cx="4311300" cy="36816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852"/>
              <a:buNone/>
            </a:pPr>
            <a:r>
              <a:rPr lang="en" sz="1385" b="1">
                <a:solidFill>
                  <a:srgbClr val="000000"/>
                </a:solidFill>
              </a:rPr>
              <a:t>Composite Database:</a:t>
            </a:r>
            <a:endParaRPr sz="1385" b="1">
              <a:solidFill>
                <a:srgbClr val="000000"/>
              </a:solidFill>
            </a:endParaRPr>
          </a:p>
          <a:p>
            <a:pPr marL="0" lvl="0" indent="0" algn="l" rtl="0">
              <a:lnSpc>
                <a:spcPct val="105000"/>
              </a:lnSpc>
              <a:spcBef>
                <a:spcPts val="1200"/>
              </a:spcBef>
              <a:spcAft>
                <a:spcPts val="0"/>
              </a:spcAft>
              <a:buNone/>
            </a:pPr>
            <a:r>
              <a:rPr lang="en" sz="1385">
                <a:solidFill>
                  <a:srgbClr val="000000"/>
                </a:solidFill>
              </a:rPr>
              <a:t>The composite database approach is applicable to fully decomposable, semi decomposable, and non decomposable LISs.</a:t>
            </a:r>
            <a:br>
              <a:rPr lang="en" sz="1385">
                <a:solidFill>
                  <a:srgbClr val="000000"/>
                </a:solidFill>
              </a:rPr>
            </a:br>
            <a:br>
              <a:rPr lang="en" sz="1385">
                <a:solidFill>
                  <a:srgbClr val="000000"/>
                </a:solidFill>
              </a:rPr>
            </a:br>
            <a:r>
              <a:rPr lang="en" sz="1385">
                <a:solidFill>
                  <a:srgbClr val="000000"/>
                </a:solidFill>
              </a:rPr>
              <a:t>In the composite database approach, the target information system is run in parallel with the legacy system during the migration process. </a:t>
            </a:r>
            <a:br>
              <a:rPr lang="en" sz="1385">
                <a:solidFill>
                  <a:srgbClr val="000000"/>
                </a:solidFill>
              </a:rPr>
            </a:br>
            <a:endParaRPr sz="1385">
              <a:solidFill>
                <a:srgbClr val="000000"/>
              </a:solidFill>
            </a:endParaRPr>
          </a:p>
          <a:p>
            <a:pPr marL="0" lvl="0" indent="0" algn="l" rtl="0">
              <a:lnSpc>
                <a:spcPct val="105000"/>
              </a:lnSpc>
              <a:spcBef>
                <a:spcPts val="1200"/>
              </a:spcBef>
              <a:spcAft>
                <a:spcPts val="1200"/>
              </a:spcAft>
              <a:buNone/>
            </a:pPr>
            <a:r>
              <a:rPr lang="en" sz="1385">
                <a:solidFill>
                  <a:srgbClr val="000000"/>
                </a:solidFill>
              </a:rPr>
              <a:t> While migration is continuing, as shown in Figure 5.8, the two systems form a composite information system, employing a combination of forward and reverse gateways. In this approach, data may be duplicated across both the databases: legacy and target. </a:t>
            </a:r>
            <a:endParaRPr sz="1385">
              <a:solidFill>
                <a:srgbClr val="000000"/>
              </a:solidFill>
            </a:endParaRPr>
          </a:p>
        </p:txBody>
      </p:sp>
      <p:pic>
        <p:nvPicPr>
          <p:cNvPr id="366" name="Google Shape;366;p58"/>
          <p:cNvPicPr preferRelativeResize="0"/>
          <p:nvPr/>
        </p:nvPicPr>
        <p:blipFill>
          <a:blip r:embed="rId3">
            <a:alphaModFix/>
          </a:blip>
          <a:stretch>
            <a:fillRect/>
          </a:stretch>
        </p:blipFill>
        <p:spPr>
          <a:xfrm>
            <a:off x="4572000" y="983264"/>
            <a:ext cx="4408051" cy="299878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9"/>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 Methods</a:t>
            </a:r>
            <a:endParaRPr/>
          </a:p>
        </p:txBody>
      </p:sp>
      <p:sp>
        <p:nvSpPr>
          <p:cNvPr id="372" name="Google Shape;372;p59"/>
          <p:cNvSpPr txBox="1">
            <a:spLocks noGrp="1"/>
          </p:cNvSpPr>
          <p:nvPr>
            <p:ph type="body" idx="1"/>
          </p:nvPr>
        </p:nvSpPr>
        <p:spPr>
          <a:xfrm>
            <a:off x="119850" y="1163350"/>
            <a:ext cx="4311300" cy="36816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852"/>
              <a:buNone/>
            </a:pPr>
            <a:r>
              <a:rPr lang="en" sz="1385" b="1" dirty="0">
                <a:solidFill>
                  <a:srgbClr val="000000"/>
                </a:solidFill>
              </a:rPr>
              <a:t>Composite Database:</a:t>
            </a:r>
            <a:endParaRPr sz="1385" b="1" dirty="0">
              <a:solidFill>
                <a:srgbClr val="000000"/>
              </a:solidFill>
            </a:endParaRPr>
          </a:p>
          <a:p>
            <a:pPr marL="0" lvl="0" indent="0" algn="l" rtl="0">
              <a:lnSpc>
                <a:spcPct val="105000"/>
              </a:lnSpc>
              <a:spcBef>
                <a:spcPts val="1200"/>
              </a:spcBef>
              <a:spcAft>
                <a:spcPts val="0"/>
              </a:spcAft>
              <a:buNone/>
            </a:pPr>
            <a:r>
              <a:rPr lang="en" sz="1385" dirty="0">
                <a:solidFill>
                  <a:srgbClr val="000000"/>
                </a:solidFill>
              </a:rPr>
              <a:t>A transaction co-ordinators is employed to maintain data integrity. </a:t>
            </a:r>
          </a:p>
          <a:p>
            <a:pPr marL="0" lvl="0" indent="0" algn="l" rtl="0">
              <a:lnSpc>
                <a:spcPct val="105000"/>
              </a:lnSpc>
              <a:spcBef>
                <a:spcPts val="1200"/>
              </a:spcBef>
              <a:spcAft>
                <a:spcPts val="0"/>
              </a:spcAft>
              <a:buNone/>
            </a:pPr>
            <a:r>
              <a:rPr lang="en" sz="1385" dirty="0">
                <a:solidFill>
                  <a:srgbClr val="000000"/>
                </a:solidFill>
              </a:rPr>
              <a:t>The co-ordinators intercepts update requests from both target and legacy applications and processes the requests to determine whether or not the requests refer to data replicated in both the databases.</a:t>
            </a:r>
            <a:endParaRPr sz="1385" dirty="0">
              <a:solidFill>
                <a:srgbClr val="000000"/>
              </a:solidFill>
            </a:endParaRPr>
          </a:p>
          <a:p>
            <a:pPr marL="0" lvl="0" indent="0" algn="l" rtl="0">
              <a:lnSpc>
                <a:spcPct val="105000"/>
              </a:lnSpc>
              <a:spcBef>
                <a:spcPts val="1200"/>
              </a:spcBef>
              <a:spcAft>
                <a:spcPts val="1200"/>
              </a:spcAft>
              <a:buNone/>
            </a:pPr>
            <a:endParaRPr sz="1385" dirty="0">
              <a:solidFill>
                <a:srgbClr val="000000"/>
              </a:solidFill>
            </a:endParaRPr>
          </a:p>
        </p:txBody>
      </p:sp>
      <p:pic>
        <p:nvPicPr>
          <p:cNvPr id="373" name="Google Shape;373;p59"/>
          <p:cNvPicPr preferRelativeResize="0"/>
          <p:nvPr/>
        </p:nvPicPr>
        <p:blipFill>
          <a:blip r:embed="rId3">
            <a:alphaModFix/>
          </a:blip>
          <a:stretch>
            <a:fillRect/>
          </a:stretch>
        </p:blipFill>
        <p:spPr>
          <a:xfrm>
            <a:off x="4571358" y="1244250"/>
            <a:ext cx="4408051" cy="299878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60"/>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Migration Methods</a:t>
            </a:r>
            <a:endParaRPr/>
          </a:p>
        </p:txBody>
      </p:sp>
      <p:sp>
        <p:nvSpPr>
          <p:cNvPr id="379" name="Google Shape;379;p60"/>
          <p:cNvSpPr txBox="1">
            <a:spLocks noGrp="1"/>
          </p:cNvSpPr>
          <p:nvPr>
            <p:ph type="body" idx="1"/>
          </p:nvPr>
        </p:nvSpPr>
        <p:spPr>
          <a:xfrm>
            <a:off x="119850" y="1163350"/>
            <a:ext cx="8766000" cy="36816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852"/>
              <a:buNone/>
            </a:pPr>
            <a:r>
              <a:rPr lang="en" sz="1385" b="1" dirty="0">
                <a:solidFill>
                  <a:srgbClr val="000000"/>
                </a:solidFill>
              </a:rPr>
              <a:t>Chicken Little:</a:t>
            </a:r>
            <a:endParaRPr sz="1385" b="1" dirty="0">
              <a:solidFill>
                <a:srgbClr val="000000"/>
              </a:solidFill>
            </a:endParaRPr>
          </a:p>
          <a:p>
            <a:pPr marL="0" lvl="0" indent="0" algn="l" rtl="0">
              <a:lnSpc>
                <a:spcPct val="105000"/>
              </a:lnSpc>
              <a:spcBef>
                <a:spcPts val="1200"/>
              </a:spcBef>
              <a:spcAft>
                <a:spcPts val="0"/>
              </a:spcAft>
              <a:buNone/>
            </a:pPr>
            <a:r>
              <a:rPr lang="en" sz="1385" dirty="0">
                <a:solidFill>
                  <a:srgbClr val="000000"/>
                </a:solidFill>
              </a:rPr>
              <a:t>The Chicken little strategy refines the composite database strategy, by proposing migration solutions for fully decomposable, semidecomposable, and nondecomposable legacy systems with different kinds of gateways. </a:t>
            </a:r>
            <a:endParaRPr sz="1385" dirty="0">
              <a:solidFill>
                <a:srgbClr val="000000"/>
              </a:solidFill>
            </a:endParaRPr>
          </a:p>
          <a:p>
            <a:pPr marL="0" lvl="0" indent="0" algn="l" rtl="0">
              <a:lnSpc>
                <a:spcPct val="105000"/>
              </a:lnSpc>
              <a:spcBef>
                <a:spcPts val="1200"/>
              </a:spcBef>
              <a:spcAft>
                <a:spcPts val="0"/>
              </a:spcAft>
              <a:buNone/>
            </a:pPr>
            <a:r>
              <a:rPr lang="en" sz="1385" dirty="0">
                <a:solidFill>
                  <a:srgbClr val="000000"/>
                </a:solidFill>
              </a:rPr>
              <a:t>The differences between those gateways are based upon: </a:t>
            </a:r>
          </a:p>
          <a:p>
            <a:pPr marL="857250" lvl="1" indent="-400050">
              <a:lnSpc>
                <a:spcPct val="105000"/>
              </a:lnSpc>
            </a:pPr>
            <a:r>
              <a:rPr lang="en" sz="1185" dirty="0">
                <a:solidFill>
                  <a:srgbClr val="000000"/>
                </a:solidFill>
              </a:rPr>
              <a:t>the locations of the gateways in the system </a:t>
            </a:r>
          </a:p>
          <a:p>
            <a:pPr marL="857250" lvl="1" indent="-400050">
              <a:lnSpc>
                <a:spcPct val="105000"/>
              </a:lnSpc>
            </a:pPr>
            <a:r>
              <a:rPr lang="en" sz="1185" dirty="0">
                <a:solidFill>
                  <a:srgbClr val="000000"/>
                </a:solidFill>
              </a:rPr>
              <a:t>the degree of functionality of the gateways. </a:t>
            </a:r>
            <a:endParaRPr sz="1185" dirty="0">
              <a:solidFill>
                <a:srgbClr val="000000"/>
              </a:solidFill>
            </a:endParaRPr>
          </a:p>
          <a:p>
            <a:pPr marL="0" lvl="0" indent="0" algn="l" rtl="0">
              <a:lnSpc>
                <a:spcPct val="105000"/>
              </a:lnSpc>
              <a:spcBef>
                <a:spcPts val="1200"/>
              </a:spcBef>
              <a:spcAft>
                <a:spcPts val="1200"/>
              </a:spcAft>
              <a:buNone/>
            </a:pPr>
            <a:endParaRPr sz="1385" dirty="0">
              <a:solidFill>
                <a:srgbClr val="0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69EF9CD-3895-1211-3068-97FA691FE203}"/>
              </a:ext>
            </a:extLst>
          </p:cNvPr>
          <p:cNvSpPr>
            <a:spLocks noGrp="1"/>
          </p:cNvSpPr>
          <p:nvPr>
            <p:ph type="body" idx="1"/>
          </p:nvPr>
        </p:nvSpPr>
        <p:spPr/>
        <p:txBody>
          <a:bodyPr/>
          <a:lstStyle/>
          <a:p>
            <a:pPr marL="146050" indent="0">
              <a:buNone/>
            </a:pPr>
            <a:r>
              <a:rPr lang="en-US" dirty="0">
                <a:solidFill>
                  <a:schemeClr val="bg2"/>
                </a:solidFill>
                <a:latin typeface="Times New Roman" panose="02020603050405020304" pitchFamily="18" charset="0"/>
                <a:cs typeface="Times New Roman" panose="02020603050405020304" pitchFamily="18" charset="0"/>
              </a:rPr>
              <a:t>Assunção, W.K., </a:t>
            </a:r>
            <a:r>
              <a:rPr lang="en-US" dirty="0" err="1">
                <a:solidFill>
                  <a:schemeClr val="bg2"/>
                </a:solidFill>
                <a:latin typeface="Times New Roman" panose="02020603050405020304" pitchFamily="18" charset="0"/>
                <a:cs typeface="Times New Roman" panose="02020603050405020304" pitchFamily="18" charset="0"/>
              </a:rPr>
              <a:t>Marchezan</a:t>
            </a:r>
            <a:r>
              <a:rPr lang="en-US" dirty="0">
                <a:solidFill>
                  <a:schemeClr val="bg2"/>
                </a:solidFill>
                <a:latin typeface="Times New Roman" panose="02020603050405020304" pitchFamily="18" charset="0"/>
                <a:cs typeface="Times New Roman" panose="02020603050405020304" pitchFamily="18" charset="0"/>
              </a:rPr>
              <a:t>, L., Egyed, A. and Ramler, R., 2024. Contemporary software modernization: Perspectives and challenges to deal with legacy systems. </a:t>
            </a:r>
            <a:r>
              <a:rPr lang="en-US" i="1" dirty="0" err="1">
                <a:solidFill>
                  <a:schemeClr val="bg2"/>
                </a:solidFill>
                <a:latin typeface="Times New Roman" panose="02020603050405020304" pitchFamily="18" charset="0"/>
                <a:cs typeface="Times New Roman" panose="02020603050405020304" pitchFamily="18" charset="0"/>
              </a:rPr>
              <a:t>arXiv</a:t>
            </a:r>
            <a:r>
              <a:rPr lang="en-US" i="1" dirty="0">
                <a:solidFill>
                  <a:schemeClr val="bg2"/>
                </a:solidFill>
                <a:latin typeface="Times New Roman" panose="02020603050405020304" pitchFamily="18" charset="0"/>
                <a:cs typeface="Times New Roman" panose="02020603050405020304" pitchFamily="18" charset="0"/>
              </a:rPr>
              <a:t> preprint arXiv:2407.04017</a:t>
            </a:r>
            <a:r>
              <a:rPr lang="en-US" dirty="0">
                <a:solidFill>
                  <a:schemeClr val="bg2"/>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95809697"/>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3216</TotalTime>
  <Words>2523</Words>
  <Application>Microsoft Office PowerPoint</Application>
  <PresentationFormat>On-screen Show (16:9)</PresentationFormat>
  <Paragraphs>225</Paragraphs>
  <Slides>35</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Raleway</vt:lpstr>
      <vt:lpstr>Courier New</vt:lpstr>
      <vt:lpstr>Times New Roman</vt:lpstr>
      <vt:lpstr>Lato</vt:lpstr>
      <vt:lpstr>Streamline</vt:lpstr>
      <vt:lpstr>Chapter 13 </vt:lpstr>
      <vt:lpstr>Overview</vt:lpstr>
      <vt:lpstr>Legacy Software </vt:lpstr>
      <vt:lpstr>Why are legacy systems still used?  </vt:lpstr>
      <vt:lpstr>Solutions for Legacy Software </vt:lpstr>
      <vt:lpstr>Solutions for Legacy Software </vt:lpstr>
      <vt:lpstr>Legacy Systems: Challenges and Available Solutions </vt:lpstr>
      <vt:lpstr>Modernizing Legacy Systems</vt:lpstr>
      <vt:lpstr>Modernizing Legacy Systems</vt:lpstr>
      <vt:lpstr>Wrapper</vt:lpstr>
      <vt:lpstr>Database Wrappers</vt:lpstr>
      <vt:lpstr>Forward Wrappers </vt:lpstr>
      <vt:lpstr>Backward Wrappers </vt:lpstr>
      <vt:lpstr>Wrapper</vt:lpstr>
      <vt:lpstr>Types of Wrapping</vt:lpstr>
      <vt:lpstr>Wrapper</vt:lpstr>
      <vt:lpstr>Wrapper</vt:lpstr>
      <vt:lpstr>Wrapper</vt:lpstr>
      <vt:lpstr>Benefits and Problems of wrapping</vt:lpstr>
      <vt:lpstr>Migration</vt:lpstr>
      <vt:lpstr>Strategies for Modernizing Legacy Systems </vt:lpstr>
      <vt:lpstr>Strategies for Modernizing Legacy Systems </vt:lpstr>
      <vt:lpstr>Migration steps</vt:lpstr>
      <vt:lpstr>Migration Stpes</vt:lpstr>
      <vt:lpstr>Migration</vt:lpstr>
      <vt:lpstr>Migration</vt:lpstr>
      <vt:lpstr>Migration</vt:lpstr>
      <vt:lpstr>Migration Methods</vt:lpstr>
      <vt:lpstr>Migration Methods</vt:lpstr>
      <vt:lpstr>Migration Methods</vt:lpstr>
      <vt:lpstr>Migration Methods</vt:lpstr>
      <vt:lpstr>Migration Methods</vt:lpstr>
      <vt:lpstr>Migration Methods</vt:lpstr>
      <vt:lpstr>Migration Methods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dc:title>
  <dc:creator>CSE</dc:creator>
  <cp:lastModifiedBy>Namisa__ __</cp:lastModifiedBy>
  <cp:revision>14</cp:revision>
  <dcterms:modified xsi:type="dcterms:W3CDTF">2026-08-06T03:08:16Z</dcterms:modified>
</cp:coreProperties>
</file>