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sldSz cx="9144000" cy="6858000" type="screen4x3"/>
  <p:notesSz cx="7019925" cy="9305925"/>
  <p:embeddedFontLst>
    <p:embeddedFont>
      <p:font typeface="Arial Black" panose="020B0A04020102020204" pitchFamily="34" charset="0"/>
      <p:regular r:id="rId77"/>
      <p:bold r:id="rId78"/>
    </p:embeddedFont>
    <p:embeddedFont>
      <p:font typeface="Comic Sans MS" panose="030F0702030302020204" pitchFamily="66"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80">
          <p15:clr>
            <a:srgbClr val="A4A3A4"/>
          </p15:clr>
        </p15:guide>
        <p15:guide id="2" pos="2773">
          <p15:clr>
            <a:srgbClr val="A4A3A4"/>
          </p15:clr>
        </p15:guide>
      </p15:sldGuideLst>
    </p:ext>
    <p:ext uri="{2D200454-40CA-4A62-9FC3-DE9A4176ACB9}">
      <p15:notesGuideLst xmlns:p15="http://schemas.microsoft.com/office/powerpoint/2012/main">
        <p15:guide id="1" orient="horz" pos="2931">
          <p15:clr>
            <a:srgbClr val="A4A3A4"/>
          </p15:clr>
        </p15:guide>
        <p15:guide id="2" pos="221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gTFwoTvGPWs75SO/JKU551JIUe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77"/>
      </p:cViewPr>
      <p:guideLst>
        <p:guide orient="horz" pos="2280"/>
        <p:guide pos="2773"/>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1"/>
        <p:guide pos="221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4.fntdata"/><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lvl1pPr marR="0" lvl="0" algn="l" rtl="0">
              <a:spcBef>
                <a:spcPts val="0"/>
              </a:spcBef>
              <a:spcAft>
                <a:spcPts val="0"/>
              </a:spcAft>
              <a:buSzPts val="1400"/>
              <a:buNone/>
              <a:defRPr sz="11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2pPr>
            <a:lvl3pPr marR="0" lvl="2"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3pPr>
            <a:lvl4pPr marR="0" lvl="3"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4pPr>
            <a:lvl5pPr marR="0" lvl="4"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5pPr>
            <a:lvl6pPr marR="0" lvl="5"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6pPr>
            <a:lvl7pPr marR="0" lvl="6"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7pPr>
            <a:lvl8pPr marR="0" lvl="7"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8pPr>
            <a:lvl9pPr marR="0" lvl="8"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8275" y="0"/>
            <a:ext cx="3041650" cy="465138"/>
          </a:xfrm>
          <a:prstGeom prst="rect">
            <a:avLst/>
          </a:prstGeom>
          <a:noFill/>
          <a:ln>
            <a:noFill/>
          </a:ln>
        </p:spPr>
        <p:txBody>
          <a:bodyPr spcFirstLastPara="1" wrap="square" lIns="19425" tIns="0" rIns="19425" bIns="0" anchor="t" anchorCtr="0">
            <a:noAutofit/>
          </a:bodyPr>
          <a:lstStyle>
            <a:lvl1pPr marR="0" lvl="0" algn="r" rtl="0">
              <a:spcBef>
                <a:spcPts val="0"/>
              </a:spcBef>
              <a:spcAft>
                <a:spcPts val="0"/>
              </a:spcAft>
              <a:buSzPts val="1400"/>
              <a:buNone/>
              <a:defRPr sz="11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2pPr>
            <a:lvl3pPr marR="0" lvl="2"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3pPr>
            <a:lvl4pPr marR="0" lvl="3"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4pPr>
            <a:lvl5pPr marR="0" lvl="4"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5pPr>
            <a:lvl6pPr marR="0" lvl="5"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6pPr>
            <a:lvl7pPr marR="0" lvl="6"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7pPr>
            <a:lvl8pPr marR="0" lvl="7"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8pPr>
            <a:lvl9pPr marR="0" lvl="8"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9pPr>
          </a:lstStyle>
          <a:p>
            <a:endParaRPr/>
          </a:p>
        </p:txBody>
      </p:sp>
      <p:sp>
        <p:nvSpPr>
          <p:cNvPr id="5" name="Google Shape;5;n"/>
          <p:cNvSpPr txBox="1">
            <a:spLocks noGrp="1"/>
          </p:cNvSpPr>
          <p:nvPr>
            <p:ph type="ftr" idx="11"/>
          </p:nvPr>
        </p:nvSpPr>
        <p:spPr>
          <a:xfrm>
            <a:off x="0" y="8840788"/>
            <a:ext cx="3041650" cy="465137"/>
          </a:xfrm>
          <a:prstGeom prst="rect">
            <a:avLst/>
          </a:prstGeom>
          <a:noFill/>
          <a:ln>
            <a:noFill/>
          </a:ln>
        </p:spPr>
        <p:txBody>
          <a:bodyPr spcFirstLastPara="1" wrap="square" lIns="19425" tIns="0" rIns="19425" bIns="0" anchor="b" anchorCtr="0">
            <a:noAutofit/>
          </a:bodyPr>
          <a:lstStyle>
            <a:lvl1pPr marR="0" lvl="0" algn="l" rtl="0">
              <a:spcBef>
                <a:spcPts val="0"/>
              </a:spcBef>
              <a:spcAft>
                <a:spcPts val="0"/>
              </a:spcAft>
              <a:buSzPts val="1400"/>
              <a:buNone/>
              <a:defRPr sz="1100" b="0" i="1"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2pPr>
            <a:lvl3pPr marR="0" lvl="2"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3pPr>
            <a:lvl4pPr marR="0" lvl="3"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4pPr>
            <a:lvl5pPr marR="0" lvl="4"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5pPr>
            <a:lvl6pPr marR="0" lvl="5"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6pPr>
            <a:lvl7pPr marR="0" lvl="6"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7pPr>
            <a:lvl8pPr marR="0" lvl="7"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8pPr>
            <a:lvl9pPr marR="0" lvl="8" algn="l" rtl="0">
              <a:spcBef>
                <a:spcPts val="0"/>
              </a:spcBef>
              <a:spcAft>
                <a:spcPts val="0"/>
              </a:spcAft>
              <a:buSzPts val="1400"/>
              <a:buNone/>
              <a:defRPr sz="2000" b="1" i="0" u="none" strike="noStrike" cap="none">
                <a:solidFill>
                  <a:srgbClr val="FAFD00"/>
                </a:solidFill>
                <a:latin typeface="Times New Roman"/>
                <a:ea typeface="Times New Roman"/>
                <a:cs typeface="Times New Roman"/>
                <a:sym typeface="Times New Roman"/>
              </a:defRPr>
            </a:lvl9pPr>
          </a:lstStyle>
          <a:p>
            <a:endParaRPr/>
          </a:p>
        </p:txBody>
      </p:sp>
      <p:sp>
        <p:nvSpPr>
          <p:cNvPr id="6" name="Google Shape;6;n"/>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marR="0" lvl="0" indent="0" algn="r" rtl="0">
              <a:spcBef>
                <a:spcPts val="0"/>
              </a:spcBef>
              <a:spcAft>
                <a:spcPts val="0"/>
              </a:spcAft>
              <a:buNone/>
            </a:pPr>
            <a:fld id="{00000000-1234-1234-1234-123412341234}" type="slidenum">
              <a:rPr lang="en-US" sz="1100" b="0" i="1" u="none" strike="noStrike" cap="none">
                <a:solidFill>
                  <a:schemeClr val="dk1"/>
                </a:solidFill>
                <a:latin typeface="Times New Roman"/>
                <a:ea typeface="Times New Roman"/>
                <a:cs typeface="Times New Roman"/>
                <a:sym typeface="Times New Roman"/>
              </a:rPr>
              <a:t>‹#›</a:t>
            </a:fld>
            <a:endParaRPr sz="1100" b="0" i="1" u="none" strike="noStrike" cap="none">
              <a:solidFill>
                <a:schemeClr val="dk1"/>
              </a:solidFill>
              <a:latin typeface="Times New Roman"/>
              <a:ea typeface="Times New Roman"/>
              <a:cs typeface="Times New Roman"/>
              <a:sym typeface="Times New Roman"/>
            </a:endParaRPr>
          </a:p>
        </p:txBody>
      </p:sp>
      <p:sp>
        <p:nvSpPr>
          <p:cNvPr id="7" name="Google Shape;7;n"/>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8" name="Google Shape;8;n"/>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chemeClr val="dk1"/>
            </a:solidFill>
            <a:prstDash val="solid"/>
            <a:miter lim="8000"/>
            <a:headEnd type="none" w="sm" len="sm"/>
            <a:tailEnd type="none" w="sm" len="sm"/>
          </a:ln>
        </p:spPr>
      </p:sp>
      <p:sp>
        <p:nvSpPr>
          <p:cNvPr id="9" name="Google Shape;9;n"/>
          <p:cNvSpPr/>
          <p:nvPr/>
        </p:nvSpPr>
        <p:spPr>
          <a:xfrm>
            <a:off x="3135313" y="8863013"/>
            <a:ext cx="749300" cy="277812"/>
          </a:xfrm>
          <a:prstGeom prst="rect">
            <a:avLst/>
          </a:prstGeom>
          <a:noFill/>
          <a:ln>
            <a:noFill/>
          </a:ln>
        </p:spPr>
        <p:txBody>
          <a:bodyPr spcFirstLastPara="1" wrap="square" lIns="89050" tIns="45325" rIns="89050" bIns="45325" anchor="t" anchorCtr="0">
            <a:spAutoFit/>
          </a:bodyPr>
          <a:lstStyle/>
          <a:p>
            <a:pPr marL="0" marR="0" lvl="0" indent="0" algn="ctr" rtl="0">
              <a:lnSpc>
                <a:spcPct val="90000"/>
              </a:lnSpc>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Page </a:t>
            </a: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1" name="Google Shape;31;p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32" name="Google Shape;32;p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 name="Google Shape;33;p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r>
              <a:rPr lang="en-US"/>
              <a:t>------------------------------------------------------------------</a:t>
            </a:r>
            <a:endParaRPr/>
          </a:p>
          <a:p>
            <a:pPr marL="0" lvl="0" indent="0" algn="l" rtl="0">
              <a:spcBef>
                <a:spcPts val="360"/>
              </a:spcBef>
              <a:spcAft>
                <a:spcPts val="0"/>
              </a:spcAft>
              <a:buNone/>
            </a:pPr>
            <a:r>
              <a:rPr lang="en-US"/>
              <a:t>------------------------------------------------------------------</a:t>
            </a:r>
            <a:endParaRPr/>
          </a:p>
          <a:p>
            <a:pPr marL="0" lvl="0" indent="0" algn="l" rtl="0">
              <a:spcBef>
                <a:spcPts val="360"/>
              </a:spcBef>
              <a:spcAft>
                <a:spcPts val="0"/>
              </a:spcAft>
              <a:buNone/>
            </a:pPr>
            <a:r>
              <a:rPr lang="en-US"/>
              <a:t>-------------------------------------------------------------------</a:t>
            </a:r>
            <a:endParaRPr/>
          </a:p>
          <a:p>
            <a:pPr marL="0" lvl="0" indent="0" algn="l" rtl="0">
              <a:spcBef>
                <a:spcPts val="360"/>
              </a:spcBef>
              <a:spcAft>
                <a:spcPts val="0"/>
              </a:spcAft>
              <a:buNone/>
            </a:pPr>
            <a:r>
              <a:rPr lang="en-US"/>
              <a:t>--------------------------------------------------------------------</a:t>
            </a:r>
            <a:endParaRPr/>
          </a:p>
          <a:p>
            <a:pPr marL="0" lvl="0" indent="0" algn="l" rtl="0">
              <a:spcBef>
                <a:spcPts val="360"/>
              </a:spcBef>
              <a:spcAft>
                <a:spcPts val="0"/>
              </a:spcAft>
              <a:buNone/>
            </a:pPr>
            <a:endParaRPr/>
          </a:p>
        </p:txBody>
      </p:sp>
      <p:sp>
        <p:nvSpPr>
          <p:cNvPr id="34" name="Google Shape;34;p1:notes"/>
          <p:cNvSpPr txBox="1"/>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marR="0" lvl="0" indent="0" algn="r" rtl="0">
              <a:spcBef>
                <a:spcPts val="0"/>
              </a:spcBef>
              <a:spcAft>
                <a:spcPts val="0"/>
              </a:spcAft>
              <a:buNone/>
            </a:pPr>
            <a:fld id="{00000000-1234-1234-1234-123412341234}" type="slidenum">
              <a:rPr lang="en-US" sz="1100" b="0" i="1" u="none" strike="noStrike" cap="none">
                <a:solidFill>
                  <a:schemeClr val="dk1"/>
                </a:solidFill>
                <a:latin typeface="Times New Roman"/>
                <a:ea typeface="Times New Roman"/>
                <a:cs typeface="Times New Roman"/>
                <a:sym typeface="Times New Roman"/>
              </a:rPr>
              <a:t>1</a:t>
            </a:fld>
            <a:endParaRPr sz="1100" b="0" i="1"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0" name="Google Shape;40;p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41" name="Google Shape;41;p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 name="Google Shape;42;p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8" name="Google Shape;48;p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49" name="Google Shape;49;p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 name="Google Shape;50;p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6" name="Google Shape;56;p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a:t>
            </a:fld>
            <a:endParaRPr/>
          </a:p>
        </p:txBody>
      </p:sp>
      <p:sp>
        <p:nvSpPr>
          <p:cNvPr id="57" name="Google Shape;57;p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 name="Google Shape;58;p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4" name="Google Shape;64;p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65" name="Google Shape;65;p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72" name="Google Shape;72;p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73" name="Google Shape;73;p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80" name="Google Shape;80;p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81" name="Google Shape;81;p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90" name="Google Shape;90;p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91" name="Google Shape;91;p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00" name="Google Shape;100;p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101" name="Google Shape;101;p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08" name="Google Shape;108;p1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109" name="Google Shape;109;p1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1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18" name="Google Shape;118;p1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119" name="Google Shape;119;p1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1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26" name="Google Shape;126;p1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127" name="Google Shape;127;p1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8" name="Google Shape;128;p1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34" name="Google Shape;134;p1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135" name="Google Shape;135;p1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 name="Google Shape;136;p1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42" name="Google Shape;142;p1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143" name="Google Shape;143;p1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1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50" name="Google Shape;150;p1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151" name="Google Shape;151;p1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1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58" name="Google Shape;158;p1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159" name="Google Shape;159;p1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68" name="Google Shape;168;p1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169" name="Google Shape;169;p1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p1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78" name="Google Shape;178;p1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179" name="Google Shape;179;p1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1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88" name="Google Shape;188;p1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189" name="Google Shape;189;p1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p1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196" name="Google Shape;196;p2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197" name="Google Shape;197;p2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2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04" name="Google Shape;204;p2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205" name="Google Shape;205;p2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6" name="Google Shape;206;p2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12" name="Google Shape;212;p2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213" name="Google Shape;213;p2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2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20" name="Google Shape;220;p2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221" name="Google Shape;221;p2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p2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28" name="Google Shape;228;p2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229" name="Google Shape;229;p2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0" name="Google Shape;230;p2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36" name="Google Shape;236;p2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237" name="Google Shape;237;p2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2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46" name="Google Shape;246;p2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247" name="Google Shape;247;p2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8" name="Google Shape;248;p2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54" name="Google Shape;254;p2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255" name="Google Shape;255;p2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6" name="Google Shape;256;p2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64" name="Google Shape;264;p2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265" name="Google Shape;265;p2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6" name="Google Shape;266;p2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76" name="Google Shape;276;p2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277" name="Google Shape;277;p2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8" name="Google Shape;278;p2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84" name="Google Shape;284;p3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30</a:t>
            </a:fld>
            <a:endParaRPr/>
          </a:p>
        </p:txBody>
      </p:sp>
      <p:sp>
        <p:nvSpPr>
          <p:cNvPr id="285" name="Google Shape;285;p3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6" name="Google Shape;286;p3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292" name="Google Shape;292;p3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31</a:t>
            </a:fld>
            <a:endParaRPr/>
          </a:p>
        </p:txBody>
      </p:sp>
      <p:sp>
        <p:nvSpPr>
          <p:cNvPr id="293" name="Google Shape;293;p3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p3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00" name="Google Shape;300;p3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32</a:t>
            </a:fld>
            <a:endParaRPr/>
          </a:p>
        </p:txBody>
      </p:sp>
      <p:sp>
        <p:nvSpPr>
          <p:cNvPr id="301" name="Google Shape;301;p3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p3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10" name="Google Shape;310;p3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33</a:t>
            </a:fld>
            <a:endParaRPr/>
          </a:p>
        </p:txBody>
      </p:sp>
      <p:sp>
        <p:nvSpPr>
          <p:cNvPr id="311" name="Google Shape;311;p3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3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18" name="Google Shape;318;p3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34</a:t>
            </a:fld>
            <a:endParaRPr/>
          </a:p>
        </p:txBody>
      </p:sp>
      <p:sp>
        <p:nvSpPr>
          <p:cNvPr id="319" name="Google Shape;319;p3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0" name="Google Shape;320;p3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26" name="Google Shape;326;p3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35</a:t>
            </a:fld>
            <a:endParaRPr/>
          </a:p>
        </p:txBody>
      </p:sp>
      <p:sp>
        <p:nvSpPr>
          <p:cNvPr id="327" name="Google Shape;327;p3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p3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34" name="Google Shape;334;p3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36</a:t>
            </a:fld>
            <a:endParaRPr/>
          </a:p>
        </p:txBody>
      </p:sp>
      <p:sp>
        <p:nvSpPr>
          <p:cNvPr id="335" name="Google Shape;335;p3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p3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42" name="Google Shape;342;p3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37</a:t>
            </a:fld>
            <a:endParaRPr/>
          </a:p>
        </p:txBody>
      </p:sp>
      <p:sp>
        <p:nvSpPr>
          <p:cNvPr id="343" name="Google Shape;343;p3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4" name="Google Shape;344;p3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52" name="Google Shape;352;p3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38</a:t>
            </a:fld>
            <a:endParaRPr/>
          </a:p>
        </p:txBody>
      </p:sp>
      <p:sp>
        <p:nvSpPr>
          <p:cNvPr id="353" name="Google Shape;353;p3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4" name="Google Shape;354;p3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60" name="Google Shape;360;p3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39</a:t>
            </a:fld>
            <a:endParaRPr/>
          </a:p>
        </p:txBody>
      </p:sp>
      <p:sp>
        <p:nvSpPr>
          <p:cNvPr id="361" name="Google Shape;361;p3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3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70" name="Google Shape;370;p4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40</a:t>
            </a:fld>
            <a:endParaRPr/>
          </a:p>
        </p:txBody>
      </p:sp>
      <p:sp>
        <p:nvSpPr>
          <p:cNvPr id="371" name="Google Shape;371;p4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2" name="Google Shape;372;p4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79" name="Google Shape;379;p4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41</a:t>
            </a:fld>
            <a:endParaRPr/>
          </a:p>
        </p:txBody>
      </p:sp>
      <p:sp>
        <p:nvSpPr>
          <p:cNvPr id="380" name="Google Shape;380;p4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1" name="Google Shape;381;p4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4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88" name="Google Shape;388;p4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42</a:t>
            </a:fld>
            <a:endParaRPr/>
          </a:p>
        </p:txBody>
      </p:sp>
      <p:sp>
        <p:nvSpPr>
          <p:cNvPr id="389" name="Google Shape;389;p4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0" name="Google Shape;390;p4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397" name="Google Shape;397;p4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43</a:t>
            </a:fld>
            <a:endParaRPr/>
          </a:p>
        </p:txBody>
      </p:sp>
      <p:sp>
        <p:nvSpPr>
          <p:cNvPr id="398" name="Google Shape;398;p4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9" name="Google Shape;399;p4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06" name="Google Shape;406;p4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44</a:t>
            </a:fld>
            <a:endParaRPr/>
          </a:p>
        </p:txBody>
      </p:sp>
      <p:sp>
        <p:nvSpPr>
          <p:cNvPr id="407" name="Google Shape;407;p4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4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14" name="Google Shape;414;p4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45</a:t>
            </a:fld>
            <a:endParaRPr/>
          </a:p>
        </p:txBody>
      </p:sp>
      <p:sp>
        <p:nvSpPr>
          <p:cNvPr id="415" name="Google Shape;415;p4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6" name="Google Shape;416;p4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22" name="Google Shape;422;p4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46</a:t>
            </a:fld>
            <a:endParaRPr/>
          </a:p>
        </p:txBody>
      </p:sp>
      <p:sp>
        <p:nvSpPr>
          <p:cNvPr id="423" name="Google Shape;423;p4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p4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30" name="Google Shape;430;p4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47</a:t>
            </a:fld>
            <a:endParaRPr/>
          </a:p>
        </p:txBody>
      </p:sp>
      <p:sp>
        <p:nvSpPr>
          <p:cNvPr id="431" name="Google Shape;431;p4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2" name="Google Shape;432;p4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38" name="Google Shape;438;p4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48</a:t>
            </a:fld>
            <a:endParaRPr/>
          </a:p>
        </p:txBody>
      </p:sp>
      <p:sp>
        <p:nvSpPr>
          <p:cNvPr id="439" name="Google Shape;439;p4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0" name="Google Shape;440;p4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46" name="Google Shape;446;p4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49</a:t>
            </a:fld>
            <a:endParaRPr/>
          </a:p>
        </p:txBody>
      </p:sp>
      <p:sp>
        <p:nvSpPr>
          <p:cNvPr id="447" name="Google Shape;447;p4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4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54" name="Google Shape;454;p5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50</a:t>
            </a:fld>
            <a:endParaRPr/>
          </a:p>
        </p:txBody>
      </p:sp>
      <p:sp>
        <p:nvSpPr>
          <p:cNvPr id="455" name="Google Shape;455;p5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6" name="Google Shape;456;p5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5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62" name="Google Shape;462;p5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51</a:t>
            </a:fld>
            <a:endParaRPr/>
          </a:p>
        </p:txBody>
      </p:sp>
      <p:sp>
        <p:nvSpPr>
          <p:cNvPr id="463" name="Google Shape;463;p5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5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70" name="Google Shape;470;p5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52</a:t>
            </a:fld>
            <a:endParaRPr/>
          </a:p>
        </p:txBody>
      </p:sp>
      <p:sp>
        <p:nvSpPr>
          <p:cNvPr id="471" name="Google Shape;471;p5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2" name="Google Shape;472;p5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79" name="Google Shape;479;p5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53</a:t>
            </a:fld>
            <a:endParaRPr/>
          </a:p>
        </p:txBody>
      </p:sp>
      <p:sp>
        <p:nvSpPr>
          <p:cNvPr id="480" name="Google Shape;480;p5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1" name="Google Shape;481;p5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87" name="Google Shape;487;p5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54</a:t>
            </a:fld>
            <a:endParaRPr/>
          </a:p>
        </p:txBody>
      </p:sp>
      <p:sp>
        <p:nvSpPr>
          <p:cNvPr id="488" name="Google Shape;488;p5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9" name="Google Shape;489;p5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495" name="Google Shape;495;p5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55</a:t>
            </a:fld>
            <a:endParaRPr/>
          </a:p>
        </p:txBody>
      </p:sp>
      <p:sp>
        <p:nvSpPr>
          <p:cNvPr id="496" name="Google Shape;496;p5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7" name="Google Shape;497;p5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04" name="Google Shape;504;p5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56</a:t>
            </a:fld>
            <a:endParaRPr/>
          </a:p>
        </p:txBody>
      </p:sp>
      <p:sp>
        <p:nvSpPr>
          <p:cNvPr id="505" name="Google Shape;505;p5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6" name="Google Shape;506;p5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5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12" name="Google Shape;512;p5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57</a:t>
            </a:fld>
            <a:endParaRPr/>
          </a:p>
        </p:txBody>
      </p:sp>
      <p:sp>
        <p:nvSpPr>
          <p:cNvPr id="513" name="Google Shape;513;p5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4" name="Google Shape;514;p5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5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20" name="Google Shape;520;p5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58</a:t>
            </a:fld>
            <a:endParaRPr/>
          </a:p>
        </p:txBody>
      </p:sp>
      <p:sp>
        <p:nvSpPr>
          <p:cNvPr id="521" name="Google Shape;521;p5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2" name="Google Shape;522;p5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28" name="Google Shape;528;p5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59</a:t>
            </a:fld>
            <a:endParaRPr/>
          </a:p>
        </p:txBody>
      </p:sp>
      <p:sp>
        <p:nvSpPr>
          <p:cNvPr id="529" name="Google Shape;529;p5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0" name="Google Shape;530;p5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6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37" name="Google Shape;537;p6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60</a:t>
            </a:fld>
            <a:endParaRPr/>
          </a:p>
        </p:txBody>
      </p:sp>
      <p:sp>
        <p:nvSpPr>
          <p:cNvPr id="538" name="Google Shape;538;p6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9" name="Google Shape;539;p6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6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45" name="Google Shape;545;p6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61</a:t>
            </a:fld>
            <a:endParaRPr/>
          </a:p>
        </p:txBody>
      </p:sp>
      <p:sp>
        <p:nvSpPr>
          <p:cNvPr id="546" name="Google Shape;546;p6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7" name="Google Shape;547;p6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6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53" name="Google Shape;553;p6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62</a:t>
            </a:fld>
            <a:endParaRPr/>
          </a:p>
        </p:txBody>
      </p:sp>
      <p:sp>
        <p:nvSpPr>
          <p:cNvPr id="554" name="Google Shape;554;p6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5" name="Google Shape;555;p6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61" name="Google Shape;561;p6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63</a:t>
            </a:fld>
            <a:endParaRPr/>
          </a:p>
        </p:txBody>
      </p:sp>
      <p:sp>
        <p:nvSpPr>
          <p:cNvPr id="562" name="Google Shape;562;p6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3" name="Google Shape;563;p6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6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69" name="Google Shape;569;p6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64</a:t>
            </a:fld>
            <a:endParaRPr/>
          </a:p>
        </p:txBody>
      </p:sp>
      <p:sp>
        <p:nvSpPr>
          <p:cNvPr id="570" name="Google Shape;570;p6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p6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65: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77" name="Google Shape;577;p65: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65</a:t>
            </a:fld>
            <a:endParaRPr/>
          </a:p>
        </p:txBody>
      </p:sp>
      <p:sp>
        <p:nvSpPr>
          <p:cNvPr id="578" name="Google Shape;578;p65: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9" name="Google Shape;579;p65: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6: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86" name="Google Shape;586;p66: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66</a:t>
            </a:fld>
            <a:endParaRPr/>
          </a:p>
        </p:txBody>
      </p:sp>
      <p:sp>
        <p:nvSpPr>
          <p:cNvPr id="587" name="Google Shape;587;p66: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8" name="Google Shape;588;p66: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67: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594" name="Google Shape;594;p67: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67</a:t>
            </a:fld>
            <a:endParaRPr/>
          </a:p>
        </p:txBody>
      </p:sp>
      <p:sp>
        <p:nvSpPr>
          <p:cNvPr id="595" name="Google Shape;595;p67: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67: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68: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02" name="Google Shape;602;p68: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68</a:t>
            </a:fld>
            <a:endParaRPr/>
          </a:p>
        </p:txBody>
      </p:sp>
      <p:sp>
        <p:nvSpPr>
          <p:cNvPr id="603" name="Google Shape;603;p68: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4" name="Google Shape;604;p68: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69: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10" name="Google Shape;610;p69: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69</a:t>
            </a:fld>
            <a:endParaRPr/>
          </a:p>
        </p:txBody>
      </p:sp>
      <p:sp>
        <p:nvSpPr>
          <p:cNvPr id="611" name="Google Shape;611;p69: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2" name="Google Shape;612;p69: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70: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20" name="Google Shape;620;p70: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70</a:t>
            </a:fld>
            <a:endParaRPr/>
          </a:p>
        </p:txBody>
      </p:sp>
      <p:sp>
        <p:nvSpPr>
          <p:cNvPr id="621" name="Google Shape;621;p70: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2" name="Google Shape;622;p70: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71: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28" name="Google Shape;628;p71: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71</a:t>
            </a:fld>
            <a:endParaRPr/>
          </a:p>
        </p:txBody>
      </p:sp>
      <p:sp>
        <p:nvSpPr>
          <p:cNvPr id="629" name="Google Shape;629;p71: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0" name="Google Shape;630;p71: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72: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36" name="Google Shape;636;p72: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72</a:t>
            </a:fld>
            <a:endParaRPr/>
          </a:p>
        </p:txBody>
      </p:sp>
      <p:sp>
        <p:nvSpPr>
          <p:cNvPr id="637" name="Google Shape;637;p72: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8" name="Google Shape;638;p72: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73: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44" name="Google Shape;644;p73: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73</a:t>
            </a:fld>
            <a:endParaRPr/>
          </a:p>
        </p:txBody>
      </p:sp>
      <p:sp>
        <p:nvSpPr>
          <p:cNvPr id="645" name="Google Shape;645;p73: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6" name="Google Shape;646;p73: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74:notes"/>
          <p:cNvSpPr txBox="1">
            <a:spLocks noGrp="1"/>
          </p:cNvSpPr>
          <p:nvPr>
            <p:ph type="hdr" idx="2"/>
          </p:nvPr>
        </p:nvSpPr>
        <p:spPr>
          <a:xfrm>
            <a:off x="0" y="0"/>
            <a:ext cx="3041650" cy="465138"/>
          </a:xfrm>
          <a:prstGeom prst="rect">
            <a:avLst/>
          </a:prstGeom>
          <a:noFill/>
          <a:ln>
            <a:noFill/>
          </a:ln>
        </p:spPr>
        <p:txBody>
          <a:bodyPr spcFirstLastPara="1" wrap="square" lIns="19425" tIns="0" rIns="19425" bIns="0" anchor="t" anchorCtr="0">
            <a:noAutofit/>
          </a:bodyPr>
          <a:lstStyle/>
          <a:p>
            <a:pPr marL="0" lvl="0" indent="0" algn="l" rtl="0">
              <a:spcBef>
                <a:spcPts val="0"/>
              </a:spcBef>
              <a:spcAft>
                <a:spcPts val="0"/>
              </a:spcAft>
              <a:buNone/>
            </a:pPr>
            <a:r>
              <a:rPr lang="en-US"/>
              <a:t>Handouts</a:t>
            </a:r>
            <a:endParaRPr/>
          </a:p>
        </p:txBody>
      </p:sp>
      <p:sp>
        <p:nvSpPr>
          <p:cNvPr id="652" name="Google Shape;652;p74:notes"/>
          <p:cNvSpPr txBox="1">
            <a:spLocks noGrp="1"/>
          </p:cNvSpPr>
          <p:nvPr>
            <p:ph type="sldNum" idx="12"/>
          </p:nvPr>
        </p:nvSpPr>
        <p:spPr>
          <a:xfrm>
            <a:off x="3978275" y="8840788"/>
            <a:ext cx="3041650" cy="465137"/>
          </a:xfrm>
          <a:prstGeom prst="rect">
            <a:avLst/>
          </a:prstGeom>
          <a:noFill/>
          <a:ln>
            <a:noFill/>
          </a:ln>
        </p:spPr>
        <p:txBody>
          <a:bodyPr spcFirstLastPara="1" wrap="square" lIns="19425" tIns="0" rIns="19425" bIns="0" anchor="b" anchorCtr="0">
            <a:noAutofit/>
          </a:bodyPr>
          <a:lstStyle/>
          <a:p>
            <a:pPr marL="0" lvl="0" indent="0" algn="r" rtl="0">
              <a:spcBef>
                <a:spcPts val="0"/>
              </a:spcBef>
              <a:spcAft>
                <a:spcPts val="0"/>
              </a:spcAft>
              <a:buNone/>
            </a:pPr>
            <a:fld id="{00000000-1234-1234-1234-123412341234}" type="slidenum">
              <a:rPr lang="en-US"/>
              <a:t>74</a:t>
            </a:fld>
            <a:endParaRPr/>
          </a:p>
        </p:txBody>
      </p:sp>
      <p:sp>
        <p:nvSpPr>
          <p:cNvPr id="653" name="Google Shape;653;p74:notes"/>
          <p:cNvSpPr>
            <a:spLocks noGrp="1" noRot="1" noChangeAspect="1"/>
          </p:cNvSpPr>
          <p:nvPr>
            <p:ph type="sldImg" idx="3"/>
          </p:nvPr>
        </p:nvSpPr>
        <p:spPr>
          <a:xfrm>
            <a:off x="1187450" y="698500"/>
            <a:ext cx="4646613" cy="348456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4" name="Google Shape;654;p74:notes"/>
          <p:cNvSpPr txBox="1">
            <a:spLocks noGrp="1"/>
          </p:cNvSpPr>
          <p:nvPr>
            <p:ph type="body" idx="1"/>
          </p:nvPr>
        </p:nvSpPr>
        <p:spPr>
          <a:xfrm>
            <a:off x="935038" y="4419600"/>
            <a:ext cx="5149850" cy="4186238"/>
          </a:xfrm>
          <a:prstGeom prst="rect">
            <a:avLst/>
          </a:prstGeom>
          <a:noFill/>
          <a:ln>
            <a:noFill/>
          </a:ln>
        </p:spPr>
        <p:txBody>
          <a:bodyPr spcFirstLastPara="1" wrap="square" lIns="93900" tIns="46950" rIns="93900" bIns="4695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
        <p:cNvGrpSpPr/>
        <p:nvPr/>
      </p:nvGrpSpPr>
      <p:grpSpPr>
        <a:xfrm>
          <a:off x="0" y="0"/>
          <a:ext cx="0" cy="0"/>
          <a:chOff x="0" y="0"/>
          <a:chExt cx="0" cy="0"/>
        </a:xfrm>
      </p:grpSpPr>
      <p:sp>
        <p:nvSpPr>
          <p:cNvPr id="14" name="Google Shape;14;p76"/>
          <p:cNvSpPr/>
          <p:nvPr/>
        </p:nvSpPr>
        <p:spPr>
          <a:xfrm>
            <a:off x="6350" y="6350"/>
            <a:ext cx="9118600" cy="6832600"/>
          </a:xfrm>
          <a:prstGeom prst="rect">
            <a:avLst/>
          </a:prstGeom>
          <a:no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i="0" u="none" strike="noStrike" cap="none">
              <a:solidFill>
                <a:srgbClr val="FAFD00"/>
              </a:solidFill>
              <a:latin typeface="Times New Roman"/>
              <a:ea typeface="Times New Roman"/>
              <a:cs typeface="Times New Roman"/>
              <a:sym typeface="Times New Roman"/>
            </a:endParaRPr>
          </a:p>
        </p:txBody>
      </p:sp>
      <p:sp>
        <p:nvSpPr>
          <p:cNvPr id="15" name="Google Shape;15;p76"/>
          <p:cNvSpPr txBox="1"/>
          <p:nvPr/>
        </p:nvSpPr>
        <p:spPr>
          <a:xfrm>
            <a:off x="1452563" y="6527800"/>
            <a:ext cx="5230812" cy="344488"/>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900" b="0" i="0" u="none" strike="noStrike" cap="none">
                <a:solidFill>
                  <a:srgbClr val="000000"/>
                </a:solidFill>
                <a:latin typeface="Arial Black"/>
                <a:ea typeface="Arial Black"/>
                <a:cs typeface="Arial Black"/>
                <a:sym typeface="Arial Black"/>
              </a:rPr>
              <a:t>Software Evolution and Maintenance </a:t>
            </a:r>
            <a:r>
              <a:rPr lang="en-US" sz="900" b="0" i="0" u="none" strike="noStrike" cap="none">
                <a:solidFill>
                  <a:srgbClr val="000000"/>
                </a:solidFill>
                <a:latin typeface="Times New Roman"/>
                <a:ea typeface="Times New Roman"/>
                <a:cs typeface="Times New Roman"/>
                <a:sym typeface="Times New Roman"/>
              </a:rPr>
              <a:t> </a:t>
            </a:r>
            <a:r>
              <a:rPr lang="en-US" sz="900" b="0" i="0" u="none" strike="noStrike" cap="none">
                <a:solidFill>
                  <a:srgbClr val="000000"/>
                </a:solidFill>
                <a:latin typeface="Arial"/>
                <a:ea typeface="Arial"/>
                <a:cs typeface="Arial"/>
                <a:sym typeface="Arial"/>
              </a:rPr>
              <a:t>(Chapter 4: Reengineering)</a:t>
            </a:r>
            <a:endParaRPr/>
          </a:p>
        </p:txBody>
      </p:sp>
      <p:sp>
        <p:nvSpPr>
          <p:cNvPr id="16" name="Google Shape;16;p76"/>
          <p:cNvSpPr txBox="1"/>
          <p:nvPr/>
        </p:nvSpPr>
        <p:spPr>
          <a:xfrm>
            <a:off x="7399338" y="6586538"/>
            <a:ext cx="1327150" cy="227012"/>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900" b="0" i="0" u="none" strike="noStrike" cap="none">
                <a:solidFill>
                  <a:srgbClr val="000000"/>
                </a:solidFill>
                <a:latin typeface="Times New Roman"/>
                <a:ea typeface="Times New Roman"/>
                <a:cs typeface="Times New Roman"/>
                <a:sym typeface="Times New Roman"/>
              </a:rPr>
              <a:t>© Tripathy &amp; Naik</a:t>
            </a:r>
            <a:endParaRPr/>
          </a:p>
        </p:txBody>
      </p:sp>
      <p:pic>
        <p:nvPicPr>
          <p:cNvPr id="17" name="Google Shape;17;p76"/>
          <p:cNvPicPr preferRelativeResize="0"/>
          <p:nvPr/>
        </p:nvPicPr>
        <p:blipFill rotWithShape="1">
          <a:blip r:embed="rId2">
            <a:alphaModFix/>
          </a:blip>
          <a:srcRect/>
          <a:stretch/>
        </p:blipFill>
        <p:spPr>
          <a:xfrm>
            <a:off x="8051800" y="17463"/>
            <a:ext cx="1081088" cy="576262"/>
          </a:xfrm>
          <a:prstGeom prst="rect">
            <a:avLst/>
          </a:prstGeom>
          <a:noFill/>
          <a:ln>
            <a:noFill/>
          </a:ln>
        </p:spPr>
      </p:pic>
      <p:pic>
        <p:nvPicPr>
          <p:cNvPr id="18" name="Google Shape;18;p76"/>
          <p:cNvPicPr preferRelativeResize="0"/>
          <p:nvPr/>
        </p:nvPicPr>
        <p:blipFill rotWithShape="1">
          <a:blip r:embed="rId3">
            <a:alphaModFix/>
          </a:blip>
          <a:srcRect/>
          <a:stretch/>
        </p:blipFill>
        <p:spPr>
          <a:xfrm>
            <a:off x="0" y="6540500"/>
            <a:ext cx="1130300" cy="317500"/>
          </a:xfrm>
          <a:prstGeom prst="rect">
            <a:avLst/>
          </a:prstGeom>
          <a:noFill/>
          <a:ln>
            <a:noFill/>
          </a:ln>
        </p:spPr>
      </p:pic>
      <p:pic>
        <p:nvPicPr>
          <p:cNvPr id="19" name="Google Shape;19;p76"/>
          <p:cNvPicPr preferRelativeResize="0"/>
          <p:nvPr/>
        </p:nvPicPr>
        <p:blipFill rotWithShape="1">
          <a:blip r:embed="rId4">
            <a:alphaModFix/>
          </a:blip>
          <a:srcRect/>
          <a:stretch/>
        </p:blipFill>
        <p:spPr>
          <a:xfrm>
            <a:off x="127000" y="-12700"/>
            <a:ext cx="515938" cy="571500"/>
          </a:xfrm>
          <a:prstGeom prst="rect">
            <a:avLst/>
          </a:prstGeom>
          <a:noFill/>
          <a:ln>
            <a:noFill/>
          </a:ln>
        </p:spPr>
      </p:pic>
      <p:sp>
        <p:nvSpPr>
          <p:cNvPr id="20" name="Google Shape;20;p76"/>
          <p:cNvSpPr txBox="1">
            <a:spLocks noGrp="1"/>
          </p:cNvSpPr>
          <p:nvPr>
            <p:ph type="title"/>
          </p:nvPr>
        </p:nvSpPr>
        <p:spPr>
          <a:xfrm>
            <a:off x="0" y="0"/>
            <a:ext cx="9144000" cy="487363"/>
          </a:xfrm>
          <a:prstGeom prst="rect">
            <a:avLst/>
          </a:prstGeom>
          <a:noFill/>
          <a:ln>
            <a:noFill/>
          </a:ln>
        </p:spPr>
        <p:txBody>
          <a:bodyPr spcFirstLastPara="1" wrap="square" lIns="92075" tIns="46025" rIns="92075" bIns="46025"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21" name="Google Shape;21;p76"/>
          <p:cNvSpPr txBox="1">
            <a:spLocks noGrp="1"/>
          </p:cNvSpPr>
          <p:nvPr>
            <p:ph type="body" idx="1"/>
          </p:nvPr>
        </p:nvSpPr>
        <p:spPr>
          <a:xfrm rot="5400000">
            <a:off x="1741488" y="-887412"/>
            <a:ext cx="5870575" cy="8966200"/>
          </a:xfrm>
          <a:prstGeom prst="rect">
            <a:avLst/>
          </a:prstGeom>
          <a:noFill/>
          <a:ln>
            <a:noFill/>
          </a:ln>
        </p:spPr>
        <p:txBody>
          <a:bodyPr spcFirstLastPara="1" wrap="square" lIns="92075" tIns="46025" rIns="92075" bIns="46025" anchor="t" anchorCtr="0">
            <a:noAutofit/>
          </a:bodyPr>
          <a:lstStyle>
            <a:lvl1pPr marL="457200" lvl="0" indent="-314325" algn="l">
              <a:lnSpc>
                <a:spcPct val="90000"/>
              </a:lnSpc>
              <a:spcBef>
                <a:spcPts val="540"/>
              </a:spcBef>
              <a:spcAft>
                <a:spcPts val="0"/>
              </a:spcAft>
              <a:buClr>
                <a:srgbClr val="000000"/>
              </a:buClr>
              <a:buSzPts val="1350"/>
              <a:buChar char="•"/>
              <a:defRPr/>
            </a:lvl1pPr>
            <a:lvl2pPr marL="914400" lvl="1" indent="-342900" algn="l">
              <a:lnSpc>
                <a:spcPct val="90000"/>
              </a:lnSpc>
              <a:spcBef>
                <a:spcPts val="540"/>
              </a:spcBef>
              <a:spcAft>
                <a:spcPts val="0"/>
              </a:spcAft>
              <a:buClr>
                <a:schemeClr val="dk2"/>
              </a:buClr>
              <a:buSzPts val="1800"/>
              <a:buChar char="–"/>
              <a:defRPr/>
            </a:lvl2pPr>
            <a:lvl3pPr marL="1371600" lvl="2" indent="-342900" algn="l">
              <a:lnSpc>
                <a:spcPct val="90000"/>
              </a:lnSpc>
              <a:spcBef>
                <a:spcPts val="540"/>
              </a:spcBef>
              <a:spcAft>
                <a:spcPts val="0"/>
              </a:spcAft>
              <a:buClr>
                <a:srgbClr val="663300"/>
              </a:buClr>
              <a:buSzPts val="1800"/>
              <a:buChar char="•"/>
              <a:defRPr/>
            </a:lvl3pPr>
            <a:lvl4pPr marL="1828800" lvl="3" indent="-342900" algn="l">
              <a:lnSpc>
                <a:spcPct val="90000"/>
              </a:lnSpc>
              <a:spcBef>
                <a:spcPts val="540"/>
              </a:spcBef>
              <a:spcAft>
                <a:spcPts val="0"/>
              </a:spcAft>
              <a:buClr>
                <a:srgbClr val="000000"/>
              </a:buClr>
              <a:buSzPts val="1800"/>
              <a:buChar char="–"/>
              <a:defRPr/>
            </a:lvl4pPr>
            <a:lvl5pPr marL="2286000" lvl="4" indent="-342900" algn="l">
              <a:lnSpc>
                <a:spcPct val="90000"/>
              </a:lnSpc>
              <a:spcBef>
                <a:spcPts val="540"/>
              </a:spcBef>
              <a:spcAft>
                <a:spcPts val="0"/>
              </a:spcAft>
              <a:buClr>
                <a:srgbClr val="000000"/>
              </a:buClr>
              <a:buSzPts val="1800"/>
              <a:buChar char="⮚"/>
              <a:defRPr/>
            </a:lvl5pPr>
            <a:lvl6pPr marL="2743200" lvl="5" indent="-342900" algn="l">
              <a:lnSpc>
                <a:spcPct val="90000"/>
              </a:lnSpc>
              <a:spcBef>
                <a:spcPts val="540"/>
              </a:spcBef>
              <a:spcAft>
                <a:spcPts val="0"/>
              </a:spcAft>
              <a:buClr>
                <a:schemeClr val="lt1"/>
              </a:buClr>
              <a:buSzPts val="1800"/>
              <a:buChar char="⮚"/>
              <a:defRPr/>
            </a:lvl6pPr>
            <a:lvl7pPr marL="3200400" lvl="6" indent="-342900" algn="l">
              <a:lnSpc>
                <a:spcPct val="90000"/>
              </a:lnSpc>
              <a:spcBef>
                <a:spcPts val="540"/>
              </a:spcBef>
              <a:spcAft>
                <a:spcPts val="0"/>
              </a:spcAft>
              <a:buClr>
                <a:schemeClr val="lt1"/>
              </a:buClr>
              <a:buSzPts val="1800"/>
              <a:buChar char="⮚"/>
              <a:defRPr/>
            </a:lvl7pPr>
            <a:lvl8pPr marL="3657600" lvl="7" indent="-342900" algn="l">
              <a:lnSpc>
                <a:spcPct val="90000"/>
              </a:lnSpc>
              <a:spcBef>
                <a:spcPts val="540"/>
              </a:spcBef>
              <a:spcAft>
                <a:spcPts val="0"/>
              </a:spcAft>
              <a:buClr>
                <a:schemeClr val="lt1"/>
              </a:buClr>
              <a:buSzPts val="1800"/>
              <a:buChar char="⮚"/>
              <a:defRPr/>
            </a:lvl8pPr>
            <a:lvl9pPr marL="4114800" lvl="8" indent="-342900" algn="l">
              <a:lnSpc>
                <a:spcPct val="90000"/>
              </a:lnSpc>
              <a:spcBef>
                <a:spcPts val="540"/>
              </a:spcBef>
              <a:spcAft>
                <a:spcPts val="0"/>
              </a:spcAft>
              <a:buClr>
                <a:schemeClr val="lt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77"/>
          <p:cNvSpPr/>
          <p:nvPr/>
        </p:nvSpPr>
        <p:spPr>
          <a:xfrm>
            <a:off x="6350" y="6350"/>
            <a:ext cx="9118600" cy="6832600"/>
          </a:xfrm>
          <a:prstGeom prst="rect">
            <a:avLst/>
          </a:prstGeom>
          <a:no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b="1">
              <a:solidFill>
                <a:srgbClr val="FAFD00"/>
              </a:solidFill>
              <a:latin typeface="Times New Roman"/>
              <a:ea typeface="Times New Roman"/>
              <a:cs typeface="Times New Roman"/>
              <a:sym typeface="Times New Roman"/>
            </a:endParaRPr>
          </a:p>
        </p:txBody>
      </p:sp>
      <p:sp>
        <p:nvSpPr>
          <p:cNvPr id="24" name="Google Shape;24;p77"/>
          <p:cNvSpPr txBox="1">
            <a:spLocks noGrp="1"/>
          </p:cNvSpPr>
          <p:nvPr>
            <p:ph type="ctrTitle"/>
          </p:nvPr>
        </p:nvSpPr>
        <p:spPr>
          <a:xfrm>
            <a:off x="52388" y="2130425"/>
            <a:ext cx="7772400" cy="1470025"/>
          </a:xfrm>
          <a:prstGeom prst="rect">
            <a:avLst/>
          </a:prstGeom>
          <a:noFill/>
          <a:ln>
            <a:noFill/>
          </a:ln>
        </p:spPr>
        <p:txBody>
          <a:bodyPr spcFirstLastPara="1" wrap="square" lIns="92075" tIns="46025" rIns="92075" bIns="46025"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25" name="Google Shape;25;p77"/>
          <p:cNvSpPr txBox="1">
            <a:spLocks noGrp="1"/>
          </p:cNvSpPr>
          <p:nvPr>
            <p:ph type="subTitle" idx="1"/>
          </p:nvPr>
        </p:nvSpPr>
        <p:spPr>
          <a:xfrm>
            <a:off x="82550" y="3886200"/>
            <a:ext cx="6400800" cy="1752600"/>
          </a:xfrm>
          <a:prstGeom prst="rect">
            <a:avLst/>
          </a:prstGeom>
          <a:noFill/>
          <a:ln>
            <a:noFill/>
          </a:ln>
        </p:spPr>
        <p:txBody>
          <a:bodyPr spcFirstLastPara="1" wrap="square" lIns="92075" tIns="46025" rIns="92075" bIns="46025" anchor="t" anchorCtr="0">
            <a:noAutofit/>
          </a:bodyPr>
          <a:lstStyle>
            <a:lvl1pPr lvl="0" algn="ctr">
              <a:lnSpc>
                <a:spcPct val="90000"/>
              </a:lnSpc>
              <a:spcBef>
                <a:spcPts val="720"/>
              </a:spcBef>
              <a:spcAft>
                <a:spcPts val="0"/>
              </a:spcAft>
              <a:buClr>
                <a:srgbClr val="000000"/>
              </a:buClr>
              <a:buSzPts val="1800"/>
              <a:buFont typeface="Times New Roman"/>
              <a:buNone/>
              <a:defRPr/>
            </a:lvl1pPr>
            <a:lvl2pPr lvl="1" algn="l">
              <a:lnSpc>
                <a:spcPct val="90000"/>
              </a:lnSpc>
              <a:spcBef>
                <a:spcPts val="540"/>
              </a:spcBef>
              <a:spcAft>
                <a:spcPts val="0"/>
              </a:spcAft>
              <a:buClr>
                <a:schemeClr val="dk2"/>
              </a:buClr>
              <a:buSzPts val="1800"/>
              <a:buChar char="–"/>
              <a:defRPr/>
            </a:lvl2pPr>
            <a:lvl3pPr lvl="2" algn="l">
              <a:lnSpc>
                <a:spcPct val="90000"/>
              </a:lnSpc>
              <a:spcBef>
                <a:spcPts val="540"/>
              </a:spcBef>
              <a:spcAft>
                <a:spcPts val="0"/>
              </a:spcAft>
              <a:buClr>
                <a:srgbClr val="663300"/>
              </a:buClr>
              <a:buSzPts val="1800"/>
              <a:buChar char="•"/>
              <a:defRPr/>
            </a:lvl3pPr>
            <a:lvl4pPr lvl="3" algn="l">
              <a:lnSpc>
                <a:spcPct val="90000"/>
              </a:lnSpc>
              <a:spcBef>
                <a:spcPts val="540"/>
              </a:spcBef>
              <a:spcAft>
                <a:spcPts val="0"/>
              </a:spcAft>
              <a:buClr>
                <a:srgbClr val="000000"/>
              </a:buClr>
              <a:buSzPts val="1800"/>
              <a:buChar char="–"/>
              <a:defRPr/>
            </a:lvl4pPr>
            <a:lvl5pPr lvl="4" algn="l">
              <a:lnSpc>
                <a:spcPct val="90000"/>
              </a:lnSpc>
              <a:spcBef>
                <a:spcPts val="540"/>
              </a:spcBef>
              <a:spcAft>
                <a:spcPts val="0"/>
              </a:spcAft>
              <a:buClr>
                <a:srgbClr val="000000"/>
              </a:buClr>
              <a:buSzPts val="1800"/>
              <a:buChar char="⮚"/>
              <a:defRPr/>
            </a:lvl5pPr>
            <a:lvl6pPr lvl="5" algn="l">
              <a:lnSpc>
                <a:spcPct val="90000"/>
              </a:lnSpc>
              <a:spcBef>
                <a:spcPts val="540"/>
              </a:spcBef>
              <a:spcAft>
                <a:spcPts val="0"/>
              </a:spcAft>
              <a:buClr>
                <a:schemeClr val="lt1"/>
              </a:buClr>
              <a:buSzPts val="1800"/>
              <a:buChar char="⮚"/>
              <a:defRPr/>
            </a:lvl6pPr>
            <a:lvl7pPr lvl="6" algn="l">
              <a:lnSpc>
                <a:spcPct val="90000"/>
              </a:lnSpc>
              <a:spcBef>
                <a:spcPts val="540"/>
              </a:spcBef>
              <a:spcAft>
                <a:spcPts val="0"/>
              </a:spcAft>
              <a:buClr>
                <a:schemeClr val="lt1"/>
              </a:buClr>
              <a:buSzPts val="1800"/>
              <a:buChar char="⮚"/>
              <a:defRPr/>
            </a:lvl7pPr>
            <a:lvl8pPr lvl="7" algn="l">
              <a:lnSpc>
                <a:spcPct val="90000"/>
              </a:lnSpc>
              <a:spcBef>
                <a:spcPts val="540"/>
              </a:spcBef>
              <a:spcAft>
                <a:spcPts val="0"/>
              </a:spcAft>
              <a:buClr>
                <a:schemeClr val="lt1"/>
              </a:buClr>
              <a:buSzPts val="1800"/>
              <a:buChar char="⮚"/>
              <a:defRPr/>
            </a:lvl8pPr>
            <a:lvl9pPr lvl="8" algn="l">
              <a:lnSpc>
                <a:spcPct val="90000"/>
              </a:lnSpc>
              <a:spcBef>
                <a:spcPts val="540"/>
              </a:spcBef>
              <a:spcAft>
                <a:spcPts val="0"/>
              </a:spcAft>
              <a:buClr>
                <a:schemeClr val="lt1"/>
              </a:buClr>
              <a:buSzPts val="1800"/>
              <a:buChar char="⮚"/>
              <a:defRPr/>
            </a:lvl9pPr>
          </a:lstStyle>
          <a:p>
            <a:endParaRPr/>
          </a:p>
        </p:txBody>
      </p:sp>
      <p:sp>
        <p:nvSpPr>
          <p:cNvPr id="26" name="Google Shape;26;p77"/>
          <p:cNvSpPr txBox="1">
            <a:spLocks noGrp="1"/>
          </p:cNvSpPr>
          <p:nvPr>
            <p:ph type="sldNum" idx="12"/>
          </p:nvPr>
        </p:nvSpPr>
        <p:spPr>
          <a:xfrm>
            <a:off x="6553200" y="6245225"/>
            <a:ext cx="2133600" cy="476250"/>
          </a:xfrm>
          <a:prstGeom prst="rect">
            <a:avLst/>
          </a:prstGeom>
          <a:noFill/>
          <a:ln>
            <a:noFill/>
          </a:ln>
        </p:spPr>
        <p:txBody>
          <a:bodyPr spcFirstLastPara="1" wrap="square" lIns="92075" tIns="46025" rIns="92075" bIns="46025" anchor="ctr" anchorCtr="0">
            <a:noAutofit/>
          </a:bodyPr>
          <a:lstStyle>
            <a:lvl1pPr marL="0" marR="0" lvl="0" indent="0" algn="r" rtl="0">
              <a:spcBef>
                <a:spcPts val="0"/>
              </a:spcBef>
              <a:spcAft>
                <a:spcPts val="0"/>
              </a:spcAft>
              <a:buNone/>
              <a:defRPr sz="900" b="0">
                <a:solidFill>
                  <a:srgbClr val="000000"/>
                </a:solidFill>
                <a:latin typeface="Times New Roman"/>
                <a:ea typeface="Times New Roman"/>
                <a:cs typeface="Times New Roman"/>
                <a:sym typeface="Times New Roman"/>
              </a:defRPr>
            </a:lvl1pPr>
            <a:lvl2pPr marL="0" marR="0" lvl="1" indent="0" algn="r" rtl="0">
              <a:spcBef>
                <a:spcPts val="0"/>
              </a:spcBef>
              <a:spcAft>
                <a:spcPts val="0"/>
              </a:spcAft>
              <a:buNone/>
              <a:defRPr sz="900" b="0">
                <a:solidFill>
                  <a:srgbClr val="000000"/>
                </a:solidFill>
                <a:latin typeface="Times New Roman"/>
                <a:ea typeface="Times New Roman"/>
                <a:cs typeface="Times New Roman"/>
                <a:sym typeface="Times New Roman"/>
              </a:defRPr>
            </a:lvl2pPr>
            <a:lvl3pPr marL="0" marR="0" lvl="2" indent="0" algn="r" rtl="0">
              <a:spcBef>
                <a:spcPts val="0"/>
              </a:spcBef>
              <a:spcAft>
                <a:spcPts val="0"/>
              </a:spcAft>
              <a:buNone/>
              <a:defRPr sz="900" b="0">
                <a:solidFill>
                  <a:srgbClr val="000000"/>
                </a:solidFill>
                <a:latin typeface="Times New Roman"/>
                <a:ea typeface="Times New Roman"/>
                <a:cs typeface="Times New Roman"/>
                <a:sym typeface="Times New Roman"/>
              </a:defRPr>
            </a:lvl3pPr>
            <a:lvl4pPr marL="0" marR="0" lvl="3" indent="0" algn="r" rtl="0">
              <a:spcBef>
                <a:spcPts val="0"/>
              </a:spcBef>
              <a:spcAft>
                <a:spcPts val="0"/>
              </a:spcAft>
              <a:buNone/>
              <a:defRPr sz="900" b="0">
                <a:solidFill>
                  <a:srgbClr val="000000"/>
                </a:solidFill>
                <a:latin typeface="Times New Roman"/>
                <a:ea typeface="Times New Roman"/>
                <a:cs typeface="Times New Roman"/>
                <a:sym typeface="Times New Roman"/>
              </a:defRPr>
            </a:lvl4pPr>
            <a:lvl5pPr marL="0" marR="0" lvl="4" indent="0" algn="r" rtl="0">
              <a:spcBef>
                <a:spcPts val="0"/>
              </a:spcBef>
              <a:spcAft>
                <a:spcPts val="0"/>
              </a:spcAft>
              <a:buNone/>
              <a:defRPr sz="900" b="0">
                <a:solidFill>
                  <a:srgbClr val="000000"/>
                </a:solidFill>
                <a:latin typeface="Times New Roman"/>
                <a:ea typeface="Times New Roman"/>
                <a:cs typeface="Times New Roman"/>
                <a:sym typeface="Times New Roman"/>
              </a:defRPr>
            </a:lvl5pPr>
            <a:lvl6pPr marL="0" marR="0" lvl="5" indent="0" algn="r" rtl="0">
              <a:spcBef>
                <a:spcPts val="0"/>
              </a:spcBef>
              <a:spcAft>
                <a:spcPts val="0"/>
              </a:spcAft>
              <a:buNone/>
              <a:defRPr sz="900" b="0">
                <a:solidFill>
                  <a:srgbClr val="000000"/>
                </a:solidFill>
                <a:latin typeface="Times New Roman"/>
                <a:ea typeface="Times New Roman"/>
                <a:cs typeface="Times New Roman"/>
                <a:sym typeface="Times New Roman"/>
              </a:defRPr>
            </a:lvl6pPr>
            <a:lvl7pPr marL="0" marR="0" lvl="6" indent="0" algn="r" rtl="0">
              <a:spcBef>
                <a:spcPts val="0"/>
              </a:spcBef>
              <a:spcAft>
                <a:spcPts val="0"/>
              </a:spcAft>
              <a:buNone/>
              <a:defRPr sz="900" b="0">
                <a:solidFill>
                  <a:srgbClr val="000000"/>
                </a:solidFill>
                <a:latin typeface="Times New Roman"/>
                <a:ea typeface="Times New Roman"/>
                <a:cs typeface="Times New Roman"/>
                <a:sym typeface="Times New Roman"/>
              </a:defRPr>
            </a:lvl7pPr>
            <a:lvl8pPr marL="0" marR="0" lvl="7" indent="0" algn="r" rtl="0">
              <a:spcBef>
                <a:spcPts val="0"/>
              </a:spcBef>
              <a:spcAft>
                <a:spcPts val="0"/>
              </a:spcAft>
              <a:buNone/>
              <a:defRPr sz="900" b="0">
                <a:solidFill>
                  <a:srgbClr val="000000"/>
                </a:solidFill>
                <a:latin typeface="Times New Roman"/>
                <a:ea typeface="Times New Roman"/>
                <a:cs typeface="Times New Roman"/>
                <a:sym typeface="Times New Roman"/>
              </a:defRPr>
            </a:lvl8pPr>
            <a:lvl9pPr marL="0" marR="0" lvl="8" indent="0" algn="r" rtl="0">
              <a:spcBef>
                <a:spcPts val="0"/>
              </a:spcBef>
              <a:spcAft>
                <a:spcPts val="0"/>
              </a:spcAft>
              <a:buNone/>
              <a:defRPr sz="900" b="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77"/>
          <p:cNvSpPr txBox="1"/>
          <p:nvPr/>
        </p:nvSpPr>
        <p:spPr>
          <a:xfrm>
            <a:off x="85725" y="6427788"/>
            <a:ext cx="4343400" cy="344487"/>
          </a:xfrm>
          <a:prstGeom prst="rect">
            <a:avLst/>
          </a:prstGeom>
          <a:noFill/>
          <a:ln>
            <a:noFill/>
          </a:ln>
        </p:spPr>
        <p:txBody>
          <a:bodyPr spcFirstLastPara="1" wrap="square" lIns="92075" tIns="46025" rIns="92075" bIns="46025" anchor="ctr" anchorCtr="0">
            <a:noAutofit/>
          </a:bodyPr>
          <a:lstStyle/>
          <a:p>
            <a:pPr marL="0" marR="0" lvl="0" indent="0" algn="l" rtl="0">
              <a:spcBef>
                <a:spcPts val="0"/>
              </a:spcBef>
              <a:spcAft>
                <a:spcPts val="0"/>
              </a:spcAft>
              <a:buNone/>
            </a:pPr>
            <a:r>
              <a:rPr lang="en-US" sz="900" b="0">
                <a:solidFill>
                  <a:srgbClr val="000000"/>
                </a:solidFill>
                <a:latin typeface="Arial Black"/>
                <a:ea typeface="Arial Black"/>
                <a:cs typeface="Arial Black"/>
                <a:sym typeface="Arial Black"/>
              </a:rPr>
              <a:t>Software Testing</a:t>
            </a:r>
            <a:r>
              <a:rPr lang="en-US" sz="900" b="0">
                <a:solidFill>
                  <a:srgbClr val="000000"/>
                </a:solidFill>
                <a:latin typeface="Times New Roman"/>
                <a:ea typeface="Times New Roman"/>
                <a:cs typeface="Times New Roman"/>
                <a:sym typeface="Times New Roman"/>
              </a:rPr>
              <a:t> </a:t>
            </a:r>
            <a:r>
              <a:rPr lang="en-US" sz="900" b="0">
                <a:solidFill>
                  <a:srgbClr val="000000"/>
                </a:solidFill>
                <a:latin typeface="Comic Sans MS"/>
                <a:ea typeface="Comic Sans MS"/>
                <a:cs typeface="Comic Sans MS"/>
                <a:sym typeface="Comic Sans MS"/>
              </a:rPr>
              <a:t>Theory and Practice</a:t>
            </a:r>
            <a:r>
              <a:rPr lang="en-US" sz="900" b="0">
                <a:solidFill>
                  <a:srgbClr val="000000"/>
                </a:solidFill>
                <a:latin typeface="Times New Roman"/>
                <a:ea typeface="Times New Roman"/>
                <a:cs typeface="Times New Roman"/>
                <a:sym typeface="Times New Roman"/>
              </a:rPr>
              <a:t> </a:t>
            </a:r>
            <a:r>
              <a:rPr lang="en-US" sz="900" b="0">
                <a:solidFill>
                  <a:srgbClr val="000000"/>
                </a:solidFill>
                <a:latin typeface="Arial"/>
                <a:ea typeface="Arial"/>
                <a:cs typeface="Arial"/>
                <a:sym typeface="Arial"/>
              </a:rPr>
              <a:t>(Chapter 1: Basic Concepts and Preliminaries)</a:t>
            </a:r>
            <a:endParaRPr/>
          </a:p>
        </p:txBody>
      </p:sp>
      <p:sp>
        <p:nvSpPr>
          <p:cNvPr id="28" name="Google Shape;28;p77"/>
          <p:cNvSpPr txBox="1"/>
          <p:nvPr/>
        </p:nvSpPr>
        <p:spPr>
          <a:xfrm>
            <a:off x="5802313" y="6435725"/>
            <a:ext cx="1327150" cy="303213"/>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None/>
            </a:pPr>
            <a:r>
              <a:rPr lang="en-US" sz="900" b="0">
                <a:solidFill>
                  <a:srgbClr val="000000"/>
                </a:solidFill>
                <a:latin typeface="Times New Roman"/>
                <a:ea typeface="Times New Roman"/>
                <a:cs typeface="Times New Roman"/>
                <a:sym typeface="Times New Roman"/>
              </a:rPr>
              <a:t>© Naik &amp; Tripathy</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
        <p:cNvGrpSpPr/>
        <p:nvPr/>
      </p:nvGrpSpPr>
      <p:grpSpPr>
        <a:xfrm>
          <a:off x="0" y="0"/>
          <a:ext cx="0" cy="0"/>
          <a:chOff x="0" y="0"/>
          <a:chExt cx="0" cy="0"/>
        </a:xfrm>
      </p:grpSpPr>
      <p:sp>
        <p:nvSpPr>
          <p:cNvPr id="11" name="Google Shape;11;p75"/>
          <p:cNvSpPr txBox="1">
            <a:spLocks noGrp="1"/>
          </p:cNvSpPr>
          <p:nvPr>
            <p:ph type="title"/>
          </p:nvPr>
        </p:nvSpPr>
        <p:spPr>
          <a:xfrm>
            <a:off x="0" y="0"/>
            <a:ext cx="9144000" cy="487363"/>
          </a:xfrm>
          <a:prstGeom prst="rect">
            <a:avLst/>
          </a:prstGeom>
          <a:noFill/>
          <a:ln>
            <a:noFill/>
          </a:ln>
        </p:spPr>
        <p:txBody>
          <a:bodyPr spcFirstLastPara="1" wrap="square" lIns="92075" tIns="46025" rIns="92075" bIns="46025" anchor="ctr" anchorCtr="0">
            <a:noAutofit/>
          </a:bodyPr>
          <a:lstStyle>
            <a:lvl1pPr marR="0" lvl="0" algn="ctr" rtl="0">
              <a:lnSpc>
                <a:spcPct val="90000"/>
              </a:lnSpc>
              <a:spcBef>
                <a:spcPts val="0"/>
              </a:spcBef>
              <a:spcAft>
                <a:spcPts val="0"/>
              </a:spcAft>
              <a:buSzPts val="1400"/>
              <a:buNone/>
              <a:defRPr sz="2800" b="1" i="0" u="none" strike="noStrike" cap="none">
                <a:solidFill>
                  <a:srgbClr val="000000"/>
                </a:solidFill>
                <a:latin typeface="Times New Roman"/>
                <a:ea typeface="Times New Roman"/>
                <a:cs typeface="Times New Roman"/>
                <a:sym typeface="Times New Roman"/>
              </a:defRPr>
            </a:lvl1pPr>
            <a:lvl2pPr marR="0" lvl="1" algn="ctr" rtl="0">
              <a:lnSpc>
                <a:spcPct val="90000"/>
              </a:lnSpc>
              <a:spcBef>
                <a:spcPts val="0"/>
              </a:spcBef>
              <a:spcAft>
                <a:spcPts val="0"/>
              </a:spcAft>
              <a:buSzPts val="1400"/>
              <a:buNone/>
              <a:defRPr sz="2800" b="1" i="0" u="none" strike="noStrike" cap="none">
                <a:solidFill>
                  <a:srgbClr val="000000"/>
                </a:solidFill>
                <a:latin typeface="Times New Roman"/>
                <a:ea typeface="Times New Roman"/>
                <a:cs typeface="Times New Roman"/>
                <a:sym typeface="Times New Roman"/>
              </a:defRPr>
            </a:lvl2pPr>
            <a:lvl3pPr marR="0" lvl="2" algn="ctr" rtl="0">
              <a:lnSpc>
                <a:spcPct val="90000"/>
              </a:lnSpc>
              <a:spcBef>
                <a:spcPts val="0"/>
              </a:spcBef>
              <a:spcAft>
                <a:spcPts val="0"/>
              </a:spcAft>
              <a:buSzPts val="1400"/>
              <a:buNone/>
              <a:defRPr sz="2800" b="1" i="0" u="none" strike="noStrike" cap="none">
                <a:solidFill>
                  <a:srgbClr val="000000"/>
                </a:solidFill>
                <a:latin typeface="Times New Roman"/>
                <a:ea typeface="Times New Roman"/>
                <a:cs typeface="Times New Roman"/>
                <a:sym typeface="Times New Roman"/>
              </a:defRPr>
            </a:lvl3pPr>
            <a:lvl4pPr marR="0" lvl="3" algn="ctr" rtl="0">
              <a:lnSpc>
                <a:spcPct val="90000"/>
              </a:lnSpc>
              <a:spcBef>
                <a:spcPts val="0"/>
              </a:spcBef>
              <a:spcAft>
                <a:spcPts val="0"/>
              </a:spcAft>
              <a:buSzPts val="1400"/>
              <a:buNone/>
              <a:defRPr sz="2800" b="1" i="0" u="none" strike="noStrike" cap="none">
                <a:solidFill>
                  <a:srgbClr val="000000"/>
                </a:solidFill>
                <a:latin typeface="Times New Roman"/>
                <a:ea typeface="Times New Roman"/>
                <a:cs typeface="Times New Roman"/>
                <a:sym typeface="Times New Roman"/>
              </a:defRPr>
            </a:lvl4pPr>
            <a:lvl5pPr marR="0" lvl="4" algn="ctr" rtl="0">
              <a:lnSpc>
                <a:spcPct val="90000"/>
              </a:lnSpc>
              <a:spcBef>
                <a:spcPts val="0"/>
              </a:spcBef>
              <a:spcAft>
                <a:spcPts val="0"/>
              </a:spcAft>
              <a:buSzPts val="1400"/>
              <a:buNone/>
              <a:defRPr sz="2800" b="1" i="0" u="none" strike="noStrike" cap="none">
                <a:solidFill>
                  <a:srgbClr val="000000"/>
                </a:solidFill>
                <a:latin typeface="Times New Roman"/>
                <a:ea typeface="Times New Roman"/>
                <a:cs typeface="Times New Roman"/>
                <a:sym typeface="Times New Roman"/>
              </a:defRPr>
            </a:lvl5pPr>
            <a:lvl6pPr marR="0" lvl="5" algn="ctr" rtl="0">
              <a:lnSpc>
                <a:spcPct val="90000"/>
              </a:lnSpc>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6pPr>
            <a:lvl7pPr marR="0" lvl="6" algn="ctr" rtl="0">
              <a:lnSpc>
                <a:spcPct val="90000"/>
              </a:lnSpc>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7pPr>
            <a:lvl8pPr marR="0" lvl="7" algn="ctr" rtl="0">
              <a:lnSpc>
                <a:spcPct val="90000"/>
              </a:lnSpc>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8pPr>
            <a:lvl9pPr marR="0" lvl="8" algn="ctr" rtl="0">
              <a:lnSpc>
                <a:spcPct val="90000"/>
              </a:lnSpc>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9pPr>
          </a:lstStyle>
          <a:p>
            <a:endParaRPr/>
          </a:p>
        </p:txBody>
      </p:sp>
      <p:sp>
        <p:nvSpPr>
          <p:cNvPr id="12" name="Google Shape;12;p75"/>
          <p:cNvSpPr txBox="1">
            <a:spLocks noGrp="1"/>
          </p:cNvSpPr>
          <p:nvPr>
            <p:ph type="body" idx="1"/>
          </p:nvPr>
        </p:nvSpPr>
        <p:spPr>
          <a:xfrm>
            <a:off x="193675" y="660400"/>
            <a:ext cx="8966200" cy="5870575"/>
          </a:xfrm>
          <a:prstGeom prst="rect">
            <a:avLst/>
          </a:prstGeom>
          <a:noFill/>
          <a:ln>
            <a:noFill/>
          </a:ln>
        </p:spPr>
        <p:txBody>
          <a:bodyPr spcFirstLastPara="1" wrap="square" lIns="92075" tIns="46025" rIns="92075" bIns="46025" anchor="t" anchorCtr="0">
            <a:noAutofit/>
          </a:bodyPr>
          <a:lstStyle>
            <a:lvl1pPr marL="457200" marR="0" lvl="0" indent="-342900" algn="l" rtl="0">
              <a:lnSpc>
                <a:spcPct val="90000"/>
              </a:lnSpc>
              <a:spcBef>
                <a:spcPts val="720"/>
              </a:spcBef>
              <a:spcAft>
                <a:spcPts val="0"/>
              </a:spcAft>
              <a:buClr>
                <a:srgbClr val="000000"/>
              </a:buClr>
              <a:buSzPts val="1800"/>
              <a:buFont typeface="Times New Roman"/>
              <a:buChar char="•"/>
              <a:defRPr sz="2400" b="0" i="0" u="none" strike="noStrike" cap="none">
                <a:solidFill>
                  <a:srgbClr val="000000"/>
                </a:solidFill>
                <a:latin typeface="Times New Roman"/>
                <a:ea typeface="Times New Roman"/>
                <a:cs typeface="Times New Roman"/>
                <a:sym typeface="Times New Roman"/>
              </a:defRPr>
            </a:lvl1pPr>
            <a:lvl2pPr marL="914400" marR="0" lvl="1" indent="-355600" algn="l" rtl="0">
              <a:lnSpc>
                <a:spcPct val="90000"/>
              </a:lnSpc>
              <a:spcBef>
                <a:spcPts val="600"/>
              </a:spcBef>
              <a:spcAft>
                <a:spcPts val="0"/>
              </a:spcAft>
              <a:buClr>
                <a:schemeClr val="dk2"/>
              </a:buClr>
              <a:buSzPts val="2000"/>
              <a:buFont typeface="Times New Roman"/>
              <a:buChar char="–"/>
              <a:defRPr sz="2000" b="0" i="0" u="none" strike="noStrike" cap="none">
                <a:solidFill>
                  <a:schemeClr val="dk2"/>
                </a:solidFill>
                <a:latin typeface="Times New Roman"/>
                <a:ea typeface="Times New Roman"/>
                <a:cs typeface="Times New Roman"/>
                <a:sym typeface="Times New Roman"/>
              </a:defRPr>
            </a:lvl2pPr>
            <a:lvl3pPr marL="1371600" marR="0" lvl="2" indent="-355600" algn="l" rtl="0">
              <a:lnSpc>
                <a:spcPct val="90000"/>
              </a:lnSpc>
              <a:spcBef>
                <a:spcPts val="600"/>
              </a:spcBef>
              <a:spcAft>
                <a:spcPts val="0"/>
              </a:spcAft>
              <a:buClr>
                <a:srgbClr val="663300"/>
              </a:buClr>
              <a:buSzPts val="2000"/>
              <a:buFont typeface="Times New Roman"/>
              <a:buChar char="•"/>
              <a:defRPr sz="2000" b="0" i="0" u="none" strike="noStrike" cap="none">
                <a:solidFill>
                  <a:srgbClr val="663300"/>
                </a:solidFill>
                <a:latin typeface="Times New Roman"/>
                <a:ea typeface="Times New Roman"/>
                <a:cs typeface="Times New Roman"/>
                <a:sym typeface="Times New Roman"/>
              </a:defRPr>
            </a:lvl3pPr>
            <a:lvl4pPr marL="1828800" marR="0" lvl="3" indent="-342900" algn="l" rtl="0">
              <a:lnSpc>
                <a:spcPct val="90000"/>
              </a:lnSpc>
              <a:spcBef>
                <a:spcPts val="540"/>
              </a:spcBef>
              <a:spcAft>
                <a:spcPts val="0"/>
              </a:spcAft>
              <a:buClr>
                <a:srgbClr val="000000"/>
              </a:buClr>
              <a:buSzPts val="1800"/>
              <a:buFont typeface="Times New Roman"/>
              <a:buChar char="–"/>
              <a:defRPr sz="1800" b="0" i="0" u="none" strike="noStrike" cap="none">
                <a:solidFill>
                  <a:srgbClr val="000000"/>
                </a:solidFill>
                <a:latin typeface="Times New Roman"/>
                <a:ea typeface="Times New Roman"/>
                <a:cs typeface="Times New Roman"/>
                <a:sym typeface="Times New Roman"/>
              </a:defRPr>
            </a:lvl4pPr>
            <a:lvl5pPr marL="2286000" marR="0" lvl="4" indent="-342900" algn="l" rtl="0">
              <a:lnSpc>
                <a:spcPct val="90000"/>
              </a:lnSpc>
              <a:spcBef>
                <a:spcPts val="540"/>
              </a:spcBef>
              <a:spcAft>
                <a:spcPts val="0"/>
              </a:spcAft>
              <a:buClr>
                <a:srgbClr val="000000"/>
              </a:buClr>
              <a:buSzPts val="1800"/>
              <a:buFont typeface="Noto Sans Symbols"/>
              <a:buChar char="⮚"/>
              <a:defRPr sz="1800" b="0" i="0" u="none" strike="noStrike" cap="none">
                <a:solidFill>
                  <a:srgbClr val="000000"/>
                </a:solidFill>
                <a:latin typeface="Times New Roman"/>
                <a:ea typeface="Times New Roman"/>
                <a:cs typeface="Times New Roman"/>
                <a:sym typeface="Times New Roman"/>
              </a:defRPr>
            </a:lvl5pPr>
            <a:lvl6pPr marL="2743200" marR="0" lvl="5" indent="-342900" algn="l" rtl="0">
              <a:lnSpc>
                <a:spcPct val="90000"/>
              </a:lnSpc>
              <a:spcBef>
                <a:spcPts val="540"/>
              </a:spcBef>
              <a:spcAft>
                <a:spcPts val="0"/>
              </a:spcAft>
              <a:buClr>
                <a:schemeClr val="lt1"/>
              </a:buClr>
              <a:buSzPts val="1800"/>
              <a:buFont typeface="Noto Sans Symbols"/>
              <a:buChar char="⮚"/>
              <a:defRPr sz="1800" b="1" i="0" u="none" strike="noStrike" cap="none">
                <a:solidFill>
                  <a:schemeClr val="lt1"/>
                </a:solidFill>
                <a:latin typeface="Times New Roman"/>
                <a:ea typeface="Times New Roman"/>
                <a:cs typeface="Times New Roman"/>
                <a:sym typeface="Times New Roman"/>
              </a:defRPr>
            </a:lvl6pPr>
            <a:lvl7pPr marL="3200400" marR="0" lvl="6" indent="-342900" algn="l" rtl="0">
              <a:lnSpc>
                <a:spcPct val="90000"/>
              </a:lnSpc>
              <a:spcBef>
                <a:spcPts val="540"/>
              </a:spcBef>
              <a:spcAft>
                <a:spcPts val="0"/>
              </a:spcAft>
              <a:buClr>
                <a:schemeClr val="lt1"/>
              </a:buClr>
              <a:buSzPts val="1800"/>
              <a:buFont typeface="Noto Sans Symbols"/>
              <a:buChar char="⮚"/>
              <a:defRPr sz="1800" b="1" i="0" u="none" strike="noStrike" cap="none">
                <a:solidFill>
                  <a:schemeClr val="lt1"/>
                </a:solidFill>
                <a:latin typeface="Times New Roman"/>
                <a:ea typeface="Times New Roman"/>
                <a:cs typeface="Times New Roman"/>
                <a:sym typeface="Times New Roman"/>
              </a:defRPr>
            </a:lvl7pPr>
            <a:lvl8pPr marL="3657600" marR="0" lvl="7" indent="-342900" algn="l" rtl="0">
              <a:lnSpc>
                <a:spcPct val="90000"/>
              </a:lnSpc>
              <a:spcBef>
                <a:spcPts val="540"/>
              </a:spcBef>
              <a:spcAft>
                <a:spcPts val="0"/>
              </a:spcAft>
              <a:buClr>
                <a:schemeClr val="lt1"/>
              </a:buClr>
              <a:buSzPts val="1800"/>
              <a:buFont typeface="Noto Sans Symbols"/>
              <a:buChar char="⮚"/>
              <a:defRPr sz="1800" b="1" i="0" u="none" strike="noStrike" cap="none">
                <a:solidFill>
                  <a:schemeClr val="lt1"/>
                </a:solidFill>
                <a:latin typeface="Times New Roman"/>
                <a:ea typeface="Times New Roman"/>
                <a:cs typeface="Times New Roman"/>
                <a:sym typeface="Times New Roman"/>
              </a:defRPr>
            </a:lvl8pPr>
            <a:lvl9pPr marL="4114800" marR="0" lvl="8" indent="-342900" algn="l" rtl="0">
              <a:lnSpc>
                <a:spcPct val="90000"/>
              </a:lnSpc>
              <a:spcBef>
                <a:spcPts val="540"/>
              </a:spcBef>
              <a:spcAft>
                <a:spcPts val="0"/>
              </a:spcAft>
              <a:buClr>
                <a:schemeClr val="lt1"/>
              </a:buClr>
              <a:buSzPts val="1800"/>
              <a:buFont typeface="Noto Sans Symbols"/>
              <a:buChar char="⮚"/>
              <a:defRPr sz="1800" b="1" i="0" u="none" strike="noStrike" cap="none">
                <a:solidFill>
                  <a:schemeClr val="lt1"/>
                </a:solidFill>
                <a:latin typeface="Times New Roman"/>
                <a:ea typeface="Times New Roman"/>
                <a:cs typeface="Times New Roman"/>
                <a:sym typeface="Times New Roman"/>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https://www.scaler.com/topics/reverse-engineering-in-software-engineering/" TargetMode="External"/><Relationship Id="rId2" Type="http://schemas.openxmlformats.org/officeDocument/2006/relationships/notesSlide" Target="../notesSlides/notesSlide74.xml"/><Relationship Id="rId1" Type="http://schemas.openxmlformats.org/officeDocument/2006/relationships/slideLayout" Target="../slideLayouts/slideLayout1.xml"/><Relationship Id="rId5" Type="http://schemas.openxmlformats.org/officeDocument/2006/relationships/hyperlink" Target="https://www.spiceworks.com/tech/tech-general/articles/what-is-reverse-engineering/" TargetMode="External"/><Relationship Id="rId4" Type="http://schemas.openxmlformats.org/officeDocument/2006/relationships/hyperlink" Target="https://solutionshub.epam.com/blog/post/what-is-reverse-engineering-in-software-enginee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txBox="1">
            <a:spLocks noGrp="1"/>
          </p:cNvSpPr>
          <p:nvPr>
            <p:ph type="ctrTitle" idx="4294967295"/>
          </p:nvPr>
        </p:nvSpPr>
        <p:spPr>
          <a:xfrm>
            <a:off x="242888" y="666750"/>
            <a:ext cx="8453437" cy="1984375"/>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2800" b="0" i="0" u="none" strike="noStrike" cap="none">
                <a:solidFill>
                  <a:srgbClr val="000000"/>
                </a:solidFill>
                <a:latin typeface="Arial Black"/>
                <a:ea typeface="Arial Black"/>
                <a:cs typeface="Arial Black"/>
                <a:sym typeface="Arial Black"/>
              </a:rPr>
              <a:t>Software Evolution and Maintenance</a:t>
            </a:r>
            <a:r>
              <a:rPr lang="en-US" sz="2400" b="1" i="0" u="none" strike="noStrike" cap="none">
                <a:solidFill>
                  <a:srgbClr val="000000"/>
                </a:solidFill>
                <a:latin typeface="Times New Roman"/>
                <a:ea typeface="Times New Roman"/>
                <a:cs typeface="Times New Roman"/>
                <a:sym typeface="Times New Roman"/>
              </a:rPr>
              <a:t> </a:t>
            </a:r>
            <a:br>
              <a:rPr lang="en-US" sz="2400" b="1" i="0" u="none" strike="noStrike" cap="none">
                <a:solidFill>
                  <a:srgbClr val="000000"/>
                </a:solidFill>
                <a:latin typeface="Times New Roman"/>
                <a:ea typeface="Times New Roman"/>
                <a:cs typeface="Times New Roman"/>
                <a:sym typeface="Times New Roman"/>
              </a:rPr>
            </a:br>
            <a:r>
              <a:rPr lang="en-US" sz="2400" b="1" i="0" u="none" strike="noStrike" cap="none">
                <a:solidFill>
                  <a:srgbClr val="000000"/>
                </a:solidFill>
                <a:latin typeface="Comic Sans MS"/>
                <a:ea typeface="Comic Sans MS"/>
                <a:cs typeface="Comic Sans MS"/>
                <a:sym typeface="Comic Sans MS"/>
              </a:rPr>
              <a:t>A Practitioner’s Approach</a:t>
            </a:r>
            <a:br>
              <a:rPr lang="en-US" sz="2800" b="1" i="0" u="none" strike="noStrike" cap="none">
                <a:solidFill>
                  <a:srgbClr val="000000"/>
                </a:solidFill>
                <a:latin typeface="Times New Roman"/>
                <a:ea typeface="Times New Roman"/>
                <a:cs typeface="Times New Roman"/>
                <a:sym typeface="Times New Roman"/>
              </a:rPr>
            </a:br>
            <a:endParaRPr sz="2800" b="1" i="0" u="none" strike="noStrike" cap="none">
              <a:solidFill>
                <a:srgbClr val="663300"/>
              </a:solidFill>
              <a:latin typeface="Times New Roman"/>
              <a:ea typeface="Times New Roman"/>
              <a:cs typeface="Times New Roman"/>
              <a:sym typeface="Times New Roman"/>
            </a:endParaRPr>
          </a:p>
        </p:txBody>
      </p:sp>
      <p:sp>
        <p:nvSpPr>
          <p:cNvPr id="37" name="Google Shape;37;p1"/>
          <p:cNvSpPr txBox="1">
            <a:spLocks noGrp="1"/>
          </p:cNvSpPr>
          <p:nvPr>
            <p:ph type="subTitle" idx="4294967295"/>
          </p:nvPr>
        </p:nvSpPr>
        <p:spPr>
          <a:xfrm>
            <a:off x="1476375" y="3254375"/>
            <a:ext cx="6400800" cy="2805113"/>
          </a:xfrm>
          <a:prstGeom prst="rect">
            <a:avLst/>
          </a:prstGeom>
          <a:noFill/>
          <a:ln>
            <a:noFill/>
          </a:ln>
        </p:spPr>
        <p:txBody>
          <a:bodyPr spcFirstLastPara="1" wrap="square" lIns="92075" tIns="46025" rIns="92075" bIns="460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Chapter 4</a:t>
            </a:r>
            <a:br>
              <a:rPr lang="en-US" sz="2400" b="0" i="0" u="none" strike="noStrike" cap="none">
                <a:solidFill>
                  <a:srgbClr val="000000"/>
                </a:solidFill>
                <a:latin typeface="Arial"/>
                <a:ea typeface="Arial"/>
                <a:cs typeface="Arial"/>
                <a:sym typeface="Arial"/>
              </a:rPr>
            </a:br>
            <a:r>
              <a:rPr lang="en-US" sz="2400" b="0" i="0" u="none" strike="noStrike" cap="none">
                <a:solidFill>
                  <a:srgbClr val="000000"/>
                </a:solidFill>
                <a:latin typeface="Arial"/>
                <a:ea typeface="Arial"/>
                <a:cs typeface="Arial"/>
                <a:sym typeface="Arial"/>
              </a:rPr>
              <a:t>Reengineering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Outline of the Chapter</a:t>
            </a:r>
            <a:endParaRPr/>
          </a:p>
        </p:txBody>
      </p:sp>
      <p:sp>
        <p:nvSpPr>
          <p:cNvPr id="45" name="Google Shape;45;p2"/>
          <p:cNvSpPr txBox="1">
            <a:spLocks noGrp="1"/>
          </p:cNvSpPr>
          <p:nvPr>
            <p:ph type="body" idx="4294967295"/>
          </p:nvPr>
        </p:nvSpPr>
        <p:spPr>
          <a:xfrm>
            <a:off x="193675" y="660400"/>
            <a:ext cx="8966200" cy="5829300"/>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800"/>
              <a:buFont typeface="Times New Roman"/>
              <a:buNone/>
            </a:pPr>
            <a:r>
              <a:rPr lang="en-US"/>
              <a:t>4 General Idea</a:t>
            </a:r>
            <a:endParaRPr/>
          </a:p>
          <a:p>
            <a:pPr marL="285750" lvl="0" indent="-285750" algn="l" rtl="0">
              <a:lnSpc>
                <a:spcPct val="90000"/>
              </a:lnSpc>
              <a:spcBef>
                <a:spcPts val="720"/>
              </a:spcBef>
              <a:spcAft>
                <a:spcPts val="0"/>
              </a:spcAft>
              <a:buClr>
                <a:srgbClr val="000000"/>
              </a:buClr>
              <a:buSzPts val="1800"/>
              <a:buFont typeface="Times New Roman"/>
              <a:buNone/>
            </a:pPr>
            <a:r>
              <a:rPr lang="en-US"/>
              <a:t>4.2 Reengineering Concepts</a:t>
            </a:r>
            <a:endParaRPr/>
          </a:p>
          <a:p>
            <a:pPr marL="285750" lvl="0" indent="-285750" algn="l" rtl="0">
              <a:lnSpc>
                <a:spcPct val="90000"/>
              </a:lnSpc>
              <a:spcBef>
                <a:spcPts val="720"/>
              </a:spcBef>
              <a:spcAft>
                <a:spcPts val="0"/>
              </a:spcAft>
              <a:buClr>
                <a:srgbClr val="000000"/>
              </a:buClr>
              <a:buSzPts val="1800"/>
              <a:buFont typeface="Times New Roman"/>
              <a:buNone/>
            </a:pPr>
            <a:r>
              <a:rPr lang="en-US"/>
              <a:t>4.3 A General Model for Software Engineering</a:t>
            </a:r>
            <a:endParaRPr/>
          </a:p>
          <a:p>
            <a:pPr marL="285750" lvl="0" indent="-285750" algn="l" rtl="0">
              <a:lnSpc>
                <a:spcPct val="90000"/>
              </a:lnSpc>
              <a:spcBef>
                <a:spcPts val="720"/>
              </a:spcBef>
              <a:spcAft>
                <a:spcPts val="0"/>
              </a:spcAft>
              <a:buClr>
                <a:srgbClr val="000000"/>
              </a:buClr>
              <a:buSzPts val="1800"/>
              <a:buFont typeface="Times New Roman"/>
              <a:buNone/>
            </a:pPr>
            <a:r>
              <a:rPr lang="en-US"/>
              <a:t>4.3.1 Types of Changes</a:t>
            </a:r>
            <a:endParaRPr/>
          </a:p>
          <a:p>
            <a:pPr marL="285750" lvl="0" indent="-285750" algn="l" rtl="0">
              <a:lnSpc>
                <a:spcPct val="90000"/>
              </a:lnSpc>
              <a:spcBef>
                <a:spcPts val="720"/>
              </a:spcBef>
              <a:spcAft>
                <a:spcPts val="0"/>
              </a:spcAft>
              <a:buClr>
                <a:srgbClr val="000000"/>
              </a:buClr>
              <a:buSzPts val="1800"/>
              <a:buFont typeface="Times New Roman"/>
              <a:buNone/>
            </a:pPr>
            <a:r>
              <a:rPr lang="en-US"/>
              <a:t>4.3.2 Software Reengineering Strategies</a:t>
            </a:r>
            <a:endParaRPr/>
          </a:p>
          <a:p>
            <a:pPr marL="285750" lvl="0" indent="-285750" algn="l" rtl="0">
              <a:lnSpc>
                <a:spcPct val="90000"/>
              </a:lnSpc>
              <a:spcBef>
                <a:spcPts val="720"/>
              </a:spcBef>
              <a:spcAft>
                <a:spcPts val="0"/>
              </a:spcAft>
              <a:buClr>
                <a:srgbClr val="000000"/>
              </a:buClr>
              <a:buSzPts val="1800"/>
              <a:buFont typeface="Times New Roman"/>
              <a:buNone/>
            </a:pPr>
            <a:r>
              <a:rPr lang="en-US"/>
              <a:t>4.3.3 reengineering Variations</a:t>
            </a:r>
            <a:endParaRPr/>
          </a:p>
          <a:p>
            <a:pPr marL="285750" lvl="0" indent="-285750" algn="l" rtl="0">
              <a:lnSpc>
                <a:spcPct val="90000"/>
              </a:lnSpc>
              <a:spcBef>
                <a:spcPts val="720"/>
              </a:spcBef>
              <a:spcAft>
                <a:spcPts val="0"/>
              </a:spcAft>
              <a:buClr>
                <a:srgbClr val="000000"/>
              </a:buClr>
              <a:buSzPts val="1800"/>
              <a:buFont typeface="Times New Roman"/>
              <a:buNone/>
            </a:pPr>
            <a:r>
              <a:rPr lang="en-US"/>
              <a:t>4.4 Reengineering Process</a:t>
            </a:r>
            <a:endParaRPr/>
          </a:p>
          <a:p>
            <a:pPr marL="285750" lvl="0" indent="-285750" algn="l" rtl="0">
              <a:lnSpc>
                <a:spcPct val="90000"/>
              </a:lnSpc>
              <a:spcBef>
                <a:spcPts val="720"/>
              </a:spcBef>
              <a:spcAft>
                <a:spcPts val="0"/>
              </a:spcAft>
              <a:buClr>
                <a:srgbClr val="000000"/>
              </a:buClr>
              <a:buSzPts val="1800"/>
              <a:buFont typeface="Times New Roman"/>
              <a:buNone/>
            </a:pPr>
            <a:r>
              <a:rPr lang="en-US"/>
              <a:t>4.4.1 Reengineering Approaches</a:t>
            </a:r>
            <a:endParaRPr/>
          </a:p>
          <a:p>
            <a:pPr marL="285750" lvl="0" indent="-285750" algn="l" rtl="0">
              <a:lnSpc>
                <a:spcPct val="90000"/>
              </a:lnSpc>
              <a:spcBef>
                <a:spcPts val="720"/>
              </a:spcBef>
              <a:spcAft>
                <a:spcPts val="0"/>
              </a:spcAft>
              <a:buClr>
                <a:srgbClr val="000000"/>
              </a:buClr>
              <a:buSzPts val="1800"/>
              <a:buFont typeface="Times New Roman"/>
              <a:buNone/>
            </a:pPr>
            <a:r>
              <a:rPr lang="en-US"/>
              <a:t>4.4.2 Source Code Reengineering Reference Model</a:t>
            </a:r>
            <a:endParaRPr/>
          </a:p>
          <a:p>
            <a:pPr marL="285750" lvl="0" indent="-285750" algn="l" rtl="0">
              <a:lnSpc>
                <a:spcPct val="90000"/>
              </a:lnSpc>
              <a:spcBef>
                <a:spcPts val="720"/>
              </a:spcBef>
              <a:spcAft>
                <a:spcPts val="0"/>
              </a:spcAft>
              <a:buClr>
                <a:srgbClr val="000000"/>
              </a:buClr>
              <a:buSzPts val="1800"/>
              <a:buFont typeface="Times New Roman"/>
              <a:buNone/>
            </a:pPr>
            <a:r>
              <a:rPr lang="en-US"/>
              <a:t>4.4.3 Phase Reengineering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Outline of the Chapter</a:t>
            </a:r>
            <a:endParaRPr/>
          </a:p>
        </p:txBody>
      </p:sp>
      <p:sp>
        <p:nvSpPr>
          <p:cNvPr id="53" name="Google Shape;53;p3"/>
          <p:cNvSpPr txBox="1">
            <a:spLocks noGrp="1"/>
          </p:cNvSpPr>
          <p:nvPr>
            <p:ph type="body" idx="4294967295"/>
          </p:nvPr>
        </p:nvSpPr>
        <p:spPr>
          <a:xfrm>
            <a:off x="193675" y="660400"/>
            <a:ext cx="8966200" cy="5829300"/>
          </a:xfrm>
          <a:prstGeom prst="rect">
            <a:avLst/>
          </a:prstGeom>
          <a:noFill/>
          <a:ln>
            <a:noFill/>
          </a:ln>
        </p:spPr>
        <p:txBody>
          <a:bodyPr spcFirstLastPara="1" wrap="square" lIns="92075" tIns="46025" rIns="92075" bIns="46025" anchor="t" anchorCtr="0">
            <a:noAutofit/>
          </a:bodyPr>
          <a:lstStyle/>
          <a:p>
            <a:pPr marL="285750" lvl="0" indent="-285750" algn="l" rtl="0">
              <a:lnSpc>
                <a:spcPct val="80000"/>
              </a:lnSpc>
              <a:spcBef>
                <a:spcPts val="0"/>
              </a:spcBef>
              <a:spcAft>
                <a:spcPts val="0"/>
              </a:spcAft>
              <a:buClr>
                <a:srgbClr val="000000"/>
              </a:buClr>
              <a:buSzPts val="1800"/>
              <a:buFont typeface="Times New Roman"/>
              <a:buNone/>
            </a:pPr>
            <a:r>
              <a:rPr lang="en-US"/>
              <a:t>4.5 Code Reverse Engineering</a:t>
            </a:r>
            <a:endParaRPr/>
          </a:p>
          <a:p>
            <a:pPr marL="285750" lvl="0" indent="-285750" algn="l" rtl="0">
              <a:lnSpc>
                <a:spcPct val="80000"/>
              </a:lnSpc>
              <a:spcBef>
                <a:spcPts val="720"/>
              </a:spcBef>
              <a:spcAft>
                <a:spcPts val="0"/>
              </a:spcAft>
              <a:buClr>
                <a:srgbClr val="000000"/>
              </a:buClr>
              <a:buSzPts val="1800"/>
              <a:buFont typeface="Times New Roman"/>
              <a:buNone/>
            </a:pPr>
            <a:r>
              <a:rPr lang="en-US"/>
              <a:t>4.6 Techniques used for Reverse Engineering</a:t>
            </a:r>
            <a:endParaRPr/>
          </a:p>
          <a:p>
            <a:pPr marL="285750" lvl="0" indent="-285750" algn="l" rtl="0">
              <a:lnSpc>
                <a:spcPct val="80000"/>
              </a:lnSpc>
              <a:spcBef>
                <a:spcPts val="720"/>
              </a:spcBef>
              <a:spcAft>
                <a:spcPts val="0"/>
              </a:spcAft>
              <a:buClr>
                <a:srgbClr val="000000"/>
              </a:buClr>
              <a:buSzPts val="1800"/>
              <a:buFont typeface="Times New Roman"/>
              <a:buNone/>
            </a:pPr>
            <a:r>
              <a:rPr lang="en-US"/>
              <a:t>4.6.1 lexical Analysis</a:t>
            </a:r>
            <a:endParaRPr/>
          </a:p>
          <a:p>
            <a:pPr marL="285750" lvl="0" indent="-285750" algn="l" rtl="0">
              <a:lnSpc>
                <a:spcPct val="80000"/>
              </a:lnSpc>
              <a:spcBef>
                <a:spcPts val="720"/>
              </a:spcBef>
              <a:spcAft>
                <a:spcPts val="0"/>
              </a:spcAft>
              <a:buClr>
                <a:srgbClr val="000000"/>
              </a:buClr>
              <a:buSzPts val="1800"/>
              <a:buFont typeface="Times New Roman"/>
              <a:buNone/>
            </a:pPr>
            <a:r>
              <a:rPr lang="en-US"/>
              <a:t>4.6.2 Syntactic Analysis</a:t>
            </a:r>
            <a:endParaRPr/>
          </a:p>
          <a:p>
            <a:pPr marL="285750" lvl="0" indent="-285750" algn="l" rtl="0">
              <a:lnSpc>
                <a:spcPct val="80000"/>
              </a:lnSpc>
              <a:spcBef>
                <a:spcPts val="720"/>
              </a:spcBef>
              <a:spcAft>
                <a:spcPts val="0"/>
              </a:spcAft>
              <a:buClr>
                <a:srgbClr val="000000"/>
              </a:buClr>
              <a:buSzPts val="1800"/>
              <a:buFont typeface="Times New Roman"/>
              <a:buNone/>
            </a:pPr>
            <a:r>
              <a:rPr lang="en-US"/>
              <a:t>4.6.3 Control Flow Analysis</a:t>
            </a:r>
            <a:endParaRPr/>
          </a:p>
          <a:p>
            <a:pPr marL="285750" lvl="0" indent="-285750" algn="l" rtl="0">
              <a:lnSpc>
                <a:spcPct val="80000"/>
              </a:lnSpc>
              <a:spcBef>
                <a:spcPts val="720"/>
              </a:spcBef>
              <a:spcAft>
                <a:spcPts val="0"/>
              </a:spcAft>
              <a:buClr>
                <a:srgbClr val="000000"/>
              </a:buClr>
              <a:buSzPts val="1800"/>
              <a:buFont typeface="Times New Roman"/>
              <a:buNone/>
            </a:pPr>
            <a:r>
              <a:rPr lang="en-US"/>
              <a:t>4.6.4 Data Flow Analysis</a:t>
            </a:r>
            <a:endParaRPr/>
          </a:p>
          <a:p>
            <a:pPr marL="285750" lvl="0" indent="-285750" algn="l" rtl="0">
              <a:lnSpc>
                <a:spcPct val="80000"/>
              </a:lnSpc>
              <a:spcBef>
                <a:spcPts val="720"/>
              </a:spcBef>
              <a:spcAft>
                <a:spcPts val="0"/>
              </a:spcAft>
              <a:buClr>
                <a:srgbClr val="000000"/>
              </a:buClr>
              <a:buSzPts val="1800"/>
              <a:buFont typeface="Times New Roman"/>
              <a:buNone/>
            </a:pPr>
            <a:r>
              <a:rPr lang="en-US"/>
              <a:t>4.6.5 Program Slicing</a:t>
            </a:r>
            <a:endParaRPr/>
          </a:p>
          <a:p>
            <a:pPr marL="285750" lvl="0" indent="-285750" algn="l" rtl="0">
              <a:lnSpc>
                <a:spcPct val="80000"/>
              </a:lnSpc>
              <a:spcBef>
                <a:spcPts val="720"/>
              </a:spcBef>
              <a:spcAft>
                <a:spcPts val="0"/>
              </a:spcAft>
              <a:buClr>
                <a:srgbClr val="000000"/>
              </a:buClr>
              <a:buSzPts val="1800"/>
              <a:buFont typeface="Times New Roman"/>
              <a:buNone/>
            </a:pPr>
            <a:r>
              <a:rPr lang="en-US"/>
              <a:t>4.6.6 Visualization</a:t>
            </a:r>
            <a:endParaRPr/>
          </a:p>
          <a:p>
            <a:pPr marL="285750" lvl="0" indent="-285750" algn="l" rtl="0">
              <a:lnSpc>
                <a:spcPct val="80000"/>
              </a:lnSpc>
              <a:spcBef>
                <a:spcPts val="720"/>
              </a:spcBef>
              <a:spcAft>
                <a:spcPts val="0"/>
              </a:spcAft>
              <a:buClr>
                <a:srgbClr val="000000"/>
              </a:buClr>
              <a:buSzPts val="1800"/>
              <a:buFont typeface="Times New Roman"/>
              <a:buNone/>
            </a:pPr>
            <a:r>
              <a:rPr lang="en-US"/>
              <a:t>4.6.7 Program Metrics</a:t>
            </a:r>
            <a:endParaRPr/>
          </a:p>
          <a:p>
            <a:pPr marL="285750" lvl="0" indent="-285750" algn="l" rtl="0">
              <a:lnSpc>
                <a:spcPct val="80000"/>
              </a:lnSpc>
              <a:spcBef>
                <a:spcPts val="720"/>
              </a:spcBef>
              <a:spcAft>
                <a:spcPts val="0"/>
              </a:spcAft>
              <a:buClr>
                <a:srgbClr val="000000"/>
              </a:buClr>
              <a:buSzPts val="1800"/>
              <a:buFont typeface="Times New Roman"/>
              <a:buNone/>
            </a:pPr>
            <a:r>
              <a:rPr lang="en-US"/>
              <a:t>4.7 Decompilation versus Reverse Engineering</a:t>
            </a:r>
            <a:endParaRPr/>
          </a:p>
          <a:p>
            <a:pPr marL="285750" lvl="0" indent="-285750" algn="l" rtl="0">
              <a:lnSpc>
                <a:spcPct val="80000"/>
              </a:lnSpc>
              <a:spcBef>
                <a:spcPts val="720"/>
              </a:spcBef>
              <a:spcAft>
                <a:spcPts val="0"/>
              </a:spcAft>
              <a:buClr>
                <a:srgbClr val="000000"/>
              </a:buClr>
              <a:buSzPts val="1800"/>
              <a:buFont typeface="Times New Roman"/>
              <a:buNone/>
            </a:pPr>
            <a:r>
              <a:rPr lang="en-US"/>
              <a:t>4.8 Data Reverse Engineering</a:t>
            </a:r>
            <a:endParaRPr/>
          </a:p>
          <a:p>
            <a:pPr marL="285750" lvl="0" indent="-285750" algn="l" rtl="0">
              <a:lnSpc>
                <a:spcPct val="80000"/>
              </a:lnSpc>
              <a:spcBef>
                <a:spcPts val="720"/>
              </a:spcBef>
              <a:spcAft>
                <a:spcPts val="0"/>
              </a:spcAft>
              <a:buClr>
                <a:srgbClr val="000000"/>
              </a:buClr>
              <a:buSzPts val="1800"/>
              <a:buFont typeface="Times New Roman"/>
              <a:buNone/>
            </a:pPr>
            <a:r>
              <a:rPr lang="en-US"/>
              <a:t>4.8.1 Data Structure Extraction</a:t>
            </a:r>
            <a:endParaRPr/>
          </a:p>
          <a:p>
            <a:pPr marL="285750" lvl="0" indent="-285750" algn="l" rtl="0">
              <a:lnSpc>
                <a:spcPct val="80000"/>
              </a:lnSpc>
              <a:spcBef>
                <a:spcPts val="720"/>
              </a:spcBef>
              <a:spcAft>
                <a:spcPts val="0"/>
              </a:spcAft>
              <a:buClr>
                <a:srgbClr val="000000"/>
              </a:buClr>
              <a:buSzPts val="1800"/>
              <a:buFont typeface="Times New Roman"/>
              <a:buNone/>
            </a:pPr>
            <a:r>
              <a:rPr lang="en-US"/>
              <a:t>4.8.2 Data Structure Conceptualization</a:t>
            </a:r>
            <a:endParaRPr/>
          </a:p>
          <a:p>
            <a:pPr marL="285750" lvl="0" indent="-285750" algn="l" rtl="0">
              <a:lnSpc>
                <a:spcPct val="80000"/>
              </a:lnSpc>
              <a:spcBef>
                <a:spcPts val="720"/>
              </a:spcBef>
              <a:spcAft>
                <a:spcPts val="0"/>
              </a:spcAft>
              <a:buClr>
                <a:srgbClr val="000000"/>
              </a:buClr>
              <a:buSzPts val="1800"/>
              <a:buFont typeface="Times New Roman"/>
              <a:buNone/>
            </a:pPr>
            <a:r>
              <a:rPr lang="en-US"/>
              <a:t>4.9 Reverse Engineering Tools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4.1 General Idea</a:t>
            </a:r>
            <a:endParaRPr/>
          </a:p>
        </p:txBody>
      </p:sp>
      <p:sp>
        <p:nvSpPr>
          <p:cNvPr id="61" name="Google Shape;61;p4"/>
          <p:cNvSpPr txBox="1">
            <a:spLocks noGrp="1"/>
          </p:cNvSpPr>
          <p:nvPr>
            <p:ph type="body" idx="4294967295"/>
          </p:nvPr>
        </p:nvSpPr>
        <p:spPr>
          <a:xfrm>
            <a:off x="231775" y="635000"/>
            <a:ext cx="8593138" cy="57245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800"/>
              <a:buFont typeface="Times New Roman"/>
              <a:buChar char="•"/>
            </a:pPr>
            <a:r>
              <a:rPr lang="en-US"/>
              <a:t>Reengineering is the examination, analysis, and restructuring of an existing software system to reconstitute it in a new form, and the subsequent implementation of the new form.</a:t>
            </a:r>
            <a:r>
              <a:rPr lang="en-US" sz="2000"/>
              <a:t>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The goal of reengineering is to:</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a:t>
            </a:r>
            <a:r>
              <a:rPr lang="en-US" sz="2400">
                <a:solidFill>
                  <a:srgbClr val="FFC000"/>
                </a:solidFill>
              </a:rPr>
              <a:t>understand</a:t>
            </a:r>
            <a:r>
              <a:rPr lang="en-US" sz="2400">
                <a:solidFill>
                  <a:srgbClr val="3333FF"/>
                </a:solidFill>
              </a:rPr>
              <a:t> the existing software system artifacts, namely, specification, design, implementation, and documentation, and</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a:t>
            </a:r>
            <a:r>
              <a:rPr lang="en-US" sz="2400">
                <a:solidFill>
                  <a:srgbClr val="FFC000"/>
                </a:solidFill>
              </a:rPr>
              <a:t>improve</a:t>
            </a:r>
            <a:r>
              <a:rPr lang="en-US" sz="2400">
                <a:solidFill>
                  <a:srgbClr val="3333FF"/>
                </a:solidFill>
              </a:rPr>
              <a:t> the functionality and quality attributes of the system.</a:t>
            </a:r>
            <a:r>
              <a:rPr lang="en-US"/>
              <a:t>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Software systems are reengineered by keeping one or more of the following four general objectives in mind:</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Improving maintainability.</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Migrating to a new technology.</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Improving quality.</a:t>
            </a:r>
            <a:endParaRPr/>
          </a:p>
          <a:p>
            <a:pPr marL="685800" lvl="1" indent="-228600" algn="l" rtl="0">
              <a:lnSpc>
                <a:spcPct val="90000"/>
              </a:lnSpc>
              <a:spcBef>
                <a:spcPts val="720"/>
              </a:spcBef>
              <a:spcAft>
                <a:spcPts val="0"/>
              </a:spcAft>
              <a:buClr>
                <a:srgbClr val="3333FF"/>
              </a:buClr>
              <a:buSzPts val="2400"/>
              <a:buFont typeface="Times New Roman"/>
              <a:buNone/>
            </a:pPr>
            <a:r>
              <a:rPr lang="en-US" sz="2400">
                <a:solidFill>
                  <a:srgbClr val="3333FF"/>
                </a:solidFill>
              </a:rPr>
              <a:t>• Preparing for functional enhancement.</a:t>
            </a:r>
            <a:endParaRPr/>
          </a:p>
          <a:p>
            <a:pPr marL="285750" lvl="0" indent="-152400" algn="l" rtl="0">
              <a:lnSpc>
                <a:spcPct val="90000"/>
              </a:lnSpc>
              <a:spcBef>
                <a:spcPts val="840"/>
              </a:spcBef>
              <a:spcAft>
                <a:spcPts val="0"/>
              </a:spcAft>
              <a:buClr>
                <a:srgbClr val="000000"/>
              </a:buClr>
              <a:buSzPts val="2100"/>
              <a:buFont typeface="Times New Roman"/>
              <a:buNone/>
            </a:pPr>
            <a:endParaRPr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5"/>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4.2 Reengineering Concepts</a:t>
            </a:r>
            <a:endParaRPr/>
          </a:p>
        </p:txBody>
      </p:sp>
      <p:sp>
        <p:nvSpPr>
          <p:cNvPr id="69" name="Google Shape;69;p5"/>
          <p:cNvSpPr txBox="1">
            <a:spLocks noGrp="1"/>
          </p:cNvSpPr>
          <p:nvPr>
            <p:ph type="body" idx="4294967295"/>
          </p:nvPr>
        </p:nvSpPr>
        <p:spPr>
          <a:xfrm>
            <a:off x="142875" y="736600"/>
            <a:ext cx="8812213" cy="56229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chemeClr val="hlink"/>
              </a:buClr>
              <a:buSzPts val="1500"/>
              <a:buFont typeface="Times New Roman"/>
              <a:buChar char="•"/>
            </a:pPr>
            <a:r>
              <a:rPr lang="en-US" sz="2000" b="1">
                <a:solidFill>
                  <a:schemeClr val="hlink"/>
                </a:solidFill>
              </a:rPr>
              <a:t>Abstraction</a:t>
            </a:r>
            <a:r>
              <a:rPr lang="en-US" sz="2000">
                <a:solidFill>
                  <a:schemeClr val="hlink"/>
                </a:solidFill>
              </a:rPr>
              <a:t> and </a:t>
            </a:r>
            <a:r>
              <a:rPr lang="en-US" sz="2000" b="1">
                <a:solidFill>
                  <a:schemeClr val="hlink"/>
                </a:solidFill>
              </a:rPr>
              <a:t>Refinement</a:t>
            </a:r>
            <a:r>
              <a:rPr lang="en-US" sz="2000"/>
              <a:t> are key concepts used in software development, and both the concepts are equally useful in reengineering.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It may be recalled that abstraction enables software maintenance personnel to reduce the complexity of understanding a system by: </a:t>
            </a:r>
            <a:endParaRPr/>
          </a:p>
          <a:p>
            <a:pPr marL="685800" lvl="1" indent="-228600" algn="l" rtl="0">
              <a:lnSpc>
                <a:spcPct val="90000"/>
              </a:lnSpc>
              <a:spcBef>
                <a:spcPts val="600"/>
              </a:spcBef>
              <a:spcAft>
                <a:spcPts val="0"/>
              </a:spcAft>
              <a:buClr>
                <a:schemeClr val="dk2"/>
              </a:buClr>
              <a:buSzPts val="2000"/>
              <a:buFont typeface="Times New Roman"/>
              <a:buNone/>
            </a:pPr>
            <a:r>
              <a:rPr lang="en-US"/>
              <a:t>(i) focusing on the more significant information about the system; and </a:t>
            </a:r>
            <a:endParaRPr/>
          </a:p>
          <a:p>
            <a:pPr marL="685800" lvl="1" indent="-228600" algn="l" rtl="0">
              <a:lnSpc>
                <a:spcPct val="90000"/>
              </a:lnSpc>
              <a:spcBef>
                <a:spcPts val="600"/>
              </a:spcBef>
              <a:spcAft>
                <a:spcPts val="0"/>
              </a:spcAft>
              <a:buClr>
                <a:schemeClr val="dk2"/>
              </a:buClr>
              <a:buSzPts val="2000"/>
              <a:buFont typeface="Times New Roman"/>
              <a:buNone/>
            </a:pPr>
            <a:r>
              <a:rPr lang="en-US"/>
              <a:t>(ii) Hiding the irrelevant details at the moment.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On the other hand, refinement is the reverse of abstraction.</a:t>
            </a:r>
            <a:endParaRPr/>
          </a:p>
          <a:p>
            <a:pPr marL="285750" lvl="0" indent="-285750" algn="l" rtl="0">
              <a:lnSpc>
                <a:spcPct val="90000"/>
              </a:lnSpc>
              <a:spcBef>
                <a:spcPts val="600"/>
              </a:spcBef>
              <a:spcAft>
                <a:spcPts val="0"/>
              </a:spcAft>
              <a:buClr>
                <a:srgbClr val="000000"/>
              </a:buClr>
              <a:buSzPts val="1500"/>
              <a:buFont typeface="Times New Roman"/>
              <a:buNone/>
            </a:pPr>
            <a:endParaRPr sz="2000"/>
          </a:p>
          <a:p>
            <a:pPr marL="285750" lvl="0" indent="-285750" algn="l" rtl="0">
              <a:lnSpc>
                <a:spcPct val="90000"/>
              </a:lnSpc>
              <a:spcBef>
                <a:spcPts val="600"/>
              </a:spcBef>
              <a:spcAft>
                <a:spcPts val="0"/>
              </a:spcAft>
              <a:buClr>
                <a:srgbClr val="000000"/>
              </a:buClr>
              <a:buSzPts val="1500"/>
              <a:buFont typeface="Times New Roman"/>
              <a:buNone/>
            </a:pPr>
            <a:r>
              <a:rPr lang="en-US" sz="2000" b="1"/>
              <a:t>    </a:t>
            </a:r>
            <a:r>
              <a:rPr lang="en-US" sz="2000" b="1">
                <a:solidFill>
                  <a:schemeClr val="hlink"/>
                </a:solidFill>
              </a:rPr>
              <a:t>Principle of abstraction:</a:t>
            </a:r>
            <a:r>
              <a:rPr lang="en-US" sz="2000"/>
              <a:t> The level of abstraction of the representation of a system can be gradually increased by successively replacing the details with abstract information. By means of abstraction one can produce a view that focuses on selected system characteristics by hiding information about other characteristics.</a:t>
            </a:r>
            <a:endParaRPr/>
          </a:p>
          <a:p>
            <a:pPr marL="285750" lvl="0" indent="-285750" algn="l" rtl="0">
              <a:lnSpc>
                <a:spcPct val="90000"/>
              </a:lnSpc>
              <a:spcBef>
                <a:spcPts val="600"/>
              </a:spcBef>
              <a:spcAft>
                <a:spcPts val="0"/>
              </a:spcAft>
              <a:buClr>
                <a:srgbClr val="000000"/>
              </a:buClr>
              <a:buSzPts val="1500"/>
              <a:buFont typeface="Times New Roman"/>
              <a:buNone/>
            </a:pPr>
            <a:endParaRPr sz="2000"/>
          </a:p>
          <a:p>
            <a:pPr marL="285750" lvl="0" indent="-285750" algn="l" rtl="0">
              <a:lnSpc>
                <a:spcPct val="90000"/>
              </a:lnSpc>
              <a:spcBef>
                <a:spcPts val="600"/>
              </a:spcBef>
              <a:spcAft>
                <a:spcPts val="0"/>
              </a:spcAft>
              <a:buClr>
                <a:schemeClr val="hlink"/>
              </a:buClr>
              <a:buSzPts val="1500"/>
              <a:buFont typeface="Times New Roman"/>
              <a:buChar char="•"/>
            </a:pPr>
            <a:r>
              <a:rPr lang="en-US" sz="2000" b="1">
                <a:solidFill>
                  <a:schemeClr val="hlink"/>
                </a:solidFill>
              </a:rPr>
              <a:t>Principle of refinement:</a:t>
            </a:r>
            <a:r>
              <a:rPr lang="en-US" sz="2000"/>
              <a:t> The level of abstraction of the representation of the system is gradually decreased by successively replacing some aspects of the system with more details.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4.2 Reengineering Concepts</a:t>
            </a:r>
            <a:endParaRPr/>
          </a:p>
        </p:txBody>
      </p:sp>
      <p:sp>
        <p:nvSpPr>
          <p:cNvPr id="77" name="Google Shape;77;p6"/>
          <p:cNvSpPr txBox="1">
            <a:spLocks noGrp="1"/>
          </p:cNvSpPr>
          <p:nvPr>
            <p:ph type="body" idx="4294967295"/>
          </p:nvPr>
        </p:nvSpPr>
        <p:spPr>
          <a:xfrm>
            <a:off x="142875" y="736600"/>
            <a:ext cx="8812213" cy="56229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800"/>
              <a:buFont typeface="Times New Roman"/>
              <a:buChar char="•"/>
            </a:pPr>
            <a:r>
              <a:rPr lang="en-US"/>
              <a:t>A new software is created by going downward from the top, highest level of abstraction to the bottom, lowest level. This downward movement is known as </a:t>
            </a:r>
            <a:r>
              <a:rPr lang="en-US" b="1">
                <a:solidFill>
                  <a:schemeClr val="hlink"/>
                </a:solidFill>
              </a:rPr>
              <a:t>forward engineering</a:t>
            </a:r>
            <a:r>
              <a:rPr lang="en-US">
                <a:solidFill>
                  <a:schemeClr val="hlink"/>
                </a:solidFill>
              </a:rPr>
              <a:t>.</a:t>
            </a:r>
            <a:r>
              <a:rPr lang="en-US"/>
              <a:t> </a:t>
            </a:r>
            <a:endParaRPr/>
          </a:p>
          <a:p>
            <a:pPr marL="285750" lvl="0" indent="-285750" algn="l" rtl="0">
              <a:lnSpc>
                <a:spcPct val="90000"/>
              </a:lnSpc>
              <a:spcBef>
                <a:spcPts val="720"/>
              </a:spcBef>
              <a:spcAft>
                <a:spcPts val="0"/>
              </a:spcAft>
              <a:buClr>
                <a:schemeClr val="hlink"/>
              </a:buClr>
              <a:buSzPts val="1800"/>
              <a:buFont typeface="Times New Roman"/>
              <a:buChar char="•"/>
            </a:pPr>
            <a:r>
              <a:rPr lang="en-US" b="1">
                <a:solidFill>
                  <a:schemeClr val="hlink"/>
                </a:solidFill>
              </a:rPr>
              <a:t>Forward engineering</a:t>
            </a:r>
            <a:r>
              <a:rPr lang="en-US"/>
              <a:t> follows a sequence of activities: formulating concepts about the system to identifying requirements to designing the system to implementing the design.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On the other hand, the upward movement through the layers of abstractions is called </a:t>
            </a:r>
            <a:r>
              <a:rPr lang="en-US" b="1">
                <a:solidFill>
                  <a:schemeClr val="hlink"/>
                </a:solidFill>
              </a:rPr>
              <a:t>reverse engineering</a:t>
            </a:r>
            <a:r>
              <a:rPr lang="en-US"/>
              <a:t>.</a:t>
            </a:r>
            <a:endParaRPr/>
          </a:p>
          <a:p>
            <a:pPr marL="285750" lvl="0" indent="-285750" algn="l" rtl="0">
              <a:lnSpc>
                <a:spcPct val="90000"/>
              </a:lnSpc>
              <a:spcBef>
                <a:spcPts val="720"/>
              </a:spcBef>
              <a:spcAft>
                <a:spcPts val="0"/>
              </a:spcAft>
              <a:buClr>
                <a:schemeClr val="hlink"/>
              </a:buClr>
              <a:buSzPts val="1800"/>
              <a:buFont typeface="Times New Roman"/>
              <a:buChar char="•"/>
            </a:pPr>
            <a:r>
              <a:rPr lang="en-US" b="1">
                <a:solidFill>
                  <a:schemeClr val="hlink"/>
                </a:solidFill>
              </a:rPr>
              <a:t>Reverse engineering</a:t>
            </a:r>
            <a:r>
              <a:rPr lang="en-US"/>
              <a:t> of software systems is a process comprising the following steps:</a:t>
            </a:r>
            <a:r>
              <a:rPr lang="en-US" sz="2000"/>
              <a:t> </a:t>
            </a:r>
            <a:endParaRPr/>
          </a:p>
          <a:p>
            <a:pPr marL="685800" lvl="1" indent="-228600" algn="l" rtl="0">
              <a:lnSpc>
                <a:spcPct val="90000"/>
              </a:lnSpc>
              <a:spcBef>
                <a:spcPts val="600"/>
              </a:spcBef>
              <a:spcAft>
                <a:spcPts val="0"/>
              </a:spcAft>
              <a:buClr>
                <a:schemeClr val="dk2"/>
              </a:buClr>
              <a:buSzPts val="2000"/>
              <a:buFont typeface="Times New Roman"/>
              <a:buNone/>
            </a:pPr>
            <a:r>
              <a:rPr lang="en-US"/>
              <a:t>(i) analyze the software to determine its components and the relationships among the components, </a:t>
            </a:r>
            <a:endParaRPr/>
          </a:p>
          <a:p>
            <a:pPr marL="685800" lvl="1" indent="-228600" algn="l" rtl="0">
              <a:lnSpc>
                <a:spcPct val="90000"/>
              </a:lnSpc>
              <a:spcBef>
                <a:spcPts val="600"/>
              </a:spcBef>
              <a:spcAft>
                <a:spcPts val="0"/>
              </a:spcAft>
              <a:buClr>
                <a:schemeClr val="dk2"/>
              </a:buClr>
              <a:buSzPts val="2000"/>
              <a:buFont typeface="Times New Roman"/>
              <a:buNone/>
            </a:pPr>
            <a:r>
              <a:rPr lang="en-US"/>
              <a:t>(ii) represent the system at a higher level of abstraction or in another form. </a:t>
            </a:r>
            <a:endParaRPr/>
          </a:p>
          <a:p>
            <a:pPr marL="285750" lvl="0" indent="-285750" algn="l" rtl="0">
              <a:lnSpc>
                <a:spcPct val="90000"/>
              </a:lnSpc>
              <a:spcBef>
                <a:spcPts val="720"/>
              </a:spcBef>
              <a:spcAft>
                <a:spcPts val="0"/>
              </a:spcAft>
              <a:buClr>
                <a:schemeClr val="hlink"/>
              </a:buClr>
              <a:buSzPts val="1800"/>
              <a:buFont typeface="Times New Roman"/>
              <a:buChar char="•"/>
            </a:pPr>
            <a:r>
              <a:rPr lang="en-US" b="1">
                <a:solidFill>
                  <a:schemeClr val="hlink"/>
                </a:solidFill>
              </a:rPr>
              <a:t>Decompilation</a:t>
            </a:r>
            <a:r>
              <a:rPr lang="en-US"/>
              <a:t> is an example of Reverse Engineering, in which object code is translated into a high-level program.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4.2 Reengineering Concepts</a:t>
            </a:r>
            <a:endParaRPr/>
          </a:p>
        </p:txBody>
      </p:sp>
      <p:sp>
        <p:nvSpPr>
          <p:cNvPr id="85" name="Google Shape;85;p7"/>
          <p:cNvSpPr txBox="1">
            <a:spLocks noGrp="1"/>
          </p:cNvSpPr>
          <p:nvPr>
            <p:ph type="body" idx="4294967295"/>
          </p:nvPr>
        </p:nvSpPr>
        <p:spPr>
          <a:xfrm>
            <a:off x="142875" y="736600"/>
            <a:ext cx="8723313" cy="56991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500"/>
              <a:buFont typeface="Times New Roman"/>
              <a:buChar char="•"/>
            </a:pPr>
            <a:r>
              <a:rPr lang="en-US" sz="2000"/>
              <a:t>The concepts of abstraction and refinement are used to create models of software development as sequences of phases, where the phases map to specific levels of </a:t>
            </a:r>
            <a:r>
              <a:rPr lang="en-US" sz="2000" b="1">
                <a:solidFill>
                  <a:schemeClr val="hlink"/>
                </a:solidFill>
              </a:rPr>
              <a:t>abstraction</a:t>
            </a:r>
            <a:r>
              <a:rPr lang="en-US" sz="2000"/>
              <a:t> or </a:t>
            </a:r>
            <a:r>
              <a:rPr lang="en-US" sz="2000" b="1">
                <a:solidFill>
                  <a:schemeClr val="hlink"/>
                </a:solidFill>
              </a:rPr>
              <a:t>refinement</a:t>
            </a:r>
            <a:r>
              <a:rPr lang="en-US" sz="2000"/>
              <a:t>, as shown in Figure 4.1.</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four levels are:</a:t>
            </a:r>
            <a:endParaRPr/>
          </a:p>
          <a:p>
            <a:pPr marL="685800" lvl="1" indent="-228600" algn="l" rtl="0">
              <a:lnSpc>
                <a:spcPct val="90000"/>
              </a:lnSpc>
              <a:spcBef>
                <a:spcPts val="600"/>
              </a:spcBef>
              <a:spcAft>
                <a:spcPts val="0"/>
              </a:spcAft>
              <a:buClr>
                <a:schemeClr val="dk2"/>
              </a:buClr>
              <a:buSzPts val="2000"/>
              <a:buFont typeface="Times New Roman"/>
              <a:buChar char="–"/>
            </a:pPr>
            <a:r>
              <a:rPr lang="en-US"/>
              <a:t>Conceptual, </a:t>
            </a:r>
            <a:endParaRPr/>
          </a:p>
          <a:p>
            <a:pPr marL="685800" lvl="1" indent="-228600" algn="l" rtl="0">
              <a:lnSpc>
                <a:spcPct val="90000"/>
              </a:lnSpc>
              <a:spcBef>
                <a:spcPts val="600"/>
              </a:spcBef>
              <a:spcAft>
                <a:spcPts val="0"/>
              </a:spcAft>
              <a:buClr>
                <a:schemeClr val="dk2"/>
              </a:buClr>
              <a:buSzPts val="2000"/>
              <a:buFont typeface="Times New Roman"/>
              <a:buChar char="–"/>
            </a:pPr>
            <a:r>
              <a:rPr lang="en-US"/>
              <a:t>Requirements, </a:t>
            </a:r>
            <a:endParaRPr/>
          </a:p>
          <a:p>
            <a:pPr marL="685800" lvl="1" indent="-228600" algn="l" rtl="0">
              <a:lnSpc>
                <a:spcPct val="90000"/>
              </a:lnSpc>
              <a:spcBef>
                <a:spcPts val="600"/>
              </a:spcBef>
              <a:spcAft>
                <a:spcPts val="0"/>
              </a:spcAft>
              <a:buClr>
                <a:schemeClr val="dk2"/>
              </a:buClr>
              <a:buSzPts val="2000"/>
              <a:buFont typeface="Times New Roman"/>
              <a:buChar char="–"/>
            </a:pPr>
            <a:r>
              <a:rPr lang="en-US"/>
              <a:t>Design, and </a:t>
            </a:r>
            <a:endParaRPr/>
          </a:p>
          <a:p>
            <a:pPr marL="685800" lvl="1" indent="-228600" algn="l" rtl="0">
              <a:lnSpc>
                <a:spcPct val="90000"/>
              </a:lnSpc>
              <a:spcBef>
                <a:spcPts val="600"/>
              </a:spcBef>
              <a:spcAft>
                <a:spcPts val="0"/>
              </a:spcAft>
              <a:buClr>
                <a:schemeClr val="dk2"/>
              </a:buClr>
              <a:buSzPts val="2000"/>
              <a:buFont typeface="Times New Roman"/>
              <a:buChar char="–"/>
            </a:pPr>
            <a:r>
              <a:rPr lang="en-US"/>
              <a:t>Implementation.</a:t>
            </a:r>
            <a:endParaRPr/>
          </a:p>
          <a:p>
            <a:pPr marL="685800" lvl="1" indent="-101600" algn="l" rtl="0">
              <a:lnSpc>
                <a:spcPct val="90000"/>
              </a:lnSpc>
              <a:spcBef>
                <a:spcPts val="600"/>
              </a:spcBef>
              <a:spcAft>
                <a:spcPts val="0"/>
              </a:spcAft>
              <a:buClr>
                <a:schemeClr val="dk2"/>
              </a:buClr>
              <a:buSzPts val="2000"/>
              <a:buFont typeface="Times New Roman"/>
              <a:buNone/>
            </a:pPr>
            <a:endParaRPr/>
          </a:p>
          <a:p>
            <a:pPr marL="685800" lvl="1" indent="-101600" algn="l" rtl="0">
              <a:lnSpc>
                <a:spcPct val="90000"/>
              </a:lnSpc>
              <a:spcBef>
                <a:spcPts val="600"/>
              </a:spcBef>
              <a:spcAft>
                <a:spcPts val="0"/>
              </a:spcAft>
              <a:buClr>
                <a:schemeClr val="dk2"/>
              </a:buClr>
              <a:buSzPts val="2000"/>
              <a:buFont typeface="Times New Roman"/>
              <a:buNone/>
            </a:pPr>
            <a:endParaRPr/>
          </a:p>
          <a:p>
            <a:pPr marL="285750" lvl="0" indent="-285750" algn="l" rtl="0">
              <a:lnSpc>
                <a:spcPct val="90000"/>
              </a:lnSpc>
              <a:spcBef>
                <a:spcPts val="720"/>
              </a:spcBef>
              <a:spcAft>
                <a:spcPts val="0"/>
              </a:spcAft>
              <a:buClr>
                <a:srgbClr val="000000"/>
              </a:buClr>
              <a:buSzPts val="1800"/>
              <a:buFont typeface="Times New Roman"/>
              <a:buChar char="•"/>
            </a:pPr>
            <a:r>
              <a:rPr lang="en-US"/>
              <a:t>The refinement process:</a:t>
            </a:r>
            <a:endParaRPr/>
          </a:p>
          <a:p>
            <a:pPr marL="285750" lvl="0" indent="-285750" algn="l" rtl="0">
              <a:lnSpc>
                <a:spcPct val="90000"/>
              </a:lnSpc>
              <a:spcBef>
                <a:spcPts val="720"/>
              </a:spcBef>
              <a:spcAft>
                <a:spcPts val="0"/>
              </a:spcAft>
              <a:buClr>
                <a:srgbClr val="000000"/>
              </a:buClr>
              <a:buSzPts val="1800"/>
              <a:buFont typeface="Times New Roman"/>
              <a:buNone/>
            </a:pPr>
            <a:r>
              <a:rPr lang="en-US"/>
              <a:t>     </a:t>
            </a:r>
            <a:r>
              <a:rPr lang="en-US">
                <a:solidFill>
                  <a:schemeClr val="hlink"/>
                </a:solidFill>
              </a:rPr>
              <a:t>why? ! what? ! what &amp; how? ! how?</a:t>
            </a:r>
            <a:r>
              <a:rPr lang="en-US"/>
              <a:t>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The abstraction process:</a:t>
            </a:r>
            <a:endParaRPr/>
          </a:p>
          <a:p>
            <a:pPr marL="285750" lvl="0" indent="-285750" algn="l" rtl="0">
              <a:lnSpc>
                <a:spcPct val="90000"/>
              </a:lnSpc>
              <a:spcBef>
                <a:spcPts val="720"/>
              </a:spcBef>
              <a:spcAft>
                <a:spcPts val="0"/>
              </a:spcAft>
              <a:buClr>
                <a:srgbClr val="000000"/>
              </a:buClr>
              <a:buSzPts val="1800"/>
              <a:buFont typeface="Times New Roman"/>
              <a:buNone/>
            </a:pPr>
            <a:r>
              <a:rPr lang="en-US"/>
              <a:t>      </a:t>
            </a:r>
            <a:r>
              <a:rPr lang="en-US">
                <a:solidFill>
                  <a:schemeClr val="hlink"/>
                </a:solidFill>
              </a:rPr>
              <a:t>how? ! what &amp; how? ! what? ! why?</a:t>
            </a:r>
            <a:endParaRPr sz="2800">
              <a:solidFill>
                <a:schemeClr val="hlink"/>
              </a:solidFill>
            </a:endParaRPr>
          </a:p>
        </p:txBody>
      </p:sp>
      <p:pic>
        <p:nvPicPr>
          <p:cNvPr id="86" name="Google Shape;86;p7"/>
          <p:cNvPicPr preferRelativeResize="0"/>
          <p:nvPr/>
        </p:nvPicPr>
        <p:blipFill rotWithShape="1">
          <a:blip r:embed="rId3">
            <a:alphaModFix/>
          </a:blip>
          <a:srcRect/>
          <a:stretch/>
        </p:blipFill>
        <p:spPr>
          <a:xfrm>
            <a:off x="3571875" y="1735138"/>
            <a:ext cx="3932238" cy="2224087"/>
          </a:xfrm>
          <a:prstGeom prst="rect">
            <a:avLst/>
          </a:prstGeom>
          <a:noFill/>
          <a:ln>
            <a:noFill/>
          </a:ln>
        </p:spPr>
      </p:pic>
      <p:sp>
        <p:nvSpPr>
          <p:cNvPr id="87" name="Google Shape;87;p7"/>
          <p:cNvSpPr/>
          <p:nvPr/>
        </p:nvSpPr>
        <p:spPr>
          <a:xfrm>
            <a:off x="3009900" y="3962400"/>
            <a:ext cx="49403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4.1 levels of abstraction and refinement © IEEE, 1992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4.2 Reengineering Concepts</a:t>
            </a:r>
            <a:endParaRPr/>
          </a:p>
        </p:txBody>
      </p:sp>
      <p:sp>
        <p:nvSpPr>
          <p:cNvPr id="95" name="Google Shape;95;p8"/>
          <p:cNvSpPr txBox="1">
            <a:spLocks noGrp="1"/>
          </p:cNvSpPr>
          <p:nvPr>
            <p:ph type="body" idx="4294967295"/>
          </p:nvPr>
        </p:nvSpPr>
        <p:spPr>
          <a:xfrm>
            <a:off x="142875" y="673100"/>
            <a:ext cx="8812213" cy="57880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500"/>
              <a:buFont typeface="Times New Roman"/>
              <a:buChar char="•"/>
            </a:pPr>
            <a:r>
              <a:rPr lang="en-US" sz="2000"/>
              <a:t>An optional principle called </a:t>
            </a:r>
            <a:r>
              <a:rPr lang="en-US" sz="2000" b="1">
                <a:solidFill>
                  <a:schemeClr val="hlink"/>
                </a:solidFill>
              </a:rPr>
              <a:t>alteration</a:t>
            </a:r>
            <a:r>
              <a:rPr lang="en-US" sz="2000"/>
              <a:t> underlies many reengineering methods. </a:t>
            </a:r>
            <a:endParaRPr/>
          </a:p>
          <a:p>
            <a:pPr marL="285750" lvl="0" indent="-285750" algn="l" rtl="0">
              <a:lnSpc>
                <a:spcPct val="90000"/>
              </a:lnSpc>
              <a:spcBef>
                <a:spcPts val="600"/>
              </a:spcBef>
              <a:spcAft>
                <a:spcPts val="0"/>
              </a:spcAft>
              <a:buClr>
                <a:schemeClr val="hlink"/>
              </a:buClr>
              <a:buSzPts val="1500"/>
              <a:buFont typeface="Times New Roman"/>
              <a:buChar char="•"/>
            </a:pPr>
            <a:r>
              <a:rPr lang="en-US" sz="2000" b="1">
                <a:solidFill>
                  <a:schemeClr val="hlink"/>
                </a:solidFill>
              </a:rPr>
              <a:t>Principle of alteration:</a:t>
            </a:r>
            <a:r>
              <a:rPr lang="en-US" sz="2000"/>
              <a:t> The making of some changes to a system representation is known as alteration. Alteration does not involve any change to the degree of abstraction, and it does not involve modification, deletion, and addition of information.</a:t>
            </a:r>
            <a:endParaRPr/>
          </a:p>
          <a:p>
            <a:pPr marL="285750" lvl="0" indent="-285750" algn="l" rtl="0">
              <a:lnSpc>
                <a:spcPct val="90000"/>
              </a:lnSpc>
              <a:spcBef>
                <a:spcPts val="600"/>
              </a:spcBef>
              <a:spcAft>
                <a:spcPts val="0"/>
              </a:spcAft>
              <a:buClr>
                <a:schemeClr val="hlink"/>
              </a:buClr>
              <a:buSzPts val="1500"/>
              <a:buFont typeface="Times New Roman"/>
              <a:buChar char="•"/>
            </a:pPr>
            <a:r>
              <a:rPr lang="en-US" sz="2000" b="1">
                <a:solidFill>
                  <a:schemeClr val="hlink"/>
                </a:solidFill>
              </a:rPr>
              <a:t>Reengineering principles</a:t>
            </a:r>
            <a:r>
              <a:rPr lang="en-US" sz="2000"/>
              <a:t> are represented by means of arrows.  Abstraction is represented by an up-arrow, alteration is represented by a horizontal arrow, and refinement by a down-arrow.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arrows depicting refinement and abstraction are slanted, thereby indicating the increase and decrease, respectively, of system information.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It may be noted that alteration is non-essential for reengineering.</a:t>
            </a:r>
            <a:endParaRPr/>
          </a:p>
          <a:p>
            <a:pPr marL="285750" lvl="0" indent="-285750" algn="l" rtl="0">
              <a:lnSpc>
                <a:spcPct val="90000"/>
              </a:lnSpc>
              <a:spcBef>
                <a:spcPts val="600"/>
              </a:spcBef>
              <a:spcAft>
                <a:spcPts val="0"/>
              </a:spcAft>
              <a:buClr>
                <a:srgbClr val="000000"/>
              </a:buClr>
              <a:buSzPts val="1500"/>
              <a:buFont typeface="Times New Roman"/>
              <a:buNone/>
            </a:pPr>
            <a:endParaRPr sz="2000"/>
          </a:p>
        </p:txBody>
      </p:sp>
      <p:pic>
        <p:nvPicPr>
          <p:cNvPr id="96" name="Google Shape;96;p8"/>
          <p:cNvPicPr preferRelativeResize="0"/>
          <p:nvPr/>
        </p:nvPicPr>
        <p:blipFill rotWithShape="1">
          <a:blip r:embed="rId3">
            <a:alphaModFix/>
          </a:blip>
          <a:srcRect/>
          <a:stretch/>
        </p:blipFill>
        <p:spPr>
          <a:xfrm>
            <a:off x="2243138" y="4235450"/>
            <a:ext cx="4062412" cy="2295525"/>
          </a:xfrm>
          <a:prstGeom prst="rect">
            <a:avLst/>
          </a:prstGeom>
          <a:noFill/>
          <a:ln>
            <a:noFill/>
          </a:ln>
        </p:spPr>
      </p:pic>
      <p:sp>
        <p:nvSpPr>
          <p:cNvPr id="97" name="Google Shape;97;p8"/>
          <p:cNvSpPr/>
          <p:nvPr/>
        </p:nvSpPr>
        <p:spPr>
          <a:xfrm>
            <a:off x="4711700" y="4343400"/>
            <a:ext cx="40640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4.2 Conceptual basis for the reengineering process © IEEE, 1992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9"/>
          <p:cNvSpPr txBox="1">
            <a:spLocks noGrp="1"/>
          </p:cNvSpPr>
          <p:nvPr>
            <p:ph type="title" idx="4294967295"/>
          </p:nvPr>
        </p:nvSpPr>
        <p:spPr>
          <a:xfrm>
            <a:off x="0" y="0"/>
            <a:ext cx="9144000" cy="7540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4.3 A General Model For Software Reengineering</a:t>
            </a:r>
            <a:endParaRPr/>
          </a:p>
        </p:txBody>
      </p:sp>
      <p:sp>
        <p:nvSpPr>
          <p:cNvPr id="105" name="Google Shape;105;p9"/>
          <p:cNvSpPr txBox="1">
            <a:spLocks noGrp="1"/>
          </p:cNvSpPr>
          <p:nvPr>
            <p:ph type="body" idx="4294967295"/>
          </p:nvPr>
        </p:nvSpPr>
        <p:spPr>
          <a:xfrm>
            <a:off x="66675" y="660400"/>
            <a:ext cx="8812213" cy="57372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800"/>
              <a:buFont typeface="Times New Roman"/>
              <a:buChar char="•"/>
            </a:pPr>
            <a:r>
              <a:rPr lang="en-US"/>
              <a:t>The reengineering process accepts as input the existing code of a system and produces the code of the renovated system.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The reengineering process may be as straightforward as translating with a tool the source code from the given language to source code in another language. </a:t>
            </a:r>
            <a:endParaRPr/>
          </a:p>
          <a:p>
            <a:pPr marL="285750" lvl="0" indent="-285750" algn="l" rtl="0">
              <a:lnSpc>
                <a:spcPct val="90000"/>
              </a:lnSpc>
              <a:spcBef>
                <a:spcPts val="720"/>
              </a:spcBef>
              <a:spcAft>
                <a:spcPts val="0"/>
              </a:spcAft>
              <a:buClr>
                <a:srgbClr val="000000"/>
              </a:buClr>
              <a:buSzPts val="1800"/>
              <a:buFont typeface="Times New Roman"/>
              <a:buChar char="•"/>
            </a:pPr>
            <a:r>
              <a:rPr lang="en-US"/>
              <a:t>For example, a program written in BASIC can be translated into a new program in C.</a:t>
            </a:r>
            <a:endParaRPr/>
          </a:p>
          <a:p>
            <a:pPr marL="285750" lvl="0" indent="-285750" algn="l" rtl="0">
              <a:lnSpc>
                <a:spcPct val="90000"/>
              </a:lnSpc>
              <a:spcBef>
                <a:spcPts val="720"/>
              </a:spcBef>
              <a:spcAft>
                <a:spcPts val="0"/>
              </a:spcAft>
              <a:buClr>
                <a:srgbClr val="000000"/>
              </a:buClr>
              <a:buSzPts val="1800"/>
              <a:buFont typeface="Times New Roman"/>
              <a:buChar char="•"/>
            </a:pPr>
            <a:r>
              <a:rPr lang="en-US"/>
              <a:t>The reengineering process may be very complex as explained below:</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recreate a design from the existing source code.</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find the requirements of the system being reengineered.</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compare the existing requirements with the new ones.</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remove those requirements that are not needed in the renovated system.</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make a new design of the desired system.</a:t>
            </a:r>
            <a:endParaRPr/>
          </a:p>
          <a:p>
            <a:pPr marL="685800" lvl="1" indent="-228600" algn="l" rtl="0">
              <a:lnSpc>
                <a:spcPct val="90000"/>
              </a:lnSpc>
              <a:spcBef>
                <a:spcPts val="600"/>
              </a:spcBef>
              <a:spcAft>
                <a:spcPts val="0"/>
              </a:spcAft>
              <a:buClr>
                <a:srgbClr val="3333FF"/>
              </a:buClr>
              <a:buSzPts val="2000"/>
              <a:buFont typeface="Times New Roman"/>
              <a:buNone/>
            </a:pPr>
            <a:r>
              <a:rPr lang="en-US">
                <a:solidFill>
                  <a:srgbClr val="3333FF"/>
                </a:solidFill>
              </a:rPr>
              <a:t>• code the new system.</a:t>
            </a:r>
            <a:endParaRPr/>
          </a:p>
          <a:p>
            <a:pPr marL="285750" lvl="0" indent="-28575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0"/>
          <p:cNvSpPr txBox="1">
            <a:spLocks noGrp="1"/>
          </p:cNvSpPr>
          <p:nvPr>
            <p:ph type="title" idx="4294967295"/>
          </p:nvPr>
        </p:nvSpPr>
        <p:spPr>
          <a:xfrm>
            <a:off x="0" y="0"/>
            <a:ext cx="9144000" cy="7667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4.3 A General Model For Software Reengineering</a:t>
            </a:r>
            <a:endParaRPr/>
          </a:p>
        </p:txBody>
      </p:sp>
      <p:sp>
        <p:nvSpPr>
          <p:cNvPr id="113" name="Google Shape;113;p10"/>
          <p:cNvSpPr txBox="1">
            <a:spLocks noGrp="1"/>
          </p:cNvSpPr>
          <p:nvPr>
            <p:ph type="body" idx="4294967295"/>
          </p:nvPr>
        </p:nvSpPr>
        <p:spPr>
          <a:xfrm>
            <a:off x="66675" y="711200"/>
            <a:ext cx="8812213" cy="1622425"/>
          </a:xfrm>
          <a:prstGeom prst="rect">
            <a:avLst/>
          </a:prstGeom>
          <a:noFill/>
          <a:ln>
            <a:noFill/>
          </a:ln>
        </p:spPr>
        <p:txBody>
          <a:bodyPr spcFirstLastPara="1" wrap="square" lIns="92075" tIns="46025" rIns="92075" bIns="46025" anchor="t" anchorCtr="0">
            <a:noAutofit/>
          </a:bodyPr>
          <a:lstStyle/>
          <a:p>
            <a:pPr marL="285750" lvl="0" indent="-285750" algn="l" rtl="0">
              <a:lnSpc>
                <a:spcPct val="80000"/>
              </a:lnSpc>
              <a:spcBef>
                <a:spcPts val="0"/>
              </a:spcBef>
              <a:spcAft>
                <a:spcPts val="0"/>
              </a:spcAft>
              <a:buClr>
                <a:srgbClr val="000000"/>
              </a:buClr>
              <a:buSzPts val="1800"/>
              <a:buFont typeface="Times New Roman"/>
              <a:buChar char="•"/>
            </a:pPr>
            <a:r>
              <a:rPr lang="en-US"/>
              <a:t>The  model in Figure 4.3 proposed by Eric J. Byrne suggests that reengineering is a sequence of three activities:</a:t>
            </a:r>
            <a:endParaRPr/>
          </a:p>
          <a:p>
            <a:pPr marL="685800" lvl="1" indent="-228600" algn="l" rtl="0">
              <a:lnSpc>
                <a:spcPct val="80000"/>
              </a:lnSpc>
              <a:spcBef>
                <a:spcPts val="600"/>
              </a:spcBef>
              <a:spcAft>
                <a:spcPts val="0"/>
              </a:spcAft>
              <a:buClr>
                <a:schemeClr val="dk2"/>
              </a:buClr>
              <a:buSzPts val="2000"/>
              <a:buFont typeface="Times New Roman"/>
              <a:buNone/>
            </a:pPr>
            <a:r>
              <a:rPr lang="en-US"/>
              <a:t>– reverse engineering, re-design, and forward engineering </a:t>
            </a:r>
            <a:endParaRPr/>
          </a:p>
          <a:p>
            <a:pPr marL="685800" lvl="1" indent="-228600" algn="l" rtl="0">
              <a:lnSpc>
                <a:spcPct val="80000"/>
              </a:lnSpc>
              <a:spcBef>
                <a:spcPts val="600"/>
              </a:spcBef>
              <a:spcAft>
                <a:spcPts val="0"/>
              </a:spcAft>
              <a:buClr>
                <a:schemeClr val="dk2"/>
              </a:buClr>
              <a:buSzPts val="2000"/>
              <a:buFont typeface="Times New Roman"/>
              <a:buNone/>
            </a:pPr>
            <a:r>
              <a:rPr lang="en-US"/>
              <a:t>– strongly founded in three principles, namely, abstraction, alteration, and refinement.</a:t>
            </a:r>
            <a:endParaRPr/>
          </a:p>
        </p:txBody>
      </p:sp>
      <p:pic>
        <p:nvPicPr>
          <p:cNvPr id="114" name="Google Shape;114;p10"/>
          <p:cNvPicPr preferRelativeResize="0"/>
          <p:nvPr/>
        </p:nvPicPr>
        <p:blipFill rotWithShape="1">
          <a:blip r:embed="rId3">
            <a:alphaModFix/>
          </a:blip>
          <a:srcRect/>
          <a:stretch/>
        </p:blipFill>
        <p:spPr>
          <a:xfrm>
            <a:off x="328613" y="2306638"/>
            <a:ext cx="8007350" cy="3578225"/>
          </a:xfrm>
          <a:prstGeom prst="rect">
            <a:avLst/>
          </a:prstGeom>
          <a:noFill/>
          <a:ln>
            <a:noFill/>
          </a:ln>
        </p:spPr>
      </p:pic>
      <p:sp>
        <p:nvSpPr>
          <p:cNvPr id="115" name="Google Shape;115;p10"/>
          <p:cNvSpPr/>
          <p:nvPr/>
        </p:nvSpPr>
        <p:spPr>
          <a:xfrm>
            <a:off x="1079500" y="5829300"/>
            <a:ext cx="71755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4.3 General model of software reengineering © IEEE, 1992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1"/>
          <p:cNvSpPr txBox="1">
            <a:spLocks noGrp="1"/>
          </p:cNvSpPr>
          <p:nvPr>
            <p:ph type="title" idx="4294967295"/>
          </p:nvPr>
        </p:nvSpPr>
        <p:spPr>
          <a:xfrm>
            <a:off x="0" y="0"/>
            <a:ext cx="9144000" cy="7794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4.3 A General Model For Software Reengineering</a:t>
            </a:r>
            <a:endParaRPr/>
          </a:p>
        </p:txBody>
      </p:sp>
      <p:sp>
        <p:nvSpPr>
          <p:cNvPr id="123" name="Google Shape;123;p11"/>
          <p:cNvSpPr txBox="1">
            <a:spLocks noGrp="1"/>
          </p:cNvSpPr>
          <p:nvPr>
            <p:ph type="body" idx="4294967295"/>
          </p:nvPr>
        </p:nvSpPr>
        <p:spPr>
          <a:xfrm>
            <a:off x="206375" y="850900"/>
            <a:ext cx="8672513" cy="54578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500"/>
              <a:buFont typeface="Times New Roman"/>
              <a:buNone/>
            </a:pPr>
            <a:r>
              <a:rPr lang="en-US" sz="2000"/>
              <a:t>Now, we are in a position to re-visit three definitions of reengineering.</a:t>
            </a:r>
            <a:endParaRPr/>
          </a:p>
          <a:p>
            <a:pPr marL="285750" lvl="0" indent="-285750" algn="l" rtl="0">
              <a:lnSpc>
                <a:spcPct val="90000"/>
              </a:lnSpc>
              <a:spcBef>
                <a:spcPts val="600"/>
              </a:spcBef>
              <a:spcAft>
                <a:spcPts val="0"/>
              </a:spcAft>
              <a:buClr>
                <a:srgbClr val="000000"/>
              </a:buClr>
              <a:buSzPts val="1500"/>
              <a:buFont typeface="Times New Roman"/>
              <a:buNone/>
            </a:pPr>
            <a:endParaRPr sz="2000"/>
          </a:p>
          <a:p>
            <a:pPr marL="685800" lvl="1" indent="-228600" algn="l" rtl="0">
              <a:lnSpc>
                <a:spcPct val="90000"/>
              </a:lnSpc>
              <a:spcBef>
                <a:spcPts val="600"/>
              </a:spcBef>
              <a:spcAft>
                <a:spcPts val="0"/>
              </a:spcAft>
              <a:buClr>
                <a:schemeClr val="dk2"/>
              </a:buClr>
              <a:buSzPts val="2000"/>
              <a:buFont typeface="Times New Roman"/>
              <a:buNone/>
            </a:pPr>
            <a:r>
              <a:rPr lang="en-US"/>
              <a:t>• The definition by Chikofsky and Cross II: Software reengineering is the analysis and alteration of an operational system to represent it in a new form and to obtain a new implementation from the new form. Here, a new form means a representation at a higher level of abstraction.</a:t>
            </a:r>
            <a:endParaRPr/>
          </a:p>
          <a:p>
            <a:pPr marL="685800" lvl="1" indent="-228600" algn="l" rtl="0">
              <a:lnSpc>
                <a:spcPct val="90000"/>
              </a:lnSpc>
              <a:spcBef>
                <a:spcPts val="600"/>
              </a:spcBef>
              <a:spcAft>
                <a:spcPts val="0"/>
              </a:spcAft>
              <a:buClr>
                <a:schemeClr val="dk2"/>
              </a:buClr>
              <a:buSzPts val="2000"/>
              <a:buFont typeface="Times New Roman"/>
              <a:buNone/>
            </a:pPr>
            <a:endParaRPr/>
          </a:p>
          <a:p>
            <a:pPr marL="685800" lvl="1" indent="-228600" algn="l" rtl="0">
              <a:lnSpc>
                <a:spcPct val="90000"/>
              </a:lnSpc>
              <a:spcBef>
                <a:spcPts val="600"/>
              </a:spcBef>
              <a:spcAft>
                <a:spcPts val="0"/>
              </a:spcAft>
              <a:buClr>
                <a:schemeClr val="dk2"/>
              </a:buClr>
              <a:buSzPts val="2000"/>
              <a:buFont typeface="Times New Roman"/>
              <a:buNone/>
            </a:pPr>
            <a:r>
              <a:rPr lang="en-US"/>
              <a:t>• The definition by Byrne: Reengineering of a software system is a process for creating a new software from an existing software so that the new system is better than the original system in some ways.</a:t>
            </a:r>
            <a:endParaRPr/>
          </a:p>
          <a:p>
            <a:pPr marL="685800" lvl="1" indent="-228600" algn="l" rtl="0">
              <a:lnSpc>
                <a:spcPct val="90000"/>
              </a:lnSpc>
              <a:spcBef>
                <a:spcPts val="600"/>
              </a:spcBef>
              <a:spcAft>
                <a:spcPts val="0"/>
              </a:spcAft>
              <a:buClr>
                <a:schemeClr val="dk2"/>
              </a:buClr>
              <a:buSzPts val="2000"/>
              <a:buFont typeface="Times New Roman"/>
              <a:buNone/>
            </a:pPr>
            <a:endParaRPr/>
          </a:p>
          <a:p>
            <a:pPr marL="685800" lvl="1" indent="-228600" algn="l" rtl="0">
              <a:lnSpc>
                <a:spcPct val="90000"/>
              </a:lnSpc>
              <a:spcBef>
                <a:spcPts val="600"/>
              </a:spcBef>
              <a:spcAft>
                <a:spcPts val="0"/>
              </a:spcAft>
              <a:buClr>
                <a:schemeClr val="dk2"/>
              </a:buClr>
              <a:buSzPts val="2000"/>
              <a:buFont typeface="Times New Roman"/>
              <a:buNone/>
            </a:pPr>
            <a:r>
              <a:rPr lang="en-US"/>
              <a:t>• The definition by Arnold: Reengineering of a software system is an activity that: (i) improves the comprehension of the software system, or (ii) raises the quality levels of the software, namely, performance, reusability, and maintainability.</a:t>
            </a:r>
            <a:endParaRPr/>
          </a:p>
          <a:p>
            <a:pPr marL="285750" lvl="0" indent="-285750" algn="l" rtl="0">
              <a:lnSpc>
                <a:spcPct val="90000"/>
              </a:lnSpc>
              <a:spcBef>
                <a:spcPts val="540"/>
              </a:spcBef>
              <a:spcAft>
                <a:spcPts val="0"/>
              </a:spcAft>
              <a:buClr>
                <a:srgbClr val="000000"/>
              </a:buClr>
              <a:buSzPts val="1350"/>
              <a:buFont typeface="Times New Roman"/>
              <a:buNone/>
            </a:pP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2"/>
          <p:cNvSpPr txBox="1">
            <a:spLocks noGrp="1"/>
          </p:cNvSpPr>
          <p:nvPr>
            <p:ph type="title" idx="4294967295"/>
          </p:nvPr>
        </p:nvSpPr>
        <p:spPr>
          <a:xfrm>
            <a:off x="0" y="0"/>
            <a:ext cx="9144000" cy="7032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4.3 A General Model For Software Reengineering</a:t>
            </a:r>
            <a:endParaRPr/>
          </a:p>
        </p:txBody>
      </p:sp>
      <p:sp>
        <p:nvSpPr>
          <p:cNvPr id="131" name="Google Shape;131;p12"/>
          <p:cNvSpPr txBox="1">
            <a:spLocks noGrp="1"/>
          </p:cNvSpPr>
          <p:nvPr>
            <p:ph type="body" idx="4294967295"/>
          </p:nvPr>
        </p:nvSpPr>
        <p:spPr>
          <a:xfrm>
            <a:off x="66675" y="660400"/>
            <a:ext cx="8812213" cy="5622925"/>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000000"/>
              </a:buClr>
              <a:buSzPts val="1500"/>
              <a:buFont typeface="Times New Roman"/>
              <a:buChar char="•"/>
            </a:pPr>
            <a:r>
              <a:rPr lang="en-US" sz="2000"/>
              <a:t>In summary, it is evident that reengineering entails:</a:t>
            </a:r>
            <a:r>
              <a:rPr lang="en-US"/>
              <a:t> </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  the creation of a more abstract view of the system by means of some reverse engineering activities,</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(ii) the restructuring of the abstract view, and </a:t>
            </a:r>
            <a:endParaRPr/>
          </a:p>
          <a:p>
            <a:pPr marL="869950" lvl="1" indent="-412750" algn="l" rtl="0">
              <a:lnSpc>
                <a:spcPct val="90000"/>
              </a:lnSpc>
              <a:spcBef>
                <a:spcPts val="600"/>
              </a:spcBef>
              <a:spcAft>
                <a:spcPts val="0"/>
              </a:spcAft>
              <a:buClr>
                <a:schemeClr val="dk2"/>
              </a:buClr>
              <a:buSzPts val="1800"/>
              <a:buFont typeface="Times New Roman"/>
              <a:buNone/>
            </a:pPr>
            <a:r>
              <a:rPr lang="en-US" sz="1800"/>
              <a:t>(iii) implementation of the system in a new form by means of forward engineering activities.</a:t>
            </a:r>
            <a:r>
              <a:rPr lang="en-US"/>
              <a:t>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This process is formally captured by Jacobson and Lindstorm with the following expression:</a:t>
            </a:r>
            <a:endParaRPr/>
          </a:p>
          <a:p>
            <a:pPr marL="869950" lvl="1" indent="-412750" algn="l" rtl="0">
              <a:lnSpc>
                <a:spcPct val="90000"/>
              </a:lnSpc>
              <a:spcBef>
                <a:spcPts val="720"/>
              </a:spcBef>
              <a:spcAft>
                <a:spcPts val="0"/>
              </a:spcAft>
              <a:buClr>
                <a:schemeClr val="dk2"/>
              </a:buClr>
              <a:buSzPts val="2400"/>
              <a:buFont typeface="Times New Roman"/>
              <a:buNone/>
            </a:pPr>
            <a:r>
              <a:rPr lang="en-US" sz="2400"/>
              <a:t>Reengineering = Reverse engineering + Δ + Forward engineering.</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The element “Δ” captures alterations made to the original system.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Two major dimensions of alteration are: </a:t>
            </a:r>
            <a:r>
              <a:rPr lang="en-US" sz="2000">
                <a:solidFill>
                  <a:srgbClr val="3333FF"/>
                </a:solidFill>
              </a:rPr>
              <a:t>change in functionality </a:t>
            </a:r>
            <a:r>
              <a:rPr lang="en-US" sz="2000"/>
              <a:t>and </a:t>
            </a:r>
            <a:r>
              <a:rPr lang="en-US" sz="2000">
                <a:solidFill>
                  <a:srgbClr val="3333FF"/>
                </a:solidFill>
              </a:rPr>
              <a:t>change in implementation technique</a:t>
            </a:r>
            <a:r>
              <a:rPr lang="en-US" sz="2000"/>
              <a:t>.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A change in functionality comes from a change in the business rules,</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Next, concerning a change of implementation technique, an end-user of a system never knows if the system is implemented in an object-oriented language or a procedural language.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3"/>
          <p:cNvSpPr txBox="1">
            <a:spLocks noGrp="1"/>
          </p:cNvSpPr>
          <p:nvPr>
            <p:ph type="title" idx="4294967295"/>
          </p:nvPr>
        </p:nvSpPr>
        <p:spPr>
          <a:xfrm>
            <a:off x="0" y="0"/>
            <a:ext cx="9144000" cy="741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4.3 A General Model For Software Reengineering</a:t>
            </a:r>
            <a:endParaRPr/>
          </a:p>
        </p:txBody>
      </p:sp>
      <p:sp>
        <p:nvSpPr>
          <p:cNvPr id="139" name="Google Shape;139;p13"/>
          <p:cNvSpPr txBox="1">
            <a:spLocks noGrp="1"/>
          </p:cNvSpPr>
          <p:nvPr>
            <p:ph type="body" idx="4294967295"/>
          </p:nvPr>
        </p:nvSpPr>
        <p:spPr>
          <a:xfrm>
            <a:off x="66675" y="660400"/>
            <a:ext cx="8812213" cy="3108325"/>
          </a:xfrm>
          <a:prstGeom prst="rect">
            <a:avLst/>
          </a:prstGeom>
          <a:noFill/>
          <a:ln>
            <a:noFill/>
          </a:ln>
        </p:spPr>
        <p:txBody>
          <a:bodyPr spcFirstLastPara="1" wrap="square" lIns="92075" tIns="46025" rIns="92075" bIns="46025" anchor="t" anchorCtr="0">
            <a:noAutofit/>
          </a:bodyPr>
          <a:lstStyle/>
          <a:p>
            <a:pPr marL="495300" lvl="0" indent="-400050" algn="l" rtl="0">
              <a:lnSpc>
                <a:spcPct val="90000"/>
              </a:lnSpc>
              <a:spcBef>
                <a:spcPts val="0"/>
              </a:spcBef>
              <a:spcAft>
                <a:spcPts val="0"/>
              </a:spcAft>
              <a:buClr>
                <a:srgbClr val="000000"/>
              </a:buClr>
              <a:buSzPts val="1500"/>
              <a:buFont typeface="Times New Roman"/>
              <a:buNone/>
            </a:pPr>
            <a:endParaRPr sz="2000"/>
          </a:p>
          <a:p>
            <a:pPr marL="495300" lvl="0" indent="-495300" algn="l" rtl="0">
              <a:lnSpc>
                <a:spcPct val="90000"/>
              </a:lnSpc>
              <a:spcBef>
                <a:spcPts val="600"/>
              </a:spcBef>
              <a:spcAft>
                <a:spcPts val="0"/>
              </a:spcAft>
              <a:buClr>
                <a:srgbClr val="000000"/>
              </a:buClr>
              <a:buSzPts val="1500"/>
              <a:buFont typeface="Times New Roman"/>
              <a:buChar char="•"/>
            </a:pPr>
            <a:r>
              <a:rPr lang="en-US" sz="2000"/>
              <a:t>Another common term used by practitioners of reengineering is </a:t>
            </a:r>
            <a:r>
              <a:rPr lang="en-US" sz="2000" b="1">
                <a:solidFill>
                  <a:srgbClr val="3333FF"/>
                </a:solidFill>
              </a:rPr>
              <a:t>rehosting</a:t>
            </a:r>
            <a:r>
              <a:rPr lang="en-US" sz="2000"/>
              <a:t>. </a:t>
            </a:r>
            <a:endParaRPr/>
          </a:p>
          <a:p>
            <a:pPr marL="495300" lvl="0" indent="-495300" algn="l" rtl="0">
              <a:lnSpc>
                <a:spcPct val="90000"/>
              </a:lnSpc>
              <a:spcBef>
                <a:spcPts val="600"/>
              </a:spcBef>
              <a:spcAft>
                <a:spcPts val="0"/>
              </a:spcAft>
              <a:buClr>
                <a:srgbClr val="3333FF"/>
              </a:buClr>
              <a:buSzPts val="1500"/>
              <a:buFont typeface="Times New Roman"/>
              <a:buChar char="•"/>
            </a:pPr>
            <a:r>
              <a:rPr lang="en-US" sz="2000" b="1">
                <a:solidFill>
                  <a:srgbClr val="3333FF"/>
                </a:solidFill>
              </a:rPr>
              <a:t>Rehosting</a:t>
            </a:r>
            <a:r>
              <a:rPr lang="en-US" sz="2000"/>
              <a:t> means reengineering of source code without addition or reduction of features in the transformed targeted source code. </a:t>
            </a:r>
            <a:endParaRPr/>
          </a:p>
          <a:p>
            <a:pPr marL="495300" lvl="0" indent="-495300" algn="l" rtl="0">
              <a:lnSpc>
                <a:spcPct val="90000"/>
              </a:lnSpc>
              <a:spcBef>
                <a:spcPts val="600"/>
              </a:spcBef>
              <a:spcAft>
                <a:spcPts val="0"/>
              </a:spcAft>
              <a:buClr>
                <a:srgbClr val="3333FF"/>
              </a:buClr>
              <a:buSzPts val="1500"/>
              <a:buFont typeface="Times New Roman"/>
              <a:buChar char="•"/>
            </a:pPr>
            <a:r>
              <a:rPr lang="en-US" sz="2000" b="1">
                <a:solidFill>
                  <a:srgbClr val="3333FF"/>
                </a:solidFill>
              </a:rPr>
              <a:t>Rehosting</a:t>
            </a:r>
            <a:r>
              <a:rPr lang="en-US" sz="2000"/>
              <a:t> is most effective when the user is satisfied with the system’s functionality, but looks for better qualities of the system.</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Examples of better qualities are improved efficiency of execution and reduced maintenance costs.</a:t>
            </a:r>
            <a:endParaRPr/>
          </a:p>
          <a:p>
            <a:pPr marL="495300" lvl="0" indent="-49530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4.3.1 Types of Change</a:t>
            </a:r>
            <a:endParaRPr/>
          </a:p>
        </p:txBody>
      </p:sp>
      <p:sp>
        <p:nvSpPr>
          <p:cNvPr id="147" name="Google Shape;147;p14"/>
          <p:cNvSpPr txBox="1">
            <a:spLocks noGrp="1"/>
          </p:cNvSpPr>
          <p:nvPr>
            <p:ph type="body" idx="4294967295"/>
          </p:nvPr>
        </p:nvSpPr>
        <p:spPr>
          <a:xfrm>
            <a:off x="66675" y="660400"/>
            <a:ext cx="8812213" cy="5521325"/>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000000"/>
              </a:buClr>
              <a:buSzPts val="1500"/>
              <a:buFont typeface="Times New Roman"/>
              <a:buNone/>
            </a:pPr>
            <a:r>
              <a:rPr lang="en-US" sz="2000"/>
              <a:t>Based on the type of changes required, system characteristics are divided into groups: </a:t>
            </a:r>
            <a:r>
              <a:rPr lang="en-US" sz="2000" b="1">
                <a:solidFill>
                  <a:schemeClr val="hlink"/>
                </a:solidFill>
              </a:rPr>
              <a:t>rethink, respecify, redesign</a:t>
            </a:r>
            <a:r>
              <a:rPr lang="en-US" sz="2000"/>
              <a:t>, and </a:t>
            </a:r>
            <a:r>
              <a:rPr lang="en-US" sz="2000" b="1">
                <a:solidFill>
                  <a:schemeClr val="hlink"/>
                </a:solidFill>
              </a:rPr>
              <a:t>re-code</a:t>
            </a:r>
            <a:r>
              <a:rPr lang="en-US" sz="2000"/>
              <a:t>. </a:t>
            </a:r>
            <a:endParaRPr/>
          </a:p>
          <a:p>
            <a:pPr marL="495300" lvl="0" indent="-495300" algn="l" rtl="0">
              <a:lnSpc>
                <a:spcPct val="90000"/>
              </a:lnSpc>
              <a:spcBef>
                <a:spcPts val="600"/>
              </a:spcBef>
              <a:spcAft>
                <a:spcPts val="0"/>
              </a:spcAft>
              <a:buClr>
                <a:srgbClr val="3333FF"/>
              </a:buClr>
              <a:buSzPts val="1500"/>
              <a:buFont typeface="Times New Roman"/>
              <a:buNone/>
            </a:pPr>
            <a:r>
              <a:rPr lang="en-US" sz="2000" b="1" u="sng">
                <a:solidFill>
                  <a:srgbClr val="3333FF"/>
                </a:solidFill>
              </a:rPr>
              <a:t>Recode:</a:t>
            </a:r>
            <a:r>
              <a:rPr lang="en-US" sz="2000"/>
              <a:t> </a:t>
            </a:r>
            <a:endParaRPr/>
          </a:p>
          <a:p>
            <a:pPr marL="495300" lvl="0" indent="-495300" algn="l" rtl="0">
              <a:lnSpc>
                <a:spcPct val="90000"/>
              </a:lnSpc>
              <a:spcBef>
                <a:spcPts val="540"/>
              </a:spcBef>
              <a:spcAft>
                <a:spcPts val="0"/>
              </a:spcAft>
              <a:buClr>
                <a:srgbClr val="000000"/>
              </a:buClr>
              <a:buSzPts val="1350"/>
              <a:buFont typeface="Times New Roman"/>
              <a:buChar char="•"/>
            </a:pPr>
            <a:r>
              <a:rPr lang="en-US" sz="1800"/>
              <a:t>Implementation characteristics of the source program are changed by re-coding it. Source-code level changes are performed by means of </a:t>
            </a:r>
            <a:r>
              <a:rPr lang="en-US" sz="1800">
                <a:solidFill>
                  <a:srgbClr val="BF7200"/>
                </a:solidFill>
              </a:rPr>
              <a:t>rephrasing </a:t>
            </a:r>
            <a:r>
              <a:rPr lang="en-US" sz="1800"/>
              <a:t>and </a:t>
            </a:r>
            <a:r>
              <a:rPr lang="en-US" sz="1800">
                <a:solidFill>
                  <a:srgbClr val="BF7200"/>
                </a:solidFill>
              </a:rPr>
              <a:t>program translation.</a:t>
            </a:r>
            <a:r>
              <a:rPr lang="en-US" sz="1800"/>
              <a:t> </a:t>
            </a:r>
            <a:endParaRPr/>
          </a:p>
          <a:p>
            <a:pPr marL="495300" lvl="0" indent="-495300" algn="l" rtl="0">
              <a:lnSpc>
                <a:spcPct val="90000"/>
              </a:lnSpc>
              <a:spcBef>
                <a:spcPts val="540"/>
              </a:spcBef>
              <a:spcAft>
                <a:spcPts val="0"/>
              </a:spcAft>
              <a:buClr>
                <a:srgbClr val="000000"/>
              </a:buClr>
              <a:buSzPts val="1350"/>
              <a:buFont typeface="Times New Roman"/>
              <a:buChar char="•"/>
            </a:pPr>
            <a:r>
              <a:rPr lang="en-US" sz="1800"/>
              <a:t>In the latter approach, a program is transformed into a program in a different language. On the other hand, rephrasing keeps the program in the same language</a:t>
            </a:r>
            <a:endParaRPr/>
          </a:p>
          <a:p>
            <a:pPr marL="495300" lvl="0" indent="-495300" algn="l" rtl="0">
              <a:lnSpc>
                <a:spcPct val="90000"/>
              </a:lnSpc>
              <a:spcBef>
                <a:spcPts val="540"/>
              </a:spcBef>
              <a:spcAft>
                <a:spcPts val="0"/>
              </a:spcAft>
              <a:buClr>
                <a:srgbClr val="000000"/>
              </a:buClr>
              <a:buSzPts val="1350"/>
              <a:buFont typeface="Times New Roman"/>
              <a:buChar char="•"/>
            </a:pPr>
            <a:r>
              <a:rPr lang="en-US" sz="1800"/>
              <a:t>Examples of translation scenarios are </a:t>
            </a:r>
            <a:r>
              <a:rPr lang="en-US" sz="1800" b="1">
                <a:solidFill>
                  <a:schemeClr val="hlink"/>
                </a:solidFill>
              </a:rPr>
              <a:t>compilation, decompilation</a:t>
            </a:r>
            <a:r>
              <a:rPr lang="en-US" sz="1800">
                <a:solidFill>
                  <a:schemeClr val="hlink"/>
                </a:solidFill>
              </a:rPr>
              <a:t>, and </a:t>
            </a:r>
            <a:r>
              <a:rPr lang="en-US" sz="1800" b="1">
                <a:solidFill>
                  <a:schemeClr val="hlink"/>
                </a:solidFill>
              </a:rPr>
              <a:t>migration</a:t>
            </a:r>
            <a:r>
              <a:rPr lang="en-US" sz="1800"/>
              <a:t>.</a:t>
            </a:r>
            <a:endParaRPr/>
          </a:p>
          <a:p>
            <a:pPr marL="495300" lvl="0" indent="-495300" algn="l" rtl="0">
              <a:lnSpc>
                <a:spcPct val="90000"/>
              </a:lnSpc>
              <a:spcBef>
                <a:spcPts val="540"/>
              </a:spcBef>
              <a:spcAft>
                <a:spcPts val="0"/>
              </a:spcAft>
              <a:buClr>
                <a:srgbClr val="000000"/>
              </a:buClr>
              <a:buSzPts val="1350"/>
              <a:buFont typeface="Times New Roman"/>
              <a:buChar char="•"/>
            </a:pPr>
            <a:r>
              <a:rPr lang="en-US" sz="1800"/>
              <a:t>Examples of rephrasing scenarios are </a:t>
            </a:r>
            <a:r>
              <a:rPr lang="en-US" sz="1800" b="1">
                <a:solidFill>
                  <a:schemeClr val="hlink"/>
                </a:solidFill>
              </a:rPr>
              <a:t>normalization</a:t>
            </a:r>
            <a:r>
              <a:rPr lang="en-US" sz="1800">
                <a:solidFill>
                  <a:schemeClr val="hlink"/>
                </a:solidFill>
              </a:rPr>
              <a:t>, </a:t>
            </a:r>
            <a:r>
              <a:rPr lang="en-US" sz="1800" b="1">
                <a:solidFill>
                  <a:schemeClr val="hlink"/>
                </a:solidFill>
              </a:rPr>
              <a:t>optimization, refactoring</a:t>
            </a:r>
            <a:r>
              <a:rPr lang="en-US" sz="1800">
                <a:solidFill>
                  <a:schemeClr val="hlink"/>
                </a:solidFill>
              </a:rPr>
              <a:t>, and </a:t>
            </a:r>
            <a:r>
              <a:rPr lang="en-US" sz="1800" b="1">
                <a:solidFill>
                  <a:schemeClr val="hlink"/>
                </a:solidFill>
              </a:rPr>
              <a:t>renovation.</a:t>
            </a:r>
            <a:endParaRPr/>
          </a:p>
          <a:p>
            <a:pPr marL="495300" lvl="0" indent="-495300" algn="l" rtl="0">
              <a:lnSpc>
                <a:spcPct val="90000"/>
              </a:lnSpc>
              <a:spcBef>
                <a:spcPts val="720"/>
              </a:spcBef>
              <a:spcAft>
                <a:spcPts val="0"/>
              </a:spcAft>
              <a:buClr>
                <a:srgbClr val="3333FF"/>
              </a:buClr>
              <a:buSzPts val="1500"/>
              <a:buFont typeface="Times New Roman"/>
              <a:buNone/>
            </a:pPr>
            <a:r>
              <a:rPr lang="en-US" sz="2000" b="1" u="sng">
                <a:solidFill>
                  <a:srgbClr val="3333FF"/>
                </a:solidFill>
              </a:rPr>
              <a:t>Redesign:</a:t>
            </a:r>
            <a:r>
              <a:rPr lang="en-US"/>
              <a:t> </a:t>
            </a:r>
            <a:endParaRPr/>
          </a:p>
          <a:p>
            <a:pPr marL="495300" lvl="0" indent="-495300" algn="l" rtl="0">
              <a:lnSpc>
                <a:spcPct val="90000"/>
              </a:lnSpc>
              <a:spcBef>
                <a:spcPts val="720"/>
              </a:spcBef>
              <a:spcAft>
                <a:spcPts val="0"/>
              </a:spcAft>
              <a:buClr>
                <a:srgbClr val="000000"/>
              </a:buClr>
              <a:buSzPts val="1500"/>
              <a:buFont typeface="Times New Roman"/>
              <a:buChar char="•"/>
            </a:pPr>
            <a:r>
              <a:rPr lang="en-US" sz="2000"/>
              <a:t>The design characteristics of the software are altered by re-designing the system. Common changes to the software design include:</a:t>
            </a:r>
            <a:r>
              <a:rPr lang="en-US"/>
              <a:t> </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 restructuring the architecture; </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(ii) Modifying the data model of the system; and </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(iii) replacing a procedure or an algorithm with a more efficient one.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4.3.1 Types of Change</a:t>
            </a:r>
            <a:endParaRPr/>
          </a:p>
        </p:txBody>
      </p:sp>
      <p:sp>
        <p:nvSpPr>
          <p:cNvPr id="155" name="Google Shape;155;p15"/>
          <p:cNvSpPr txBox="1">
            <a:spLocks noGrp="1"/>
          </p:cNvSpPr>
          <p:nvPr>
            <p:ph type="body" idx="4294967295"/>
          </p:nvPr>
        </p:nvSpPr>
        <p:spPr>
          <a:xfrm>
            <a:off x="66675" y="660400"/>
            <a:ext cx="8812213" cy="5521325"/>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3333FF"/>
              </a:buClr>
              <a:buSzPts val="1500"/>
              <a:buFont typeface="Times New Roman"/>
              <a:buNone/>
            </a:pPr>
            <a:r>
              <a:rPr lang="en-US" sz="2000" b="1" u="sng">
                <a:solidFill>
                  <a:srgbClr val="3333FF"/>
                </a:solidFill>
              </a:rPr>
              <a:t>Respecify:</a:t>
            </a:r>
            <a:r>
              <a:rPr lang="en-US" sz="2000"/>
              <a:t>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This means changing the requirement characteristics of the system in two ways:</a:t>
            </a:r>
            <a:endParaRPr/>
          </a:p>
          <a:p>
            <a:pPr marL="869950" lvl="1" indent="-412750" algn="l" rtl="0">
              <a:lnSpc>
                <a:spcPct val="90000"/>
              </a:lnSpc>
              <a:spcBef>
                <a:spcPts val="600"/>
              </a:spcBef>
              <a:spcAft>
                <a:spcPts val="0"/>
              </a:spcAft>
              <a:buClr>
                <a:schemeClr val="dk2"/>
              </a:buClr>
              <a:buSzPts val="2000"/>
              <a:buFont typeface="Times New Roman"/>
              <a:buNone/>
            </a:pPr>
            <a:r>
              <a:rPr lang="en-US"/>
              <a:t>(i) change the form of the requirements, and </a:t>
            </a:r>
            <a:endParaRPr/>
          </a:p>
          <a:p>
            <a:pPr marL="869950" lvl="1" indent="-412750" algn="l" rtl="0">
              <a:lnSpc>
                <a:spcPct val="90000"/>
              </a:lnSpc>
              <a:spcBef>
                <a:spcPts val="600"/>
              </a:spcBef>
              <a:spcAft>
                <a:spcPts val="0"/>
              </a:spcAft>
              <a:buClr>
                <a:schemeClr val="dk2"/>
              </a:buClr>
              <a:buSzPts val="2000"/>
              <a:buFont typeface="Times New Roman"/>
              <a:buNone/>
            </a:pPr>
            <a:r>
              <a:rPr lang="en-US"/>
              <a:t>(ii) change the scope of the requirements. </a:t>
            </a:r>
            <a:endParaRPr/>
          </a:p>
          <a:p>
            <a:pPr marL="869950" lvl="1" indent="-412750" algn="l" rtl="0">
              <a:lnSpc>
                <a:spcPct val="90000"/>
              </a:lnSpc>
              <a:spcBef>
                <a:spcPts val="480"/>
              </a:spcBef>
              <a:spcAft>
                <a:spcPts val="0"/>
              </a:spcAft>
              <a:buClr>
                <a:schemeClr val="dk2"/>
              </a:buClr>
              <a:buSzPts val="1600"/>
              <a:buFont typeface="Times New Roman"/>
              <a:buNone/>
            </a:pPr>
            <a:endParaRPr sz="1600" b="1"/>
          </a:p>
          <a:p>
            <a:pPr marL="495300" lvl="0" indent="-495300" algn="l" rtl="0">
              <a:lnSpc>
                <a:spcPct val="90000"/>
              </a:lnSpc>
              <a:spcBef>
                <a:spcPts val="720"/>
              </a:spcBef>
              <a:spcAft>
                <a:spcPts val="0"/>
              </a:spcAft>
              <a:buClr>
                <a:srgbClr val="3333FF"/>
              </a:buClr>
              <a:buSzPts val="1500"/>
              <a:buFont typeface="Times New Roman"/>
              <a:buNone/>
            </a:pPr>
            <a:r>
              <a:rPr lang="en-US" sz="2000" b="1" u="sng">
                <a:solidFill>
                  <a:srgbClr val="3333FF"/>
                </a:solidFill>
              </a:rPr>
              <a:t>Rethink:</a:t>
            </a:r>
            <a:r>
              <a:rPr lang="en-US"/>
              <a:t>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Re-thinking a system means </a:t>
            </a:r>
            <a:r>
              <a:rPr lang="en-US" sz="2000">
                <a:solidFill>
                  <a:srgbClr val="BF7200"/>
                </a:solidFill>
              </a:rPr>
              <a:t>manipulating the concepts </a:t>
            </a:r>
            <a:r>
              <a:rPr lang="en-US" sz="2000"/>
              <a:t>embodied in an existing system to create a system that operates in a </a:t>
            </a:r>
            <a:r>
              <a:rPr lang="en-US" sz="2000">
                <a:solidFill>
                  <a:srgbClr val="BF7200"/>
                </a:solidFill>
              </a:rPr>
              <a:t>different problem domain.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It involves changing the conceptual characteristics of the system, and it can lead to the system being changed in a fundamental way.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Moving from the development of an ordinary cellular phone to the development of smartphone system is an example of Re-think.</a:t>
            </a:r>
            <a:endParaRPr/>
          </a:p>
          <a:p>
            <a:pPr marL="495300" lvl="0" indent="-49530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4.3.2 Software Reengineering Strategies</a:t>
            </a:r>
            <a:endParaRPr/>
          </a:p>
        </p:txBody>
      </p:sp>
      <p:sp>
        <p:nvSpPr>
          <p:cNvPr id="163" name="Google Shape;163;p16"/>
          <p:cNvSpPr txBox="1">
            <a:spLocks noGrp="1"/>
          </p:cNvSpPr>
          <p:nvPr>
            <p:ph type="body" idx="4294967295"/>
          </p:nvPr>
        </p:nvSpPr>
        <p:spPr>
          <a:xfrm>
            <a:off x="66675" y="660400"/>
            <a:ext cx="8812213" cy="24987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000000"/>
              </a:buClr>
              <a:buSzPts val="1500"/>
              <a:buFont typeface="Times New Roman"/>
              <a:buNone/>
            </a:pPr>
            <a:r>
              <a:rPr lang="en-US" sz="2000"/>
              <a:t>Three strategies that specify the basic steps of reengineering are </a:t>
            </a:r>
            <a:r>
              <a:rPr lang="en-US" sz="2000" b="1">
                <a:solidFill>
                  <a:schemeClr val="hlink"/>
                </a:solidFill>
              </a:rPr>
              <a:t>rewrite</a:t>
            </a:r>
            <a:r>
              <a:rPr lang="en-US" sz="2000">
                <a:solidFill>
                  <a:schemeClr val="hlink"/>
                </a:solidFill>
              </a:rPr>
              <a:t>, </a:t>
            </a:r>
            <a:r>
              <a:rPr lang="en-US" sz="2000" b="1">
                <a:solidFill>
                  <a:schemeClr val="hlink"/>
                </a:solidFill>
              </a:rPr>
              <a:t>rework</a:t>
            </a:r>
            <a:r>
              <a:rPr lang="en-US" sz="2000"/>
              <a:t>, and </a:t>
            </a:r>
            <a:r>
              <a:rPr lang="en-US" sz="2000" b="1">
                <a:solidFill>
                  <a:schemeClr val="hlink"/>
                </a:solidFill>
              </a:rPr>
              <a:t>replace</a:t>
            </a:r>
            <a:r>
              <a:rPr lang="en-US" sz="2000"/>
              <a:t>.</a:t>
            </a:r>
            <a:endParaRPr/>
          </a:p>
          <a:p>
            <a:pPr marL="285750" lvl="0" indent="-285750" algn="l" rtl="0">
              <a:lnSpc>
                <a:spcPct val="90000"/>
              </a:lnSpc>
              <a:spcBef>
                <a:spcPts val="600"/>
              </a:spcBef>
              <a:spcAft>
                <a:spcPts val="0"/>
              </a:spcAft>
              <a:buClr>
                <a:srgbClr val="3333FF"/>
              </a:buClr>
              <a:buSzPts val="1500"/>
              <a:buFont typeface="Times New Roman"/>
              <a:buNone/>
            </a:pPr>
            <a:r>
              <a:rPr lang="en-US" sz="2000" b="1" u="sng">
                <a:solidFill>
                  <a:srgbClr val="3333FF"/>
                </a:solidFill>
              </a:rPr>
              <a:t>Rewrite strategy:</a:t>
            </a:r>
            <a:r>
              <a:rPr lang="en-US" sz="2000"/>
              <a:t> </a:t>
            </a:r>
            <a:endParaRPr/>
          </a:p>
          <a:p>
            <a:pPr marL="285750" lvl="0" indent="-285750" algn="l" rtl="0">
              <a:lnSpc>
                <a:spcPct val="90000"/>
              </a:lnSpc>
              <a:spcBef>
                <a:spcPts val="600"/>
              </a:spcBef>
              <a:spcAft>
                <a:spcPts val="0"/>
              </a:spcAft>
              <a:buClr>
                <a:srgbClr val="000000"/>
              </a:buClr>
              <a:buSzPts val="1500"/>
              <a:buFont typeface="Times New Roman"/>
              <a:buNone/>
            </a:pPr>
            <a:r>
              <a:rPr lang="en-US" sz="2000"/>
              <a:t>This strategy reflects the principle of alteration. By means of alteration, an operational system is transformed into a new system, while preserving the abstraction level of the original system. For example, the Fortran code of a system can be rewritten in the C language.</a:t>
            </a:r>
            <a:endParaRPr/>
          </a:p>
          <a:p>
            <a:pPr marL="285750" lvl="0" indent="-285750" algn="l" rtl="0">
              <a:lnSpc>
                <a:spcPct val="90000"/>
              </a:lnSpc>
              <a:spcBef>
                <a:spcPts val="720"/>
              </a:spcBef>
              <a:spcAft>
                <a:spcPts val="0"/>
              </a:spcAft>
              <a:buClr>
                <a:srgbClr val="000000"/>
              </a:buClr>
              <a:buSzPts val="1800"/>
              <a:buFont typeface="Times New Roman"/>
              <a:buNone/>
            </a:pPr>
            <a:endParaRPr/>
          </a:p>
          <a:p>
            <a:pPr marL="285750" lvl="0" indent="-190500" algn="l" rtl="0">
              <a:lnSpc>
                <a:spcPct val="90000"/>
              </a:lnSpc>
              <a:spcBef>
                <a:spcPts val="600"/>
              </a:spcBef>
              <a:spcAft>
                <a:spcPts val="0"/>
              </a:spcAft>
              <a:buClr>
                <a:srgbClr val="000000"/>
              </a:buClr>
              <a:buSzPts val="1500"/>
              <a:buFont typeface="Times New Roman"/>
              <a:buNone/>
            </a:pPr>
            <a:endParaRPr sz="2000"/>
          </a:p>
        </p:txBody>
      </p:sp>
      <p:pic>
        <p:nvPicPr>
          <p:cNvPr id="164" name="Google Shape;164;p16"/>
          <p:cNvPicPr preferRelativeResize="0"/>
          <p:nvPr/>
        </p:nvPicPr>
        <p:blipFill rotWithShape="1">
          <a:blip r:embed="rId3">
            <a:alphaModFix/>
          </a:blip>
          <a:srcRect/>
          <a:stretch/>
        </p:blipFill>
        <p:spPr>
          <a:xfrm>
            <a:off x="204788" y="3989388"/>
            <a:ext cx="8448675" cy="1571625"/>
          </a:xfrm>
          <a:prstGeom prst="rect">
            <a:avLst/>
          </a:prstGeom>
          <a:noFill/>
          <a:ln>
            <a:noFill/>
          </a:ln>
        </p:spPr>
      </p:pic>
      <p:sp>
        <p:nvSpPr>
          <p:cNvPr id="165" name="Google Shape;165;p16"/>
          <p:cNvSpPr/>
          <p:nvPr/>
        </p:nvSpPr>
        <p:spPr>
          <a:xfrm>
            <a:off x="1003300" y="5829300"/>
            <a:ext cx="71755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4.5  Conceptual basis for reengineering strategies © IEEE, 1992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4.3.2 Software Reengineering Strategies</a:t>
            </a:r>
            <a:endParaRPr/>
          </a:p>
        </p:txBody>
      </p:sp>
      <p:sp>
        <p:nvSpPr>
          <p:cNvPr id="173" name="Google Shape;173;p17"/>
          <p:cNvSpPr txBox="1">
            <a:spLocks noGrp="1"/>
          </p:cNvSpPr>
          <p:nvPr>
            <p:ph type="body" idx="4294967295"/>
          </p:nvPr>
        </p:nvSpPr>
        <p:spPr>
          <a:xfrm>
            <a:off x="168275" y="660400"/>
            <a:ext cx="8710613" cy="40100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chemeClr val="hlink"/>
              </a:buClr>
              <a:buSzPts val="1500"/>
              <a:buFont typeface="Times New Roman"/>
              <a:buNone/>
            </a:pPr>
            <a:r>
              <a:rPr lang="en-US" sz="2000" b="1" u="sng">
                <a:solidFill>
                  <a:schemeClr val="hlink"/>
                </a:solidFill>
              </a:rPr>
              <a:t>Rework strategy:</a:t>
            </a:r>
            <a:r>
              <a:rPr lang="en-US" sz="2000"/>
              <a:t>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rework strategy applies all the three principles.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Let the goal of a reengineering project is to replace the unstructured control flow constructs, namely GOTOs, with more commonly used structured constructs, say, a “for” loop.</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A classical, rework strategy based approach is as follows:</a:t>
            </a:r>
            <a:endParaRPr/>
          </a:p>
          <a:p>
            <a:pPr marL="685800" lvl="1" indent="-228600" algn="l" rtl="0">
              <a:lnSpc>
                <a:spcPct val="90000"/>
              </a:lnSpc>
              <a:spcBef>
                <a:spcPts val="540"/>
              </a:spcBef>
              <a:spcAft>
                <a:spcPts val="0"/>
              </a:spcAft>
              <a:buClr>
                <a:schemeClr val="dk2"/>
              </a:buClr>
              <a:buSzPts val="1800"/>
              <a:buFont typeface="Times New Roman"/>
              <a:buNone/>
            </a:pPr>
            <a:r>
              <a:rPr lang="en-US" sz="1800"/>
              <a:t>• Application of abstraction: By parsing the code, generate a control-flow graph (CFG) for the given system.</a:t>
            </a:r>
            <a:endParaRPr/>
          </a:p>
          <a:p>
            <a:pPr marL="685800" lvl="1" indent="-228600" algn="l" rtl="0">
              <a:lnSpc>
                <a:spcPct val="90000"/>
              </a:lnSpc>
              <a:spcBef>
                <a:spcPts val="540"/>
              </a:spcBef>
              <a:spcAft>
                <a:spcPts val="0"/>
              </a:spcAft>
              <a:buClr>
                <a:schemeClr val="dk2"/>
              </a:buClr>
              <a:buSzPts val="1800"/>
              <a:buFont typeface="Times New Roman"/>
              <a:buNone/>
            </a:pPr>
            <a:r>
              <a:rPr lang="en-US" sz="1800"/>
              <a:t>• Application of alteration: Apply a restructuring algorithm to the control-flow graph to produce a structured control-flow graph.</a:t>
            </a:r>
            <a:endParaRPr/>
          </a:p>
          <a:p>
            <a:pPr marL="685800" lvl="1" indent="-228600" algn="l" rtl="0">
              <a:lnSpc>
                <a:spcPct val="90000"/>
              </a:lnSpc>
              <a:spcBef>
                <a:spcPts val="540"/>
              </a:spcBef>
              <a:spcAft>
                <a:spcPts val="0"/>
              </a:spcAft>
              <a:buClr>
                <a:schemeClr val="dk2"/>
              </a:buClr>
              <a:buSzPts val="1800"/>
              <a:buFont typeface="Times New Roman"/>
              <a:buNone/>
            </a:pPr>
            <a:r>
              <a:rPr lang="en-US" sz="1800"/>
              <a:t>• Application of refinement: Translate the new, structured control-flow graph back into the original programming language.</a:t>
            </a:r>
            <a:endParaRPr/>
          </a:p>
          <a:p>
            <a:pPr marL="285750" lvl="0" indent="-190500" algn="l" rtl="0">
              <a:lnSpc>
                <a:spcPct val="90000"/>
              </a:lnSpc>
              <a:spcBef>
                <a:spcPts val="600"/>
              </a:spcBef>
              <a:spcAft>
                <a:spcPts val="0"/>
              </a:spcAft>
              <a:buClr>
                <a:srgbClr val="000000"/>
              </a:buClr>
              <a:buSzPts val="1500"/>
              <a:buFont typeface="Times New Roman"/>
              <a:buNone/>
            </a:pPr>
            <a:endParaRPr sz="2000"/>
          </a:p>
        </p:txBody>
      </p:sp>
      <p:pic>
        <p:nvPicPr>
          <p:cNvPr id="174" name="Google Shape;174;p17"/>
          <p:cNvPicPr preferRelativeResize="0"/>
          <p:nvPr/>
        </p:nvPicPr>
        <p:blipFill rotWithShape="1">
          <a:blip r:embed="rId3">
            <a:alphaModFix/>
          </a:blip>
          <a:srcRect/>
          <a:stretch/>
        </p:blipFill>
        <p:spPr>
          <a:xfrm>
            <a:off x="347663" y="4598988"/>
            <a:ext cx="8380412" cy="1558925"/>
          </a:xfrm>
          <a:prstGeom prst="rect">
            <a:avLst/>
          </a:prstGeom>
          <a:noFill/>
          <a:ln>
            <a:noFill/>
          </a:ln>
        </p:spPr>
      </p:pic>
      <p:sp>
        <p:nvSpPr>
          <p:cNvPr id="175" name="Google Shape;175;p17"/>
          <p:cNvSpPr/>
          <p:nvPr/>
        </p:nvSpPr>
        <p:spPr>
          <a:xfrm>
            <a:off x="1003300" y="6070600"/>
            <a:ext cx="71755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4.5  Conceptual basis for reengineering strategies © IEEE, 1992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4.3.2 Software Reengineering Strategies</a:t>
            </a:r>
            <a:endParaRPr/>
          </a:p>
        </p:txBody>
      </p:sp>
      <p:sp>
        <p:nvSpPr>
          <p:cNvPr id="183" name="Google Shape;183;p18"/>
          <p:cNvSpPr txBox="1">
            <a:spLocks noGrp="1"/>
          </p:cNvSpPr>
          <p:nvPr>
            <p:ph type="body" idx="4294967295"/>
          </p:nvPr>
        </p:nvSpPr>
        <p:spPr>
          <a:xfrm>
            <a:off x="193675" y="723900"/>
            <a:ext cx="8710613" cy="36036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chemeClr val="hlink"/>
              </a:buClr>
              <a:buSzPts val="1500"/>
              <a:buFont typeface="Times New Roman"/>
              <a:buNone/>
            </a:pPr>
            <a:r>
              <a:rPr lang="en-US" sz="2000" b="1" u="sng">
                <a:solidFill>
                  <a:schemeClr val="hlink"/>
                </a:solidFill>
              </a:rPr>
              <a:t>Replace strategy:</a:t>
            </a:r>
            <a:r>
              <a:rPr lang="en-US" sz="2000"/>
              <a:t>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replace strategy applies two principles, namely, abstraction and refinement.</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To change a certain characteristic of a system: </a:t>
            </a:r>
            <a:endParaRPr/>
          </a:p>
          <a:p>
            <a:pPr marL="685800" lvl="1" indent="-228600" algn="l" rtl="0">
              <a:lnSpc>
                <a:spcPct val="90000"/>
              </a:lnSpc>
              <a:spcBef>
                <a:spcPts val="540"/>
              </a:spcBef>
              <a:spcAft>
                <a:spcPts val="0"/>
              </a:spcAft>
              <a:buClr>
                <a:schemeClr val="dk2"/>
              </a:buClr>
              <a:buSzPts val="1800"/>
              <a:buFont typeface="Times New Roman"/>
              <a:buNone/>
            </a:pPr>
            <a:r>
              <a:rPr lang="en-US" sz="1800"/>
              <a:t>(i) the system is reconstructed at a higher level of abstraction by hiding the details of the characteristic; and </a:t>
            </a:r>
            <a:endParaRPr/>
          </a:p>
          <a:p>
            <a:pPr marL="685800" lvl="1" indent="-228600" algn="l" rtl="0">
              <a:lnSpc>
                <a:spcPct val="90000"/>
              </a:lnSpc>
              <a:spcBef>
                <a:spcPts val="540"/>
              </a:spcBef>
              <a:spcAft>
                <a:spcPts val="0"/>
              </a:spcAft>
              <a:buClr>
                <a:schemeClr val="dk2"/>
              </a:buClr>
              <a:buSzPts val="1800"/>
              <a:buFont typeface="Times New Roman"/>
              <a:buNone/>
            </a:pPr>
            <a:r>
              <a:rPr lang="en-US" sz="1800"/>
              <a:t>(ii) a suitable representation for the target system is generated at a lower level of abstraction by applying refinement.</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Let us reconsider the GOTO example. By means of abstraction, a program is represented at a higher level without using control flow concepts.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Next, by means of refinement, the system is represented at a lower level of abstraction with a new structured control flow. </a:t>
            </a:r>
            <a:endParaRPr/>
          </a:p>
          <a:p>
            <a:pPr marL="285750" lvl="0" indent="-190500" algn="l" rtl="0">
              <a:lnSpc>
                <a:spcPct val="90000"/>
              </a:lnSpc>
              <a:spcBef>
                <a:spcPts val="600"/>
              </a:spcBef>
              <a:spcAft>
                <a:spcPts val="0"/>
              </a:spcAft>
              <a:buClr>
                <a:srgbClr val="000000"/>
              </a:buClr>
              <a:buSzPts val="1500"/>
              <a:buFont typeface="Times New Roman"/>
              <a:buNone/>
            </a:pPr>
            <a:endParaRPr sz="2000"/>
          </a:p>
        </p:txBody>
      </p:sp>
      <p:pic>
        <p:nvPicPr>
          <p:cNvPr id="184" name="Google Shape;184;p18"/>
          <p:cNvPicPr preferRelativeResize="0"/>
          <p:nvPr/>
        </p:nvPicPr>
        <p:blipFill rotWithShape="1">
          <a:blip r:embed="rId3">
            <a:alphaModFix/>
          </a:blip>
          <a:srcRect/>
          <a:stretch/>
        </p:blipFill>
        <p:spPr>
          <a:xfrm>
            <a:off x="347663" y="4598988"/>
            <a:ext cx="8380412" cy="1558925"/>
          </a:xfrm>
          <a:prstGeom prst="rect">
            <a:avLst/>
          </a:prstGeom>
          <a:noFill/>
          <a:ln>
            <a:noFill/>
          </a:ln>
        </p:spPr>
      </p:pic>
      <p:sp>
        <p:nvSpPr>
          <p:cNvPr id="185" name="Google Shape;185;p18"/>
          <p:cNvSpPr/>
          <p:nvPr/>
        </p:nvSpPr>
        <p:spPr>
          <a:xfrm>
            <a:off x="1003300" y="6070600"/>
            <a:ext cx="71755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4.5  Conceptual basis for reengineering strategies © IEEE, 1992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9"/>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 Reengineering Process</a:t>
            </a:r>
            <a:endParaRPr/>
          </a:p>
        </p:txBody>
      </p:sp>
      <p:sp>
        <p:nvSpPr>
          <p:cNvPr id="193" name="Google Shape;193;p19"/>
          <p:cNvSpPr txBox="1">
            <a:spLocks noGrp="1"/>
          </p:cNvSpPr>
          <p:nvPr>
            <p:ph type="body" idx="4294967295"/>
          </p:nvPr>
        </p:nvSpPr>
        <p:spPr>
          <a:xfrm>
            <a:off x="346075" y="660400"/>
            <a:ext cx="8380413" cy="4949825"/>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000000"/>
              </a:buClr>
              <a:buSzPts val="1500"/>
              <a:buFont typeface="Times New Roman"/>
              <a:buChar char="•"/>
            </a:pPr>
            <a:r>
              <a:rPr lang="en-US" sz="2000"/>
              <a:t>An ordered set of activities designed to perform a specific task is called a process.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For ease of understanding and communication, processes are described by means of process models.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For example, in the software development domain, the Waterfall process model is widely used in developing well-understood software systems.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Process models are used to comprehend, evaluate, reason about, and improve processes.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Intuitively, process models are described by means of important relationships among data objects, human roles, activities, and tools.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We will discuss five process models for software reengineering.</a:t>
            </a:r>
            <a:endParaRPr/>
          </a:p>
          <a:p>
            <a:pPr marL="495300" lvl="0" indent="-495300" algn="l" rtl="0">
              <a:lnSpc>
                <a:spcPct val="90000"/>
              </a:lnSpc>
              <a:spcBef>
                <a:spcPts val="720"/>
              </a:spcBef>
              <a:spcAft>
                <a:spcPts val="0"/>
              </a:spcAft>
              <a:buClr>
                <a:srgbClr val="000000"/>
              </a:buClr>
              <a:buSzPts val="1500"/>
              <a:buFont typeface="Times New Roman"/>
              <a:buChar char="•"/>
            </a:pPr>
            <a:r>
              <a:rPr lang="en-US" sz="2000"/>
              <a:t>The five approaches are different in two aspects:</a:t>
            </a:r>
            <a:r>
              <a:rPr lang="en-US"/>
              <a:t> </a:t>
            </a:r>
            <a:endParaRPr/>
          </a:p>
          <a:p>
            <a:pPr marL="869950" lvl="1" indent="-412750" algn="l" rtl="0">
              <a:lnSpc>
                <a:spcPct val="90000"/>
              </a:lnSpc>
              <a:spcBef>
                <a:spcPts val="600"/>
              </a:spcBef>
              <a:spcAft>
                <a:spcPts val="0"/>
              </a:spcAft>
              <a:buClr>
                <a:schemeClr val="dk2"/>
              </a:buClr>
              <a:buSzPts val="2000"/>
              <a:buFont typeface="Times New Roman"/>
              <a:buNone/>
            </a:pPr>
            <a:r>
              <a:rPr lang="en-US"/>
              <a:t>(i) the extent of reengineering performed, and</a:t>
            </a:r>
            <a:endParaRPr/>
          </a:p>
          <a:p>
            <a:pPr marL="869950" lvl="1" indent="-412750" algn="l" rtl="0">
              <a:lnSpc>
                <a:spcPct val="90000"/>
              </a:lnSpc>
              <a:spcBef>
                <a:spcPts val="600"/>
              </a:spcBef>
              <a:spcAft>
                <a:spcPts val="0"/>
              </a:spcAft>
              <a:buClr>
                <a:schemeClr val="dk2"/>
              </a:buClr>
              <a:buSzPts val="2000"/>
              <a:buFont typeface="Times New Roman"/>
              <a:buNone/>
            </a:pPr>
            <a:r>
              <a:rPr lang="en-US"/>
              <a:t>(ii) the rate of substitution of the operational system with the new one.</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4.4.1 Reengineering Approaches</a:t>
            </a:r>
            <a:endParaRPr/>
          </a:p>
        </p:txBody>
      </p:sp>
      <p:sp>
        <p:nvSpPr>
          <p:cNvPr id="201" name="Google Shape;201;p20"/>
          <p:cNvSpPr txBox="1">
            <a:spLocks noGrp="1"/>
          </p:cNvSpPr>
          <p:nvPr>
            <p:ph type="body" idx="4294967295"/>
          </p:nvPr>
        </p:nvSpPr>
        <p:spPr>
          <a:xfrm>
            <a:off x="320675" y="660400"/>
            <a:ext cx="8405813" cy="5089525"/>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3333FF"/>
              </a:buClr>
              <a:buSzPts val="1800"/>
              <a:buFont typeface="Times New Roman"/>
              <a:buNone/>
            </a:pPr>
            <a:r>
              <a:rPr lang="en-US" b="1" u="sng">
                <a:solidFill>
                  <a:srgbClr val="3333FF"/>
                </a:solidFill>
              </a:rPr>
              <a:t>Big Bang Approach</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a:t>
            </a:r>
            <a:r>
              <a:rPr lang="en-US" sz="2000" b="1">
                <a:solidFill>
                  <a:srgbClr val="3333FF"/>
                </a:solidFill>
              </a:rPr>
              <a:t>Big Bang</a:t>
            </a:r>
            <a:r>
              <a:rPr lang="en-US" sz="2000"/>
              <a:t>” approach replaces the whole system at once.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Once a reengineering effort is initiated, it is continued until all the objectives of the project are achieved and the target system is constructed.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This approach is generally used if reengineering cannot be done in parts.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For example, if there is a need to move to a different system architecture, then all components affected by such a move must be changed at once.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consequent advantage is that the system is brought into its new environment all at once.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disadvantage of Big Bang is that the reengineering project becomes a monolithic task, which may not be desirable in all situations.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In addition, the Big Bang approach consumes too much resources at once for large systems, and takes a long stretch of time before the new system I visible.</a:t>
            </a:r>
            <a:endParaRPr/>
          </a:p>
          <a:p>
            <a:pPr marL="285750" lvl="0" indent="-171450" algn="l" rtl="0">
              <a:lnSpc>
                <a:spcPct val="90000"/>
              </a:lnSpc>
              <a:spcBef>
                <a:spcPts val="720"/>
              </a:spcBef>
              <a:spcAft>
                <a:spcPts val="0"/>
              </a:spcAft>
              <a:buClr>
                <a:srgbClr val="000000"/>
              </a:buClr>
              <a:buSzPts val="1800"/>
              <a:buFont typeface="Times New Roman"/>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1"/>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4.4.1 Reengineering Approaches</a:t>
            </a:r>
            <a:endParaRPr/>
          </a:p>
        </p:txBody>
      </p:sp>
      <p:sp>
        <p:nvSpPr>
          <p:cNvPr id="209" name="Google Shape;209;p21"/>
          <p:cNvSpPr txBox="1">
            <a:spLocks noGrp="1"/>
          </p:cNvSpPr>
          <p:nvPr>
            <p:ph type="body" idx="4294967295"/>
          </p:nvPr>
        </p:nvSpPr>
        <p:spPr>
          <a:xfrm>
            <a:off x="320675" y="660400"/>
            <a:ext cx="8405813" cy="5711825"/>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3333FF"/>
              </a:buClr>
              <a:buSzPts val="1800"/>
              <a:buFont typeface="Times New Roman"/>
              <a:buNone/>
            </a:pPr>
            <a:r>
              <a:rPr lang="en-US" b="1" u="sng">
                <a:solidFill>
                  <a:srgbClr val="3333FF"/>
                </a:solidFill>
              </a:rPr>
              <a:t>Incremental Approach</a:t>
            </a:r>
            <a:endParaRPr sz="2000" b="1" u="sng">
              <a:solidFill>
                <a:srgbClr val="3333FF"/>
              </a:solidFill>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In this approach a system is reengineered gradually, one step closer to the target system at a time.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For a large system, several new interim versions are produced and released.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Successive interim versions satisfy increasingly more project goals than their preceding versions.</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The advantages of this approach are as follows: </a:t>
            </a:r>
            <a:endParaRPr/>
          </a:p>
          <a:p>
            <a:pPr marL="869950" lvl="1" indent="-412750" algn="l" rtl="0">
              <a:lnSpc>
                <a:spcPct val="90000"/>
              </a:lnSpc>
              <a:spcBef>
                <a:spcPts val="600"/>
              </a:spcBef>
              <a:spcAft>
                <a:spcPts val="0"/>
              </a:spcAft>
              <a:buClr>
                <a:schemeClr val="dk2"/>
              </a:buClr>
              <a:buSzPts val="2000"/>
              <a:buFont typeface="Times New Roman"/>
              <a:buNone/>
            </a:pPr>
            <a:r>
              <a:rPr lang="en-US"/>
              <a:t>(i) locating errors becomes easier, because one can clearly identify the newly added components, and </a:t>
            </a:r>
            <a:endParaRPr/>
          </a:p>
          <a:p>
            <a:pPr marL="869950" lvl="1" indent="-412750" algn="l" rtl="0">
              <a:lnSpc>
                <a:spcPct val="90000"/>
              </a:lnSpc>
              <a:spcBef>
                <a:spcPts val="600"/>
              </a:spcBef>
              <a:spcAft>
                <a:spcPts val="0"/>
              </a:spcAft>
              <a:buClr>
                <a:schemeClr val="dk2"/>
              </a:buClr>
              <a:buSzPts val="2000"/>
              <a:buFont typeface="Times New Roman"/>
              <a:buNone/>
            </a:pPr>
            <a:r>
              <a:rPr lang="en-US"/>
              <a:t>(ii) It becomes easy for the customer to notice progress, because interim versions are released.</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The disadvantages of the incremental approach are as follows:</a:t>
            </a:r>
            <a:endParaRPr/>
          </a:p>
          <a:p>
            <a:pPr marL="869950" lvl="1" indent="-412750" algn="l" rtl="0">
              <a:lnSpc>
                <a:spcPct val="90000"/>
              </a:lnSpc>
              <a:spcBef>
                <a:spcPts val="600"/>
              </a:spcBef>
              <a:spcAft>
                <a:spcPts val="0"/>
              </a:spcAft>
              <a:buClr>
                <a:schemeClr val="dk2"/>
              </a:buClr>
              <a:buSzPts val="1800"/>
              <a:buFont typeface="Times New Roman"/>
              <a:buNone/>
            </a:pPr>
            <a:r>
              <a:rPr lang="en-US" sz="1800"/>
              <a:t> </a:t>
            </a:r>
            <a:r>
              <a:rPr lang="en-US"/>
              <a:t>(i) with multiple interim versions and their careful version controls, the incremental approach takes much longer to complete, and </a:t>
            </a:r>
            <a:endParaRPr/>
          </a:p>
          <a:p>
            <a:pPr marL="869950" lvl="1" indent="-412750" algn="l" rtl="0">
              <a:lnSpc>
                <a:spcPct val="90000"/>
              </a:lnSpc>
              <a:spcBef>
                <a:spcPts val="600"/>
              </a:spcBef>
              <a:spcAft>
                <a:spcPts val="0"/>
              </a:spcAft>
              <a:buClr>
                <a:schemeClr val="dk2"/>
              </a:buClr>
              <a:buSzPts val="2000"/>
              <a:buFont typeface="Times New Roman"/>
              <a:buNone/>
            </a:pPr>
            <a:r>
              <a:rPr lang="en-US"/>
              <a:t>(ii) even if there is a need, the entire architecture of the system cannot be changed.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4.4.1 Reengineering Approaches</a:t>
            </a:r>
            <a:endParaRPr/>
          </a:p>
        </p:txBody>
      </p:sp>
      <p:sp>
        <p:nvSpPr>
          <p:cNvPr id="217" name="Google Shape;217;p22"/>
          <p:cNvSpPr txBox="1">
            <a:spLocks noGrp="1"/>
          </p:cNvSpPr>
          <p:nvPr>
            <p:ph type="body" idx="4294967295"/>
          </p:nvPr>
        </p:nvSpPr>
        <p:spPr>
          <a:xfrm>
            <a:off x="193675" y="660400"/>
            <a:ext cx="8950325" cy="5592763"/>
          </a:xfrm>
          <a:prstGeom prst="rect">
            <a:avLst/>
          </a:prstGeom>
          <a:noFill/>
          <a:ln>
            <a:noFill/>
          </a:ln>
        </p:spPr>
        <p:txBody>
          <a:bodyPr spcFirstLastPara="1" wrap="square" lIns="92075" tIns="46025" rIns="92075" bIns="46025" anchor="t" anchorCtr="0">
            <a:noAutofit/>
          </a:bodyPr>
          <a:lstStyle/>
          <a:p>
            <a:pPr marL="285750" lvl="0" indent="-285750" algn="l" rtl="0">
              <a:lnSpc>
                <a:spcPct val="90000"/>
              </a:lnSpc>
              <a:spcBef>
                <a:spcPts val="0"/>
              </a:spcBef>
              <a:spcAft>
                <a:spcPts val="0"/>
              </a:spcAft>
              <a:buClr>
                <a:srgbClr val="3333FF"/>
              </a:buClr>
              <a:buSzPts val="1800"/>
              <a:buFont typeface="Times New Roman"/>
              <a:buNone/>
            </a:pPr>
            <a:r>
              <a:rPr lang="en-US" b="1" u="sng">
                <a:solidFill>
                  <a:srgbClr val="3333FF"/>
                </a:solidFill>
              </a:rPr>
              <a:t>Partial Approach</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In this approach, only a part of the system is reengineered and then it is integrated with the non-engineered portion of the system.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One must decide whether to use a “Big Bang” approach or an “Incremental” approach for the portion to be reengineered. </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following three steps are followed in the partial approach:</a:t>
            </a:r>
            <a:endParaRPr/>
          </a:p>
          <a:p>
            <a:pPr marL="685800" lvl="1" indent="-228600" algn="l" rtl="0">
              <a:lnSpc>
                <a:spcPct val="90000"/>
              </a:lnSpc>
              <a:spcBef>
                <a:spcPts val="600"/>
              </a:spcBef>
              <a:spcAft>
                <a:spcPts val="0"/>
              </a:spcAft>
              <a:buClr>
                <a:schemeClr val="dk2"/>
              </a:buClr>
              <a:buSzPts val="2000"/>
              <a:buFont typeface="Times New Roman"/>
              <a:buNone/>
            </a:pPr>
            <a:r>
              <a:rPr lang="en-US"/>
              <a:t>• In the first step, the existing system is partitioned into two parts: one part is identified to be reengineered and the remaining part to be not reengineered.</a:t>
            </a:r>
            <a:endParaRPr/>
          </a:p>
          <a:p>
            <a:pPr marL="685800" lvl="1" indent="-228600" algn="l" rtl="0">
              <a:lnSpc>
                <a:spcPct val="90000"/>
              </a:lnSpc>
              <a:spcBef>
                <a:spcPts val="600"/>
              </a:spcBef>
              <a:spcAft>
                <a:spcPts val="0"/>
              </a:spcAft>
              <a:buClr>
                <a:schemeClr val="dk2"/>
              </a:buClr>
              <a:buSzPts val="2000"/>
              <a:buFont typeface="Times New Roman"/>
              <a:buNone/>
            </a:pPr>
            <a:r>
              <a:rPr lang="en-US"/>
              <a:t>• In the second step, reengineering work is performed using either the “Big Bang” or the “Incremental” approach.</a:t>
            </a:r>
            <a:endParaRPr/>
          </a:p>
          <a:p>
            <a:pPr marL="685800" lvl="1" indent="-228600" algn="l" rtl="0">
              <a:lnSpc>
                <a:spcPct val="90000"/>
              </a:lnSpc>
              <a:spcBef>
                <a:spcPts val="600"/>
              </a:spcBef>
              <a:spcAft>
                <a:spcPts val="0"/>
              </a:spcAft>
              <a:buClr>
                <a:schemeClr val="dk2"/>
              </a:buClr>
              <a:buSzPts val="2000"/>
              <a:buFont typeface="Times New Roman"/>
              <a:buNone/>
            </a:pPr>
            <a:r>
              <a:rPr lang="en-US"/>
              <a:t>• In the third step, the two parts, namely, the not-to-be-reengineered part and the reengineered part of the system, are integrated to make up the new system.</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The partial approach has the advantage of reducing the scope of reengineering that is less time and costs less.</a:t>
            </a:r>
            <a:endParaRPr/>
          </a:p>
          <a:p>
            <a:pPr marL="285750" lvl="0" indent="-285750" algn="l" rtl="0">
              <a:lnSpc>
                <a:spcPct val="90000"/>
              </a:lnSpc>
              <a:spcBef>
                <a:spcPts val="600"/>
              </a:spcBef>
              <a:spcAft>
                <a:spcPts val="0"/>
              </a:spcAft>
              <a:buClr>
                <a:srgbClr val="000000"/>
              </a:buClr>
              <a:buSzPts val="1500"/>
              <a:buFont typeface="Times New Roman"/>
              <a:buChar char="•"/>
            </a:pPr>
            <a:r>
              <a:rPr lang="en-US" sz="2000"/>
              <a:t>A disadvantage of the partial approach is that modifications are not performed to the interface between the portion modified and the portion not modified.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4.4.1 Reengineering Approaches</a:t>
            </a:r>
            <a:endParaRPr/>
          </a:p>
        </p:txBody>
      </p:sp>
      <p:sp>
        <p:nvSpPr>
          <p:cNvPr id="225" name="Google Shape;225;p23"/>
          <p:cNvSpPr txBox="1">
            <a:spLocks noGrp="1"/>
          </p:cNvSpPr>
          <p:nvPr>
            <p:ph type="body" idx="4294967295"/>
          </p:nvPr>
        </p:nvSpPr>
        <p:spPr>
          <a:xfrm>
            <a:off x="66675" y="596900"/>
            <a:ext cx="8812213" cy="5924550"/>
          </a:xfrm>
          <a:prstGeom prst="rect">
            <a:avLst/>
          </a:prstGeom>
          <a:noFill/>
          <a:ln>
            <a:noFill/>
          </a:ln>
        </p:spPr>
        <p:txBody>
          <a:bodyPr spcFirstLastPara="1" wrap="square" lIns="92075" tIns="46025" rIns="92075" bIns="46025" anchor="t" anchorCtr="0">
            <a:noAutofit/>
          </a:bodyPr>
          <a:lstStyle/>
          <a:p>
            <a:pPr marL="495300" lvl="0" indent="-495300" algn="l" rtl="0">
              <a:lnSpc>
                <a:spcPct val="80000"/>
              </a:lnSpc>
              <a:spcBef>
                <a:spcPts val="0"/>
              </a:spcBef>
              <a:spcAft>
                <a:spcPts val="0"/>
              </a:spcAft>
              <a:buClr>
                <a:srgbClr val="3333FF"/>
              </a:buClr>
              <a:buSzPts val="1800"/>
              <a:buFont typeface="Times New Roman"/>
              <a:buNone/>
            </a:pPr>
            <a:r>
              <a:rPr lang="en-US" b="1" u="sng">
                <a:solidFill>
                  <a:srgbClr val="3333FF"/>
                </a:solidFill>
              </a:rPr>
              <a:t>Iterative Approach</a:t>
            </a:r>
            <a:endParaRPr/>
          </a:p>
          <a:p>
            <a:pPr marL="495300" lvl="0" indent="-495300" algn="l" rtl="0">
              <a:lnSpc>
                <a:spcPct val="80000"/>
              </a:lnSpc>
              <a:spcBef>
                <a:spcPts val="600"/>
              </a:spcBef>
              <a:spcAft>
                <a:spcPts val="0"/>
              </a:spcAft>
              <a:buClr>
                <a:srgbClr val="000000"/>
              </a:buClr>
              <a:buSzPts val="1500"/>
              <a:buFont typeface="Times New Roman"/>
              <a:buChar char="•"/>
            </a:pPr>
            <a:r>
              <a:rPr lang="en-US" sz="2000"/>
              <a:t>The reengineering process is applied on the source code of a few procedures at a time, with each reengineering operation lasting for a short time. </a:t>
            </a:r>
            <a:endParaRPr/>
          </a:p>
          <a:p>
            <a:pPr marL="495300" lvl="0" indent="-495300" algn="l" rtl="0">
              <a:lnSpc>
                <a:spcPct val="80000"/>
              </a:lnSpc>
              <a:spcBef>
                <a:spcPts val="600"/>
              </a:spcBef>
              <a:spcAft>
                <a:spcPts val="0"/>
              </a:spcAft>
              <a:buClr>
                <a:srgbClr val="000000"/>
              </a:buClr>
              <a:buSzPts val="1500"/>
              <a:buFont typeface="Times New Roman"/>
              <a:buChar char="•"/>
            </a:pPr>
            <a:r>
              <a:rPr lang="en-US" sz="2000"/>
              <a:t>This process is repeatedly executed on different components in different stages. </a:t>
            </a:r>
            <a:endParaRPr/>
          </a:p>
          <a:p>
            <a:pPr marL="495300" lvl="0" indent="-495300" algn="l" rtl="0">
              <a:lnSpc>
                <a:spcPct val="80000"/>
              </a:lnSpc>
              <a:spcBef>
                <a:spcPts val="600"/>
              </a:spcBef>
              <a:spcAft>
                <a:spcPts val="0"/>
              </a:spcAft>
              <a:buClr>
                <a:srgbClr val="000000"/>
              </a:buClr>
              <a:buSzPts val="1500"/>
              <a:buFont typeface="Times New Roman"/>
              <a:buChar char="•"/>
            </a:pPr>
            <a:r>
              <a:rPr lang="en-US" sz="2000"/>
              <a:t>During the execution of the process, ensure that the four types of components can coexist: </a:t>
            </a:r>
            <a:endParaRPr/>
          </a:p>
          <a:p>
            <a:pPr marL="869950" lvl="1" indent="-412750" algn="l" rtl="0">
              <a:lnSpc>
                <a:spcPct val="80000"/>
              </a:lnSpc>
              <a:spcBef>
                <a:spcPts val="540"/>
              </a:spcBef>
              <a:spcAft>
                <a:spcPts val="0"/>
              </a:spcAft>
              <a:buClr>
                <a:schemeClr val="dk2"/>
              </a:buClr>
              <a:buSzPts val="1800"/>
              <a:buFont typeface="Times New Roman"/>
              <a:buChar char="–"/>
            </a:pPr>
            <a:r>
              <a:rPr lang="en-US" sz="1800"/>
              <a:t>old components not reengineered,</a:t>
            </a:r>
            <a:endParaRPr/>
          </a:p>
          <a:p>
            <a:pPr marL="869950" lvl="1" indent="-412750" algn="l" rtl="0">
              <a:lnSpc>
                <a:spcPct val="80000"/>
              </a:lnSpc>
              <a:spcBef>
                <a:spcPts val="540"/>
              </a:spcBef>
              <a:spcAft>
                <a:spcPts val="0"/>
              </a:spcAft>
              <a:buClr>
                <a:schemeClr val="dk2"/>
              </a:buClr>
              <a:buSzPts val="1800"/>
              <a:buFont typeface="Times New Roman"/>
              <a:buChar char="–"/>
            </a:pPr>
            <a:r>
              <a:rPr lang="en-US" sz="1800"/>
              <a:t>components currently being reengineered, </a:t>
            </a:r>
            <a:endParaRPr/>
          </a:p>
          <a:p>
            <a:pPr marL="869950" lvl="1" indent="-412750" algn="l" rtl="0">
              <a:lnSpc>
                <a:spcPct val="80000"/>
              </a:lnSpc>
              <a:spcBef>
                <a:spcPts val="540"/>
              </a:spcBef>
              <a:spcAft>
                <a:spcPts val="0"/>
              </a:spcAft>
              <a:buClr>
                <a:schemeClr val="dk2"/>
              </a:buClr>
              <a:buSzPts val="1800"/>
              <a:buFont typeface="Times New Roman"/>
              <a:buChar char="–"/>
            </a:pPr>
            <a:r>
              <a:rPr lang="en-US" sz="1800"/>
              <a:t>components already reengineered, and </a:t>
            </a:r>
            <a:endParaRPr/>
          </a:p>
          <a:p>
            <a:pPr marL="869950" lvl="1" indent="-412750" algn="l" rtl="0">
              <a:lnSpc>
                <a:spcPct val="80000"/>
              </a:lnSpc>
              <a:spcBef>
                <a:spcPts val="540"/>
              </a:spcBef>
              <a:spcAft>
                <a:spcPts val="0"/>
              </a:spcAft>
              <a:buClr>
                <a:schemeClr val="dk2"/>
              </a:buClr>
              <a:buSzPts val="1800"/>
              <a:buFont typeface="Times New Roman"/>
              <a:buChar char="–"/>
            </a:pPr>
            <a:r>
              <a:rPr lang="en-US" sz="1800"/>
              <a:t>new components added to the system.</a:t>
            </a:r>
            <a:endParaRPr/>
          </a:p>
          <a:p>
            <a:pPr marL="495300" lvl="0" indent="-495300" algn="l" rtl="0">
              <a:lnSpc>
                <a:spcPct val="80000"/>
              </a:lnSpc>
              <a:spcBef>
                <a:spcPts val="720"/>
              </a:spcBef>
              <a:spcAft>
                <a:spcPts val="0"/>
              </a:spcAft>
              <a:buClr>
                <a:srgbClr val="000000"/>
              </a:buClr>
              <a:buSzPts val="1800"/>
              <a:buFont typeface="Times New Roman"/>
              <a:buChar char="•"/>
            </a:pPr>
            <a:r>
              <a:rPr lang="en-US"/>
              <a:t>There are two advantages of the iterative reengineering process: </a:t>
            </a:r>
            <a:endParaRPr/>
          </a:p>
          <a:p>
            <a:pPr marL="869950" lvl="1" indent="-412750" algn="l" rtl="0">
              <a:lnSpc>
                <a:spcPct val="80000"/>
              </a:lnSpc>
              <a:spcBef>
                <a:spcPts val="600"/>
              </a:spcBef>
              <a:spcAft>
                <a:spcPts val="0"/>
              </a:spcAft>
              <a:buClr>
                <a:schemeClr val="dk2"/>
              </a:buClr>
              <a:buSzPts val="2000"/>
              <a:buFont typeface="Times New Roman"/>
              <a:buNone/>
            </a:pPr>
            <a:r>
              <a:rPr lang="en-US"/>
              <a:t>(i) it guarantees the continued operation of the system during the execution of the reengineering process, and </a:t>
            </a:r>
            <a:endParaRPr/>
          </a:p>
          <a:p>
            <a:pPr marL="869950" lvl="1" indent="-412750" algn="l" rtl="0">
              <a:lnSpc>
                <a:spcPct val="80000"/>
              </a:lnSpc>
              <a:spcBef>
                <a:spcPts val="600"/>
              </a:spcBef>
              <a:spcAft>
                <a:spcPts val="0"/>
              </a:spcAft>
              <a:buClr>
                <a:schemeClr val="dk2"/>
              </a:buClr>
              <a:buSzPts val="2000"/>
              <a:buFont typeface="Times New Roman"/>
              <a:buNone/>
            </a:pPr>
            <a:r>
              <a:rPr lang="en-US"/>
              <a:t>(ii) the maintainers’ and the users’ familiarities with the system are preserved. </a:t>
            </a:r>
            <a:endParaRPr/>
          </a:p>
          <a:p>
            <a:pPr marL="495300" lvl="0" indent="-495300" algn="l" rtl="0">
              <a:lnSpc>
                <a:spcPct val="80000"/>
              </a:lnSpc>
              <a:spcBef>
                <a:spcPts val="600"/>
              </a:spcBef>
              <a:spcAft>
                <a:spcPts val="0"/>
              </a:spcAft>
              <a:buClr>
                <a:srgbClr val="000000"/>
              </a:buClr>
              <a:buSzPts val="1500"/>
              <a:buFont typeface="Times New Roman"/>
              <a:buChar char="•"/>
            </a:pPr>
            <a:r>
              <a:rPr lang="en-US" sz="2000"/>
              <a:t>The disadvantage of this approach is the need to keep track of the four types of components during the reengineering process. </a:t>
            </a:r>
            <a:endParaRPr/>
          </a:p>
          <a:p>
            <a:pPr marL="495300" lvl="0" indent="-495300" algn="l" rtl="0">
              <a:lnSpc>
                <a:spcPct val="80000"/>
              </a:lnSpc>
              <a:spcBef>
                <a:spcPts val="600"/>
              </a:spcBef>
              <a:spcAft>
                <a:spcPts val="0"/>
              </a:spcAft>
              <a:buClr>
                <a:srgbClr val="000000"/>
              </a:buClr>
              <a:buSzPts val="1500"/>
              <a:buFont typeface="Times New Roman"/>
              <a:buChar char="•"/>
            </a:pPr>
            <a:r>
              <a:rPr lang="en-US" sz="2000"/>
              <a:t>In addition, both the old and the newly reengineered components need to be maintained.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4.4.1 Reengineering Approaches</a:t>
            </a:r>
            <a:endParaRPr/>
          </a:p>
        </p:txBody>
      </p:sp>
      <p:sp>
        <p:nvSpPr>
          <p:cNvPr id="233" name="Google Shape;233;p24"/>
          <p:cNvSpPr txBox="1">
            <a:spLocks noGrp="1"/>
          </p:cNvSpPr>
          <p:nvPr>
            <p:ph type="body" idx="4294967295"/>
          </p:nvPr>
        </p:nvSpPr>
        <p:spPr>
          <a:xfrm>
            <a:off x="307975" y="673100"/>
            <a:ext cx="8607425" cy="5873750"/>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3333FF"/>
              </a:buClr>
              <a:buSzPts val="1800"/>
              <a:buFont typeface="Times New Roman"/>
              <a:buNone/>
            </a:pPr>
            <a:r>
              <a:rPr lang="en-US" b="1" u="sng">
                <a:solidFill>
                  <a:srgbClr val="3333FF"/>
                </a:solidFill>
              </a:rPr>
              <a:t>Evolutionary Approach</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In the ”Evolutionary” approach components of the original system are substituted with re-engineered components.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In this approach, the existing components are grouped by functions and reengineered into new components.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Software engineers focus their reengineering efforts on identifying functional objects irrespective of the locations of those components within the current system.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As a result, the new system is built with functionally cohesive components as needed.</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There are two advantages of the “Evolutionary” approach: </a:t>
            </a:r>
            <a:endParaRPr/>
          </a:p>
          <a:p>
            <a:pPr marL="869950" lvl="1" indent="-412750" algn="l" rtl="0">
              <a:lnSpc>
                <a:spcPct val="90000"/>
              </a:lnSpc>
              <a:spcBef>
                <a:spcPts val="600"/>
              </a:spcBef>
              <a:spcAft>
                <a:spcPts val="0"/>
              </a:spcAft>
              <a:buClr>
                <a:schemeClr val="dk2"/>
              </a:buClr>
              <a:buSzPts val="2000"/>
              <a:buFont typeface="Times New Roman"/>
              <a:buNone/>
            </a:pPr>
            <a:r>
              <a:rPr lang="en-US"/>
              <a:t>(i) the resulting design is more cohesive, and </a:t>
            </a:r>
            <a:endParaRPr/>
          </a:p>
          <a:p>
            <a:pPr marL="869950" lvl="1" indent="-412750" algn="l" rtl="0">
              <a:lnSpc>
                <a:spcPct val="90000"/>
              </a:lnSpc>
              <a:spcBef>
                <a:spcPts val="600"/>
              </a:spcBef>
              <a:spcAft>
                <a:spcPts val="0"/>
              </a:spcAft>
              <a:buClr>
                <a:schemeClr val="dk2"/>
              </a:buClr>
              <a:buSzPts val="2000"/>
              <a:buFont typeface="Times New Roman"/>
              <a:buNone/>
            </a:pPr>
            <a:r>
              <a:rPr lang="en-US"/>
              <a:t>(ii) the scope of individual components is reduced.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A major disadvantage: </a:t>
            </a:r>
            <a:endParaRPr/>
          </a:p>
          <a:p>
            <a:pPr marL="869950" lvl="1" indent="-412750" algn="l" rtl="0">
              <a:lnSpc>
                <a:spcPct val="90000"/>
              </a:lnSpc>
              <a:spcBef>
                <a:spcPts val="600"/>
              </a:spcBef>
              <a:spcAft>
                <a:spcPts val="0"/>
              </a:spcAft>
              <a:buClr>
                <a:schemeClr val="dk2"/>
              </a:buClr>
              <a:buSzPts val="2000"/>
              <a:buFont typeface="Times New Roman"/>
              <a:buNone/>
            </a:pPr>
            <a:r>
              <a:rPr lang="en-US"/>
              <a:t>(i) all the functions with much similarities must be first identified throughout the operational system.</a:t>
            </a:r>
            <a:endParaRPr/>
          </a:p>
          <a:p>
            <a:pPr marL="869950" lvl="1" indent="-412750" algn="l" rtl="0">
              <a:lnSpc>
                <a:spcPct val="90000"/>
              </a:lnSpc>
              <a:spcBef>
                <a:spcPts val="600"/>
              </a:spcBef>
              <a:spcAft>
                <a:spcPts val="0"/>
              </a:spcAft>
              <a:buClr>
                <a:schemeClr val="dk2"/>
              </a:buClr>
              <a:buSzPts val="2000"/>
              <a:buFont typeface="Times New Roman"/>
              <a:buNone/>
            </a:pPr>
            <a:r>
              <a:rPr lang="en-US"/>
              <a:t>(ii) next, those functions are refined as one unit in the new system.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5"/>
          <p:cNvSpPr txBox="1">
            <a:spLocks noGrp="1"/>
          </p:cNvSpPr>
          <p:nvPr>
            <p:ph type="title" idx="4294967295"/>
          </p:nvPr>
        </p:nvSpPr>
        <p:spPr>
          <a:xfrm>
            <a:off x="0" y="0"/>
            <a:ext cx="9144000" cy="8556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4.4.2 Source Code Reengineering Reference Model</a:t>
            </a:r>
            <a:endParaRPr/>
          </a:p>
        </p:txBody>
      </p:sp>
      <p:sp>
        <p:nvSpPr>
          <p:cNvPr id="241" name="Google Shape;241;p25"/>
          <p:cNvSpPr/>
          <p:nvPr/>
        </p:nvSpPr>
        <p:spPr>
          <a:xfrm>
            <a:off x="112713" y="863600"/>
            <a:ext cx="5365750" cy="4819650"/>
          </a:xfrm>
          <a:prstGeom prst="rect">
            <a:avLst/>
          </a:prstGeom>
          <a:noFill/>
          <a:ln>
            <a:noFill/>
          </a:ln>
        </p:spPr>
        <p:txBody>
          <a:bodyPr spcFirstLastPara="1" wrap="square" lIns="92075" tIns="46025" rIns="92075" bIns="46025" anchor="t" anchorCtr="0">
            <a:noAutofit/>
          </a:bodyPr>
          <a:lstStyle/>
          <a:p>
            <a:pPr marL="285750" marR="0" lvl="0" indent="-285750" algn="l" rtl="0">
              <a:lnSpc>
                <a:spcPct val="90000"/>
              </a:lnSpc>
              <a:spcBef>
                <a:spcPts val="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SCORE/RM model was proposed by Colbrook, Smythe and Darlison. </a:t>
            </a:r>
            <a:endParaRPr/>
          </a:p>
          <a:p>
            <a:pPr marL="285750" marR="0" lvl="0" indent="-285750" algn="l" rtl="0">
              <a:lnSpc>
                <a:spcPct val="90000"/>
              </a:lnSpc>
              <a:spcBef>
                <a:spcPts val="72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framework, depicted in Figure, consists of four kinds of elements:</a:t>
            </a:r>
            <a:r>
              <a:rPr lang="en-US" sz="2400" b="0" i="0" u="none" strike="noStrike" cap="none">
                <a:solidFill>
                  <a:srgbClr val="000000"/>
                </a:solidFill>
                <a:latin typeface="Times New Roman"/>
                <a:ea typeface="Times New Roman"/>
                <a:cs typeface="Times New Roman"/>
                <a:sym typeface="Times New Roman"/>
              </a:rPr>
              <a:t>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function,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documentation,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repository database, and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metrication.</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function element is divided into eight layers, namely:</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encapsulation, transformation,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normalization, interpretation,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abstraction, causation,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regeneration, and certification.</a:t>
            </a:r>
            <a:endParaRPr/>
          </a:p>
          <a:p>
            <a:pPr marL="285750" marR="0" lvl="0" indent="-285750" algn="l" rtl="0">
              <a:lnSpc>
                <a:spcPct val="90000"/>
              </a:lnSpc>
              <a:spcBef>
                <a:spcPts val="540"/>
              </a:spcBef>
              <a:spcAft>
                <a:spcPts val="0"/>
              </a:spcAft>
              <a:buClr>
                <a:srgbClr val="000000"/>
              </a:buClr>
              <a:buSzPts val="1350"/>
              <a:buFont typeface="Times New Roman"/>
              <a:buNone/>
            </a:pPr>
            <a:endParaRPr sz="1800" b="0" i="0" u="none" strike="noStrike" cap="none">
              <a:solidFill>
                <a:srgbClr val="0000FF"/>
              </a:solidFill>
              <a:latin typeface="Times New Roman"/>
              <a:ea typeface="Times New Roman"/>
              <a:cs typeface="Times New Roman"/>
              <a:sym typeface="Times New Roman"/>
            </a:endParaRPr>
          </a:p>
        </p:txBody>
      </p:sp>
      <p:pic>
        <p:nvPicPr>
          <p:cNvPr id="242" name="Google Shape;242;p25"/>
          <p:cNvPicPr preferRelativeResize="0"/>
          <p:nvPr/>
        </p:nvPicPr>
        <p:blipFill rotWithShape="1">
          <a:blip r:embed="rId3">
            <a:alphaModFix/>
          </a:blip>
          <a:srcRect/>
          <a:stretch/>
        </p:blipFill>
        <p:spPr>
          <a:xfrm>
            <a:off x="5473700" y="941388"/>
            <a:ext cx="3365500" cy="4175125"/>
          </a:xfrm>
          <a:prstGeom prst="rect">
            <a:avLst/>
          </a:prstGeom>
          <a:noFill/>
          <a:ln>
            <a:noFill/>
          </a:ln>
        </p:spPr>
      </p:pic>
      <p:sp>
        <p:nvSpPr>
          <p:cNvPr id="243" name="Google Shape;243;p25"/>
          <p:cNvSpPr/>
          <p:nvPr/>
        </p:nvSpPr>
        <p:spPr>
          <a:xfrm>
            <a:off x="4953000" y="5308600"/>
            <a:ext cx="40386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4.6  Source code reengineering reference model © IEEE, 1990</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6"/>
          <p:cNvSpPr txBox="1">
            <a:spLocks noGrp="1"/>
          </p:cNvSpPr>
          <p:nvPr>
            <p:ph type="title" idx="4294967295"/>
          </p:nvPr>
        </p:nvSpPr>
        <p:spPr>
          <a:xfrm>
            <a:off x="0" y="0"/>
            <a:ext cx="9144000" cy="7667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4.4.2 Source Code Reengineering Reference Model</a:t>
            </a:r>
            <a:endParaRPr/>
          </a:p>
        </p:txBody>
      </p:sp>
      <p:sp>
        <p:nvSpPr>
          <p:cNvPr id="251" name="Google Shape;251;p26"/>
          <p:cNvSpPr/>
          <p:nvPr/>
        </p:nvSpPr>
        <p:spPr>
          <a:xfrm>
            <a:off x="112713" y="812800"/>
            <a:ext cx="8794750" cy="5607050"/>
          </a:xfrm>
          <a:prstGeom prst="rect">
            <a:avLst/>
          </a:prstGeom>
          <a:noFill/>
          <a:ln>
            <a:noFill/>
          </a:ln>
        </p:spPr>
        <p:txBody>
          <a:bodyPr spcFirstLastPara="1" wrap="square" lIns="92075" tIns="46025" rIns="92075" bIns="46025" anchor="t" anchorCtr="0">
            <a:noAutofit/>
          </a:bodyPr>
          <a:lstStyle/>
          <a:p>
            <a:pPr marL="285750" marR="0" lvl="0" indent="-285750" algn="l" rtl="0">
              <a:lnSpc>
                <a:spcPct val="90000"/>
              </a:lnSpc>
              <a:spcBef>
                <a:spcPts val="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 The eight layers provide a detailed approach to:</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 rationalizing the system to be reengineered by removing redundant data and altering the control flow, </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(ii) comprehending the software’s requirements, and </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(iii) reconstructing the software according to established practices.</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first six of the eight layers together constitute a process for reverse engineering, and the final three a process for forward engineering.</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Improvements in the software as a result of reengineering is quantified by means of the metrication element. </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metrication element is described in terms of the relevant software metrics before executing a layer and after executing the same layer.</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repository database is the information store for the entire reengineering process, containing the following kinds of information: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metrication,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documentation, and </a:t>
            </a:r>
            <a:endParaRPr/>
          </a:p>
          <a:p>
            <a:pPr marL="685800" marR="0" lvl="1" indent="-2286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both the old and the new source code.</a:t>
            </a:r>
            <a:endParaRPr sz="1600" b="0" i="0" u="none" strike="noStrike" cap="none">
              <a:solidFill>
                <a:srgbClr val="0000FF"/>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idx="4294967295"/>
          </p:nvPr>
        </p:nvSpPr>
        <p:spPr>
          <a:xfrm>
            <a:off x="0" y="0"/>
            <a:ext cx="9144000" cy="8048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4.4.2 Source Code Reengineering Reference Model</a:t>
            </a:r>
            <a:endParaRPr/>
          </a:p>
        </p:txBody>
      </p:sp>
      <p:sp>
        <p:nvSpPr>
          <p:cNvPr id="259" name="Google Shape;259;p27"/>
          <p:cNvSpPr/>
          <p:nvPr/>
        </p:nvSpPr>
        <p:spPr>
          <a:xfrm>
            <a:off x="112713" y="812800"/>
            <a:ext cx="8794750" cy="2863850"/>
          </a:xfrm>
          <a:prstGeom prst="rect">
            <a:avLst/>
          </a:prstGeom>
          <a:noFill/>
          <a:ln>
            <a:noFill/>
          </a:ln>
        </p:spPr>
        <p:txBody>
          <a:bodyPr spcFirstLastPara="1" wrap="square" lIns="92075" tIns="46025" rIns="92075" bIns="46025" anchor="t" anchorCtr="0">
            <a:noAutofit/>
          </a:bodyPr>
          <a:lstStyle/>
          <a:p>
            <a:pPr marL="285750" marR="0" lvl="0" indent="-285750" algn="l" rtl="0">
              <a:lnSpc>
                <a:spcPct val="90000"/>
              </a:lnSpc>
              <a:spcBef>
                <a:spcPts val="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interfaces among the elements are shown in Figure. </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For simplicity, any layer is referred to as (N)− layer, while its next lower and next higher layers are referred to as (N − 1)− layer and the (N + 1)− layer, respectively. </a:t>
            </a:r>
            <a:endParaRPr/>
          </a:p>
          <a:p>
            <a:pPr marL="285750" marR="0" lvl="0" indent="-285750" algn="l" rtl="0">
              <a:lnSpc>
                <a:spcPct val="90000"/>
              </a:lnSpc>
              <a:spcBef>
                <a:spcPts val="600"/>
              </a:spcBef>
              <a:spcAft>
                <a:spcPts val="0"/>
              </a:spcAft>
              <a:buClr>
                <a:srgbClr val="000000"/>
              </a:buClr>
              <a:buSzPts val="15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three types of interfaces are explained as follows:</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Metrication/Function: (N)-MF – the structures describing the metrics and their values.</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Documentation/Function: (N)-DF – the structures describing the documentation.</a:t>
            </a:r>
            <a:endParaRPr/>
          </a:p>
          <a:p>
            <a:pPr marL="685800" marR="0" lvl="1" indent="-2286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Function/Function: (N)-FF – the representation structures for source code passed between the layers.</a:t>
            </a:r>
            <a:endParaRPr sz="1800" b="0" i="0" u="none" strike="noStrike" cap="none">
              <a:solidFill>
                <a:srgbClr val="0000FF"/>
              </a:solidFill>
              <a:latin typeface="Times New Roman"/>
              <a:ea typeface="Times New Roman"/>
              <a:cs typeface="Times New Roman"/>
              <a:sym typeface="Times New Roman"/>
            </a:endParaRPr>
          </a:p>
        </p:txBody>
      </p:sp>
      <p:pic>
        <p:nvPicPr>
          <p:cNvPr id="260" name="Google Shape;260;p27"/>
          <p:cNvPicPr preferRelativeResize="0"/>
          <p:nvPr/>
        </p:nvPicPr>
        <p:blipFill rotWithShape="1">
          <a:blip r:embed="rId3">
            <a:alphaModFix/>
          </a:blip>
          <a:srcRect/>
          <a:stretch/>
        </p:blipFill>
        <p:spPr>
          <a:xfrm>
            <a:off x="1419225" y="3644900"/>
            <a:ext cx="5529263" cy="2586038"/>
          </a:xfrm>
          <a:prstGeom prst="rect">
            <a:avLst/>
          </a:prstGeom>
          <a:noFill/>
          <a:ln>
            <a:noFill/>
          </a:ln>
        </p:spPr>
      </p:pic>
      <p:sp>
        <p:nvSpPr>
          <p:cNvPr id="261" name="Google Shape;261;p27"/>
          <p:cNvSpPr/>
          <p:nvPr/>
        </p:nvSpPr>
        <p:spPr>
          <a:xfrm>
            <a:off x="1587500" y="6121400"/>
            <a:ext cx="55499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i="0" u="none" strike="noStrike" cap="none">
                <a:solidFill>
                  <a:srgbClr val="3333FF"/>
                </a:solidFill>
                <a:latin typeface="Times New Roman"/>
                <a:ea typeface="Times New Roman"/>
                <a:cs typeface="Times New Roman"/>
                <a:sym typeface="Times New Roman"/>
              </a:rPr>
              <a:t>Figure 4.7 The interface nomenclature © IEEE, 1990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4.4.3 Phase Reengineering Model</a:t>
            </a:r>
            <a:endParaRPr/>
          </a:p>
        </p:txBody>
      </p:sp>
      <p:sp>
        <p:nvSpPr>
          <p:cNvPr id="269" name="Google Shape;269;p28"/>
          <p:cNvSpPr txBox="1">
            <a:spLocks noGrp="1"/>
          </p:cNvSpPr>
          <p:nvPr>
            <p:ph type="body" idx="4294967295"/>
          </p:nvPr>
        </p:nvSpPr>
        <p:spPr>
          <a:xfrm>
            <a:off x="66675" y="660400"/>
            <a:ext cx="8812213" cy="22161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The phase model of software reengineering was originally proposed by Byrne and Gustafson.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model comprises five phases: analysis and planning, renovation, target system testing, redocumentation, and acceptance testing and system transition, as depicted in Figure 4.8.</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 The labels on the arcs denote the possible information that flows from the tail entities of the arcs to the head entities. </a:t>
            </a:r>
            <a:endParaRPr/>
          </a:p>
        </p:txBody>
      </p:sp>
      <p:sp>
        <p:nvSpPr>
          <p:cNvPr id="270" name="Google Shape;270;p28"/>
          <p:cNvSpPr/>
          <p:nvPr/>
        </p:nvSpPr>
        <p:spPr>
          <a:xfrm>
            <a:off x="4376738" y="1951038"/>
            <a:ext cx="2901950" cy="1700212"/>
          </a:xfrm>
          <a:prstGeom prst="rect">
            <a:avLst/>
          </a:prstGeom>
          <a:noFill/>
          <a:ln>
            <a:noFill/>
          </a:ln>
        </p:spPr>
        <p:txBody>
          <a:bodyPr spcFirstLastPara="1" wrap="square" lIns="92075" tIns="46025" rIns="92075" bIns="46025" anchor="ctr" anchorCtr="0">
            <a:noAutofit/>
          </a:bodyPr>
          <a:lstStyle/>
          <a:p>
            <a:pPr marL="0" marR="0" lvl="0" indent="0" algn="l" rtl="0">
              <a:lnSpc>
                <a:spcPct val="90000"/>
              </a:lnSpc>
              <a:spcBef>
                <a:spcPts val="0"/>
              </a:spcBef>
              <a:spcAft>
                <a:spcPts val="0"/>
              </a:spcAft>
              <a:buNone/>
            </a:pPr>
            <a:endParaRPr sz="2800" b="1" i="0" u="none" strike="noStrike" cap="none">
              <a:solidFill>
                <a:srgbClr val="000000"/>
              </a:solidFill>
              <a:latin typeface="Times New Roman"/>
              <a:ea typeface="Times New Roman"/>
              <a:cs typeface="Times New Roman"/>
              <a:sym typeface="Times New Roman"/>
            </a:endParaRPr>
          </a:p>
        </p:txBody>
      </p:sp>
      <p:pic>
        <p:nvPicPr>
          <p:cNvPr id="271" name="Google Shape;271;p28"/>
          <p:cNvPicPr preferRelativeResize="0"/>
          <p:nvPr/>
        </p:nvPicPr>
        <p:blipFill rotWithShape="1">
          <a:blip r:embed="rId3">
            <a:alphaModFix/>
          </a:blip>
          <a:srcRect/>
          <a:stretch/>
        </p:blipFill>
        <p:spPr>
          <a:xfrm>
            <a:off x="3016250" y="2852738"/>
            <a:ext cx="5822950" cy="3751262"/>
          </a:xfrm>
          <a:prstGeom prst="rect">
            <a:avLst/>
          </a:prstGeom>
          <a:noFill/>
          <a:ln>
            <a:noFill/>
          </a:ln>
        </p:spPr>
      </p:pic>
      <p:sp>
        <p:nvSpPr>
          <p:cNvPr id="272" name="Google Shape;272;p28"/>
          <p:cNvSpPr/>
          <p:nvPr/>
        </p:nvSpPr>
        <p:spPr>
          <a:xfrm>
            <a:off x="0" y="4716463"/>
            <a:ext cx="3797300" cy="1739900"/>
          </a:xfrm>
          <a:prstGeom prst="rect">
            <a:avLst/>
          </a:prstGeom>
          <a:noFill/>
          <a:ln>
            <a:noFill/>
          </a:ln>
        </p:spPr>
        <p:txBody>
          <a:bodyPr spcFirstLastPara="1" wrap="square" lIns="91425" tIns="45700" rIns="91425" bIns="45700" anchor="t" anchorCtr="0">
            <a:spAutoFit/>
          </a:bodyPr>
          <a:lstStyle/>
          <a:p>
            <a:pPr marL="0" marR="0" lvl="0" indent="-114300" algn="l" rtl="0">
              <a:spcBef>
                <a:spcPts val="0"/>
              </a:spcBef>
              <a:spcAft>
                <a:spcPts val="0"/>
              </a:spcAft>
              <a:buClr>
                <a:srgbClr val="000000"/>
              </a:buClr>
              <a:buSzPts val="1800"/>
              <a:buFont typeface="Times New Roman"/>
              <a:buChar char="•"/>
            </a:pPr>
            <a:r>
              <a:rPr lang="en-US" sz="1800" b="0" i="0" u="none" strike="noStrike" cap="none">
                <a:solidFill>
                  <a:srgbClr val="000000"/>
                </a:solidFill>
                <a:latin typeface="Times New Roman"/>
                <a:ea typeface="Times New Roman"/>
                <a:cs typeface="Times New Roman"/>
                <a:sym typeface="Times New Roman"/>
              </a:rPr>
              <a:t> A major process activity is represented by each phase. </a:t>
            </a:r>
            <a:endParaRPr/>
          </a:p>
          <a:p>
            <a:pPr marL="0" marR="0" lvl="0" indent="0" algn="l" rtl="0">
              <a:spcBef>
                <a:spcPts val="0"/>
              </a:spcBef>
              <a:spcAft>
                <a:spcPts val="0"/>
              </a:spcAft>
              <a:buNone/>
            </a:pPr>
            <a:endParaRPr sz="1800" b="0">
              <a:solidFill>
                <a:srgbClr val="000000"/>
              </a:solidFill>
              <a:latin typeface="Times New Roman"/>
              <a:ea typeface="Times New Roman"/>
              <a:cs typeface="Times New Roman"/>
              <a:sym typeface="Times New Roman"/>
            </a:endParaRPr>
          </a:p>
          <a:p>
            <a:pPr marL="0" marR="0" lvl="0" indent="-114300" algn="l" rtl="0">
              <a:spcBef>
                <a:spcPts val="0"/>
              </a:spcBef>
              <a:spcAft>
                <a:spcPts val="0"/>
              </a:spcAft>
              <a:buClr>
                <a:srgbClr val="000000"/>
              </a:buClr>
              <a:buSzPts val="1800"/>
              <a:buFont typeface="Times New Roman"/>
              <a:buChar char="•"/>
            </a:pPr>
            <a:r>
              <a:rPr lang="en-US" sz="1800" b="0">
                <a:solidFill>
                  <a:srgbClr val="000000"/>
                </a:solidFill>
                <a:latin typeface="Times New Roman"/>
                <a:ea typeface="Times New Roman"/>
                <a:cs typeface="Times New Roman"/>
                <a:sym typeface="Times New Roman"/>
              </a:rPr>
              <a:t> Tasks represent a phase’s activities, and tasks can be further decomposed to reveal the detailed methodologies.</a:t>
            </a:r>
            <a:endParaRPr/>
          </a:p>
        </p:txBody>
      </p:sp>
      <p:sp>
        <p:nvSpPr>
          <p:cNvPr id="273" name="Google Shape;273;p28"/>
          <p:cNvSpPr/>
          <p:nvPr/>
        </p:nvSpPr>
        <p:spPr>
          <a:xfrm>
            <a:off x="4775200" y="2578100"/>
            <a:ext cx="4064000"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u="none">
                <a:solidFill>
                  <a:srgbClr val="3333FF"/>
                </a:solidFill>
                <a:latin typeface="Times New Roman"/>
                <a:ea typeface="Times New Roman"/>
                <a:cs typeface="Times New Roman"/>
                <a:sym typeface="Times New Roman"/>
              </a:rPr>
              <a:t>Figure 4.8 Software reengineering process phases  © IEEE, 1992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9"/>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4.4.3 Phase Reengineering Model</a:t>
            </a:r>
            <a:endParaRPr/>
          </a:p>
        </p:txBody>
      </p:sp>
      <p:sp>
        <p:nvSpPr>
          <p:cNvPr id="281" name="Google Shape;281;p29"/>
          <p:cNvSpPr txBox="1">
            <a:spLocks noGrp="1"/>
          </p:cNvSpPr>
          <p:nvPr>
            <p:ph type="body" idx="4294967295"/>
          </p:nvPr>
        </p:nvSpPr>
        <p:spPr>
          <a:xfrm>
            <a:off x="66675" y="660400"/>
            <a:ext cx="8812213" cy="56959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3333FF"/>
              </a:buClr>
              <a:buSzPts val="1500"/>
              <a:buFont typeface="Times New Roman"/>
              <a:buNone/>
            </a:pPr>
            <a:r>
              <a:rPr lang="en-US" sz="2000" b="1" u="sng">
                <a:solidFill>
                  <a:srgbClr val="3333FF"/>
                </a:solidFill>
              </a:rPr>
              <a:t>Analysis and planning:</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Analysis addresses three technical and one economic issue.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The first technical issue concerns the </a:t>
            </a:r>
            <a:r>
              <a:rPr lang="en-US" sz="1800">
                <a:solidFill>
                  <a:srgbClr val="FF9900"/>
                </a:solidFill>
              </a:rPr>
              <a:t>present state of the system</a:t>
            </a:r>
            <a:r>
              <a:rPr lang="en-US" sz="1800"/>
              <a:t> to be reengineered and understanding its properties.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The second technical issue concerns the </a:t>
            </a:r>
            <a:r>
              <a:rPr lang="en-US" sz="1800">
                <a:solidFill>
                  <a:srgbClr val="FF9900"/>
                </a:solidFill>
              </a:rPr>
              <a:t>identification of the need</a:t>
            </a:r>
            <a:r>
              <a:rPr lang="en-US" sz="1800"/>
              <a:t> for the system to be reengineered.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The third technical issue concerns the </a:t>
            </a:r>
            <a:r>
              <a:rPr lang="en-US" sz="1800">
                <a:solidFill>
                  <a:srgbClr val="FF9900"/>
                </a:solidFill>
              </a:rPr>
              <a:t>specification of the characteristics</a:t>
            </a:r>
            <a:r>
              <a:rPr lang="en-US" sz="1800"/>
              <a:t> of the new system to be produced.</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economic issue concerns a </a:t>
            </a:r>
            <a:r>
              <a:rPr lang="en-US" sz="2000">
                <a:solidFill>
                  <a:srgbClr val="BF7200"/>
                </a:solidFill>
              </a:rPr>
              <a:t>cost and benefit analysis </a:t>
            </a:r>
            <a:r>
              <a:rPr lang="en-US" sz="2000"/>
              <a:t>of the reengineering project.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Planning includes: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understanding the scope of the work;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identifying the required resources;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identifying the tasks and milestones;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estimating the required effort; and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preparing a schedule.</a:t>
            </a:r>
            <a:endParaRPr/>
          </a:p>
          <a:p>
            <a:pPr marL="457200" lvl="0" indent="-457200" algn="l" rtl="0">
              <a:lnSpc>
                <a:spcPct val="90000"/>
              </a:lnSpc>
              <a:spcBef>
                <a:spcPts val="540"/>
              </a:spcBef>
              <a:spcAft>
                <a:spcPts val="0"/>
              </a:spcAft>
              <a:buClr>
                <a:srgbClr val="000000"/>
              </a:buClr>
              <a:buSzPts val="1350"/>
              <a:buFont typeface="Times New Roman"/>
              <a:buNone/>
            </a:pP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4.4.3 Phase Reengineering Model</a:t>
            </a:r>
            <a:endParaRPr/>
          </a:p>
        </p:txBody>
      </p:sp>
      <p:pic>
        <p:nvPicPr>
          <p:cNvPr id="289" name="Google Shape;289;p30"/>
          <p:cNvPicPr preferRelativeResize="0"/>
          <p:nvPr/>
        </p:nvPicPr>
        <p:blipFill rotWithShape="1">
          <a:blip r:embed="rId3">
            <a:alphaModFix/>
          </a:blip>
          <a:srcRect l="24095" t="15714" r="25523" b="8382"/>
          <a:stretch/>
        </p:blipFill>
        <p:spPr>
          <a:xfrm>
            <a:off x="1035050" y="469900"/>
            <a:ext cx="6921500" cy="6108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1"/>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4.4.3 Phase Reengineering Model</a:t>
            </a:r>
            <a:endParaRPr/>
          </a:p>
        </p:txBody>
      </p:sp>
      <p:sp>
        <p:nvSpPr>
          <p:cNvPr id="297" name="Google Shape;297;p31"/>
          <p:cNvSpPr txBox="1">
            <a:spLocks noGrp="1"/>
          </p:cNvSpPr>
          <p:nvPr>
            <p:ph type="body" idx="4294967295"/>
          </p:nvPr>
        </p:nvSpPr>
        <p:spPr>
          <a:xfrm>
            <a:off x="66675" y="660400"/>
            <a:ext cx="8812213" cy="55943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3333FF"/>
              </a:buClr>
              <a:buSzPts val="1800"/>
              <a:buFont typeface="Times New Roman"/>
              <a:buNone/>
            </a:pPr>
            <a:r>
              <a:rPr lang="en-US" b="1" u="sng">
                <a:solidFill>
                  <a:srgbClr val="3333FF"/>
                </a:solidFill>
              </a:rPr>
              <a:t>Renovation:</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An operational system is modified into the target system in the renovation phase.</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Two main aspects of a system are considered in this phase: </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(i) </a:t>
            </a:r>
            <a:r>
              <a:rPr lang="en-US" sz="1800">
                <a:solidFill>
                  <a:srgbClr val="3333FF"/>
                </a:solidFill>
              </a:rPr>
              <a:t>representation of the system.</a:t>
            </a:r>
            <a:r>
              <a:rPr lang="en-US" sz="1800"/>
              <a:t> </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It refers to source code, but it may include the design model and   the requirement specification of the existing system. </a:t>
            </a:r>
            <a:endParaRPr/>
          </a:p>
          <a:p>
            <a:pPr marL="838200" lvl="1" indent="-381000" algn="l" rtl="0">
              <a:lnSpc>
                <a:spcPct val="90000"/>
              </a:lnSpc>
              <a:spcBef>
                <a:spcPts val="540"/>
              </a:spcBef>
              <a:spcAft>
                <a:spcPts val="0"/>
              </a:spcAft>
              <a:buClr>
                <a:srgbClr val="3333FF"/>
              </a:buClr>
              <a:buSzPts val="1800"/>
              <a:buFont typeface="Times New Roman"/>
              <a:buNone/>
            </a:pPr>
            <a:r>
              <a:rPr lang="en-US" sz="1800">
                <a:solidFill>
                  <a:srgbClr val="3333FF"/>
                </a:solidFill>
              </a:rPr>
              <a:t>(ii) representation of external data.</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It refers to the database and/or data files used by the system. Often the external data are reengineered, and it is known as data reengineering.</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An operational system can be renovated in many ways, depending upon the objectives of the project, the approach followed, and the starting representation of the system.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It may be noted that the starting representation can be source code, design, or requirements.</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Table 4.1 discussed earlier recommends several alternatives to renovate a system.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4.4.3 Phase Reengineering Model</a:t>
            </a:r>
            <a:endParaRPr/>
          </a:p>
        </p:txBody>
      </p:sp>
      <p:sp>
        <p:nvSpPr>
          <p:cNvPr id="305" name="Google Shape;305;p32"/>
          <p:cNvSpPr txBox="1">
            <a:spLocks noGrp="1"/>
          </p:cNvSpPr>
          <p:nvPr>
            <p:ph type="body" idx="4294967295"/>
          </p:nvPr>
        </p:nvSpPr>
        <p:spPr>
          <a:xfrm>
            <a:off x="66675" y="660400"/>
            <a:ext cx="8812213" cy="31432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3333FF"/>
              </a:buClr>
              <a:buSzPts val="1800"/>
              <a:buFont typeface="Times New Roman"/>
              <a:buNone/>
            </a:pPr>
            <a:r>
              <a:rPr lang="en-US" b="1" u="sng">
                <a:solidFill>
                  <a:srgbClr val="3333FF"/>
                </a:solidFill>
              </a:rPr>
              <a:t>Renovation: Example</a:t>
            </a:r>
            <a:r>
              <a:rPr lang="en-US" b="1" u="sng"/>
              <a:t>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 project in which the objective is to re-code the system from Fortran to C.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Figure 4.9 shows the three possible replacement strategies.</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First, to perform source-to-source translation, program migration is used.</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Second, a high-level design is constructed from the operational source code, say, in Fortran, and the resulting design is re-implemented in the target language, C in this case.</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Finally, a mix of compilation and decompilation is used to obtain the system implementation in C</a:t>
            </a:r>
            <a:endParaRPr sz="2000" b="1" u="sng"/>
          </a:p>
        </p:txBody>
      </p:sp>
      <p:pic>
        <p:nvPicPr>
          <p:cNvPr id="306" name="Google Shape;306;p32"/>
          <p:cNvPicPr preferRelativeResize="0"/>
          <p:nvPr/>
        </p:nvPicPr>
        <p:blipFill rotWithShape="1">
          <a:blip r:embed="rId3">
            <a:alphaModFix/>
          </a:blip>
          <a:srcRect/>
          <a:stretch/>
        </p:blipFill>
        <p:spPr>
          <a:xfrm>
            <a:off x="1592275" y="3701938"/>
            <a:ext cx="5619750" cy="2638425"/>
          </a:xfrm>
          <a:prstGeom prst="rect">
            <a:avLst/>
          </a:prstGeom>
          <a:noFill/>
          <a:ln>
            <a:noFill/>
          </a:ln>
        </p:spPr>
      </p:pic>
      <p:sp>
        <p:nvSpPr>
          <p:cNvPr id="307" name="Google Shape;307;p32"/>
          <p:cNvSpPr/>
          <p:nvPr/>
        </p:nvSpPr>
        <p:spPr>
          <a:xfrm>
            <a:off x="1336675" y="6121400"/>
            <a:ext cx="6702425"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a:solidFill>
                  <a:srgbClr val="3333FF"/>
                </a:solidFill>
                <a:latin typeface="Times New Roman"/>
                <a:ea typeface="Times New Roman"/>
                <a:cs typeface="Times New Roman"/>
                <a:sym typeface="Times New Roman"/>
              </a:rPr>
              <a:t>Figure 4.9 Replacement strategies for recording</a:t>
            </a:r>
            <a:endParaRPr sz="1800" b="1">
              <a:solidFill>
                <a:srgbClr val="3333FF"/>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4.4.3 Phase Reengineering Model</a:t>
            </a:r>
            <a:endParaRPr/>
          </a:p>
        </p:txBody>
      </p:sp>
      <p:sp>
        <p:nvSpPr>
          <p:cNvPr id="315" name="Google Shape;315;p33"/>
          <p:cNvSpPr txBox="1">
            <a:spLocks noGrp="1"/>
          </p:cNvSpPr>
          <p:nvPr>
            <p:ph type="body" idx="4294967295"/>
          </p:nvPr>
        </p:nvSpPr>
        <p:spPr>
          <a:xfrm>
            <a:off x="66675" y="660400"/>
            <a:ext cx="8812213" cy="40449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chemeClr val="hlink"/>
              </a:buClr>
              <a:buSzPts val="1800"/>
              <a:buFont typeface="Times New Roman"/>
              <a:buNone/>
            </a:pPr>
            <a:r>
              <a:rPr lang="en-US" b="1" u="sng">
                <a:solidFill>
                  <a:schemeClr val="hlink"/>
                </a:solidFill>
              </a:rPr>
              <a:t>Target system testing:</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In this phase for system testing, faults are detected in the target system.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Those faults might have been introduced during reengineering.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Fault detection is performed by applying the target system test plan on the target system.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same testing strategies, techniques, methods, and tools that are used in software development are used during reengineering.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For example, apply the existing system-level test cases to both the </a:t>
            </a:r>
            <a:r>
              <a:rPr lang="en-US" sz="2000">
                <a:solidFill>
                  <a:srgbClr val="FF9900"/>
                </a:solidFill>
              </a:rPr>
              <a:t>existing and the new system. </a:t>
            </a:r>
            <a:endParaRPr>
              <a:solidFill>
                <a:srgbClr val="FF9900"/>
              </a:solidFill>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Assuming that the two systems have identical requirements, the test results from both the scenarios must be the same.</a:t>
            </a:r>
            <a:endParaRPr/>
          </a:p>
          <a:p>
            <a:pPr marL="457200" lvl="0" indent="-457200" algn="l" rtl="0">
              <a:lnSpc>
                <a:spcPct val="90000"/>
              </a:lnSpc>
              <a:spcBef>
                <a:spcPts val="600"/>
              </a:spcBef>
              <a:spcAft>
                <a:spcPts val="0"/>
              </a:spcAft>
              <a:buClr>
                <a:srgbClr val="000000"/>
              </a:buClr>
              <a:buSzPts val="1500"/>
              <a:buFont typeface="Times New Roman"/>
              <a:buNone/>
            </a:pPr>
            <a:endParaRPr sz="2000" u="sng"/>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4.4.3 Phase Reengineering Model</a:t>
            </a:r>
            <a:endParaRPr/>
          </a:p>
        </p:txBody>
      </p:sp>
      <p:sp>
        <p:nvSpPr>
          <p:cNvPr id="323" name="Google Shape;323;p34"/>
          <p:cNvSpPr txBox="1">
            <a:spLocks noGrp="1"/>
          </p:cNvSpPr>
          <p:nvPr>
            <p:ph type="body" idx="4294967295"/>
          </p:nvPr>
        </p:nvSpPr>
        <p:spPr>
          <a:xfrm>
            <a:off x="66675" y="660400"/>
            <a:ext cx="8812213" cy="53911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chemeClr val="hlink"/>
              </a:buClr>
              <a:buSzPts val="1800"/>
              <a:buFont typeface="Times New Roman"/>
              <a:buNone/>
            </a:pPr>
            <a:r>
              <a:rPr lang="en-US" b="1" u="sng">
                <a:solidFill>
                  <a:schemeClr val="hlink"/>
                </a:solidFill>
              </a:rPr>
              <a:t>Redocumentation</a:t>
            </a:r>
            <a:r>
              <a:rPr lang="en-US" sz="2000" u="sng">
                <a:solidFill>
                  <a:schemeClr val="hlink"/>
                </a:solidFill>
              </a:rPr>
              <a:t>:</a:t>
            </a:r>
            <a:endParaRPr sz="2000" b="1" u="sng">
              <a:solidFill>
                <a:schemeClr val="hlink"/>
              </a:solidFill>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In the redocumentation phase, documentations are rewritten, updated, and/or replaced to reflect the target system.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Documents are revised according to the redocumentation plan.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two major tasks within this phase are: </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(i) analyze new source code, and</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(ii) create documentation.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Documents requiring revision are: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requirement specification.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design documentation.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a report justifying the design decisions, assumptions made in the implementation.</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configuration.</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user and reference manuals. </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on-line help.</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document describing the differences between the existing and the target system.</a:t>
            </a:r>
            <a:endParaRPr sz="1800" u="sng"/>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5"/>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4.4.3 Phase Reengineering Model</a:t>
            </a:r>
            <a:endParaRPr/>
          </a:p>
        </p:txBody>
      </p:sp>
      <p:sp>
        <p:nvSpPr>
          <p:cNvPr id="331" name="Google Shape;331;p35"/>
          <p:cNvSpPr txBox="1">
            <a:spLocks noGrp="1"/>
          </p:cNvSpPr>
          <p:nvPr>
            <p:ph type="body" idx="4294967295"/>
          </p:nvPr>
        </p:nvSpPr>
        <p:spPr>
          <a:xfrm>
            <a:off x="66675" y="660400"/>
            <a:ext cx="8812213" cy="43497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chemeClr val="hlink"/>
              </a:buClr>
              <a:buSzPts val="1800"/>
              <a:buFont typeface="Times New Roman"/>
              <a:buNone/>
            </a:pPr>
            <a:r>
              <a:rPr lang="en-US" b="1" u="sng">
                <a:solidFill>
                  <a:schemeClr val="hlink"/>
                </a:solidFill>
              </a:rPr>
              <a:t>Acceptance and system transition</a:t>
            </a:r>
            <a:r>
              <a:rPr lang="en-US" sz="2000" b="1" u="sng">
                <a:solidFill>
                  <a:schemeClr val="hlink"/>
                </a:solidFill>
              </a:rPr>
              <a: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In this final phase, the reengineered system is evaluated by performing acceptance testing.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Acceptance criteria should already have been established in the beginning of the project.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Should the reengineered system pass those tests, preparation begins to transition to the new system.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On the other hand, if the reengineered system fails some tests, the faults must be fixed; in some cases, those faults are fixed after the target system is deployed.</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Upon completion of the acceptance tests, the reengineered system is made operational, and the old system is put out of service.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System transition is guided by the prior developed transition plan.</a:t>
            </a:r>
            <a:endParaRPr sz="2000" b="1" u="sng"/>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39" name="Google Shape;339;p36"/>
          <p:cNvSpPr txBox="1">
            <a:spLocks noGrp="1"/>
          </p:cNvSpPr>
          <p:nvPr>
            <p:ph type="body" idx="4294967295"/>
          </p:nvPr>
        </p:nvSpPr>
        <p:spPr>
          <a:xfrm>
            <a:off x="130175" y="660400"/>
            <a:ext cx="8848725" cy="5746750"/>
          </a:xfrm>
          <a:prstGeom prst="rect">
            <a:avLst/>
          </a:prstGeom>
          <a:noFill/>
          <a:ln>
            <a:noFill/>
          </a:ln>
        </p:spPr>
        <p:txBody>
          <a:bodyPr spcFirstLastPara="1" wrap="square" lIns="92075" tIns="46025" rIns="92075" bIns="46025" anchor="t" anchorCtr="0">
            <a:noAutofit/>
          </a:bodyPr>
          <a:lstStyle/>
          <a:p>
            <a:pPr marL="495300" lvl="0" indent="-495300" algn="l" rtl="0">
              <a:lnSpc>
                <a:spcPct val="90000"/>
              </a:lnSpc>
              <a:spcBef>
                <a:spcPts val="0"/>
              </a:spcBef>
              <a:spcAft>
                <a:spcPts val="0"/>
              </a:spcAft>
              <a:buClr>
                <a:srgbClr val="000000"/>
              </a:buClr>
              <a:buSzPts val="1500"/>
              <a:buFont typeface="Times New Roman"/>
              <a:buChar char="•"/>
            </a:pPr>
            <a:r>
              <a:rPr lang="en-US" sz="2000"/>
              <a:t>Reverse engineering was first applied in electrical engineering to produce schematics from an electrical circuit.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It was defined as the process of developing a set of specifications for a complex hardware system by an orderly examination of specimens of that system. </a:t>
            </a:r>
            <a:endParaRPr/>
          </a:p>
          <a:p>
            <a:pPr marL="495300" lvl="0" indent="-495300" algn="l" rtl="0">
              <a:lnSpc>
                <a:spcPct val="90000"/>
              </a:lnSpc>
              <a:spcBef>
                <a:spcPts val="600"/>
              </a:spcBef>
              <a:spcAft>
                <a:spcPts val="0"/>
              </a:spcAft>
              <a:buClr>
                <a:srgbClr val="000000"/>
              </a:buClr>
              <a:buSzPts val="1500"/>
              <a:buFont typeface="Times New Roman"/>
              <a:buChar char="•"/>
            </a:pPr>
            <a:r>
              <a:rPr lang="en-US" sz="2000"/>
              <a:t>In the context of software engineering, Chikofsky and Cross II defined reverse engineering as a process to:</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  identify the components of an operational software. </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(ii) identify the relationships among those components.</a:t>
            </a:r>
            <a:endParaRPr/>
          </a:p>
          <a:p>
            <a:pPr marL="869950" lvl="1" indent="-412750" algn="l" rtl="0">
              <a:lnSpc>
                <a:spcPct val="90000"/>
              </a:lnSpc>
              <a:spcBef>
                <a:spcPts val="540"/>
              </a:spcBef>
              <a:spcAft>
                <a:spcPts val="0"/>
              </a:spcAft>
              <a:buClr>
                <a:schemeClr val="dk2"/>
              </a:buClr>
              <a:buSzPts val="1800"/>
              <a:buFont typeface="Times New Roman"/>
              <a:buNone/>
            </a:pPr>
            <a:r>
              <a:rPr lang="en-US" sz="1800"/>
              <a:t>(iii) represent the system at a higher level of abstraction or in another form. </a:t>
            </a:r>
            <a:endParaRPr/>
          </a:p>
          <a:p>
            <a:pPr marL="495300" lvl="0" indent="-495300" algn="l" rtl="0">
              <a:lnSpc>
                <a:spcPct val="90000"/>
              </a:lnSpc>
              <a:spcBef>
                <a:spcPts val="720"/>
              </a:spcBef>
              <a:spcAft>
                <a:spcPts val="0"/>
              </a:spcAft>
              <a:buClr>
                <a:srgbClr val="000000"/>
              </a:buClr>
              <a:buSzPts val="1500"/>
              <a:buFont typeface="Times New Roman"/>
              <a:buChar char="•"/>
            </a:pPr>
            <a:r>
              <a:rPr lang="en-US" sz="2000"/>
              <a:t>Reverse engineering is performed to achieve two key objectives:</a:t>
            </a:r>
            <a:r>
              <a:rPr lang="en-US"/>
              <a:t> </a:t>
            </a:r>
            <a:endParaRPr/>
          </a:p>
          <a:p>
            <a:pPr marL="869950" lvl="1" indent="-412750" algn="l" rtl="0">
              <a:lnSpc>
                <a:spcPct val="90000"/>
              </a:lnSpc>
              <a:spcBef>
                <a:spcPts val="600"/>
              </a:spcBef>
              <a:spcAft>
                <a:spcPts val="0"/>
              </a:spcAft>
              <a:buClr>
                <a:schemeClr val="dk2"/>
              </a:buClr>
              <a:buSzPts val="2000"/>
              <a:buFont typeface="Times New Roman"/>
              <a:buChar char="–"/>
            </a:pPr>
            <a:r>
              <a:rPr lang="en-US"/>
              <a:t>redocumentation of artifacts</a:t>
            </a:r>
            <a:endParaRPr/>
          </a:p>
          <a:p>
            <a:pPr marL="1327150" lvl="2" indent="-412750" algn="l" rtl="0">
              <a:lnSpc>
                <a:spcPct val="90000"/>
              </a:lnSpc>
              <a:spcBef>
                <a:spcPts val="600"/>
              </a:spcBef>
              <a:spcAft>
                <a:spcPts val="0"/>
              </a:spcAft>
              <a:buClr>
                <a:srgbClr val="663300"/>
              </a:buClr>
              <a:buSzPts val="2000"/>
              <a:buFont typeface="Times New Roman"/>
              <a:buChar char="•"/>
            </a:pPr>
            <a:r>
              <a:rPr lang="en-US"/>
              <a:t>It aims at revising the current description of components or generating alternative views at the same abstraction level. Examples of redocumentation are pretty printing and drawing CFGs.</a:t>
            </a:r>
            <a:endParaRPr/>
          </a:p>
          <a:p>
            <a:pPr marL="869950" lvl="1" indent="-412750" algn="l" rtl="0">
              <a:lnSpc>
                <a:spcPct val="90000"/>
              </a:lnSpc>
              <a:spcBef>
                <a:spcPts val="600"/>
              </a:spcBef>
              <a:spcAft>
                <a:spcPts val="0"/>
              </a:spcAft>
              <a:buClr>
                <a:schemeClr val="dk2"/>
              </a:buClr>
              <a:buSzPts val="2000"/>
              <a:buFont typeface="Times New Roman"/>
              <a:buChar char="–"/>
            </a:pPr>
            <a:r>
              <a:rPr lang="en-US"/>
              <a:t>design recovery</a:t>
            </a:r>
            <a:endParaRPr/>
          </a:p>
          <a:p>
            <a:pPr marL="1327150" lvl="2" indent="-412750" algn="l" rtl="0">
              <a:lnSpc>
                <a:spcPct val="90000"/>
              </a:lnSpc>
              <a:spcBef>
                <a:spcPts val="600"/>
              </a:spcBef>
              <a:spcAft>
                <a:spcPts val="0"/>
              </a:spcAft>
              <a:buClr>
                <a:srgbClr val="663300"/>
              </a:buClr>
              <a:buSzPts val="2000"/>
              <a:buFont typeface="Times New Roman"/>
              <a:buChar char="•"/>
            </a:pPr>
            <a:r>
              <a:rPr lang="en-US"/>
              <a:t>It creates design abstractions from code, expert knowledge, and existing documentation.</a:t>
            </a:r>
            <a:endParaRPr>
              <a:solidFill>
                <a:srgbClr val="00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47" name="Google Shape;347;p37"/>
          <p:cNvSpPr txBox="1">
            <a:spLocks noGrp="1"/>
          </p:cNvSpPr>
          <p:nvPr>
            <p:ph type="body" idx="4294967295"/>
          </p:nvPr>
        </p:nvSpPr>
        <p:spPr>
          <a:xfrm>
            <a:off x="130175" y="660400"/>
            <a:ext cx="8848725" cy="7810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The relationship between forward engineering, reengineering, and reverse engineering is shown in Figure 4.10</a:t>
            </a:r>
            <a:endParaRPr/>
          </a:p>
          <a:p>
            <a:pPr marL="457200" lvl="0" indent="-457200" algn="l" rtl="0">
              <a:lnSpc>
                <a:spcPct val="90000"/>
              </a:lnSpc>
              <a:spcBef>
                <a:spcPts val="600"/>
              </a:spcBef>
              <a:spcAft>
                <a:spcPts val="0"/>
              </a:spcAft>
              <a:buClr>
                <a:srgbClr val="000000"/>
              </a:buClr>
              <a:buSzPts val="1500"/>
              <a:buFont typeface="Times New Roman"/>
              <a:buNone/>
            </a:pPr>
            <a:endParaRPr sz="2000">
              <a:solidFill>
                <a:srgbClr val="0000FF"/>
              </a:solidFill>
            </a:endParaRPr>
          </a:p>
        </p:txBody>
      </p:sp>
      <p:pic>
        <p:nvPicPr>
          <p:cNvPr id="348" name="Google Shape;348;p37"/>
          <p:cNvPicPr preferRelativeResize="0"/>
          <p:nvPr/>
        </p:nvPicPr>
        <p:blipFill rotWithShape="1">
          <a:blip r:embed="rId3">
            <a:alphaModFix/>
          </a:blip>
          <a:srcRect/>
          <a:stretch/>
        </p:blipFill>
        <p:spPr>
          <a:xfrm>
            <a:off x="396875" y="1327150"/>
            <a:ext cx="8308975" cy="4865688"/>
          </a:xfrm>
          <a:prstGeom prst="rect">
            <a:avLst/>
          </a:prstGeom>
          <a:noFill/>
          <a:ln>
            <a:noFill/>
          </a:ln>
        </p:spPr>
      </p:pic>
      <p:sp>
        <p:nvSpPr>
          <p:cNvPr id="349" name="Google Shape;349;p37"/>
          <p:cNvSpPr/>
          <p:nvPr/>
        </p:nvSpPr>
        <p:spPr>
          <a:xfrm>
            <a:off x="269875" y="6064250"/>
            <a:ext cx="8683625"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a:solidFill>
                  <a:srgbClr val="3333FF"/>
                </a:solidFill>
                <a:latin typeface="Times New Roman"/>
                <a:ea typeface="Times New Roman"/>
                <a:cs typeface="Times New Roman"/>
                <a:sym typeface="Times New Roman"/>
              </a:rPr>
              <a:t>Figure 4.10 Relationship between reengineering and reverse engineering ©IEEE, 1990</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57" name="Google Shape;357;p38"/>
          <p:cNvSpPr txBox="1">
            <a:spLocks noGrp="1"/>
          </p:cNvSpPr>
          <p:nvPr>
            <p:ph type="body" idx="4294967295"/>
          </p:nvPr>
        </p:nvSpPr>
        <p:spPr>
          <a:xfrm>
            <a:off x="130175" y="660400"/>
            <a:ext cx="8848725" cy="57848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Six objectives of reverse engineering, as identified by Chikofsky and Cross II:</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generating alternative views.</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recovering lost information.</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synthesizing higher levels of abstractions.</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detecting side effects.</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facilitating reuse.</a:t>
            </a:r>
            <a:endParaRPr/>
          </a:p>
          <a:p>
            <a:pPr marL="838200" lvl="1" indent="-381000" algn="l" rtl="0">
              <a:lnSpc>
                <a:spcPct val="90000"/>
              </a:lnSpc>
              <a:spcBef>
                <a:spcPts val="540"/>
              </a:spcBef>
              <a:spcAft>
                <a:spcPts val="0"/>
              </a:spcAft>
              <a:buClr>
                <a:schemeClr val="dk2"/>
              </a:buClr>
              <a:buSzPts val="1800"/>
              <a:buFont typeface="Times New Roman"/>
              <a:buChar char="–"/>
            </a:pPr>
            <a:r>
              <a:rPr lang="en-US" sz="1800"/>
              <a:t>coping with complexity.</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Six key steps in reverse engineering, as documented in the IEEE Standard for Software Maintenance, are:</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partition source code into units.</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describe the meanings of those units and identify the functional units.</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create the input and output schematics of the units identified before.</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describe the connected units.</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describe the system application.</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create an internal structure of the system.</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first three of the six steps involve local analysis, the rest involve global analysis.</a:t>
            </a:r>
            <a:endParaRPr sz="1800">
              <a:solidFill>
                <a:srgbClr val="0000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9"/>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65" name="Google Shape;365;p39"/>
          <p:cNvSpPr txBox="1">
            <a:spLocks noGrp="1"/>
          </p:cNvSpPr>
          <p:nvPr>
            <p:ph type="body" idx="4294967295"/>
          </p:nvPr>
        </p:nvSpPr>
        <p:spPr>
          <a:xfrm>
            <a:off x="130175" y="1219200"/>
            <a:ext cx="4784725" cy="47942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None/>
            </a:pPr>
            <a:r>
              <a:rPr lang="en-US" sz="2000"/>
              <a:t>• redocumenting programs </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identifying reusable assets</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discovering design architectures, </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recovering design patterns</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building traceability between code and documentation</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finding objects in procedural programs </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deriving conceptual data models</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detecting duplications and clones </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cleaning up code smells</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aspect-oriented software development </a:t>
            </a:r>
            <a:endParaRPr/>
          </a:p>
          <a:p>
            <a:pPr marL="457200" lvl="0" indent="-457200" algn="l" rtl="0">
              <a:lnSpc>
                <a:spcPct val="90000"/>
              </a:lnSpc>
              <a:spcBef>
                <a:spcPts val="600"/>
              </a:spcBef>
              <a:spcAft>
                <a:spcPts val="0"/>
              </a:spcAft>
              <a:buClr>
                <a:srgbClr val="000000"/>
              </a:buClr>
              <a:buSzPts val="1500"/>
              <a:buFont typeface="Times New Roman"/>
              <a:buNone/>
            </a:pPr>
            <a:r>
              <a:rPr lang="en-US" sz="2000"/>
              <a:t>• computing change impact</a:t>
            </a:r>
            <a:endParaRPr/>
          </a:p>
          <a:p>
            <a:pPr marL="838200" lvl="1" indent="-381000" algn="l" rtl="0">
              <a:lnSpc>
                <a:spcPct val="90000"/>
              </a:lnSpc>
              <a:spcBef>
                <a:spcPts val="600"/>
              </a:spcBef>
              <a:spcAft>
                <a:spcPts val="0"/>
              </a:spcAft>
              <a:buClr>
                <a:schemeClr val="dk2"/>
              </a:buClr>
              <a:buSzPts val="2000"/>
              <a:buFont typeface="Times New Roman"/>
              <a:buNone/>
            </a:pPr>
            <a:endParaRPr/>
          </a:p>
        </p:txBody>
      </p:sp>
      <p:sp>
        <p:nvSpPr>
          <p:cNvPr id="366" name="Google Shape;366;p39"/>
          <p:cNvSpPr/>
          <p:nvPr/>
        </p:nvSpPr>
        <p:spPr>
          <a:xfrm>
            <a:off x="190500" y="693738"/>
            <a:ext cx="8407400" cy="366712"/>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n-US" sz="2000" b="0">
                <a:solidFill>
                  <a:srgbClr val="000000"/>
                </a:solidFill>
                <a:latin typeface="Times New Roman"/>
                <a:ea typeface="Times New Roman"/>
                <a:cs typeface="Times New Roman"/>
                <a:sym typeface="Times New Roman"/>
              </a:rPr>
              <a:t>Reverse engineering has been effectively applied in the following problem areas:</a:t>
            </a:r>
            <a:endParaRPr/>
          </a:p>
        </p:txBody>
      </p:sp>
      <p:sp>
        <p:nvSpPr>
          <p:cNvPr id="367" name="Google Shape;367;p39"/>
          <p:cNvSpPr/>
          <p:nvPr/>
        </p:nvSpPr>
        <p:spPr>
          <a:xfrm>
            <a:off x="4308475" y="1231900"/>
            <a:ext cx="4645025" cy="47942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transforming binary code into source code</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redesigning user interfaces </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parallelizing largely sequential programs</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translating a program to another language</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migrating data </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extracting business rules</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wrapping legacy code</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auditing security and vulnerability</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extracting protocols of network applications</a:t>
            </a:r>
            <a:endParaRPr/>
          </a:p>
          <a:p>
            <a:pPr marL="838200" marR="0" lvl="1" indent="-381000" algn="l" rtl="0">
              <a:lnSpc>
                <a:spcPct val="90000"/>
              </a:lnSpc>
              <a:spcBef>
                <a:spcPts val="540"/>
              </a:spcBef>
              <a:spcAft>
                <a:spcPts val="0"/>
              </a:spcAft>
              <a:buClr>
                <a:schemeClr val="dk2"/>
              </a:buClr>
              <a:buSzPts val="1800"/>
              <a:buFont typeface="Times New Roman"/>
              <a:buNone/>
            </a:pPr>
            <a:endParaRPr sz="1800" b="0" i="0" u="none"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75" name="Google Shape;375;p40"/>
          <p:cNvSpPr/>
          <p:nvPr/>
        </p:nvSpPr>
        <p:spPr>
          <a:xfrm>
            <a:off x="231775" y="3898900"/>
            <a:ext cx="8494713" cy="25336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
        <p:nvSpPr>
          <p:cNvPr id="376" name="Google Shape;376;p40"/>
          <p:cNvSpPr/>
          <p:nvPr/>
        </p:nvSpPr>
        <p:spPr>
          <a:xfrm>
            <a:off x="190500" y="741363"/>
            <a:ext cx="8839200" cy="2835275"/>
          </a:xfrm>
          <a:prstGeom prst="rect">
            <a:avLst/>
          </a:prstGeom>
          <a:noFill/>
          <a:ln>
            <a:noFill/>
          </a:ln>
        </p:spPr>
        <p:txBody>
          <a:bodyPr spcFirstLastPara="1" wrap="square" lIns="91425" tIns="45700" rIns="91425" bIns="45700" anchor="t" anchorCtr="0">
            <a:spAutoFit/>
          </a:bodyPr>
          <a:lstStyle/>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A high level organizational paradigm is found to be useful while setting up a reverse engineering process, as advocated by Benedusi et al. </a:t>
            </a:r>
            <a:endParaRPr/>
          </a:p>
          <a:p>
            <a:pPr marL="412750" marR="0" lvl="0" indent="-285750" algn="l" rtl="0">
              <a:spcBef>
                <a:spcPts val="0"/>
              </a:spcBef>
              <a:spcAft>
                <a:spcPts val="0"/>
              </a:spcAft>
              <a:buClr>
                <a:srgbClr val="FAFD00"/>
              </a:buClr>
              <a:buSzPts val="2000"/>
              <a:buFont typeface="Times New Roman"/>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The high level paradigm plays two roles: </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 define a framework to use the available methods and tools, and</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(ii) allow the process to be repetitive. </a:t>
            </a:r>
            <a:endParaRPr/>
          </a:p>
          <a:p>
            <a:pPr marL="869950" marR="0" lvl="1" indent="-412750" algn="l" rtl="0">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The paradigm, namely, </a:t>
            </a:r>
            <a:r>
              <a:rPr lang="en-US" sz="2000" b="1">
                <a:solidFill>
                  <a:srgbClr val="3333FF"/>
                </a:solidFill>
                <a:latin typeface="Times New Roman"/>
                <a:ea typeface="Times New Roman"/>
                <a:cs typeface="Times New Roman"/>
                <a:sym typeface="Times New Roman"/>
              </a:rPr>
              <a:t>Goals/Models/Tools</a:t>
            </a:r>
            <a:r>
              <a:rPr lang="en-US" sz="2000" b="0">
                <a:solidFill>
                  <a:srgbClr val="000000"/>
                </a:solidFill>
                <a:latin typeface="Times New Roman"/>
                <a:ea typeface="Times New Roman"/>
                <a:cs typeface="Times New Roman"/>
                <a:sym typeface="Times New Roman"/>
              </a:rPr>
              <a:t>, which partitions a process for reverse engineering into three ordered stages: </a:t>
            </a:r>
            <a:r>
              <a:rPr lang="en-US" sz="2000" b="1">
                <a:solidFill>
                  <a:srgbClr val="3333FF"/>
                </a:solidFill>
                <a:latin typeface="Times New Roman"/>
                <a:ea typeface="Times New Roman"/>
                <a:cs typeface="Times New Roman"/>
                <a:sym typeface="Times New Roman"/>
              </a:rPr>
              <a:t>Goals, Models, and Tools.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1"/>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84" name="Google Shape;384;p41"/>
          <p:cNvSpPr/>
          <p:nvPr/>
        </p:nvSpPr>
        <p:spPr>
          <a:xfrm>
            <a:off x="231775" y="3898900"/>
            <a:ext cx="8494713" cy="25336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
        <p:nvSpPr>
          <p:cNvPr id="385" name="Google Shape;385;p41"/>
          <p:cNvSpPr/>
          <p:nvPr/>
        </p:nvSpPr>
        <p:spPr>
          <a:xfrm>
            <a:off x="190500" y="741363"/>
            <a:ext cx="8839200" cy="4786312"/>
          </a:xfrm>
          <a:prstGeom prst="rect">
            <a:avLst/>
          </a:prstGeom>
          <a:noFill/>
          <a:ln>
            <a:noFill/>
          </a:ln>
        </p:spPr>
        <p:txBody>
          <a:bodyPr spcFirstLastPara="1" wrap="square" lIns="91425" tIns="45700" rIns="91425" bIns="45700" anchor="t" anchorCtr="0">
            <a:spAutoFit/>
          </a:bodyPr>
          <a:lstStyle/>
          <a:p>
            <a:pPr marL="412750" marR="0" lvl="0" indent="-412750" algn="l" rtl="0">
              <a:spcBef>
                <a:spcPts val="0"/>
              </a:spcBef>
              <a:spcAft>
                <a:spcPts val="0"/>
              </a:spcAft>
              <a:buNone/>
            </a:pPr>
            <a:r>
              <a:rPr lang="en-US" sz="2800" b="1" u="sng">
                <a:solidFill>
                  <a:srgbClr val="3333FF"/>
                </a:solidFill>
                <a:latin typeface="Times New Roman"/>
                <a:ea typeface="Times New Roman"/>
                <a:cs typeface="Times New Roman"/>
                <a:sym typeface="Times New Roman"/>
              </a:rPr>
              <a:t>Goals:</a:t>
            </a:r>
            <a:r>
              <a:rPr lang="en-US" sz="2000" b="0">
                <a:solidFill>
                  <a:srgbClr val="000000"/>
                </a:solidFill>
                <a:latin typeface="Times New Roman"/>
                <a:ea typeface="Times New Roman"/>
                <a:cs typeface="Times New Roman"/>
                <a:sym typeface="Times New Roman"/>
              </a:rPr>
              <a:t> </a:t>
            </a:r>
            <a:endParaRPr/>
          </a:p>
          <a:p>
            <a:pPr marL="412750" marR="0" lvl="0" indent="-412750" algn="l" rtl="0">
              <a:spcBef>
                <a:spcPts val="0"/>
              </a:spcBef>
              <a:spcAft>
                <a:spcPts val="0"/>
              </a:spcAft>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In this phase, the reasons for setting up a process for reverse engineering are identified and analyzed. </a:t>
            </a:r>
            <a:endParaRPr/>
          </a:p>
          <a:p>
            <a:pPr marL="412750" marR="0" lvl="0" indent="-285750" algn="l" rtl="0">
              <a:spcBef>
                <a:spcPts val="0"/>
              </a:spcBef>
              <a:spcAft>
                <a:spcPts val="0"/>
              </a:spcAft>
              <a:buClr>
                <a:srgbClr val="FAFD00"/>
              </a:buClr>
              <a:buSzPts val="2000"/>
              <a:buFont typeface="Times New Roman"/>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Analyses are performed to identify the information needs of the process and the</a:t>
            </a:r>
            <a:endParaRPr/>
          </a:p>
          <a:p>
            <a:pPr marL="412750" marR="0" lvl="0" indent="-412750" algn="l" rtl="0">
              <a:spcBef>
                <a:spcPts val="0"/>
              </a:spcBef>
              <a:spcAft>
                <a:spcPts val="0"/>
              </a:spcAft>
              <a:buNone/>
            </a:pPr>
            <a:r>
              <a:rPr lang="en-US" sz="2000" b="0">
                <a:solidFill>
                  <a:srgbClr val="000000"/>
                </a:solidFill>
                <a:latin typeface="Times New Roman"/>
                <a:ea typeface="Times New Roman"/>
                <a:cs typeface="Times New Roman"/>
                <a:sym typeface="Times New Roman"/>
              </a:rPr>
              <a:t>abstractions to be created by the process. </a:t>
            </a:r>
            <a:endParaRPr/>
          </a:p>
          <a:p>
            <a:pPr marL="412750" marR="0" lvl="0" indent="-412750" algn="l" rtl="0">
              <a:spcBef>
                <a:spcPts val="0"/>
              </a:spcBef>
              <a:spcAft>
                <a:spcPts val="0"/>
              </a:spcAft>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The team setting up the process first acquires a good understanding of the forward engineering activities and the environment where the products of the reverse engineering process will be used. </a:t>
            </a:r>
            <a:endParaRPr/>
          </a:p>
          <a:p>
            <a:pPr marL="412750" marR="0" lvl="0" indent="-285750" algn="l" rtl="0">
              <a:spcBef>
                <a:spcPts val="0"/>
              </a:spcBef>
              <a:spcAft>
                <a:spcPts val="0"/>
              </a:spcAft>
              <a:buClr>
                <a:srgbClr val="FAFD00"/>
              </a:buClr>
              <a:buSzPts val="2000"/>
              <a:buFont typeface="Times New Roman"/>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Results of the aforementioned comprehension are used to accurately identify: </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  the information to be generated.</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(ii) the formalisms to be used to represent the information.</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393" name="Google Shape;393;p42"/>
          <p:cNvSpPr/>
          <p:nvPr/>
        </p:nvSpPr>
        <p:spPr>
          <a:xfrm>
            <a:off x="231775" y="3898900"/>
            <a:ext cx="8494713" cy="25336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
        <p:nvSpPr>
          <p:cNvPr id="394" name="Google Shape;394;p42"/>
          <p:cNvSpPr/>
          <p:nvPr/>
        </p:nvSpPr>
        <p:spPr>
          <a:xfrm>
            <a:off x="190500" y="741363"/>
            <a:ext cx="8953500" cy="5091112"/>
          </a:xfrm>
          <a:prstGeom prst="rect">
            <a:avLst/>
          </a:prstGeom>
          <a:noFill/>
          <a:ln>
            <a:noFill/>
          </a:ln>
        </p:spPr>
        <p:txBody>
          <a:bodyPr spcFirstLastPara="1" wrap="square" lIns="91425" tIns="45700" rIns="91425" bIns="45700" anchor="t" anchorCtr="0">
            <a:spAutoFit/>
          </a:bodyPr>
          <a:lstStyle/>
          <a:p>
            <a:pPr marL="412750" marR="0" lvl="0" indent="-412750" algn="l" rtl="0">
              <a:spcBef>
                <a:spcPts val="0"/>
              </a:spcBef>
              <a:spcAft>
                <a:spcPts val="0"/>
              </a:spcAft>
              <a:buNone/>
            </a:pPr>
            <a:r>
              <a:rPr lang="en-US" sz="2800" b="1" u="sng">
                <a:solidFill>
                  <a:srgbClr val="3333FF"/>
                </a:solidFill>
                <a:latin typeface="Times New Roman"/>
                <a:ea typeface="Times New Roman"/>
                <a:cs typeface="Times New Roman"/>
                <a:sym typeface="Times New Roman"/>
              </a:rPr>
              <a:t>Models:</a:t>
            </a:r>
            <a:r>
              <a:rPr lang="en-US" sz="2000" b="0">
                <a:solidFill>
                  <a:srgbClr val="000000"/>
                </a:solidFill>
                <a:latin typeface="Times New Roman"/>
                <a:ea typeface="Times New Roman"/>
                <a:cs typeface="Times New Roman"/>
                <a:sym typeface="Times New Roman"/>
              </a:rPr>
              <a:t> </a:t>
            </a:r>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In this phase, the abstractions identified in the Goals stage are analyzed to create</a:t>
            </a:r>
            <a:endParaRPr/>
          </a:p>
          <a:p>
            <a:pPr marL="412750" marR="0" lvl="0" indent="-412750" algn="l" rtl="0">
              <a:spcBef>
                <a:spcPts val="0"/>
              </a:spcBef>
              <a:spcAft>
                <a:spcPts val="0"/>
              </a:spcAft>
              <a:buNone/>
            </a:pPr>
            <a:r>
              <a:rPr lang="en-US" sz="2000" b="0">
                <a:solidFill>
                  <a:srgbClr val="000000"/>
                </a:solidFill>
                <a:latin typeface="Times New Roman"/>
                <a:ea typeface="Times New Roman"/>
                <a:cs typeface="Times New Roman"/>
                <a:sym typeface="Times New Roman"/>
              </a:rPr>
              <a:t>representation models. </a:t>
            </a:r>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Representation models include information required for the generation of abstractions. </a:t>
            </a:r>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Activities in this phase are:</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identify the kinds of documents to be generated.</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to produce those documents, identify the information and their relations to be </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derived from source code.</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define the models to be used to represent the information and their relationships </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extracted from source code.</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to produce the desired documents from those models, define the abstraction </a:t>
            </a:r>
            <a:endParaRPr/>
          </a:p>
          <a:p>
            <a:pPr marL="869950" marR="0" lvl="1"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algorithm for reverse engineering.</a:t>
            </a:r>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a:t>
            </a:r>
            <a:r>
              <a:rPr lang="en-US" sz="2000" b="0">
                <a:solidFill>
                  <a:srgbClr val="FF9900"/>
                </a:solidFill>
                <a:latin typeface="Times New Roman"/>
                <a:ea typeface="Times New Roman"/>
                <a:cs typeface="Times New Roman"/>
                <a:sym typeface="Times New Roman"/>
              </a:rPr>
              <a:t>The important properties of a reverse engineering model are: expressive power, language independence, compactness, richness of information content, granularity, and support for information preserving transformation.</a:t>
            </a:r>
            <a:endParaRPr>
              <a:solidFill>
                <a:srgbClr val="FF99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4.5 Code Reverse Engineering</a:t>
            </a:r>
            <a:endParaRPr/>
          </a:p>
        </p:txBody>
      </p:sp>
      <p:sp>
        <p:nvSpPr>
          <p:cNvPr id="402" name="Google Shape;402;p43"/>
          <p:cNvSpPr/>
          <p:nvPr/>
        </p:nvSpPr>
        <p:spPr>
          <a:xfrm>
            <a:off x="231775" y="3898900"/>
            <a:ext cx="8494713" cy="25336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
        <p:nvSpPr>
          <p:cNvPr id="403" name="Google Shape;403;p43"/>
          <p:cNvSpPr/>
          <p:nvPr/>
        </p:nvSpPr>
        <p:spPr>
          <a:xfrm>
            <a:off x="190500" y="741363"/>
            <a:ext cx="8953500" cy="4786312"/>
          </a:xfrm>
          <a:prstGeom prst="rect">
            <a:avLst/>
          </a:prstGeom>
          <a:noFill/>
          <a:ln>
            <a:noFill/>
          </a:ln>
        </p:spPr>
        <p:txBody>
          <a:bodyPr spcFirstLastPara="1" wrap="square" lIns="91425" tIns="45700" rIns="91425" bIns="45700" anchor="t" anchorCtr="0">
            <a:spAutoFit/>
          </a:bodyPr>
          <a:lstStyle/>
          <a:p>
            <a:pPr marL="412750" marR="0" lvl="0" indent="-412750" algn="l" rtl="0">
              <a:spcBef>
                <a:spcPts val="0"/>
              </a:spcBef>
              <a:spcAft>
                <a:spcPts val="0"/>
              </a:spcAft>
              <a:buNone/>
            </a:pPr>
            <a:r>
              <a:rPr lang="en-US" sz="2800" b="1" u="sng">
                <a:solidFill>
                  <a:srgbClr val="3333FF"/>
                </a:solidFill>
                <a:latin typeface="Times New Roman"/>
                <a:ea typeface="Times New Roman"/>
                <a:cs typeface="Times New Roman"/>
                <a:sym typeface="Times New Roman"/>
              </a:rPr>
              <a:t>Tools:</a:t>
            </a:r>
            <a:r>
              <a:rPr lang="en-US" sz="2000" b="0">
                <a:solidFill>
                  <a:srgbClr val="000000"/>
                </a:solidFill>
                <a:latin typeface="Times New Roman"/>
                <a:ea typeface="Times New Roman"/>
                <a:cs typeface="Times New Roman"/>
                <a:sym typeface="Times New Roman"/>
              </a:rPr>
              <a:t> </a:t>
            </a:r>
            <a:endParaRPr/>
          </a:p>
          <a:p>
            <a:pPr marL="412750" marR="0" lvl="0" indent="-412750" algn="l" rtl="0">
              <a:spcBef>
                <a:spcPts val="0"/>
              </a:spcBef>
              <a:spcAft>
                <a:spcPts val="0"/>
              </a:spcAft>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In this phase, tools needed for reverse engineering are identified, acquired, and/or developed in-house. </a:t>
            </a:r>
            <a:endParaRPr/>
          </a:p>
          <a:p>
            <a:pPr marL="412750" marR="0" lvl="0" indent="-285750" algn="l" rtl="0">
              <a:spcBef>
                <a:spcPts val="0"/>
              </a:spcBef>
              <a:spcAft>
                <a:spcPts val="0"/>
              </a:spcAft>
              <a:buClr>
                <a:srgbClr val="FAFD00"/>
              </a:buClr>
              <a:buSzPts val="2000"/>
              <a:buFont typeface="Times New Roman"/>
              <a:buNone/>
            </a:pPr>
            <a:endParaRPr sz="2000" b="0">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Those tools are grouped into two categories: </a:t>
            </a:r>
            <a:endParaRPr/>
          </a:p>
          <a:p>
            <a:pPr marL="1327150" marR="0" lvl="2"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 tools to extract information and generate program representations</a:t>
            </a:r>
            <a:endParaRPr/>
          </a:p>
          <a:p>
            <a:pPr marL="1327150" marR="0" lvl="2"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according to the identified models.</a:t>
            </a:r>
            <a:endParaRPr/>
          </a:p>
          <a:p>
            <a:pPr marL="1327150" marR="0" lvl="2"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(ii) tools to extract information and produce the required documents.</a:t>
            </a:r>
            <a:endParaRPr/>
          </a:p>
          <a:p>
            <a:pPr marL="1327150" marR="0" lvl="2"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Extraction tools generally work on source code to reconstruct design</a:t>
            </a:r>
            <a:endParaRPr/>
          </a:p>
          <a:p>
            <a:pPr marL="1327150" marR="0" lvl="2" indent="-412750" algn="l" rtl="0">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documents. </a:t>
            </a:r>
            <a:endParaRPr/>
          </a:p>
          <a:p>
            <a:pPr marL="1327150" marR="0" lvl="2" indent="-412750" algn="l" rtl="0">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a:p>
            <a:pPr marL="412750" marR="0" lvl="0" indent="-412750" algn="l" rtl="0">
              <a:spcBef>
                <a:spcPts val="0"/>
              </a:spcBef>
              <a:spcAft>
                <a:spcPts val="0"/>
              </a:spcAft>
              <a:buClr>
                <a:srgbClr val="000000"/>
              </a:buClr>
              <a:buSzPts val="2000"/>
              <a:buFont typeface="Times New Roman"/>
              <a:buChar char="•"/>
            </a:pPr>
            <a:r>
              <a:rPr lang="en-US" sz="2000" b="0">
                <a:solidFill>
                  <a:srgbClr val="000000"/>
                </a:solidFill>
                <a:latin typeface="Times New Roman"/>
                <a:ea typeface="Times New Roman"/>
                <a:cs typeface="Times New Roman"/>
                <a:sym typeface="Times New Roman"/>
              </a:rPr>
              <a:t> Therefore, those tools are ineffective in producing inputs for an abstraction process aiming to produce high-level design documents.</a:t>
            </a:r>
            <a:endParaRPr/>
          </a:p>
          <a:p>
            <a:pPr marL="412750" marR="0" lvl="0" indent="-285750" algn="l" rtl="0">
              <a:spcBef>
                <a:spcPts val="0"/>
              </a:spcBef>
              <a:spcAft>
                <a:spcPts val="0"/>
              </a:spcAft>
              <a:buClr>
                <a:srgbClr val="FAFD00"/>
              </a:buClr>
              <a:buSzPts val="2000"/>
              <a:buFont typeface="Times New Roman"/>
              <a:buNone/>
            </a:pPr>
            <a:endParaRPr sz="2000" b="0">
              <a:solidFill>
                <a:srgbClr val="00000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4.6 Techniques Used for Reverse Engineering</a:t>
            </a:r>
            <a:endParaRPr/>
          </a:p>
        </p:txBody>
      </p:sp>
      <p:sp>
        <p:nvSpPr>
          <p:cNvPr id="411" name="Google Shape;411;p44"/>
          <p:cNvSpPr txBox="1">
            <a:spLocks noGrp="1"/>
          </p:cNvSpPr>
          <p:nvPr>
            <p:ph type="body" idx="4294967295"/>
          </p:nvPr>
        </p:nvSpPr>
        <p:spPr>
          <a:xfrm>
            <a:off x="193675" y="660400"/>
            <a:ext cx="8966200" cy="42576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800"/>
              <a:buFont typeface="Times New Roman"/>
              <a:buChar char="•"/>
            </a:pPr>
            <a:r>
              <a:rPr lang="en-US"/>
              <a:t>The well-known analysis techniques that facilitate reverse engineering are: </a:t>
            </a:r>
            <a:endParaRPr/>
          </a:p>
          <a:p>
            <a:pPr marL="1714500" lvl="3" indent="-342900" algn="l" rtl="0">
              <a:lnSpc>
                <a:spcPct val="90000"/>
              </a:lnSpc>
              <a:spcBef>
                <a:spcPts val="600"/>
              </a:spcBef>
              <a:spcAft>
                <a:spcPts val="0"/>
              </a:spcAft>
              <a:buClr>
                <a:srgbClr val="000000"/>
              </a:buClr>
              <a:buSzPts val="2000"/>
              <a:buFont typeface="Times New Roman"/>
              <a:buAutoNum type="arabicPeriod"/>
            </a:pPr>
            <a:r>
              <a:rPr lang="en-US" sz="2000"/>
              <a:t>Lexical analysis.</a:t>
            </a:r>
            <a:endParaRPr/>
          </a:p>
          <a:p>
            <a:pPr marL="1714500" lvl="3" indent="-342900" algn="l" rtl="0">
              <a:lnSpc>
                <a:spcPct val="90000"/>
              </a:lnSpc>
              <a:spcBef>
                <a:spcPts val="600"/>
              </a:spcBef>
              <a:spcAft>
                <a:spcPts val="0"/>
              </a:spcAft>
              <a:buClr>
                <a:srgbClr val="000000"/>
              </a:buClr>
              <a:buSzPts val="2000"/>
              <a:buFont typeface="Times New Roman"/>
              <a:buAutoNum type="arabicPeriod"/>
            </a:pPr>
            <a:r>
              <a:rPr lang="en-US" sz="2000"/>
              <a:t>Syntactic analysis.</a:t>
            </a:r>
            <a:endParaRPr/>
          </a:p>
          <a:p>
            <a:pPr marL="1714500" lvl="3" indent="-342900" algn="l" rtl="0">
              <a:lnSpc>
                <a:spcPct val="90000"/>
              </a:lnSpc>
              <a:spcBef>
                <a:spcPts val="600"/>
              </a:spcBef>
              <a:spcAft>
                <a:spcPts val="0"/>
              </a:spcAft>
              <a:buClr>
                <a:srgbClr val="3333FF"/>
              </a:buClr>
              <a:buSzPts val="2000"/>
              <a:buFont typeface="Times New Roman"/>
              <a:buAutoNum type="arabicPeriod"/>
            </a:pPr>
            <a:r>
              <a:rPr lang="en-US" sz="2000">
                <a:solidFill>
                  <a:srgbClr val="3333FF"/>
                </a:solidFill>
              </a:rPr>
              <a:t>Control flow analysis. </a:t>
            </a:r>
            <a:endParaRPr/>
          </a:p>
          <a:p>
            <a:pPr marL="1714500" lvl="3" indent="-342900" algn="l" rtl="0">
              <a:lnSpc>
                <a:spcPct val="90000"/>
              </a:lnSpc>
              <a:spcBef>
                <a:spcPts val="600"/>
              </a:spcBef>
              <a:spcAft>
                <a:spcPts val="0"/>
              </a:spcAft>
              <a:buClr>
                <a:schemeClr val="hlink"/>
              </a:buClr>
              <a:buSzPts val="2000"/>
              <a:buFont typeface="Times New Roman"/>
              <a:buAutoNum type="arabicPeriod"/>
            </a:pPr>
            <a:r>
              <a:rPr lang="en-US" sz="2000">
                <a:solidFill>
                  <a:schemeClr val="hlink"/>
                </a:solidFill>
              </a:rPr>
              <a:t>Data flow analysis.</a:t>
            </a:r>
            <a:endParaRPr/>
          </a:p>
          <a:p>
            <a:pPr marL="1714500" lvl="3" indent="-342900" algn="l" rtl="0">
              <a:lnSpc>
                <a:spcPct val="90000"/>
              </a:lnSpc>
              <a:spcBef>
                <a:spcPts val="600"/>
              </a:spcBef>
              <a:spcAft>
                <a:spcPts val="0"/>
              </a:spcAft>
              <a:buClr>
                <a:schemeClr val="hlink"/>
              </a:buClr>
              <a:buSzPts val="2000"/>
              <a:buFont typeface="Times New Roman"/>
              <a:buAutoNum type="arabicPeriod"/>
            </a:pPr>
            <a:r>
              <a:rPr lang="en-US" sz="2000">
                <a:solidFill>
                  <a:schemeClr val="hlink"/>
                </a:solidFill>
              </a:rPr>
              <a:t>Program slicing. </a:t>
            </a:r>
            <a:endParaRPr/>
          </a:p>
          <a:p>
            <a:pPr marL="1714500" lvl="3" indent="-342900" algn="l" rtl="0">
              <a:lnSpc>
                <a:spcPct val="90000"/>
              </a:lnSpc>
              <a:spcBef>
                <a:spcPts val="600"/>
              </a:spcBef>
              <a:spcAft>
                <a:spcPts val="0"/>
              </a:spcAft>
              <a:buClr>
                <a:srgbClr val="3333FF"/>
              </a:buClr>
              <a:buSzPts val="2000"/>
              <a:buFont typeface="Times New Roman"/>
              <a:buAutoNum type="arabicPeriod"/>
            </a:pPr>
            <a:r>
              <a:rPr lang="en-US" sz="2000">
                <a:solidFill>
                  <a:srgbClr val="3333FF"/>
                </a:solidFill>
              </a:rPr>
              <a:t>Visualization.</a:t>
            </a:r>
            <a:endParaRPr/>
          </a:p>
          <a:p>
            <a:pPr marL="1714500" lvl="3" indent="-342900" algn="l" rtl="0">
              <a:lnSpc>
                <a:spcPct val="90000"/>
              </a:lnSpc>
              <a:spcBef>
                <a:spcPts val="600"/>
              </a:spcBef>
              <a:spcAft>
                <a:spcPts val="0"/>
              </a:spcAft>
              <a:buClr>
                <a:srgbClr val="3333FF"/>
              </a:buClr>
              <a:buSzPts val="2000"/>
              <a:buFont typeface="Times New Roman"/>
              <a:buAutoNum type="arabicPeriod"/>
            </a:pPr>
            <a:r>
              <a:rPr lang="en-US" sz="2000">
                <a:solidFill>
                  <a:srgbClr val="3333FF"/>
                </a:solidFill>
              </a:rPr>
              <a:t>Program metrics.</a:t>
            </a:r>
            <a:endParaRPr/>
          </a:p>
          <a:p>
            <a:pPr marL="457200" lvl="0" indent="-361950" algn="l" rtl="0">
              <a:lnSpc>
                <a:spcPct val="90000"/>
              </a:lnSpc>
              <a:spcBef>
                <a:spcPts val="600"/>
              </a:spcBef>
              <a:spcAft>
                <a:spcPts val="0"/>
              </a:spcAft>
              <a:buClr>
                <a:srgbClr val="000000"/>
              </a:buClr>
              <a:buSzPts val="1500"/>
              <a:buFont typeface="Times New Roman"/>
              <a:buNone/>
            </a:pPr>
            <a:endParaRPr sz="2000">
              <a:solidFill>
                <a:srgbClr val="3333F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5"/>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4.6.1 Lexical Analysis</a:t>
            </a:r>
            <a:endParaRPr/>
          </a:p>
        </p:txBody>
      </p:sp>
      <p:sp>
        <p:nvSpPr>
          <p:cNvPr id="419" name="Google Shape;419;p45"/>
          <p:cNvSpPr txBox="1">
            <a:spLocks noGrp="1"/>
          </p:cNvSpPr>
          <p:nvPr>
            <p:ph type="body" idx="4294967295"/>
          </p:nvPr>
        </p:nvSpPr>
        <p:spPr>
          <a:xfrm>
            <a:off x="193675" y="660400"/>
            <a:ext cx="8966200" cy="52482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Lexical analysis is the process of decomposing the sequence of characters in the source code into its constituent lexical units.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A program performing lexical analysis is called a lexical analyzer, and it is a part of a programming language’s compiler.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Typically it uses rules describing lexical program structures that are expressed in a mathematical notation called regular expressions.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Modern lexical analyzers are automatically built using tools called lexical analyzer generators, namely, lex and flex (fast lexical analyzer).</a:t>
            </a:r>
            <a:endParaRPr/>
          </a:p>
          <a:p>
            <a:pPr marL="457200" lvl="0" indent="-36195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4.6.2 Syntax Analysis</a:t>
            </a:r>
            <a:endParaRPr/>
          </a:p>
        </p:txBody>
      </p:sp>
      <p:sp>
        <p:nvSpPr>
          <p:cNvPr id="427" name="Google Shape;427;p46"/>
          <p:cNvSpPr txBox="1">
            <a:spLocks noGrp="1"/>
          </p:cNvSpPr>
          <p:nvPr>
            <p:ph type="body" idx="4294967295"/>
          </p:nvPr>
        </p:nvSpPr>
        <p:spPr>
          <a:xfrm>
            <a:off x="193675" y="660400"/>
            <a:ext cx="8966200" cy="57181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Syntactic analysis is performed by a parser.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Similar to syntactic analyzers, parsers can be automatically constructed from a description of the programatical properties of a programming language.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YACC is one of the most commonly used parsing tools.</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Two types of representations are used to hold the results of syntactic analysis: </a:t>
            </a:r>
            <a:r>
              <a:rPr lang="en-US" sz="2000" b="1">
                <a:solidFill>
                  <a:srgbClr val="3333FF"/>
                </a:solidFill>
              </a:rPr>
              <a:t>parse tree</a:t>
            </a:r>
            <a:r>
              <a:rPr lang="en-US" sz="2000"/>
              <a:t> and </a:t>
            </a:r>
            <a:r>
              <a:rPr lang="en-US" sz="2000" b="1">
                <a:solidFill>
                  <a:srgbClr val="3333FF"/>
                </a:solidFill>
              </a:rPr>
              <a:t>abstract syntax tree</a:t>
            </a:r>
            <a:r>
              <a:rPr lang="en-US" sz="2000"/>
              <a: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 </a:t>
            </a:r>
            <a:r>
              <a:rPr lang="en-US" sz="2000" b="1"/>
              <a:t>parse tree</a:t>
            </a:r>
            <a:r>
              <a:rPr lang="en-US" sz="2000"/>
              <a:t> contains details unrelated to actual program meaning, such as the punctuation, whose role is to direct the parsing process.</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Grouping parentheses are implicit in the tree structure, which can be pruned from the parse tree.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Removal of those extraneous details produces a structure called an </a:t>
            </a:r>
            <a:r>
              <a:rPr lang="en-US" sz="2000" b="1">
                <a:solidFill>
                  <a:srgbClr val="3333FF"/>
                </a:solidFill>
              </a:rPr>
              <a:t>Abstract Syntax Tree</a:t>
            </a:r>
            <a:r>
              <a:rPr lang="en-US" sz="2000">
                <a:solidFill>
                  <a:srgbClr val="3333FF"/>
                </a:solidFill>
              </a:rPr>
              <a:t> (AST).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An AST contains just those details that relate to the actual meaning of a program.</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Many tools have been based on the AST concept; to understand a program, an analyst makes a query in terms of the node types.</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query is interpreted by a tree walker to deliver the requested information.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4.6.3 Control Flow Analysis</a:t>
            </a:r>
            <a:endParaRPr/>
          </a:p>
        </p:txBody>
      </p:sp>
      <p:sp>
        <p:nvSpPr>
          <p:cNvPr id="435" name="Google Shape;435;p47"/>
          <p:cNvSpPr txBox="1">
            <a:spLocks noGrp="1"/>
          </p:cNvSpPr>
          <p:nvPr>
            <p:ph type="body" idx="4294967295"/>
          </p:nvPr>
        </p:nvSpPr>
        <p:spPr>
          <a:xfrm>
            <a:off x="193675" y="660400"/>
            <a:ext cx="8966200" cy="57689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dirty="0"/>
              <a:t>After determining the structure of a program, control flow analysis (CFA) can be performed </a:t>
            </a:r>
            <a:r>
              <a:rPr lang="en-US" sz="2000" dirty="0" err="1"/>
              <a:t>onit</a:t>
            </a:r>
            <a:r>
              <a:rPr lang="en-US" sz="2000" dirty="0"/>
              <a:t>.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The two kinds of control flow analysis are: </a:t>
            </a:r>
            <a:endParaRPr dirty="0"/>
          </a:p>
          <a:p>
            <a:pPr marL="1295400" lvl="2" indent="-381000" algn="l" rtl="0">
              <a:lnSpc>
                <a:spcPct val="90000"/>
              </a:lnSpc>
              <a:spcBef>
                <a:spcPts val="600"/>
              </a:spcBef>
              <a:spcAft>
                <a:spcPts val="0"/>
              </a:spcAft>
              <a:buClr>
                <a:schemeClr val="hlink"/>
              </a:buClr>
              <a:buSzPts val="2000"/>
              <a:buFont typeface="Times New Roman"/>
              <a:buNone/>
            </a:pPr>
            <a:r>
              <a:rPr lang="en-US" b="1" dirty="0">
                <a:solidFill>
                  <a:schemeClr val="hlink"/>
                </a:solidFill>
              </a:rPr>
              <a:t>Intraprocedural</a:t>
            </a:r>
            <a:r>
              <a:rPr lang="en-US" dirty="0">
                <a:solidFill>
                  <a:schemeClr val="hlink"/>
                </a:solidFill>
              </a:rPr>
              <a:t>:</a:t>
            </a:r>
            <a:r>
              <a:rPr lang="en-US" dirty="0"/>
              <a:t> It shows the order in which statements are executed </a:t>
            </a:r>
            <a:endParaRPr dirty="0"/>
          </a:p>
          <a:p>
            <a:pPr marL="1295400" lvl="2" indent="-381000" algn="l" rtl="0">
              <a:lnSpc>
                <a:spcPct val="90000"/>
              </a:lnSpc>
              <a:spcBef>
                <a:spcPts val="600"/>
              </a:spcBef>
              <a:spcAft>
                <a:spcPts val="0"/>
              </a:spcAft>
              <a:buClr>
                <a:srgbClr val="663300"/>
              </a:buClr>
              <a:buSzPts val="2000"/>
              <a:buFont typeface="Times New Roman"/>
              <a:buNone/>
            </a:pPr>
            <a:r>
              <a:rPr lang="en-US" dirty="0"/>
              <a:t>within a subprogram.</a:t>
            </a:r>
            <a:endParaRPr dirty="0"/>
          </a:p>
          <a:p>
            <a:pPr marL="1295400" lvl="2" indent="-381000" algn="l" rtl="0">
              <a:lnSpc>
                <a:spcPct val="90000"/>
              </a:lnSpc>
              <a:spcBef>
                <a:spcPts val="600"/>
              </a:spcBef>
              <a:spcAft>
                <a:spcPts val="0"/>
              </a:spcAft>
              <a:buClr>
                <a:schemeClr val="hlink"/>
              </a:buClr>
              <a:buSzPts val="2000"/>
              <a:buFont typeface="Times New Roman"/>
              <a:buNone/>
            </a:pPr>
            <a:r>
              <a:rPr lang="en-US" b="1" dirty="0" err="1">
                <a:solidFill>
                  <a:schemeClr val="hlink"/>
                </a:solidFill>
              </a:rPr>
              <a:t>Interprocedural</a:t>
            </a:r>
            <a:r>
              <a:rPr lang="en-US" dirty="0">
                <a:solidFill>
                  <a:schemeClr val="hlink"/>
                </a:solidFill>
              </a:rPr>
              <a:t>:</a:t>
            </a:r>
            <a:r>
              <a:rPr lang="en-US" dirty="0"/>
              <a:t> It shows the calling relationship among program units.</a:t>
            </a:r>
            <a:endParaRPr dirty="0"/>
          </a:p>
          <a:p>
            <a:pPr marL="457200" lvl="0" indent="-457200" algn="l" rtl="0">
              <a:lnSpc>
                <a:spcPct val="90000"/>
              </a:lnSpc>
              <a:spcBef>
                <a:spcPts val="720"/>
              </a:spcBef>
              <a:spcAft>
                <a:spcPts val="0"/>
              </a:spcAft>
              <a:buClr>
                <a:srgbClr val="3333FF"/>
              </a:buClr>
              <a:buSzPts val="1800"/>
              <a:buFont typeface="Times New Roman"/>
              <a:buNone/>
            </a:pPr>
            <a:r>
              <a:rPr lang="en-US" b="1" u="sng" dirty="0">
                <a:solidFill>
                  <a:srgbClr val="3333FF"/>
                </a:solidFill>
              </a:rPr>
              <a:t>Intraprocedural analysis</a:t>
            </a:r>
            <a:r>
              <a:rPr lang="en-US" u="sng" dirty="0">
                <a:solidFill>
                  <a:srgbClr val="3333FF"/>
                </a:solidFill>
              </a:rPr>
              <a:t>:</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The idea of basic blocks is central to constructing a CFG.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A basic block is a maximal sequence of program statements such that execution enters at the top of the block and leaves only at the bottom via a conditional or an unconditional branch statement.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A basic block is represented with one node in the CFG, and an arc indicates possible flow of control from one node to another.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A CFG can directly be constructed from an AST by walking the tree to determine basic blocks and then connecting the blocks with control flow arcs.</a:t>
            </a:r>
            <a:endParaRPr dirty="0"/>
          </a:p>
          <a:p>
            <a:pPr marL="457200" lvl="0" indent="-457200" algn="l" rtl="0">
              <a:lnSpc>
                <a:spcPct val="90000"/>
              </a:lnSpc>
              <a:spcBef>
                <a:spcPts val="600"/>
              </a:spcBef>
              <a:spcAft>
                <a:spcPts val="0"/>
              </a:spcAft>
              <a:buClr>
                <a:srgbClr val="000000"/>
              </a:buClr>
              <a:buSzPts val="1500"/>
              <a:buFont typeface="Times New Roman"/>
              <a:buNone/>
            </a:pPr>
            <a:endParaRPr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4.6.3 Control Flow Analysis</a:t>
            </a:r>
            <a:endParaRPr/>
          </a:p>
        </p:txBody>
      </p:sp>
      <p:sp>
        <p:nvSpPr>
          <p:cNvPr id="443" name="Google Shape;443;p48"/>
          <p:cNvSpPr txBox="1">
            <a:spLocks noGrp="1"/>
          </p:cNvSpPr>
          <p:nvPr>
            <p:ph type="body" idx="4294967295"/>
          </p:nvPr>
        </p:nvSpPr>
        <p:spPr>
          <a:xfrm>
            <a:off x="193675" y="660400"/>
            <a:ext cx="8966200" cy="57689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chemeClr val="hlink"/>
              </a:buClr>
              <a:buSzPts val="1800"/>
              <a:buFont typeface="Times New Roman"/>
              <a:buNone/>
            </a:pPr>
            <a:r>
              <a:rPr lang="en-US" b="1" u="sng">
                <a:solidFill>
                  <a:schemeClr val="hlink"/>
                </a:solidFill>
              </a:rPr>
              <a:t>Interprocedural analysis</a:t>
            </a:r>
            <a:r>
              <a:rPr lang="en-US" u="sng">
                <a:solidFill>
                  <a:schemeClr val="hlink"/>
                </a:solidFill>
              </a:rPr>
              <a: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Interprocedural analysis is performed by constructing a call graph.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Calling relationships between subroutines in a program are represented as a call graph which is basically a directed graph.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Specifically, a procedure in the source code is represented by a node in the graph, and the edge from node </a:t>
            </a:r>
            <a:r>
              <a:rPr lang="en-US" sz="2000" i="1"/>
              <a:t>f </a:t>
            </a:r>
            <a:r>
              <a:rPr lang="en-US" sz="2000"/>
              <a:t>to </a:t>
            </a:r>
            <a:r>
              <a:rPr lang="en-US" sz="2000" i="1"/>
              <a:t>g</a:t>
            </a:r>
            <a:r>
              <a:rPr lang="en-US" sz="2000"/>
              <a:t> indicates that procedure </a:t>
            </a:r>
            <a:r>
              <a:rPr lang="en-US" sz="2000" i="1"/>
              <a:t>f </a:t>
            </a:r>
            <a:r>
              <a:rPr lang="en-US" sz="2000"/>
              <a:t>calls procedure </a:t>
            </a:r>
            <a:r>
              <a:rPr lang="en-US" sz="2000" i="1"/>
              <a:t>g</a:t>
            </a:r>
            <a:r>
              <a:rPr lang="en-US" sz="2000"/>
              <a:t>.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Call graphs can be static or dynamic. A dynamic call graph is an execution trace of the program.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Thus a dynamic call graph is exact, but it only describes one run of the program. </a:t>
            </a:r>
            <a:endParaRPr/>
          </a:p>
          <a:p>
            <a:pPr marL="457200" lvl="0" indent="-361950" algn="l" rtl="0">
              <a:lnSpc>
                <a:spcPct val="90000"/>
              </a:lnSpc>
              <a:spcBef>
                <a:spcPts val="600"/>
              </a:spcBef>
              <a:spcAft>
                <a:spcPts val="0"/>
              </a:spcAft>
              <a:buClr>
                <a:srgbClr val="000000"/>
              </a:buClr>
              <a:buSzPts val="1500"/>
              <a:buFont typeface="Times New Roman"/>
              <a:buNone/>
            </a:pPr>
            <a:endParaRPr sz="2000"/>
          </a:p>
          <a:p>
            <a:pPr marL="457200" lvl="0" indent="-457200" algn="l" rtl="0">
              <a:lnSpc>
                <a:spcPct val="90000"/>
              </a:lnSpc>
              <a:spcBef>
                <a:spcPts val="600"/>
              </a:spcBef>
              <a:spcAft>
                <a:spcPts val="0"/>
              </a:spcAft>
              <a:buClr>
                <a:srgbClr val="000000"/>
              </a:buClr>
              <a:buSzPts val="1500"/>
              <a:buFont typeface="Times New Roman"/>
              <a:buChar char="•"/>
            </a:pPr>
            <a:r>
              <a:rPr lang="en-US" sz="2000"/>
              <a:t>On the other hand, a static call graph represents every possible run of the program.</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9"/>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4.6.4 Data Flow Analysis</a:t>
            </a:r>
            <a:endParaRPr/>
          </a:p>
        </p:txBody>
      </p:sp>
      <p:sp>
        <p:nvSpPr>
          <p:cNvPr id="451" name="Google Shape;451;p49"/>
          <p:cNvSpPr txBox="1">
            <a:spLocks noGrp="1"/>
          </p:cNvSpPr>
          <p:nvPr>
            <p:ph type="body" idx="4294967295"/>
          </p:nvPr>
        </p:nvSpPr>
        <p:spPr>
          <a:xfrm>
            <a:off x="117475" y="660400"/>
            <a:ext cx="8966200" cy="58070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dirty="0"/>
              <a:t>Data flow analysis (DFA) concerns how values of defined variables flow through and are used in a program.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highlight>
                  <a:srgbClr val="FFFF00"/>
                </a:highlight>
              </a:rPr>
              <a:t>CFA can detect the possibility of loops, whereas DFA can determine data flow anomalies</a:t>
            </a:r>
            <a:r>
              <a:rPr lang="en-US" sz="2000" dirty="0"/>
              <a:t>.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One example of data flow anomaly is that an undefined variable is referenced.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Another example of data flow anomaly is that a variable is successively defined without being referenced in between.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Data flow analysis enables the identification of code that can never execute, variables that might not be defined before they are used, and statements that might have to be altered when a bug is fixed.</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Control flow analysis cannot answer the question: Which program statements are likely to be impacted by the execution of a given assignment statement?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To answer this kind of questions, an understanding of definitions (def) of variables and references (uses) of variables is required.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If a variable appears on the left hand side of an assignment statement, then the variable is said to be defined. </a:t>
            </a:r>
            <a:endParaRPr dirty="0"/>
          </a:p>
          <a:p>
            <a:pPr marL="457200" lvl="0" indent="-457200" algn="l" rtl="0">
              <a:lnSpc>
                <a:spcPct val="90000"/>
              </a:lnSpc>
              <a:spcBef>
                <a:spcPts val="600"/>
              </a:spcBef>
              <a:spcAft>
                <a:spcPts val="0"/>
              </a:spcAft>
              <a:buClr>
                <a:srgbClr val="000000"/>
              </a:buClr>
              <a:buSzPts val="1500"/>
              <a:buFont typeface="Times New Roman"/>
              <a:buChar char="•"/>
            </a:pPr>
            <a:r>
              <a:rPr lang="en-US" sz="2000" dirty="0"/>
              <a:t>If a variable appears on the right hand side of an assignment statement, then it is said to be referenced in that statement.</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4.6.5 Program Slicing</a:t>
            </a:r>
            <a:endParaRPr/>
          </a:p>
        </p:txBody>
      </p:sp>
      <p:sp>
        <p:nvSpPr>
          <p:cNvPr id="459" name="Google Shape;459;p50"/>
          <p:cNvSpPr txBox="1">
            <a:spLocks noGrp="1"/>
          </p:cNvSpPr>
          <p:nvPr>
            <p:ph type="body" idx="4294967295"/>
          </p:nvPr>
        </p:nvSpPr>
        <p:spPr>
          <a:xfrm>
            <a:off x="193675" y="660400"/>
            <a:ext cx="8966200" cy="52514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Originally introduced by Mark Weiser, program slicing has served as the basis of numerous tools.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In Weiser’s definition, a slicing criterion of a program P is S &lt; p; v &gt; where p is a program point and v is a subset of variables in P.</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 program slice is a portion of a program with an execution behavior identical to the initial program with respect to a given criterion, but may have a reduced size.</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 </a:t>
            </a:r>
            <a:r>
              <a:rPr lang="en-US" sz="2000" b="1">
                <a:solidFill>
                  <a:srgbClr val="3333FF"/>
                </a:solidFill>
              </a:rPr>
              <a:t>backward slice</a:t>
            </a:r>
            <a:r>
              <a:rPr lang="en-US" sz="2000"/>
              <a:t> with respect to a variable v and a given point p comprises all instructions and predicates which affect the value of v at point p. </a:t>
            </a:r>
            <a:endParaRPr/>
          </a:p>
          <a:p>
            <a:pPr marL="45720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rPr>
              <a:t>Backward slices</a:t>
            </a:r>
            <a:r>
              <a:rPr lang="en-US" sz="2000"/>
              <a:t> answer the question “</a:t>
            </a:r>
            <a:r>
              <a:rPr lang="en-US" sz="2000" b="1" i="1"/>
              <a:t>What program components might effect a selected computation?”</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dual of </a:t>
            </a:r>
            <a:r>
              <a:rPr lang="en-US" sz="2000" b="1">
                <a:solidFill>
                  <a:srgbClr val="3333FF"/>
                </a:solidFill>
              </a:rPr>
              <a:t>backward slicing</a:t>
            </a:r>
            <a:r>
              <a:rPr lang="en-US" sz="2000"/>
              <a:t> is </a:t>
            </a:r>
            <a:r>
              <a:rPr lang="en-US" sz="2000" b="1">
                <a:solidFill>
                  <a:schemeClr val="hlink"/>
                </a:solidFill>
              </a:rPr>
              <a:t>forward slicing</a:t>
            </a:r>
            <a:r>
              <a:rPr lang="en-US" sz="2000"/>
              <a:t>.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With respect to a variable v and a point p in a program, a forward slide comprises all the instructions and predicates which may depend on the value of v at p. </a:t>
            </a:r>
            <a:endParaRPr/>
          </a:p>
          <a:p>
            <a:pPr marL="457200" lvl="0" indent="-457200" algn="l" rtl="0">
              <a:lnSpc>
                <a:spcPct val="90000"/>
              </a:lnSpc>
              <a:spcBef>
                <a:spcPts val="600"/>
              </a:spcBef>
              <a:spcAft>
                <a:spcPts val="0"/>
              </a:spcAft>
              <a:buClr>
                <a:schemeClr val="hlink"/>
              </a:buClr>
              <a:buSzPts val="1500"/>
              <a:buFont typeface="Times New Roman"/>
              <a:buChar char="•"/>
            </a:pPr>
            <a:r>
              <a:rPr lang="en-US" sz="2000" b="1">
                <a:solidFill>
                  <a:schemeClr val="hlink"/>
                </a:solidFill>
              </a:rPr>
              <a:t>Forward slicing</a:t>
            </a:r>
            <a:r>
              <a:rPr lang="en-US" sz="2000"/>
              <a:t> answers the question “</a:t>
            </a:r>
            <a:r>
              <a:rPr lang="en-US" sz="2000" b="1" i="1"/>
              <a:t>What program components might be effected by a selected computation?”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1"/>
          <p:cNvSpPr txBox="1">
            <a:spLocks noGrp="1"/>
          </p:cNvSpPr>
          <p:nvPr>
            <p:ph type="title" idx="4294967295"/>
          </p:nvPr>
        </p:nvSpPr>
        <p:spPr>
          <a:xfrm>
            <a:off x="0" y="0"/>
            <a:ext cx="9144000" cy="725488"/>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4.6.5 Program Slicing:Example of Backward Slice</a:t>
            </a:r>
            <a:endParaRPr/>
          </a:p>
        </p:txBody>
      </p:sp>
      <p:pic>
        <p:nvPicPr>
          <p:cNvPr id="467" name="Google Shape;467;p51"/>
          <p:cNvPicPr preferRelativeResize="0"/>
          <p:nvPr/>
        </p:nvPicPr>
        <p:blipFill rotWithShape="1">
          <a:blip r:embed="rId3">
            <a:alphaModFix/>
          </a:blip>
          <a:srcRect l="11874" t="17578" r="16875" b="19270"/>
          <a:stretch/>
        </p:blipFill>
        <p:spPr>
          <a:xfrm>
            <a:off x="812800" y="696913"/>
            <a:ext cx="7635875" cy="59070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2"/>
          <p:cNvSpPr txBox="1">
            <a:spLocks noGrp="1"/>
          </p:cNvSpPr>
          <p:nvPr>
            <p:ph type="title" idx="4294967295"/>
          </p:nvPr>
        </p:nvSpPr>
        <p:spPr>
          <a:xfrm>
            <a:off x="0" y="0"/>
            <a:ext cx="9144000" cy="7159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4.6.5 Program Slicing: Example of Forward Slice</a:t>
            </a:r>
            <a:endParaRPr/>
          </a:p>
        </p:txBody>
      </p:sp>
      <p:pic>
        <p:nvPicPr>
          <p:cNvPr id="475" name="Google Shape;475;p52"/>
          <p:cNvPicPr preferRelativeResize="0"/>
          <p:nvPr/>
        </p:nvPicPr>
        <p:blipFill rotWithShape="1">
          <a:blip r:embed="rId3">
            <a:alphaModFix/>
          </a:blip>
          <a:srcRect l="12230" t="17578" r="16875" b="46289"/>
          <a:stretch/>
        </p:blipFill>
        <p:spPr>
          <a:xfrm>
            <a:off x="698500" y="696913"/>
            <a:ext cx="7597775" cy="3379787"/>
          </a:xfrm>
          <a:prstGeom prst="rect">
            <a:avLst/>
          </a:prstGeom>
          <a:noFill/>
          <a:ln>
            <a:noFill/>
          </a:ln>
        </p:spPr>
      </p:pic>
      <p:pic>
        <p:nvPicPr>
          <p:cNvPr id="476" name="Google Shape;476;p52"/>
          <p:cNvPicPr preferRelativeResize="0"/>
          <p:nvPr/>
        </p:nvPicPr>
        <p:blipFill rotWithShape="1">
          <a:blip r:embed="rId4">
            <a:alphaModFix/>
          </a:blip>
          <a:srcRect l="12500" t="17839" r="16249" b="58464"/>
          <a:stretch/>
        </p:blipFill>
        <p:spPr>
          <a:xfrm>
            <a:off x="342900" y="4013200"/>
            <a:ext cx="8686800" cy="2311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4.6.6 Visualization</a:t>
            </a:r>
            <a:endParaRPr/>
          </a:p>
        </p:txBody>
      </p:sp>
      <p:sp>
        <p:nvSpPr>
          <p:cNvPr id="484" name="Google Shape;484;p53"/>
          <p:cNvSpPr txBox="1">
            <a:spLocks noGrp="1"/>
          </p:cNvSpPr>
          <p:nvPr>
            <p:ph type="body" idx="4294967295"/>
          </p:nvPr>
        </p:nvSpPr>
        <p:spPr>
          <a:xfrm>
            <a:off x="193675" y="660400"/>
            <a:ext cx="8966200" cy="56165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800"/>
              <a:buFont typeface="Times New Roman"/>
              <a:buChar char="•"/>
            </a:pPr>
            <a:r>
              <a:rPr lang="en-US"/>
              <a:t>Software visualization is a useful strategy to enable a user to better understand software systems.</a:t>
            </a:r>
            <a:endParaRPr/>
          </a:p>
          <a:p>
            <a:pPr marL="457200" lvl="0" indent="-457200" algn="l" rtl="0">
              <a:lnSpc>
                <a:spcPct val="90000"/>
              </a:lnSpc>
              <a:spcBef>
                <a:spcPts val="720"/>
              </a:spcBef>
              <a:spcAft>
                <a:spcPts val="0"/>
              </a:spcAft>
              <a:buClr>
                <a:srgbClr val="000000"/>
              </a:buClr>
              <a:buSzPts val="1800"/>
              <a:buFont typeface="Times New Roman"/>
              <a:buChar char="•"/>
            </a:pPr>
            <a:r>
              <a:rPr lang="en-US"/>
              <a:t>In this strategy, a software system is represented by means of a visual object to gain some insight into how the system has been structured. </a:t>
            </a:r>
            <a:endParaRPr/>
          </a:p>
          <a:p>
            <a:pPr marL="457200" lvl="0" indent="-457200" algn="l" rtl="0">
              <a:lnSpc>
                <a:spcPct val="90000"/>
              </a:lnSpc>
              <a:spcBef>
                <a:spcPts val="720"/>
              </a:spcBef>
              <a:spcAft>
                <a:spcPts val="0"/>
              </a:spcAft>
              <a:buClr>
                <a:srgbClr val="000000"/>
              </a:buClr>
              <a:buSzPts val="1800"/>
              <a:buFont typeface="Times New Roman"/>
              <a:buChar char="•"/>
            </a:pPr>
            <a:r>
              <a:rPr lang="en-US"/>
              <a:t>The visual representation of a software system impacts the effectiveness of the code analysis or design recovery techniques.</a:t>
            </a:r>
            <a:endParaRPr/>
          </a:p>
          <a:p>
            <a:pPr marL="457200" lvl="0" indent="-457200" algn="l" rtl="0">
              <a:lnSpc>
                <a:spcPct val="90000"/>
              </a:lnSpc>
              <a:spcBef>
                <a:spcPts val="720"/>
              </a:spcBef>
              <a:spcAft>
                <a:spcPts val="0"/>
              </a:spcAft>
              <a:buClr>
                <a:srgbClr val="000000"/>
              </a:buClr>
              <a:buSzPts val="1800"/>
              <a:buFont typeface="Times New Roman"/>
              <a:buChar char="•"/>
            </a:pPr>
            <a:r>
              <a:rPr lang="en-US"/>
              <a:t>Two important notions of designing software visualization using 3D graphics and virtual reality technology are</a:t>
            </a:r>
            <a:endParaRPr/>
          </a:p>
          <a:p>
            <a:pPr marL="838200" lvl="1" indent="-381000" algn="l" rtl="0">
              <a:lnSpc>
                <a:spcPct val="90000"/>
              </a:lnSpc>
              <a:spcBef>
                <a:spcPts val="600"/>
              </a:spcBef>
              <a:spcAft>
                <a:spcPts val="0"/>
              </a:spcAft>
              <a:buClr>
                <a:schemeClr val="dk2"/>
              </a:buClr>
              <a:buSzPts val="2000"/>
              <a:buFont typeface="Times New Roman"/>
              <a:buNone/>
            </a:pPr>
            <a:r>
              <a:rPr lang="en-US"/>
              <a:t>• </a:t>
            </a:r>
            <a:r>
              <a:rPr lang="en-US" b="1">
                <a:solidFill>
                  <a:schemeClr val="hlink"/>
                </a:solidFill>
              </a:rPr>
              <a:t>Representation:</a:t>
            </a:r>
            <a:r>
              <a:rPr lang="en-US"/>
              <a:t> This is the depiction of a single component by means of graphical and other media.</a:t>
            </a:r>
            <a:endParaRPr/>
          </a:p>
          <a:p>
            <a:pPr marL="838200" lvl="1" indent="-381000" algn="l" rtl="0">
              <a:lnSpc>
                <a:spcPct val="90000"/>
              </a:lnSpc>
              <a:spcBef>
                <a:spcPts val="600"/>
              </a:spcBef>
              <a:spcAft>
                <a:spcPts val="0"/>
              </a:spcAft>
              <a:buClr>
                <a:schemeClr val="dk2"/>
              </a:buClr>
              <a:buSzPts val="2000"/>
              <a:buFont typeface="Times New Roman"/>
              <a:buNone/>
            </a:pPr>
            <a:r>
              <a:rPr lang="en-US"/>
              <a:t>• </a:t>
            </a:r>
            <a:r>
              <a:rPr lang="en-US" b="1">
                <a:solidFill>
                  <a:schemeClr val="hlink"/>
                </a:solidFill>
              </a:rPr>
              <a:t>Visualization:</a:t>
            </a:r>
            <a:r>
              <a:rPr lang="en-US"/>
              <a:t> It is a configuration of an interrelated set of individual representations related information making up a higher level component.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For effective software visualization, one needs to consider the properties and structure of the symbols used in software representation and visualization.</a:t>
            </a:r>
            <a:endParaRPr/>
          </a:p>
          <a:p>
            <a:pPr marL="457200" lvl="0" indent="-45720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4.6.6 Visualization</a:t>
            </a:r>
            <a:endParaRPr/>
          </a:p>
        </p:txBody>
      </p:sp>
      <p:sp>
        <p:nvSpPr>
          <p:cNvPr id="492" name="Google Shape;492;p54"/>
          <p:cNvSpPr txBox="1">
            <a:spLocks noGrp="1"/>
          </p:cNvSpPr>
          <p:nvPr>
            <p:ph type="body" idx="4294967295"/>
          </p:nvPr>
        </p:nvSpPr>
        <p:spPr>
          <a:xfrm>
            <a:off x="0" y="660400"/>
            <a:ext cx="9077325" cy="4841875"/>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When creating a representation the following key attributes are considered:</a:t>
            </a:r>
            <a:endParaRPr/>
          </a:p>
          <a:p>
            <a:pPr marL="838200" lvl="1" indent="-381000" algn="l" rtl="0">
              <a:lnSpc>
                <a:spcPct val="90000"/>
              </a:lnSpc>
              <a:spcBef>
                <a:spcPts val="600"/>
              </a:spcBef>
              <a:spcAft>
                <a:spcPts val="0"/>
              </a:spcAft>
              <a:buClr>
                <a:schemeClr val="dk2"/>
              </a:buClr>
              <a:buSzPts val="2000"/>
              <a:buFont typeface="Times New Roman"/>
              <a:buNone/>
            </a:pPr>
            <a:r>
              <a:rPr lang="en-US"/>
              <a:t>1. Individuality.			5. Distinctive appearance.</a:t>
            </a:r>
            <a:endParaRPr/>
          </a:p>
          <a:p>
            <a:pPr marL="838200" lvl="1" indent="-381000" algn="l" rtl="0">
              <a:lnSpc>
                <a:spcPct val="90000"/>
              </a:lnSpc>
              <a:spcBef>
                <a:spcPts val="600"/>
              </a:spcBef>
              <a:spcAft>
                <a:spcPts val="0"/>
              </a:spcAft>
              <a:buClr>
                <a:schemeClr val="dk2"/>
              </a:buClr>
              <a:buSzPts val="2000"/>
              <a:buFont typeface="Times New Roman"/>
              <a:buNone/>
            </a:pPr>
            <a:r>
              <a:rPr lang="en-US"/>
              <a:t>2. High information content.		6. Low visual complexity.</a:t>
            </a:r>
            <a:endParaRPr/>
          </a:p>
          <a:p>
            <a:pPr marL="838200" lvl="1" indent="-381000" algn="l" rtl="0">
              <a:lnSpc>
                <a:spcPct val="90000"/>
              </a:lnSpc>
              <a:spcBef>
                <a:spcPts val="600"/>
              </a:spcBef>
              <a:spcAft>
                <a:spcPts val="0"/>
              </a:spcAft>
              <a:buClr>
                <a:schemeClr val="dk2"/>
              </a:buClr>
              <a:buSzPts val="2000"/>
              <a:buFont typeface="Times New Roman"/>
              <a:buNone/>
            </a:pPr>
            <a:r>
              <a:rPr lang="en-US"/>
              <a:t>3. Scalability of visual complexity.	7. Suitability for automation.</a:t>
            </a:r>
            <a:endParaRPr/>
          </a:p>
          <a:p>
            <a:pPr marL="838200" lvl="1" indent="-381000" algn="l" rtl="0">
              <a:lnSpc>
                <a:spcPct val="90000"/>
              </a:lnSpc>
              <a:spcBef>
                <a:spcPts val="600"/>
              </a:spcBef>
              <a:spcAft>
                <a:spcPts val="0"/>
              </a:spcAft>
              <a:buClr>
                <a:schemeClr val="dk2"/>
              </a:buClr>
              <a:buSzPts val="2000"/>
              <a:buFont typeface="Times New Roman"/>
              <a:buNone/>
            </a:pPr>
            <a:r>
              <a:rPr lang="en-US"/>
              <a:t>4. Flexibility for integration into visualizations.</a:t>
            </a:r>
            <a:endParaRPr/>
          </a:p>
          <a:p>
            <a:pPr marL="838200" lvl="1" indent="-381000" algn="l" rtl="0">
              <a:lnSpc>
                <a:spcPct val="90000"/>
              </a:lnSpc>
              <a:spcBef>
                <a:spcPts val="600"/>
              </a:spcBef>
              <a:spcAft>
                <a:spcPts val="0"/>
              </a:spcAft>
              <a:buClr>
                <a:schemeClr val="dk2"/>
              </a:buClr>
              <a:buSzPts val="2000"/>
              <a:buFont typeface="Times New Roman"/>
              <a:buNone/>
            </a:pP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The following requirements are taken into account while designing a visualization:</a:t>
            </a:r>
            <a:endParaRPr/>
          </a:p>
          <a:p>
            <a:pPr marL="838200" lvl="1" indent="-381000" algn="l" rtl="0">
              <a:lnSpc>
                <a:spcPct val="90000"/>
              </a:lnSpc>
              <a:spcBef>
                <a:spcPts val="600"/>
              </a:spcBef>
              <a:spcAft>
                <a:spcPts val="0"/>
              </a:spcAft>
              <a:buClr>
                <a:schemeClr val="dk2"/>
              </a:buClr>
              <a:buSzPts val="2000"/>
              <a:buFont typeface="Times New Roman"/>
              <a:buNone/>
            </a:pPr>
            <a:r>
              <a:rPr lang="en-US"/>
              <a:t>1. Simple navigation.		6. Effective visual metaphors.</a:t>
            </a:r>
            <a:endParaRPr/>
          </a:p>
          <a:p>
            <a:pPr marL="838200" lvl="1" indent="-381000" algn="l" rtl="0">
              <a:lnSpc>
                <a:spcPct val="90000"/>
              </a:lnSpc>
              <a:spcBef>
                <a:spcPts val="600"/>
              </a:spcBef>
              <a:spcAft>
                <a:spcPts val="0"/>
              </a:spcAft>
              <a:buClr>
                <a:schemeClr val="dk2"/>
              </a:buClr>
              <a:buSzPts val="2000"/>
              <a:buFont typeface="Times New Roman"/>
              <a:buNone/>
            </a:pPr>
            <a:r>
              <a:rPr lang="en-US"/>
              <a:t>2. High information content.	7. Friendly user interface.</a:t>
            </a:r>
            <a:endParaRPr/>
          </a:p>
          <a:p>
            <a:pPr marL="838200" lvl="1" indent="-381000" algn="l" rtl="0">
              <a:lnSpc>
                <a:spcPct val="90000"/>
              </a:lnSpc>
              <a:spcBef>
                <a:spcPts val="600"/>
              </a:spcBef>
              <a:spcAft>
                <a:spcPts val="0"/>
              </a:spcAft>
              <a:buClr>
                <a:schemeClr val="dk2"/>
              </a:buClr>
              <a:buSzPts val="2000"/>
              <a:buFont typeface="Times New Roman"/>
              <a:buNone/>
            </a:pPr>
            <a:r>
              <a:rPr lang="en-US"/>
              <a:t>3. Low visual complexity.	8. Integration with other information sources.</a:t>
            </a:r>
            <a:endParaRPr/>
          </a:p>
          <a:p>
            <a:pPr marL="838200" lvl="1" indent="-381000" algn="l" rtl="0">
              <a:lnSpc>
                <a:spcPct val="90000"/>
              </a:lnSpc>
              <a:spcBef>
                <a:spcPts val="600"/>
              </a:spcBef>
              <a:spcAft>
                <a:spcPts val="0"/>
              </a:spcAft>
              <a:buClr>
                <a:schemeClr val="dk2"/>
              </a:buClr>
              <a:buSzPts val="2000"/>
              <a:buFont typeface="Times New Roman"/>
              <a:buNone/>
            </a:pPr>
            <a:r>
              <a:rPr lang="en-US"/>
              <a:t>4. Varying levels of detail.	9. Good use of interactions	.</a:t>
            </a:r>
            <a:endParaRPr/>
          </a:p>
          <a:p>
            <a:pPr marL="838200" lvl="1" indent="-381000" algn="l" rtl="0">
              <a:lnSpc>
                <a:spcPct val="90000"/>
              </a:lnSpc>
              <a:spcBef>
                <a:spcPts val="600"/>
              </a:spcBef>
              <a:spcAft>
                <a:spcPts val="0"/>
              </a:spcAft>
              <a:buClr>
                <a:schemeClr val="dk2"/>
              </a:buClr>
              <a:buSzPts val="2000"/>
              <a:buFont typeface="Times New Roman"/>
              <a:buNone/>
            </a:pPr>
            <a:r>
              <a:rPr lang="en-US"/>
              <a:t>5. Resilience to change.	10. Suitability for automation.</a:t>
            </a:r>
            <a:endParaRPr sz="1800"/>
          </a:p>
          <a:p>
            <a:pPr marL="457200" lvl="0" indent="-457200" algn="l" rtl="0">
              <a:lnSpc>
                <a:spcPct val="90000"/>
              </a:lnSpc>
              <a:spcBef>
                <a:spcPts val="600"/>
              </a:spcBef>
              <a:spcAft>
                <a:spcPts val="0"/>
              </a:spcAft>
              <a:buClr>
                <a:srgbClr val="000000"/>
              </a:buClr>
              <a:buSzPts val="1500"/>
              <a:buFont typeface="Times New Roman"/>
              <a:buNone/>
            </a:pPr>
            <a:endParaRPr sz="2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55"/>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4.6.7 Program Metrics</a:t>
            </a:r>
            <a:endParaRPr/>
          </a:p>
        </p:txBody>
      </p:sp>
      <p:sp>
        <p:nvSpPr>
          <p:cNvPr id="500" name="Google Shape;500;p55"/>
          <p:cNvSpPr txBox="1">
            <a:spLocks noGrp="1"/>
          </p:cNvSpPr>
          <p:nvPr>
            <p:ph type="body" idx="4294967295"/>
          </p:nvPr>
        </p:nvSpPr>
        <p:spPr>
          <a:xfrm>
            <a:off x="193675" y="660400"/>
            <a:ext cx="8966200" cy="895350"/>
          </a:xfrm>
          <a:prstGeom prst="rect">
            <a:avLst/>
          </a:prstGeom>
          <a:noFill/>
          <a:ln>
            <a:noFill/>
          </a:ln>
        </p:spPr>
        <p:txBody>
          <a:bodyPr spcFirstLastPara="1" wrap="square" lIns="92075" tIns="46025" rIns="92075" bIns="46025" anchor="t" anchorCtr="0">
            <a:noAutofit/>
          </a:bodyPr>
          <a:lstStyle/>
          <a:p>
            <a:pPr marL="457200" lvl="0" indent="-457200" algn="l" rtl="0">
              <a:lnSpc>
                <a:spcPct val="80000"/>
              </a:lnSpc>
              <a:spcBef>
                <a:spcPts val="0"/>
              </a:spcBef>
              <a:spcAft>
                <a:spcPts val="0"/>
              </a:spcAft>
              <a:buClr>
                <a:srgbClr val="000000"/>
              </a:buClr>
              <a:buSzPts val="1350"/>
              <a:buFont typeface="Times New Roman"/>
              <a:buChar char="•"/>
            </a:pPr>
            <a:r>
              <a:rPr lang="en-US" sz="1800"/>
              <a:t>To understand and control the overall software engineering process, program metrics are applied.</a:t>
            </a:r>
            <a:endParaRPr/>
          </a:p>
          <a:p>
            <a:pPr marL="457200" lvl="0" indent="-457200" algn="l" rtl="0">
              <a:lnSpc>
                <a:spcPct val="80000"/>
              </a:lnSpc>
              <a:spcBef>
                <a:spcPts val="540"/>
              </a:spcBef>
              <a:spcAft>
                <a:spcPts val="0"/>
              </a:spcAft>
              <a:buClr>
                <a:srgbClr val="000000"/>
              </a:buClr>
              <a:buSzPts val="1350"/>
              <a:buFont typeface="Times New Roman"/>
              <a:buChar char="•"/>
            </a:pPr>
            <a:r>
              <a:rPr lang="en-US" sz="1800"/>
              <a:t>Table 4.3 summarizes the commonly used program metrics.</a:t>
            </a:r>
            <a:endParaRPr/>
          </a:p>
          <a:p>
            <a:pPr marL="457200" lvl="0" indent="-457200" algn="l" rtl="0">
              <a:lnSpc>
                <a:spcPct val="80000"/>
              </a:lnSpc>
              <a:spcBef>
                <a:spcPts val="840"/>
              </a:spcBef>
              <a:spcAft>
                <a:spcPts val="0"/>
              </a:spcAft>
              <a:buClr>
                <a:srgbClr val="000000"/>
              </a:buClr>
              <a:buSzPts val="2100"/>
              <a:buFont typeface="Times New Roman"/>
              <a:buNone/>
            </a:pPr>
            <a:endParaRPr sz="2800"/>
          </a:p>
          <a:p>
            <a:pPr marL="457200" lvl="0" indent="-361950" algn="l" rtl="0">
              <a:lnSpc>
                <a:spcPct val="80000"/>
              </a:lnSpc>
              <a:spcBef>
                <a:spcPts val="600"/>
              </a:spcBef>
              <a:spcAft>
                <a:spcPts val="0"/>
              </a:spcAft>
              <a:buClr>
                <a:srgbClr val="000000"/>
              </a:buClr>
              <a:buSzPts val="1500"/>
              <a:buFont typeface="Times New Roman"/>
              <a:buNone/>
            </a:pPr>
            <a:endParaRPr sz="2000"/>
          </a:p>
        </p:txBody>
      </p:sp>
      <p:pic>
        <p:nvPicPr>
          <p:cNvPr id="501" name="Google Shape;501;p55"/>
          <p:cNvPicPr preferRelativeResize="0"/>
          <p:nvPr/>
        </p:nvPicPr>
        <p:blipFill rotWithShape="1">
          <a:blip r:embed="rId3">
            <a:alphaModFix/>
          </a:blip>
          <a:srcRect l="12500" t="21614" r="10938" b="11458"/>
          <a:stretch/>
        </p:blipFill>
        <p:spPr>
          <a:xfrm>
            <a:off x="320675" y="1612900"/>
            <a:ext cx="7756525" cy="484346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Program Metrics</a:t>
            </a:r>
            <a:endParaRPr/>
          </a:p>
        </p:txBody>
      </p:sp>
      <p:sp>
        <p:nvSpPr>
          <p:cNvPr id="509" name="Google Shape;509;p56"/>
          <p:cNvSpPr txBox="1">
            <a:spLocks noGrp="1"/>
          </p:cNvSpPr>
          <p:nvPr>
            <p:ph type="body" idx="4294967295"/>
          </p:nvPr>
        </p:nvSpPr>
        <p:spPr>
          <a:xfrm>
            <a:off x="193675" y="660400"/>
            <a:ext cx="8966200" cy="57340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500"/>
              <a:buFont typeface="Times New Roman"/>
              <a:buChar char="•"/>
            </a:pPr>
            <a:r>
              <a:rPr lang="en-US" sz="2000"/>
              <a:t>Based on a module’s fan-in and fan-out information flow characteristics, Henry and Kafura define a complexity metric, </a:t>
            </a:r>
            <a:endParaRPr/>
          </a:p>
          <a:p>
            <a:pPr marL="1295400" lvl="2" indent="-381000" algn="l" rtl="0">
              <a:lnSpc>
                <a:spcPct val="90000"/>
              </a:lnSpc>
              <a:spcBef>
                <a:spcPts val="600"/>
              </a:spcBef>
              <a:spcAft>
                <a:spcPts val="0"/>
              </a:spcAft>
              <a:buClr>
                <a:srgbClr val="663300"/>
              </a:buClr>
              <a:buSzPts val="2000"/>
              <a:buFont typeface="Times New Roman"/>
              <a:buNone/>
            </a:pPr>
            <a:r>
              <a:rPr lang="en-US"/>
              <a:t>Cp = (fan-in × fan- out).</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A large fan-in and a large fan-out may be symptoms of a poor design. </a:t>
            </a:r>
            <a:endParaRPr/>
          </a:p>
          <a:p>
            <a:pPr marL="457200" lvl="0" indent="-457200" algn="l" rtl="0">
              <a:lnSpc>
                <a:spcPct val="90000"/>
              </a:lnSpc>
              <a:spcBef>
                <a:spcPts val="600"/>
              </a:spcBef>
              <a:spcAft>
                <a:spcPts val="0"/>
              </a:spcAft>
              <a:buClr>
                <a:srgbClr val="000000"/>
              </a:buClr>
              <a:buSzPts val="1500"/>
              <a:buFont typeface="Times New Roman"/>
              <a:buChar char="•"/>
            </a:pPr>
            <a:r>
              <a:rPr lang="en-US" sz="2000"/>
              <a:t>Six performance metrics are found in the Chidamber-Kemerer CK metric suite:</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Weighted Methods per Class (WMC) – This is the number of methods implemented within a given class.</a:t>
            </a:r>
            <a:endParaRPr/>
          </a:p>
          <a:p>
            <a:pPr marL="838200" lvl="1" indent="-381000" algn="l" rtl="0">
              <a:lnSpc>
                <a:spcPct val="90000"/>
              </a:lnSpc>
              <a:spcBef>
                <a:spcPts val="540"/>
              </a:spcBef>
              <a:spcAft>
                <a:spcPts val="0"/>
              </a:spcAft>
              <a:buClr>
                <a:schemeClr val="dk2"/>
              </a:buClr>
              <a:buSzPts val="1800"/>
              <a:buFont typeface="Times New Roman"/>
              <a:buNone/>
            </a:pPr>
            <a:r>
              <a:rPr lang="en-US" sz="1800"/>
              <a:t>• Response for a Class (RFC) – This is the number of methods that can potentially be executed in response to a message being received by an object of a given class. </a:t>
            </a:r>
            <a:endParaRPr/>
          </a:p>
          <a:p>
            <a:pPr marL="838200" lvl="1" indent="-381000" algn="l" rtl="0">
              <a:lnSpc>
                <a:spcPct val="90000"/>
              </a:lnSpc>
              <a:spcBef>
                <a:spcPts val="600"/>
              </a:spcBef>
              <a:spcAft>
                <a:spcPts val="0"/>
              </a:spcAft>
              <a:buClr>
                <a:schemeClr val="dk2"/>
              </a:buClr>
              <a:buSzPts val="1800"/>
              <a:buFont typeface="Times New Roman"/>
              <a:buNone/>
            </a:pPr>
            <a:r>
              <a:rPr lang="en-US" sz="1800"/>
              <a:t>• Lack of Cohesion in Methods (LCOM) – For each attribute in a given class, calculate the </a:t>
            </a:r>
            <a:r>
              <a:rPr lang="en-US"/>
              <a:t>percentage of the methods in the class using that attributes. Next, compute the average of all those percentages, and subtract the average from 100 percent.</a:t>
            </a:r>
            <a:endParaRPr/>
          </a:p>
          <a:p>
            <a:pPr marL="838200" lvl="1" indent="-381000" algn="l" rtl="0">
              <a:lnSpc>
                <a:spcPct val="90000"/>
              </a:lnSpc>
              <a:spcBef>
                <a:spcPts val="600"/>
              </a:spcBef>
              <a:spcAft>
                <a:spcPts val="0"/>
              </a:spcAft>
              <a:buClr>
                <a:schemeClr val="dk2"/>
              </a:buClr>
              <a:buSzPts val="2000"/>
              <a:buFont typeface="Times New Roman"/>
              <a:buNone/>
            </a:pPr>
            <a:r>
              <a:rPr lang="en-US"/>
              <a:t>• Coupling between Object Class (CBO) – This is the number of distinct non-inheritance related classes on which a given class is coupled. </a:t>
            </a:r>
            <a:endParaRPr/>
          </a:p>
          <a:p>
            <a:pPr marL="838200" lvl="1" indent="-381000" algn="l" rtl="0">
              <a:lnSpc>
                <a:spcPct val="90000"/>
              </a:lnSpc>
              <a:spcBef>
                <a:spcPts val="600"/>
              </a:spcBef>
              <a:spcAft>
                <a:spcPts val="0"/>
              </a:spcAft>
              <a:buClr>
                <a:schemeClr val="dk2"/>
              </a:buClr>
              <a:buSzPts val="2000"/>
              <a:buFont typeface="Times New Roman"/>
              <a:buNone/>
            </a:pPr>
            <a:r>
              <a:rPr lang="en-US"/>
              <a:t>• Depth of Inheritance Tree (DIT) – This is the length of the longest path from a given class to the root in the inheritance hierarchy.</a:t>
            </a:r>
            <a:endParaRPr/>
          </a:p>
          <a:p>
            <a:pPr marL="838200" lvl="1" indent="-381000" algn="l" rtl="0">
              <a:lnSpc>
                <a:spcPct val="90000"/>
              </a:lnSpc>
              <a:spcBef>
                <a:spcPts val="600"/>
              </a:spcBef>
              <a:spcAft>
                <a:spcPts val="0"/>
              </a:spcAft>
              <a:buClr>
                <a:schemeClr val="dk2"/>
              </a:buClr>
              <a:buSzPts val="2000"/>
              <a:buFont typeface="Times New Roman"/>
              <a:buNone/>
            </a:pPr>
            <a:r>
              <a:rPr lang="en-US"/>
              <a:t>• Number of Children (NOC) – This is the number of classes that directly inherit from a given class.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4.6.7 Program Metrics</a:t>
            </a:r>
            <a:endParaRPr/>
          </a:p>
        </p:txBody>
      </p:sp>
      <p:sp>
        <p:nvSpPr>
          <p:cNvPr id="517" name="Google Shape;517;p57"/>
          <p:cNvSpPr txBox="1">
            <a:spLocks noGrp="1"/>
          </p:cNvSpPr>
          <p:nvPr>
            <p:ph type="body" idx="4294967295"/>
          </p:nvPr>
        </p:nvSpPr>
        <p:spPr>
          <a:xfrm>
            <a:off x="193675" y="660400"/>
            <a:ext cx="8966200" cy="5734050"/>
          </a:xfrm>
          <a:prstGeom prst="rect">
            <a:avLst/>
          </a:prstGeom>
          <a:noFill/>
          <a:ln>
            <a:noFill/>
          </a:ln>
        </p:spPr>
        <p:txBody>
          <a:bodyPr spcFirstLastPara="1" wrap="square" lIns="92075" tIns="46025" rIns="92075" bIns="46025" anchor="t" anchorCtr="0">
            <a:noAutofit/>
          </a:bodyPr>
          <a:lstStyle/>
          <a:p>
            <a:pPr marL="457200" lvl="0" indent="-457200" algn="l" rtl="0">
              <a:lnSpc>
                <a:spcPct val="90000"/>
              </a:lnSpc>
              <a:spcBef>
                <a:spcPts val="0"/>
              </a:spcBef>
              <a:spcAft>
                <a:spcPts val="0"/>
              </a:spcAft>
              <a:buClr>
                <a:srgbClr val="000000"/>
              </a:buClr>
              <a:buSzPts val="1800"/>
              <a:buFont typeface="Times New Roman"/>
              <a:buChar char="•"/>
            </a:pPr>
            <a:r>
              <a:rPr lang="en-US"/>
              <a:t>Kontogiannis et al. developed techniques to detect clones in programs using five kinds of metrics:</a:t>
            </a:r>
            <a:endParaRPr/>
          </a:p>
          <a:p>
            <a:pPr marL="838200" lvl="1" indent="-381000" algn="l" rtl="0">
              <a:lnSpc>
                <a:spcPct val="90000"/>
              </a:lnSpc>
              <a:spcBef>
                <a:spcPts val="600"/>
              </a:spcBef>
              <a:spcAft>
                <a:spcPts val="0"/>
              </a:spcAft>
              <a:buClr>
                <a:schemeClr val="dk2"/>
              </a:buClr>
              <a:buSzPts val="2000"/>
              <a:buFont typeface="Times New Roman"/>
              <a:buNone/>
            </a:pPr>
            <a:r>
              <a:rPr lang="en-US"/>
              <a:t>• fan-out.</a:t>
            </a:r>
            <a:endParaRPr/>
          </a:p>
          <a:p>
            <a:pPr marL="838200" lvl="1" indent="-381000" algn="l" rtl="0">
              <a:lnSpc>
                <a:spcPct val="90000"/>
              </a:lnSpc>
              <a:spcBef>
                <a:spcPts val="600"/>
              </a:spcBef>
              <a:spcAft>
                <a:spcPts val="0"/>
              </a:spcAft>
              <a:buClr>
                <a:schemeClr val="dk2"/>
              </a:buClr>
              <a:buSzPts val="2000"/>
              <a:buFont typeface="Times New Roman"/>
              <a:buNone/>
            </a:pPr>
            <a:r>
              <a:rPr lang="en-US"/>
              <a:t>• the ratio of the total count of input and output variables to the fan-out.</a:t>
            </a:r>
            <a:endParaRPr/>
          </a:p>
          <a:p>
            <a:pPr marL="838200" lvl="1" indent="-381000" algn="l" rtl="0">
              <a:lnSpc>
                <a:spcPct val="90000"/>
              </a:lnSpc>
              <a:spcBef>
                <a:spcPts val="600"/>
              </a:spcBef>
              <a:spcAft>
                <a:spcPts val="0"/>
              </a:spcAft>
              <a:buClr>
                <a:schemeClr val="dk2"/>
              </a:buClr>
              <a:buSzPts val="2000"/>
              <a:buFont typeface="Times New Roman"/>
              <a:buNone/>
            </a:pPr>
            <a:r>
              <a:rPr lang="en-US"/>
              <a:t>• cyclomatic complexity.</a:t>
            </a:r>
            <a:endParaRPr/>
          </a:p>
          <a:p>
            <a:pPr marL="838200" lvl="1" indent="-381000" algn="l" rtl="0">
              <a:lnSpc>
                <a:spcPct val="90000"/>
              </a:lnSpc>
              <a:spcBef>
                <a:spcPts val="600"/>
              </a:spcBef>
              <a:spcAft>
                <a:spcPts val="0"/>
              </a:spcAft>
              <a:buClr>
                <a:schemeClr val="dk2"/>
              </a:buClr>
              <a:buSzPts val="2000"/>
              <a:buFont typeface="Times New Roman"/>
              <a:buNone/>
            </a:pPr>
            <a:r>
              <a:rPr lang="en-US"/>
              <a:t>• function points metric.</a:t>
            </a:r>
            <a:endParaRPr/>
          </a:p>
          <a:p>
            <a:pPr marL="838200" lvl="1" indent="-381000" algn="l" rtl="0">
              <a:lnSpc>
                <a:spcPct val="90000"/>
              </a:lnSpc>
              <a:spcBef>
                <a:spcPts val="600"/>
              </a:spcBef>
              <a:spcAft>
                <a:spcPts val="0"/>
              </a:spcAft>
              <a:buClr>
                <a:schemeClr val="dk2"/>
              </a:buClr>
              <a:buSzPts val="2000"/>
              <a:buFont typeface="Times New Roman"/>
              <a:buNone/>
            </a:pPr>
            <a:r>
              <a:rPr lang="en-US"/>
              <a:t>• Henry and Kafura information-flow metric.</a:t>
            </a:r>
            <a:endParaRPr/>
          </a:p>
          <a:p>
            <a:pPr marL="457200" lvl="0" indent="-342900" algn="l" rtl="0">
              <a:lnSpc>
                <a:spcPct val="90000"/>
              </a:lnSpc>
              <a:spcBef>
                <a:spcPts val="720"/>
              </a:spcBef>
              <a:spcAft>
                <a:spcPts val="0"/>
              </a:spcAft>
              <a:buClr>
                <a:srgbClr val="000000"/>
              </a:buClr>
              <a:buSzPts val="1800"/>
              <a:buFont typeface="Times New Roman"/>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4.6.7 Program Metrics</a:t>
            </a:r>
            <a:endParaRPr/>
          </a:p>
        </p:txBody>
      </p:sp>
      <p:pic>
        <p:nvPicPr>
          <p:cNvPr id="525" name="Google Shape;525;p58"/>
          <p:cNvPicPr preferRelativeResize="0"/>
          <p:nvPr/>
        </p:nvPicPr>
        <p:blipFill rotWithShape="1">
          <a:blip r:embed="rId3">
            <a:alphaModFix/>
          </a:blip>
          <a:srcRect l="24715" t="13142" r="25858" b="23238"/>
          <a:stretch/>
        </p:blipFill>
        <p:spPr>
          <a:xfrm>
            <a:off x="1562100" y="771525"/>
            <a:ext cx="5934075" cy="57277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9"/>
          <p:cNvSpPr txBox="1">
            <a:spLocks noGrp="1"/>
          </p:cNvSpPr>
          <p:nvPr>
            <p:ph type="title" idx="4294967295"/>
          </p:nvPr>
        </p:nvSpPr>
        <p:spPr>
          <a:xfrm>
            <a:off x="0" y="0"/>
            <a:ext cx="9144000" cy="69691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4.7 Decompilation Versus Reverse Engineering</a:t>
            </a:r>
            <a:endParaRPr/>
          </a:p>
        </p:txBody>
      </p:sp>
      <p:pic>
        <p:nvPicPr>
          <p:cNvPr id="533" name="Google Shape;533;p59"/>
          <p:cNvPicPr preferRelativeResize="0"/>
          <p:nvPr/>
        </p:nvPicPr>
        <p:blipFill rotWithShape="1">
          <a:blip r:embed="rId3">
            <a:alphaModFix/>
          </a:blip>
          <a:srcRect/>
          <a:stretch/>
        </p:blipFill>
        <p:spPr>
          <a:xfrm>
            <a:off x="882650" y="854075"/>
            <a:ext cx="7700963" cy="4689475"/>
          </a:xfrm>
          <a:prstGeom prst="rect">
            <a:avLst/>
          </a:prstGeom>
          <a:noFill/>
          <a:ln>
            <a:noFill/>
          </a:ln>
        </p:spPr>
      </p:pic>
      <p:sp>
        <p:nvSpPr>
          <p:cNvPr id="534" name="Google Shape;534;p59"/>
          <p:cNvSpPr/>
          <p:nvPr/>
        </p:nvSpPr>
        <p:spPr>
          <a:xfrm>
            <a:off x="269875" y="5711825"/>
            <a:ext cx="8683625"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a:solidFill>
                  <a:srgbClr val="3333FF"/>
                </a:solidFill>
                <a:latin typeface="Times New Roman"/>
                <a:ea typeface="Times New Roman"/>
                <a:cs typeface="Times New Roman"/>
                <a:sym typeface="Times New Roman"/>
              </a:rPr>
              <a:t>Figure 4.14 Relationship between decompilation and traditional reengineering ©2007</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6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4.7 Decompilation Versus Reverse Engineering</a:t>
            </a:r>
            <a:endParaRPr/>
          </a:p>
        </p:txBody>
      </p:sp>
      <p:sp>
        <p:nvSpPr>
          <p:cNvPr id="542" name="Google Shape;542;p60"/>
          <p:cNvSpPr/>
          <p:nvPr/>
        </p:nvSpPr>
        <p:spPr>
          <a:xfrm>
            <a:off x="231775" y="901700"/>
            <a:ext cx="8494713" cy="50101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A decompiler takes an executable binary file and attempts to produce readable high-level language source code from it.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output will, in general, not be the same as the original source code, and may not even be in the same language.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decompiler does not provide the original programmers’ annotations that provide vital instructions as to the functioning of the software.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Disassemblers are programs that take a program’s executable binary as input and generate text files that contain the assembly language code for the entire program or parts of it.</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Decompilation, or disassembly, is a reverse engineering process, since it creates representations of the system at a higher level of abstraction</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However, traditional reverse engineering from source code entails the recognition of “goals”, or “plans”, which must be known in advance.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However, compilation is not considered part of the forward engineering, since it is an automatic step.</a:t>
            </a:r>
            <a:endParaRPr/>
          </a:p>
          <a:p>
            <a:pPr marL="457200" marR="0" lvl="0" indent="-457200" algn="l" rtl="0">
              <a:lnSpc>
                <a:spcPct val="90000"/>
              </a:lnSpc>
              <a:spcBef>
                <a:spcPts val="60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61"/>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4.7 Decompilation Versus Reverse Engineering</a:t>
            </a:r>
            <a:endParaRPr/>
          </a:p>
        </p:txBody>
      </p:sp>
      <p:sp>
        <p:nvSpPr>
          <p:cNvPr id="550" name="Google Shape;550;p61"/>
          <p:cNvSpPr/>
          <p:nvPr/>
        </p:nvSpPr>
        <p:spPr>
          <a:xfrm>
            <a:off x="231775" y="698500"/>
            <a:ext cx="8494713" cy="55181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Decompilers aided program migration from one machine to another.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As decompilation capabilities have increased, a wide range of potential applications emerged.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Examples of new applications are:</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recovery of lost source code. </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error correction. </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security testing. </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learning algorithms. </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interoperability with other programs.</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recovery of someone else’s source code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Not all uses of decompilers are legal uses.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Most of the applications must be examined from the patent and/or copyright infringement point of view.</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It is recommended to seek legal counsel before starting any low-level reverse engineering project.</a:t>
            </a:r>
            <a:endParaRPr/>
          </a:p>
          <a:p>
            <a:pPr marL="457200" marR="0" lvl="0" indent="-361950" algn="l" rtl="0">
              <a:lnSpc>
                <a:spcPct val="90000"/>
              </a:lnSpc>
              <a:spcBef>
                <a:spcPts val="60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4.8 Data Reverse Engineering</a:t>
            </a:r>
            <a:endParaRPr/>
          </a:p>
        </p:txBody>
      </p:sp>
      <p:sp>
        <p:nvSpPr>
          <p:cNvPr id="558" name="Google Shape;558;p62"/>
          <p:cNvSpPr/>
          <p:nvPr/>
        </p:nvSpPr>
        <p:spPr>
          <a:xfrm>
            <a:off x="231775" y="749300"/>
            <a:ext cx="8494713" cy="5607050"/>
          </a:xfrm>
          <a:prstGeom prst="rect">
            <a:avLst/>
          </a:prstGeom>
          <a:noFill/>
          <a:ln>
            <a:noFill/>
          </a:ln>
        </p:spPr>
        <p:txBody>
          <a:bodyPr spcFirstLastPara="1" wrap="square" lIns="92075" tIns="46025" rIns="92075" bIns="46025" anchor="t" anchorCtr="0">
            <a:noAutofit/>
          </a:bodyPr>
          <a:lstStyle/>
          <a:p>
            <a:pPr marL="495300" marR="0" lvl="0" indent="-495300" algn="l" rtl="0">
              <a:lnSpc>
                <a:spcPct val="90000"/>
              </a:lnSpc>
              <a:spcBef>
                <a:spcPts val="0"/>
              </a:spcBef>
              <a:spcAft>
                <a:spcPts val="0"/>
              </a:spcAft>
              <a:buClr>
                <a:srgbClr val="3333FF"/>
              </a:buClr>
              <a:buSzPts val="1800"/>
              <a:buFont typeface="Times New Roman"/>
              <a:buChar char="•"/>
            </a:pPr>
            <a:r>
              <a:rPr lang="en-US" sz="2400" b="1">
                <a:solidFill>
                  <a:srgbClr val="3333FF"/>
                </a:solidFill>
                <a:latin typeface="Times New Roman"/>
                <a:ea typeface="Times New Roman"/>
                <a:cs typeface="Times New Roman"/>
                <a:sym typeface="Times New Roman"/>
              </a:rPr>
              <a:t>Data Reverse Engineering (DRE)</a:t>
            </a:r>
            <a:r>
              <a:rPr lang="en-US" sz="2000" b="0">
                <a:solidFill>
                  <a:srgbClr val="000000"/>
                </a:solidFill>
                <a:latin typeface="Times New Roman"/>
                <a:ea typeface="Times New Roman"/>
                <a:cs typeface="Times New Roman"/>
                <a:sym typeface="Times New Roman"/>
              </a:rPr>
              <a:t> is defined as “the use of structured techniques to reconstitute the data assets of an existing system” . </a:t>
            </a:r>
            <a:endParaRPr/>
          </a:p>
          <a:p>
            <a:pPr marL="495300" marR="0" lvl="0" indent="-495300" algn="l" rtl="0">
              <a:lnSpc>
                <a:spcPct val="90000"/>
              </a:lnSpc>
              <a:spcBef>
                <a:spcPts val="72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By means of structured techniques, existing situations are analyzed and models are constructed prior to developing the new system.</a:t>
            </a:r>
            <a:r>
              <a:rPr lang="en-US" sz="2400" b="0">
                <a:solidFill>
                  <a:srgbClr val="000000"/>
                </a:solidFill>
                <a:latin typeface="Times New Roman"/>
                <a:ea typeface="Times New Roman"/>
                <a:cs typeface="Times New Roman"/>
                <a:sym typeface="Times New Roman"/>
              </a:rPr>
              <a:t> </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two vital aspects of a DRE process are:</a:t>
            </a:r>
            <a:endParaRPr/>
          </a:p>
          <a:p>
            <a:pPr marL="869950" marR="0" lvl="1" indent="-412750" algn="l" rtl="0">
              <a:lnSpc>
                <a:spcPct val="90000"/>
              </a:lnSpc>
              <a:spcBef>
                <a:spcPts val="600"/>
              </a:spcBef>
              <a:spcAft>
                <a:spcPts val="0"/>
              </a:spcAft>
              <a:buClr>
                <a:schemeClr val="dk2"/>
              </a:buClr>
              <a:buSzPts val="2000"/>
              <a:buFont typeface="Times New Roman"/>
              <a:buNone/>
            </a:pPr>
            <a:r>
              <a:rPr lang="en-US" sz="2000" b="0" i="0" u="none" strike="noStrike" cap="none">
                <a:solidFill>
                  <a:schemeClr val="dk2"/>
                </a:solidFill>
                <a:latin typeface="Times New Roman"/>
                <a:ea typeface="Times New Roman"/>
                <a:cs typeface="Times New Roman"/>
                <a:sym typeface="Times New Roman"/>
              </a:rPr>
              <a:t>(i) recover data assets that are valuable;</a:t>
            </a:r>
            <a:endParaRPr/>
          </a:p>
          <a:p>
            <a:pPr marL="869950" marR="0" lvl="1" indent="-412750" algn="l" rtl="0">
              <a:lnSpc>
                <a:spcPct val="90000"/>
              </a:lnSpc>
              <a:spcBef>
                <a:spcPts val="600"/>
              </a:spcBef>
              <a:spcAft>
                <a:spcPts val="0"/>
              </a:spcAft>
              <a:buClr>
                <a:schemeClr val="dk2"/>
              </a:buClr>
              <a:buSzPts val="2000"/>
              <a:buFont typeface="Times New Roman"/>
              <a:buNone/>
            </a:pPr>
            <a:r>
              <a:rPr lang="en-US" sz="2000" b="0" i="0" u="none" strike="noStrike" cap="none">
                <a:solidFill>
                  <a:schemeClr val="dk2"/>
                </a:solidFill>
                <a:latin typeface="Times New Roman"/>
                <a:ea typeface="Times New Roman"/>
                <a:cs typeface="Times New Roman"/>
                <a:sym typeface="Times New Roman"/>
              </a:rPr>
              <a:t>(ii) reconstitute the recovered data assets to make them more useful.</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purpose of DRE is as follows:</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1. Knowledge acquisition.	6. Data conversion.	</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2. Tentative requirements.	7. Software assessment.	</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3. Documentation.		8. Quality assessment.</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4. Integration.		9. Component reuse.</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5. Data administration.</a:t>
            </a:r>
            <a:endParaRPr/>
          </a:p>
          <a:p>
            <a:pPr marL="495300" marR="0" lvl="0" indent="-495300" algn="l" rtl="0">
              <a:lnSpc>
                <a:spcPct val="90000"/>
              </a:lnSpc>
              <a:spcBef>
                <a:spcPts val="600"/>
              </a:spcBef>
              <a:spcAft>
                <a:spcPts val="0"/>
              </a:spcAft>
              <a:buClr>
                <a:srgbClr val="000000"/>
              </a:buClr>
              <a:buSzPts val="1500"/>
              <a:buFont typeface="Times New Roman"/>
              <a:buNone/>
            </a:pPr>
            <a:endParaRPr sz="2000" b="0">
              <a:solidFill>
                <a:srgbClr val="000000"/>
              </a:solidFill>
              <a:latin typeface="Times New Roman"/>
              <a:ea typeface="Times New Roman"/>
              <a:cs typeface="Times New Roman"/>
              <a:sym typeface="Times New Roman"/>
            </a:endParaRPr>
          </a:p>
          <a:p>
            <a:pPr marL="495300" marR="0" lvl="0" indent="-495300" algn="l" rtl="0">
              <a:lnSpc>
                <a:spcPct val="90000"/>
              </a:lnSpc>
              <a:spcBef>
                <a:spcPts val="60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6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4.8 Data Reverse Engineering</a:t>
            </a:r>
            <a:endParaRPr/>
          </a:p>
        </p:txBody>
      </p:sp>
      <p:sp>
        <p:nvSpPr>
          <p:cNvPr id="566" name="Google Shape;566;p63"/>
          <p:cNvSpPr/>
          <p:nvPr/>
        </p:nvSpPr>
        <p:spPr>
          <a:xfrm>
            <a:off x="231775" y="749300"/>
            <a:ext cx="8494713" cy="5607050"/>
          </a:xfrm>
          <a:prstGeom prst="rect">
            <a:avLst/>
          </a:prstGeom>
          <a:noFill/>
          <a:ln>
            <a:noFill/>
          </a:ln>
        </p:spPr>
        <p:txBody>
          <a:bodyPr spcFirstLastPara="1" wrap="square" lIns="92075" tIns="46025" rIns="92075" bIns="46025" anchor="t" anchorCtr="0">
            <a:noAutofit/>
          </a:bodyPr>
          <a:lstStyle/>
          <a:p>
            <a:pPr marL="495300" marR="0" lvl="0" indent="-4953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Reverse engineering of a </a:t>
            </a:r>
            <a:r>
              <a:rPr lang="en-US" sz="2000" b="1">
                <a:solidFill>
                  <a:srgbClr val="3333FF"/>
                </a:solidFill>
                <a:latin typeface="Times New Roman"/>
                <a:ea typeface="Times New Roman"/>
                <a:cs typeface="Times New Roman"/>
                <a:sym typeface="Times New Roman"/>
              </a:rPr>
              <a:t>data-oriented application</a:t>
            </a:r>
            <a:r>
              <a:rPr lang="en-US" sz="2000" b="0">
                <a:solidFill>
                  <a:srgbClr val="000000"/>
                </a:solidFill>
                <a:latin typeface="Times New Roman"/>
                <a:ea typeface="Times New Roman"/>
                <a:cs typeface="Times New Roman"/>
                <a:sym typeface="Times New Roman"/>
              </a:rPr>
              <a:t>, including its user interface, begins with DRE. </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Recovering the specifications, that is the conceptual schema in database realm, of such applications is known as </a:t>
            </a:r>
            <a:r>
              <a:rPr lang="en-US" sz="2000" b="1">
                <a:solidFill>
                  <a:srgbClr val="3333FF"/>
                </a:solidFill>
                <a:latin typeface="Times New Roman"/>
                <a:ea typeface="Times New Roman"/>
                <a:cs typeface="Times New Roman"/>
                <a:sym typeface="Times New Roman"/>
              </a:rPr>
              <a:t>database reverse engineering (DBRE).</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A DBRE process facilitates understanding and redocumenting an application’s database and files.</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By means of a DBRE process, one can recreate the complete logical and </a:t>
            </a:r>
            <a:r>
              <a:rPr lang="en-US" sz="2000" b="1">
                <a:solidFill>
                  <a:srgbClr val="3333FF"/>
                </a:solidFill>
                <a:latin typeface="Times New Roman"/>
                <a:ea typeface="Times New Roman"/>
                <a:cs typeface="Times New Roman"/>
                <a:sym typeface="Times New Roman"/>
              </a:rPr>
              <a:t>conceptual schemas</a:t>
            </a:r>
            <a:r>
              <a:rPr lang="en-US" sz="2000" b="0">
                <a:solidFill>
                  <a:srgbClr val="000000"/>
                </a:solidFill>
                <a:latin typeface="Times New Roman"/>
                <a:ea typeface="Times New Roman"/>
                <a:cs typeface="Times New Roman"/>
                <a:sym typeface="Times New Roman"/>
              </a:rPr>
              <a:t> of a database </a:t>
            </a:r>
            <a:r>
              <a:rPr lang="en-US" sz="2000" b="1">
                <a:solidFill>
                  <a:srgbClr val="3333FF"/>
                </a:solidFill>
                <a:latin typeface="Times New Roman"/>
                <a:ea typeface="Times New Roman"/>
                <a:cs typeface="Times New Roman"/>
                <a:sym typeface="Times New Roman"/>
              </a:rPr>
              <a:t>physical schema</a:t>
            </a:r>
            <a:r>
              <a:rPr lang="en-US" sz="2000" b="0">
                <a:solidFill>
                  <a:srgbClr val="000000"/>
                </a:solidFill>
                <a:latin typeface="Times New Roman"/>
                <a:ea typeface="Times New Roman"/>
                <a:cs typeface="Times New Roman"/>
                <a:sym typeface="Times New Roman"/>
              </a:rPr>
              <a:t>.</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a:t>
            </a:r>
            <a:r>
              <a:rPr lang="en-US" sz="2000" b="1">
                <a:solidFill>
                  <a:srgbClr val="3333FF"/>
                </a:solidFill>
                <a:latin typeface="Times New Roman"/>
                <a:ea typeface="Times New Roman"/>
                <a:cs typeface="Times New Roman"/>
                <a:sym typeface="Times New Roman"/>
              </a:rPr>
              <a:t>conceptual schema</a:t>
            </a:r>
            <a:r>
              <a:rPr lang="en-US" sz="2000" b="0">
                <a:solidFill>
                  <a:srgbClr val="000000"/>
                </a:solidFill>
                <a:latin typeface="Times New Roman"/>
                <a:ea typeface="Times New Roman"/>
                <a:cs typeface="Times New Roman"/>
                <a:sym typeface="Times New Roman"/>
              </a:rPr>
              <a:t> is an abstract, implementation independent description of the stored data.</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A </a:t>
            </a:r>
            <a:r>
              <a:rPr lang="en-US" sz="2000" b="1">
                <a:solidFill>
                  <a:srgbClr val="3333FF"/>
                </a:solidFill>
                <a:latin typeface="Times New Roman"/>
                <a:ea typeface="Times New Roman"/>
                <a:cs typeface="Times New Roman"/>
                <a:sym typeface="Times New Roman"/>
              </a:rPr>
              <a:t>logical schema</a:t>
            </a:r>
            <a:r>
              <a:rPr lang="en-US" sz="2000" b="0">
                <a:solidFill>
                  <a:srgbClr val="000000"/>
                </a:solidFill>
                <a:latin typeface="Times New Roman"/>
                <a:ea typeface="Times New Roman"/>
                <a:cs typeface="Times New Roman"/>
                <a:sym typeface="Times New Roman"/>
              </a:rPr>
              <a:t> describes the data structures in concrete forms as those are implemented by the data manager.</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a:t>
            </a:r>
            <a:r>
              <a:rPr lang="en-US" sz="2000" b="1">
                <a:solidFill>
                  <a:srgbClr val="3333FF"/>
                </a:solidFill>
                <a:latin typeface="Times New Roman"/>
                <a:ea typeface="Times New Roman"/>
                <a:cs typeface="Times New Roman"/>
                <a:sym typeface="Times New Roman"/>
              </a:rPr>
              <a:t>physical schema</a:t>
            </a:r>
            <a:r>
              <a:rPr lang="en-US" sz="2000" b="0">
                <a:solidFill>
                  <a:srgbClr val="000000"/>
                </a:solidFill>
                <a:latin typeface="Times New Roman"/>
                <a:ea typeface="Times New Roman"/>
                <a:cs typeface="Times New Roman"/>
                <a:sym typeface="Times New Roman"/>
              </a:rPr>
              <a:t> of a database implements the logical schema by describing the physical constructs.</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Deep understanding of the forward design process is needed to reverse engineer a database.</a:t>
            </a:r>
            <a:endParaRPr/>
          </a:p>
          <a:p>
            <a:pPr marL="495300" marR="0" lvl="0" indent="-495300" algn="l" rtl="0">
              <a:lnSpc>
                <a:spcPct val="90000"/>
              </a:lnSpc>
              <a:spcBef>
                <a:spcPts val="60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4.8 Data Reverse Engineering</a:t>
            </a:r>
            <a:endParaRPr/>
          </a:p>
        </p:txBody>
      </p:sp>
      <p:sp>
        <p:nvSpPr>
          <p:cNvPr id="574" name="Google Shape;574;p64"/>
          <p:cNvSpPr/>
          <p:nvPr/>
        </p:nvSpPr>
        <p:spPr>
          <a:xfrm>
            <a:off x="231775" y="584200"/>
            <a:ext cx="8494713" cy="5772150"/>
          </a:xfrm>
          <a:prstGeom prst="rect">
            <a:avLst/>
          </a:prstGeom>
          <a:noFill/>
          <a:ln>
            <a:noFill/>
          </a:ln>
        </p:spPr>
        <p:txBody>
          <a:bodyPr spcFirstLastPara="1" wrap="square" lIns="92075" tIns="46025" rIns="92075" bIns="46025" anchor="t" anchorCtr="0">
            <a:noAutofit/>
          </a:bodyPr>
          <a:lstStyle/>
          <a:p>
            <a:pPr marL="495300" marR="0" lvl="0" indent="-4953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forward design process of a database comprises three basic phases as follows:</a:t>
            </a:r>
            <a:endParaRPr/>
          </a:p>
          <a:p>
            <a:pPr marL="869950" marR="0" lvl="1" indent="-41275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Conceptual phase: In this phase, user requirements are gathered, studied, and formalized into a conceptual schema. </a:t>
            </a:r>
            <a:endParaRPr/>
          </a:p>
          <a:p>
            <a:pPr marL="869950" marR="0" lvl="1" indent="-41275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Logical phase: In this phase, the conceptual schema is expressed as a simple model, which is suitable for optimization reasoning. </a:t>
            </a:r>
            <a:endParaRPr/>
          </a:p>
          <a:p>
            <a:pPr marL="869950" marR="0" lvl="1" indent="-412750" algn="l" rtl="0">
              <a:lnSpc>
                <a:spcPct val="90000"/>
              </a:lnSpc>
              <a:spcBef>
                <a:spcPts val="60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Physical phase: Now the logical schema is described in the data description language (DDL) of the data management system and the host programming language.</a:t>
            </a:r>
            <a:r>
              <a:rPr lang="en-US" sz="2000" b="0" i="0" u="none" strike="noStrike" cap="none">
                <a:solidFill>
                  <a:schemeClr val="dk2"/>
                </a:solidFill>
                <a:latin typeface="Times New Roman"/>
                <a:ea typeface="Times New Roman"/>
                <a:cs typeface="Times New Roman"/>
                <a:sym typeface="Times New Roman"/>
              </a:rPr>
              <a:t> </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A DBRE process is based on backward execution of the logical phase and the physical phase.</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process is divided into two main phases, namely, </a:t>
            </a:r>
            <a:endParaRPr/>
          </a:p>
          <a:p>
            <a:pPr marL="869950" marR="0" lvl="1" indent="-41275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data structure extraction.</a:t>
            </a:r>
            <a:endParaRPr/>
          </a:p>
          <a:p>
            <a:pPr marL="869950" marR="0" lvl="1" indent="-41275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data structure conceptualization.</a:t>
            </a:r>
            <a:endParaRPr/>
          </a:p>
          <a:p>
            <a:pPr marL="495300" marR="0" lvl="0" indent="-4953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two phases relate to the recovery of two different schemas:</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(i) the first one retrieves the present structure of data from their host  language</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 representation.</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(ii) the second one retrieves a conceptual schema that describes the semantics </a:t>
            </a:r>
            <a:endParaRPr/>
          </a:p>
          <a:p>
            <a:pPr marL="1327150" marR="0" lvl="2" indent="-412750" algn="l" rtl="0">
              <a:lnSpc>
                <a:spcPct val="90000"/>
              </a:lnSpc>
              <a:spcBef>
                <a:spcPts val="540"/>
              </a:spcBef>
              <a:spcAft>
                <a:spcPts val="0"/>
              </a:spcAft>
              <a:buClr>
                <a:srgbClr val="663300"/>
              </a:buClr>
              <a:buSzPts val="1800"/>
              <a:buFont typeface="Times New Roman"/>
              <a:buNone/>
            </a:pPr>
            <a:r>
              <a:rPr lang="en-US" sz="1800" b="0" i="0" u="none" strike="noStrike" cap="none">
                <a:solidFill>
                  <a:srgbClr val="663300"/>
                </a:solidFill>
                <a:latin typeface="Times New Roman"/>
                <a:ea typeface="Times New Roman"/>
                <a:cs typeface="Times New Roman"/>
                <a:sym typeface="Times New Roman"/>
              </a:rPr>
              <a:t>underlying the existing data structures.</a:t>
            </a:r>
            <a:endParaRPr sz="1800" b="0" i="0" u="none" strike="noStrike" cap="none">
              <a:solidFill>
                <a:srgbClr val="0000FF"/>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65"/>
          <p:cNvSpPr txBox="1">
            <a:spLocks noGrp="1"/>
          </p:cNvSpPr>
          <p:nvPr>
            <p:ph type="title" idx="4294967295"/>
          </p:nvPr>
        </p:nvSpPr>
        <p:spPr>
          <a:xfrm>
            <a:off x="0" y="-9525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rgbClr val="3333FF"/>
                </a:solidFill>
              </a:rPr>
              <a:t>4.8 Data Reverse Engineering</a:t>
            </a:r>
            <a:endParaRPr/>
          </a:p>
        </p:txBody>
      </p:sp>
      <p:pic>
        <p:nvPicPr>
          <p:cNvPr id="582" name="Google Shape;582;p65"/>
          <p:cNvPicPr preferRelativeResize="0"/>
          <p:nvPr/>
        </p:nvPicPr>
        <p:blipFill rotWithShape="1">
          <a:blip r:embed="rId3">
            <a:alphaModFix/>
          </a:blip>
          <a:srcRect/>
          <a:stretch/>
        </p:blipFill>
        <p:spPr>
          <a:xfrm>
            <a:off x="1055688" y="712788"/>
            <a:ext cx="6964362" cy="5372100"/>
          </a:xfrm>
          <a:prstGeom prst="rect">
            <a:avLst/>
          </a:prstGeom>
          <a:noFill/>
          <a:ln>
            <a:noFill/>
          </a:ln>
        </p:spPr>
      </p:pic>
      <p:sp>
        <p:nvSpPr>
          <p:cNvPr id="583" name="Google Shape;583;p65"/>
          <p:cNvSpPr/>
          <p:nvPr/>
        </p:nvSpPr>
        <p:spPr>
          <a:xfrm>
            <a:off x="269875" y="6026150"/>
            <a:ext cx="8683625"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a:solidFill>
                  <a:srgbClr val="3333FF"/>
                </a:solidFill>
                <a:latin typeface="Times New Roman"/>
                <a:ea typeface="Times New Roman"/>
                <a:cs typeface="Times New Roman"/>
                <a:sym typeface="Times New Roman"/>
              </a:rPr>
              <a:t>Figure 4.15 General architecture of the DBRE methodology  ©IEEE 1997</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66"/>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4.8.1 Data Structure Extraction</a:t>
            </a:r>
            <a:endParaRPr/>
          </a:p>
        </p:txBody>
      </p:sp>
      <p:sp>
        <p:nvSpPr>
          <p:cNvPr id="591" name="Google Shape;591;p66"/>
          <p:cNvSpPr/>
          <p:nvPr/>
        </p:nvSpPr>
        <p:spPr>
          <a:xfrm>
            <a:off x="130175" y="660400"/>
            <a:ext cx="8912225" cy="54673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complete data management system schema, including the structures and constraints, are recovered in this phase.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In this methodology, data structures are extracted by means of the following main processes:</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1" i="0" u="none" strike="noStrike" cap="none">
                <a:solidFill>
                  <a:schemeClr val="dk2"/>
                </a:solidFill>
                <a:latin typeface="Times New Roman"/>
                <a:ea typeface="Times New Roman"/>
                <a:cs typeface="Times New Roman"/>
                <a:sym typeface="Times New Roman"/>
              </a:rPr>
              <a:t>DMS-DDL text analysis:</a:t>
            </a:r>
            <a:r>
              <a:rPr lang="en-US" sz="1800" b="0" i="0" u="none" strike="noStrike" cap="none">
                <a:solidFill>
                  <a:schemeClr val="dk2"/>
                </a:solidFill>
                <a:latin typeface="Times New Roman"/>
                <a:ea typeface="Times New Roman"/>
                <a:cs typeface="Times New Roman"/>
                <a:sym typeface="Times New Roman"/>
              </a:rPr>
              <a:t> Data structure declaration statements in a given DDL, found in the schema scripts and application programs, are analyzed to produce an approximate logical schema.</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1" i="0" u="none" strike="noStrike" cap="none">
                <a:solidFill>
                  <a:schemeClr val="dk2"/>
                </a:solidFill>
                <a:latin typeface="Times New Roman"/>
                <a:ea typeface="Times New Roman"/>
                <a:cs typeface="Times New Roman"/>
                <a:sym typeface="Times New Roman"/>
              </a:rPr>
              <a:t>Program analysis:</a:t>
            </a:r>
            <a:r>
              <a:rPr lang="en-US" sz="1800" b="0" i="0" u="none" strike="noStrike" cap="none">
                <a:solidFill>
                  <a:schemeClr val="dk2"/>
                </a:solidFill>
                <a:latin typeface="Times New Roman"/>
                <a:ea typeface="Times New Roman"/>
                <a:cs typeface="Times New Roman"/>
                <a:sym typeface="Times New Roman"/>
              </a:rPr>
              <a:t> This means analyzing the source code in order to detect integrity constraints and evidences of additional data structures.</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1" i="0" u="none" strike="noStrike" cap="none">
                <a:solidFill>
                  <a:schemeClr val="dk2"/>
                </a:solidFill>
                <a:latin typeface="Times New Roman"/>
                <a:ea typeface="Times New Roman"/>
                <a:cs typeface="Times New Roman"/>
                <a:sym typeface="Times New Roman"/>
              </a:rPr>
              <a:t>Data analysis:</a:t>
            </a:r>
            <a:r>
              <a:rPr lang="en-US" sz="1800" b="0" i="0" u="none" strike="noStrike" cap="none">
                <a:solidFill>
                  <a:schemeClr val="dk2"/>
                </a:solidFill>
                <a:latin typeface="Times New Roman"/>
                <a:ea typeface="Times New Roman"/>
                <a:cs typeface="Times New Roman"/>
                <a:sym typeface="Times New Roman"/>
              </a:rPr>
              <a:t> This means analyzing the files and databases to: (i) identify data structures and their properties, namely, unique fields and functional dependencies in files, and (ii) test hypothesis such as ”could this field be a foreign key to this file?”</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1" i="0" u="none" strike="noStrike" cap="none">
                <a:solidFill>
                  <a:schemeClr val="dk2"/>
                </a:solidFill>
                <a:latin typeface="Times New Roman"/>
                <a:ea typeface="Times New Roman"/>
                <a:cs typeface="Times New Roman"/>
                <a:sym typeface="Times New Roman"/>
              </a:rPr>
              <a:t>Schema integration:</a:t>
            </a:r>
            <a:r>
              <a:rPr lang="en-US" sz="1800" b="0" i="0" u="none" strike="noStrike" cap="none">
                <a:solidFill>
                  <a:schemeClr val="dk2"/>
                </a:solidFill>
                <a:latin typeface="Times New Roman"/>
                <a:ea typeface="Times New Roman"/>
                <a:cs typeface="Times New Roman"/>
                <a:sym typeface="Times New Roman"/>
              </a:rPr>
              <a:t> The analyst is generally presented with several schemas while processing more than one information source. Each of those multiple schemas offers a partial view of the data objects. All those partial views are reflected on the final logical schema via a process for schema integration.</a:t>
            </a:r>
            <a:endParaRPr sz="1800" b="0" i="0" u="none" strike="noStrike" cap="none">
              <a:solidFill>
                <a:srgbClr val="0000FF"/>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67"/>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4.8.2 Data Structure Conceptualization</a:t>
            </a:r>
            <a:endParaRPr/>
          </a:p>
        </p:txBody>
      </p:sp>
      <p:sp>
        <p:nvSpPr>
          <p:cNvPr id="599" name="Google Shape;599;p67"/>
          <p:cNvSpPr/>
          <p:nvPr/>
        </p:nvSpPr>
        <p:spPr>
          <a:xfrm>
            <a:off x="130175" y="660400"/>
            <a:ext cx="8912225" cy="54673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phase comprises two sub-phases: </a:t>
            </a:r>
            <a:r>
              <a:rPr lang="en-US" sz="2000" b="1">
                <a:solidFill>
                  <a:srgbClr val="000000"/>
                </a:solidFill>
                <a:latin typeface="Times New Roman"/>
                <a:ea typeface="Times New Roman"/>
                <a:cs typeface="Times New Roman"/>
                <a:sym typeface="Times New Roman"/>
              </a:rPr>
              <a:t>basic conceptualization</a:t>
            </a:r>
            <a:r>
              <a:rPr lang="en-US" sz="2000" b="0">
                <a:solidFill>
                  <a:srgbClr val="000000"/>
                </a:solidFill>
                <a:latin typeface="Times New Roman"/>
                <a:ea typeface="Times New Roman"/>
                <a:cs typeface="Times New Roman"/>
                <a:sym typeface="Times New Roman"/>
              </a:rPr>
              <a:t> and </a:t>
            </a:r>
            <a:r>
              <a:rPr lang="en-US" sz="2000" b="1">
                <a:solidFill>
                  <a:srgbClr val="000000"/>
                </a:solidFill>
                <a:latin typeface="Times New Roman"/>
                <a:ea typeface="Times New Roman"/>
                <a:cs typeface="Times New Roman"/>
                <a:sym typeface="Times New Roman"/>
              </a:rPr>
              <a:t>conceptual normalization.</a:t>
            </a:r>
            <a:endParaRPr sz="2000" b="0">
              <a:solidFill>
                <a:srgbClr val="000000"/>
              </a:solidFill>
              <a:latin typeface="Times New Roman"/>
              <a:ea typeface="Times New Roman"/>
              <a:cs typeface="Times New Roman"/>
              <a:sym typeface="Times New Roman"/>
            </a:endParaRPr>
          </a:p>
          <a:p>
            <a:pPr marL="457200" marR="0" lvl="0" indent="-457200" algn="l" rtl="0">
              <a:lnSpc>
                <a:spcPct val="90000"/>
              </a:lnSpc>
              <a:spcBef>
                <a:spcPts val="720"/>
              </a:spcBef>
              <a:spcAft>
                <a:spcPts val="0"/>
              </a:spcAft>
              <a:buClr>
                <a:srgbClr val="3333FF"/>
              </a:buClr>
              <a:buSzPts val="1800"/>
              <a:buFont typeface="Times New Roman"/>
              <a:buNone/>
            </a:pPr>
            <a:r>
              <a:rPr lang="en-US" sz="2400" b="1" u="sng">
                <a:solidFill>
                  <a:srgbClr val="3333FF"/>
                </a:solidFill>
                <a:latin typeface="Times New Roman"/>
                <a:ea typeface="Times New Roman"/>
                <a:cs typeface="Times New Roman"/>
                <a:sym typeface="Times New Roman"/>
              </a:rPr>
              <a:t>Basic conceptualization</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In this sub-phase, relevant semantic concepts are extracted from an underlying logical schema, by solving two different problems requiring very different methods and reasoning: </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schema untranslation.</a:t>
            </a:r>
            <a:endParaRPr/>
          </a:p>
          <a:p>
            <a:pPr marL="838200" marR="0" lvl="1" indent="-381000" algn="l" rtl="0">
              <a:lnSpc>
                <a:spcPct val="90000"/>
              </a:lnSpc>
              <a:spcBef>
                <a:spcPts val="540"/>
              </a:spcBef>
              <a:spcAft>
                <a:spcPts val="0"/>
              </a:spcAft>
              <a:buClr>
                <a:schemeClr val="dk2"/>
              </a:buClr>
              <a:buSzPts val="1800"/>
              <a:buFont typeface="Times New Roman"/>
              <a:buChar char="–"/>
            </a:pPr>
            <a:r>
              <a:rPr lang="en-US" sz="1800" b="0" i="0" u="none" strike="noStrike" cap="none">
                <a:solidFill>
                  <a:schemeClr val="dk2"/>
                </a:solidFill>
                <a:latin typeface="Times New Roman"/>
                <a:ea typeface="Times New Roman"/>
                <a:cs typeface="Times New Roman"/>
                <a:sym typeface="Times New Roman"/>
              </a:rPr>
              <a:t>schema de-optimization.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However, first the schema is made ready by cleaning it before tackling those two problems.</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a:t>
            </a:r>
            <a:r>
              <a:rPr lang="en-US" sz="2000" b="1">
                <a:solidFill>
                  <a:srgbClr val="000000"/>
                </a:solidFill>
                <a:latin typeface="Times New Roman"/>
                <a:ea typeface="Times New Roman"/>
                <a:cs typeface="Times New Roman"/>
                <a:sym typeface="Times New Roman"/>
              </a:rPr>
              <a:t>Making the schema ready:</a:t>
            </a:r>
            <a:r>
              <a:rPr lang="en-US" sz="2000" b="0">
                <a:solidFill>
                  <a:srgbClr val="000000"/>
                </a:solidFill>
                <a:latin typeface="Times New Roman"/>
                <a:ea typeface="Times New Roman"/>
                <a:cs typeface="Times New Roman"/>
                <a:sym typeface="Times New Roman"/>
              </a:rPr>
              <a:t> First, the original schema might be using some concrete constructs, such as files and access keys, which might have been useful in the data structure extraction phase, but now can be eliminated. </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Second, some names can be translated to more meaningful names. </a:t>
            </a:r>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0">
                <a:solidFill>
                  <a:srgbClr val="000000"/>
                </a:solidFill>
                <a:latin typeface="Times New Roman"/>
                <a:ea typeface="Times New Roman"/>
                <a:cs typeface="Times New Roman"/>
                <a:sym typeface="Times New Roman"/>
              </a:rPr>
              <a:t>     Third, some parts of the schema might be restructured before trying to interpret them.</a:t>
            </a:r>
            <a:endParaRPr/>
          </a:p>
          <a:p>
            <a:pPr marL="457200" marR="0" lvl="0" indent="-457200" algn="l" rtl="0">
              <a:lnSpc>
                <a:spcPct val="90000"/>
              </a:lnSpc>
              <a:spcBef>
                <a:spcPts val="600"/>
              </a:spcBef>
              <a:spcAft>
                <a:spcPts val="0"/>
              </a:spcAft>
              <a:buClr>
                <a:srgbClr val="000000"/>
              </a:buClr>
              <a:buSzPts val="1500"/>
              <a:buFont typeface="Times New Roman"/>
              <a:buNone/>
            </a:pPr>
            <a:endParaRPr sz="2000" b="1" u="sng">
              <a:solidFill>
                <a:srgbClr val="000000"/>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68"/>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4.8.2 Data Structure Conceptualization</a:t>
            </a:r>
            <a:endParaRPr/>
          </a:p>
        </p:txBody>
      </p:sp>
      <p:sp>
        <p:nvSpPr>
          <p:cNvPr id="607" name="Google Shape;607;p68"/>
          <p:cNvSpPr/>
          <p:nvPr/>
        </p:nvSpPr>
        <p:spPr>
          <a:xfrm>
            <a:off x="130175" y="660400"/>
            <a:ext cx="8912225" cy="57721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None/>
            </a:pPr>
            <a:r>
              <a:rPr lang="en-US" sz="2000" b="1">
                <a:solidFill>
                  <a:srgbClr val="000000"/>
                </a:solidFill>
                <a:latin typeface="Times New Roman"/>
                <a:ea typeface="Times New Roman"/>
                <a:cs typeface="Times New Roman"/>
                <a:sym typeface="Times New Roman"/>
              </a:rPr>
              <a:t>• Schema untranslation:</a:t>
            </a:r>
            <a:r>
              <a:rPr lang="en-US" sz="2000" b="0">
                <a:solidFill>
                  <a:srgbClr val="000000"/>
                </a:solidFill>
                <a:latin typeface="Times New Roman"/>
                <a:ea typeface="Times New Roman"/>
                <a:cs typeface="Times New Roman"/>
                <a:sym typeface="Times New Roman"/>
              </a:rPr>
              <a:t> The existing logical schema is a technical translation of the initial conceptual constructs. Untranslation means identifying the traces of those translations, and replacing them by their original conceptual constructs.</a:t>
            </a:r>
            <a:endParaRPr/>
          </a:p>
          <a:p>
            <a:pPr marL="457200" marR="0" lvl="0" indent="-457200" algn="l" rtl="0">
              <a:lnSpc>
                <a:spcPct val="90000"/>
              </a:lnSpc>
              <a:spcBef>
                <a:spcPts val="600"/>
              </a:spcBef>
              <a:spcAft>
                <a:spcPts val="0"/>
              </a:spcAft>
              <a:buClr>
                <a:srgbClr val="000000"/>
              </a:buClr>
              <a:buSzPts val="1500"/>
              <a:buFont typeface="Times New Roman"/>
              <a:buNone/>
            </a:pPr>
            <a:endParaRPr sz="2000" b="0">
              <a:solidFill>
                <a:srgbClr val="000000"/>
              </a:solidFill>
              <a:latin typeface="Times New Roman"/>
              <a:ea typeface="Times New Roman"/>
              <a:cs typeface="Times New Roman"/>
              <a:sym typeface="Times New Roman"/>
            </a:endParaRPr>
          </a:p>
          <a:p>
            <a:pPr marL="457200" marR="0" lvl="0" indent="-457200" algn="l" rtl="0">
              <a:lnSpc>
                <a:spcPct val="90000"/>
              </a:lnSpc>
              <a:spcBef>
                <a:spcPts val="600"/>
              </a:spcBef>
              <a:spcAft>
                <a:spcPts val="0"/>
              </a:spcAft>
              <a:buClr>
                <a:srgbClr val="000000"/>
              </a:buClr>
              <a:buSzPts val="1500"/>
              <a:buFont typeface="Times New Roman"/>
              <a:buNone/>
            </a:pPr>
            <a:r>
              <a:rPr lang="en-US" sz="2000" b="1">
                <a:solidFill>
                  <a:srgbClr val="000000"/>
                </a:solidFill>
                <a:latin typeface="Times New Roman"/>
                <a:ea typeface="Times New Roman"/>
                <a:cs typeface="Times New Roman"/>
                <a:sym typeface="Times New Roman"/>
              </a:rPr>
              <a:t>• Schema De Optimization:</a:t>
            </a:r>
            <a:r>
              <a:rPr lang="en-US" sz="2000" b="0">
                <a:solidFill>
                  <a:srgbClr val="000000"/>
                </a:solidFill>
                <a:latin typeface="Times New Roman"/>
                <a:ea typeface="Times New Roman"/>
                <a:cs typeface="Times New Roman"/>
                <a:sym typeface="Times New Roman"/>
              </a:rPr>
              <a:t> An optimized schema is generally more difficult to understand. Therefore, in a logical schema, it is useful to identify constructs included to perform optimization and replace those constructs.</a:t>
            </a:r>
            <a:endParaRPr/>
          </a:p>
          <a:p>
            <a:pPr marL="457200" marR="0" lvl="0" indent="-457200" algn="l" rtl="0">
              <a:lnSpc>
                <a:spcPct val="90000"/>
              </a:lnSpc>
              <a:spcBef>
                <a:spcPts val="600"/>
              </a:spcBef>
              <a:spcAft>
                <a:spcPts val="0"/>
              </a:spcAft>
              <a:buClr>
                <a:srgbClr val="000000"/>
              </a:buClr>
              <a:buSzPts val="1500"/>
              <a:buFont typeface="Times New Roman"/>
              <a:buNone/>
            </a:pPr>
            <a:endParaRPr sz="2000" b="0">
              <a:solidFill>
                <a:srgbClr val="000000"/>
              </a:solidFill>
              <a:latin typeface="Times New Roman"/>
              <a:ea typeface="Times New Roman"/>
              <a:cs typeface="Times New Roman"/>
              <a:sym typeface="Times New Roman"/>
            </a:endParaRPr>
          </a:p>
          <a:p>
            <a:pPr marL="457200" marR="0" lvl="0" indent="-457200" algn="l" rtl="0">
              <a:lnSpc>
                <a:spcPct val="90000"/>
              </a:lnSpc>
              <a:spcBef>
                <a:spcPts val="720"/>
              </a:spcBef>
              <a:spcAft>
                <a:spcPts val="0"/>
              </a:spcAft>
              <a:buClr>
                <a:srgbClr val="3333FF"/>
              </a:buClr>
              <a:buSzPts val="1800"/>
              <a:buFont typeface="Times New Roman"/>
              <a:buNone/>
            </a:pPr>
            <a:r>
              <a:rPr lang="en-US" sz="2400" b="1" u="sng">
                <a:solidFill>
                  <a:srgbClr val="3333FF"/>
                </a:solidFill>
                <a:latin typeface="Times New Roman"/>
                <a:ea typeface="Times New Roman"/>
                <a:cs typeface="Times New Roman"/>
                <a:sym typeface="Times New Roman"/>
              </a:rPr>
              <a:t>Conceptual normalization</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basic conceptual schema is restructured for it to have the desired qualities, namely, simplicity, readability, minimality, extensibility, and expressiveness.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Examples of conceptual normalization are: </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 replace some entity types by relationship types. </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(ii) replace some entity types by attributes. </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(iii) make the is-a relation explicit.</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(iv) standardize the names.</a:t>
            </a:r>
            <a:endParaRPr sz="1800" b="1" i="0" u="sng" strike="noStrike" cap="none">
              <a:solidFill>
                <a:schemeClr val="dk2"/>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69"/>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4.9 Reverse Engineering Tools</a:t>
            </a:r>
            <a:endParaRPr/>
          </a:p>
        </p:txBody>
      </p:sp>
      <p:sp>
        <p:nvSpPr>
          <p:cNvPr id="615" name="Google Shape;615;p69"/>
          <p:cNvSpPr/>
          <p:nvPr/>
        </p:nvSpPr>
        <p:spPr>
          <a:xfrm>
            <a:off x="231775" y="749300"/>
            <a:ext cx="8912225" cy="27749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Software reverse engineering is a complex process that tools can only support, not completely automate.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There is a need of human intervention with any reverse engineering project. </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tools can provide a new view of the product, as shown in Figure 4.16.</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The basic structure of reverse engineering tools is as follows:</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The software system to be reverse engineered is analyzed.</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The results of the analysis are stored in an information base.</a:t>
            </a:r>
            <a:endParaRPr/>
          </a:p>
          <a:p>
            <a:pPr marL="838200" marR="0" lvl="1" indent="-381000" algn="l" rtl="0">
              <a:lnSpc>
                <a:spcPct val="90000"/>
              </a:lnSpc>
              <a:spcBef>
                <a:spcPts val="540"/>
              </a:spcBef>
              <a:spcAft>
                <a:spcPts val="0"/>
              </a:spcAft>
              <a:buClr>
                <a:schemeClr val="dk2"/>
              </a:buClr>
              <a:buSzPts val="1800"/>
              <a:buFont typeface="Times New Roman"/>
              <a:buNone/>
            </a:pPr>
            <a:r>
              <a:rPr lang="en-US" sz="1800" b="0" i="0" u="none" strike="noStrike" cap="none">
                <a:solidFill>
                  <a:schemeClr val="dk2"/>
                </a:solidFill>
                <a:latin typeface="Times New Roman"/>
                <a:ea typeface="Times New Roman"/>
                <a:cs typeface="Times New Roman"/>
                <a:sym typeface="Times New Roman"/>
              </a:rPr>
              <a:t>• View composers use the information base to produce alternative views of the system.</a:t>
            </a:r>
            <a:endParaRPr/>
          </a:p>
          <a:p>
            <a:pPr marL="457200" marR="0" lvl="0" indent="-457200" algn="l" rtl="0">
              <a:lnSpc>
                <a:spcPct val="90000"/>
              </a:lnSpc>
              <a:spcBef>
                <a:spcPts val="600"/>
              </a:spcBef>
              <a:spcAft>
                <a:spcPts val="0"/>
              </a:spcAft>
              <a:buClr>
                <a:srgbClr val="000000"/>
              </a:buClr>
              <a:buSzPts val="1500"/>
              <a:buFont typeface="Times New Roman"/>
              <a:buNone/>
            </a:pPr>
            <a:endParaRPr sz="2000" b="0">
              <a:solidFill>
                <a:srgbClr val="0000FF"/>
              </a:solidFill>
              <a:latin typeface="Times New Roman"/>
              <a:ea typeface="Times New Roman"/>
              <a:cs typeface="Times New Roman"/>
              <a:sym typeface="Times New Roman"/>
            </a:endParaRPr>
          </a:p>
        </p:txBody>
      </p:sp>
      <p:pic>
        <p:nvPicPr>
          <p:cNvPr id="616" name="Google Shape;616;p69"/>
          <p:cNvPicPr preferRelativeResize="0"/>
          <p:nvPr/>
        </p:nvPicPr>
        <p:blipFill rotWithShape="1">
          <a:blip r:embed="rId3">
            <a:alphaModFix/>
          </a:blip>
          <a:srcRect/>
          <a:stretch/>
        </p:blipFill>
        <p:spPr>
          <a:xfrm>
            <a:off x="1452563" y="3582988"/>
            <a:ext cx="6243637" cy="2608262"/>
          </a:xfrm>
          <a:prstGeom prst="rect">
            <a:avLst/>
          </a:prstGeom>
          <a:noFill/>
          <a:ln>
            <a:noFill/>
          </a:ln>
        </p:spPr>
      </p:pic>
      <p:sp>
        <p:nvSpPr>
          <p:cNvPr id="617" name="Google Shape;617;p69"/>
          <p:cNvSpPr/>
          <p:nvPr/>
        </p:nvSpPr>
        <p:spPr>
          <a:xfrm>
            <a:off x="269875" y="6149975"/>
            <a:ext cx="8683625" cy="487363"/>
          </a:xfrm>
          <a:prstGeom prst="rect">
            <a:avLst/>
          </a:prstGeom>
          <a:noFill/>
          <a:ln>
            <a:noFill/>
          </a:ln>
        </p:spPr>
        <p:txBody>
          <a:bodyPr spcFirstLastPara="1" wrap="square" lIns="92075" tIns="46025" rIns="92075" bIns="46025" anchor="ctr" anchorCtr="0">
            <a:noAutofit/>
          </a:bodyPr>
          <a:lstStyle/>
          <a:p>
            <a:pPr marL="0" marR="0" lvl="0" indent="0" algn="ctr" rtl="0">
              <a:lnSpc>
                <a:spcPct val="90000"/>
              </a:lnSpc>
              <a:spcBef>
                <a:spcPts val="0"/>
              </a:spcBef>
              <a:spcAft>
                <a:spcPts val="0"/>
              </a:spcAft>
              <a:buNone/>
            </a:pPr>
            <a:r>
              <a:rPr lang="en-US" sz="1800" b="1">
                <a:solidFill>
                  <a:srgbClr val="3333FF"/>
                </a:solidFill>
                <a:latin typeface="Times New Roman"/>
                <a:ea typeface="Times New Roman"/>
                <a:cs typeface="Times New Roman"/>
                <a:sym typeface="Times New Roman"/>
              </a:rPr>
              <a:t>Figure 4.16 Basic structure of reverse engineering tools  ©IEEE 1990</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70"/>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t>4.9 Reverse Engineering Tools</a:t>
            </a:r>
            <a:endParaRPr/>
          </a:p>
        </p:txBody>
      </p:sp>
      <p:sp>
        <p:nvSpPr>
          <p:cNvPr id="625" name="Google Shape;625;p70"/>
          <p:cNvSpPr/>
          <p:nvPr/>
        </p:nvSpPr>
        <p:spPr>
          <a:xfrm>
            <a:off x="231775" y="749300"/>
            <a:ext cx="8912225" cy="54038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Ada SDA</a:t>
            </a:r>
            <a:r>
              <a:rPr lang="en-US" sz="2000" b="0">
                <a:solidFill>
                  <a:srgbClr val="000000"/>
                </a:solidFill>
                <a:latin typeface="Times New Roman"/>
                <a:ea typeface="Times New Roman"/>
                <a:cs typeface="Times New Roman"/>
                <a:sym typeface="Times New Roman"/>
              </a:rPr>
              <a:t> </a:t>
            </a:r>
            <a:r>
              <a:rPr lang="en-US" sz="2000" b="1">
                <a:solidFill>
                  <a:srgbClr val="3333FF"/>
                </a:solidFill>
                <a:latin typeface="Times New Roman"/>
                <a:ea typeface="Times New Roman"/>
                <a:cs typeface="Times New Roman"/>
                <a:sym typeface="Times New Roman"/>
              </a:rPr>
              <a:t>(System Dependency Analyzer)</a:t>
            </a:r>
            <a:r>
              <a:rPr lang="en-US" sz="2000" b="0">
                <a:solidFill>
                  <a:srgbClr val="000000"/>
                </a:solidFill>
                <a:latin typeface="Times New Roman"/>
                <a:ea typeface="Times New Roman"/>
                <a:cs typeface="Times New Roman"/>
                <a:sym typeface="Times New Roman"/>
              </a:rPr>
              <a:t> is a tool that supports analysis and migration of Ada programs.</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CodeCrawler</a:t>
            </a:r>
            <a:r>
              <a:rPr lang="en-US" sz="2000" b="0">
                <a:solidFill>
                  <a:srgbClr val="000000"/>
                </a:solidFill>
                <a:latin typeface="Times New Roman"/>
                <a:ea typeface="Times New Roman"/>
                <a:cs typeface="Times New Roman"/>
                <a:sym typeface="Times New Roman"/>
              </a:rPr>
              <a:t> is a language independent reverse engineering tool which combines metrics and software visualization.</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DMS (Design Maintenance System)</a:t>
            </a:r>
            <a:r>
              <a:rPr lang="en-US" sz="2000" b="0">
                <a:solidFill>
                  <a:srgbClr val="000000"/>
                </a:solidFill>
                <a:latin typeface="Times New Roman"/>
                <a:ea typeface="Times New Roman"/>
                <a:cs typeface="Times New Roman"/>
                <a:sym typeface="Times New Roman"/>
              </a:rPr>
              <a:t> toolkit developed by Semantic Design, Inc is composed of a set of tools for carrying out re-engineering of medium or large scale software systems.</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FermaT</a:t>
            </a:r>
            <a:r>
              <a:rPr lang="en-US" sz="2000" b="0">
                <a:solidFill>
                  <a:srgbClr val="000000"/>
                </a:solidFill>
                <a:latin typeface="Times New Roman"/>
                <a:ea typeface="Times New Roman"/>
                <a:cs typeface="Times New Roman"/>
                <a:sym typeface="Times New Roman"/>
              </a:rPr>
              <a:t> is the generic name for a set of tools designed by Software Migration Ltd., specifically to support assembler code comprehension, maintenance, and migration.</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GXL (Graph eXchange Language)</a:t>
            </a:r>
            <a:r>
              <a:rPr lang="en-US" sz="2000" b="0">
                <a:solidFill>
                  <a:srgbClr val="000000"/>
                </a:solidFill>
                <a:latin typeface="Times New Roman"/>
                <a:ea typeface="Times New Roman"/>
                <a:cs typeface="Times New Roman"/>
                <a:sym typeface="Times New Roman"/>
              </a:rPr>
              <a:t> is an XML-based format for sharing data between tools. GXL represents typed, attributed, directed, ordered graphs which are extended to represent hyper-graphs and hierarchical graphs.</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IDA Pro Disassembler and Debugger</a:t>
            </a:r>
            <a:r>
              <a:rPr lang="en-US" sz="2000" b="0">
                <a:solidFill>
                  <a:srgbClr val="000000"/>
                </a:solidFill>
                <a:latin typeface="Times New Roman"/>
                <a:ea typeface="Times New Roman"/>
                <a:cs typeface="Times New Roman"/>
                <a:sym typeface="Times New Roman"/>
              </a:rPr>
              <a:t> by Hex-Rays is a powerful disassembler that supports more than fifty different processor architectures, including IA-32, IA-64 (Itanium), and AMD64.</a:t>
            </a: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71"/>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4.9 Reverse Engineering Tools</a:t>
            </a:r>
            <a:endParaRPr/>
          </a:p>
        </p:txBody>
      </p:sp>
      <p:sp>
        <p:nvSpPr>
          <p:cNvPr id="633" name="Google Shape;633;p71"/>
          <p:cNvSpPr/>
          <p:nvPr/>
        </p:nvSpPr>
        <p:spPr>
          <a:xfrm>
            <a:off x="231775" y="749300"/>
            <a:ext cx="8912225" cy="54038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Hex-Rays</a:t>
            </a:r>
            <a:r>
              <a:rPr lang="en-US" sz="2000" b="0">
                <a:solidFill>
                  <a:srgbClr val="000000"/>
                </a:solidFill>
                <a:latin typeface="Times New Roman"/>
                <a:ea typeface="Times New Roman"/>
                <a:cs typeface="Times New Roman"/>
                <a:sym typeface="Times New Roman"/>
              </a:rPr>
              <a:t> Decompiler is a commercial decompiler plug-in for IDA Pro.</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Imagix 4D</a:t>
            </a:r>
            <a:r>
              <a:rPr lang="en-US" sz="2000" b="0">
                <a:solidFill>
                  <a:srgbClr val="000000"/>
                </a:solidFill>
                <a:latin typeface="Times New Roman"/>
                <a:ea typeface="Times New Roman"/>
                <a:cs typeface="Times New Roman"/>
                <a:sym typeface="Times New Roman"/>
              </a:rPr>
              <a:t> is useful in understanding legacy C, C++, and Java software.</a:t>
            </a:r>
            <a:endParaRPr/>
          </a:p>
          <a:p>
            <a:pPr marL="457200" marR="0" lvl="0" indent="-457200" algn="l" rtl="0">
              <a:lnSpc>
                <a:spcPct val="90000"/>
              </a:lnSpc>
              <a:spcBef>
                <a:spcPts val="600"/>
              </a:spcBef>
              <a:spcAft>
                <a:spcPts val="0"/>
              </a:spcAft>
              <a:buClr>
                <a:srgbClr val="000000"/>
              </a:buClr>
              <a:buSzPts val="1500"/>
              <a:buFont typeface="Times New Roman"/>
              <a:buChar char="•"/>
            </a:pPr>
            <a:r>
              <a:rPr lang="en-US" sz="2000" b="0">
                <a:solidFill>
                  <a:srgbClr val="000000"/>
                </a:solidFill>
                <a:latin typeface="Times New Roman"/>
                <a:ea typeface="Times New Roman"/>
                <a:cs typeface="Times New Roman"/>
                <a:sym typeface="Times New Roman"/>
              </a:rPr>
              <a:t> </a:t>
            </a:r>
            <a:r>
              <a:rPr lang="en-US" sz="2000" b="1">
                <a:solidFill>
                  <a:srgbClr val="3333FF"/>
                </a:solidFill>
                <a:latin typeface="Times New Roman"/>
                <a:ea typeface="Times New Roman"/>
                <a:cs typeface="Times New Roman"/>
                <a:sym typeface="Times New Roman"/>
              </a:rPr>
              <a:t>IRAP (Input-Output Reengineering and Program Crafting)</a:t>
            </a:r>
            <a:r>
              <a:rPr lang="en-US" sz="2000" b="0">
                <a:solidFill>
                  <a:srgbClr val="000000"/>
                </a:solidFill>
                <a:latin typeface="Times New Roman"/>
                <a:ea typeface="Times New Roman"/>
                <a:cs typeface="Times New Roman"/>
                <a:sym typeface="Times New Roman"/>
              </a:rPr>
              <a:t> is a data   reengineering tool developed by Spectra Research that provides a semi-automated approach to re-craft legacy software into an Intranet/Internet enabled application without compromising program computational integrity.</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JAD (JAva Decompiler)</a:t>
            </a:r>
            <a:r>
              <a:rPr lang="en-US" sz="2000" b="0">
                <a:solidFill>
                  <a:srgbClr val="000000"/>
                </a:solidFill>
                <a:latin typeface="Times New Roman"/>
                <a:ea typeface="Times New Roman"/>
                <a:cs typeface="Times New Roman"/>
                <a:sym typeface="Times New Roman"/>
              </a:rPr>
              <a:t> is a Java decompiler written in C++.</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ManSART</a:t>
            </a:r>
            <a:r>
              <a:rPr lang="en-US" sz="2000" b="0">
                <a:solidFill>
                  <a:srgbClr val="000000"/>
                </a:solidFill>
                <a:latin typeface="Times New Roman"/>
                <a:ea typeface="Times New Roman"/>
                <a:cs typeface="Times New Roman"/>
                <a:sym typeface="Times New Roman"/>
              </a:rPr>
              <a:t> is a tool to recover the architecture of a given software system.</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McCabe IQ</a:t>
            </a:r>
            <a:r>
              <a:rPr lang="en-US" sz="2000" b="0">
                <a:solidFill>
                  <a:srgbClr val="000000"/>
                </a:solidFill>
                <a:latin typeface="Times New Roman"/>
                <a:ea typeface="Times New Roman"/>
                <a:cs typeface="Times New Roman"/>
                <a:sym typeface="Times New Roman"/>
              </a:rPr>
              <a:t> is capable of predicting some key issues in maintaining large and complex business software applications: (i) locate error-prone sections of code; and (ii) identify the risk of system failure.</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PBS (Portable Bookshelf)</a:t>
            </a:r>
            <a:r>
              <a:rPr lang="en-US" sz="2000" b="0">
                <a:solidFill>
                  <a:srgbClr val="000000"/>
                </a:solidFill>
                <a:latin typeface="Times New Roman"/>
                <a:ea typeface="Times New Roman"/>
                <a:cs typeface="Times New Roman"/>
                <a:sym typeface="Times New Roman"/>
              </a:rPr>
              <a:t> is an implementation of the web based concept called Software Bookshelf for the presentation navigation of information representing large software systems.</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RE-Analyzer</a:t>
            </a:r>
            <a:r>
              <a:rPr lang="en-US" sz="2000" b="0">
                <a:solidFill>
                  <a:srgbClr val="000000"/>
                </a:solidFill>
                <a:latin typeface="Times New Roman"/>
                <a:ea typeface="Times New Roman"/>
                <a:cs typeface="Times New Roman"/>
                <a:sym typeface="Times New Roman"/>
              </a:rPr>
              <a:t> is an automated, reverse engineering system providing a high level of integration with a computer-aided software engineering (CASE) tool developed at IBM.</a:t>
            </a:r>
            <a:endParaRPr sz="2000" b="0">
              <a:solidFill>
                <a:srgbClr val="0000FF"/>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72"/>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4.9 Reverse Engineering Tools</a:t>
            </a:r>
            <a:endParaRPr/>
          </a:p>
        </p:txBody>
      </p:sp>
      <p:sp>
        <p:nvSpPr>
          <p:cNvPr id="641" name="Google Shape;641;p72"/>
          <p:cNvSpPr/>
          <p:nvPr/>
        </p:nvSpPr>
        <p:spPr>
          <a:xfrm>
            <a:off x="231775" y="749300"/>
            <a:ext cx="8912225" cy="54038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Reengineering Assistant (RA)</a:t>
            </a:r>
            <a:r>
              <a:rPr lang="en-US" sz="2000" b="0">
                <a:solidFill>
                  <a:srgbClr val="000000"/>
                </a:solidFill>
                <a:latin typeface="Times New Roman"/>
                <a:ea typeface="Times New Roman"/>
                <a:cs typeface="Times New Roman"/>
                <a:sym typeface="Times New Roman"/>
              </a:rPr>
              <a:t> aims to provide an interactive environment where software maintainers can reverse engineer source code into a higher abstraction level of representation.</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Rigi</a:t>
            </a:r>
            <a:r>
              <a:rPr lang="en-US" sz="2000" b="1">
                <a:solidFill>
                  <a:srgbClr val="000000"/>
                </a:solidFill>
                <a:latin typeface="Times New Roman"/>
                <a:ea typeface="Times New Roman"/>
                <a:cs typeface="Times New Roman"/>
                <a:sym typeface="Times New Roman"/>
              </a:rPr>
              <a:t> </a:t>
            </a:r>
            <a:r>
              <a:rPr lang="en-US" sz="2000" b="0">
                <a:solidFill>
                  <a:srgbClr val="000000"/>
                </a:solidFill>
                <a:latin typeface="Times New Roman"/>
                <a:ea typeface="Times New Roman"/>
                <a:cs typeface="Times New Roman"/>
                <a:sym typeface="Times New Roman"/>
              </a:rPr>
              <a:t> is a software tool for comprehending large software systems. Software comprehension is achieved by performing reverse engineering on the given system.</a:t>
            </a:r>
            <a:endParaRPr/>
          </a:p>
          <a:p>
            <a:pPr marL="457200" marR="0" lvl="0" indent="-457200" algn="l" rtl="0">
              <a:lnSpc>
                <a:spcPct val="90000"/>
              </a:lnSpc>
              <a:spcBef>
                <a:spcPts val="600"/>
              </a:spcBef>
              <a:spcAft>
                <a:spcPts val="0"/>
              </a:spcAft>
              <a:buClr>
                <a:srgbClr val="3333FF"/>
              </a:buClr>
              <a:buSzPts val="1500"/>
              <a:buFont typeface="Times New Roman"/>
              <a:buChar char="•"/>
            </a:pPr>
            <a:r>
              <a:rPr lang="en-US" sz="2000" b="1">
                <a:solidFill>
                  <a:srgbClr val="3333FF"/>
                </a:solidFill>
                <a:latin typeface="Times New Roman"/>
                <a:ea typeface="Times New Roman"/>
                <a:cs typeface="Times New Roman"/>
                <a:sym typeface="Times New Roman"/>
              </a:rPr>
              <a:t>SEELA</a:t>
            </a:r>
            <a:r>
              <a:rPr lang="en-US" sz="2000" b="0">
                <a:solidFill>
                  <a:srgbClr val="000000"/>
                </a:solidFill>
                <a:latin typeface="Times New Roman"/>
                <a:ea typeface="Times New Roman"/>
                <a:cs typeface="Times New Roman"/>
                <a:sym typeface="Times New Roman"/>
              </a:rPr>
              <a:t> is a reverse engineering tool developed by Tuval Software Industries to support the documentation and maintenance of structured source code.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73"/>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Summary</a:t>
            </a:r>
            <a:endParaRPr/>
          </a:p>
        </p:txBody>
      </p:sp>
      <p:sp>
        <p:nvSpPr>
          <p:cNvPr id="649" name="Google Shape;649;p73"/>
          <p:cNvSpPr/>
          <p:nvPr/>
        </p:nvSpPr>
        <p:spPr>
          <a:xfrm>
            <a:off x="231775" y="749300"/>
            <a:ext cx="8912225" cy="54038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rgbClr val="000000"/>
              </a:buClr>
              <a:buSzPts val="1800"/>
              <a:buFont typeface="Times New Roman"/>
              <a:buChar char="•"/>
            </a:pPr>
            <a:r>
              <a:rPr lang="en-US" sz="2400" b="0">
                <a:solidFill>
                  <a:srgbClr val="000000"/>
                </a:solidFill>
                <a:latin typeface="Times New Roman"/>
                <a:ea typeface="Times New Roman"/>
                <a:cs typeface="Times New Roman"/>
                <a:sym typeface="Times New Roman"/>
              </a:rPr>
              <a:t>General Idea</a:t>
            </a:r>
            <a:endParaRPr/>
          </a:p>
          <a:p>
            <a:pPr marL="457200" marR="0" lvl="0" indent="-457200" algn="l" rtl="0">
              <a:lnSpc>
                <a:spcPct val="90000"/>
              </a:lnSpc>
              <a:spcBef>
                <a:spcPts val="720"/>
              </a:spcBef>
              <a:spcAft>
                <a:spcPts val="0"/>
              </a:spcAft>
              <a:buClr>
                <a:srgbClr val="000000"/>
              </a:buClr>
              <a:buSzPts val="1800"/>
              <a:buFont typeface="Times New Roman"/>
              <a:buChar char="•"/>
            </a:pPr>
            <a:r>
              <a:rPr lang="en-US" sz="2400" b="0">
                <a:solidFill>
                  <a:srgbClr val="000000"/>
                </a:solidFill>
                <a:latin typeface="Times New Roman"/>
                <a:ea typeface="Times New Roman"/>
                <a:cs typeface="Times New Roman"/>
                <a:sym typeface="Times New Roman"/>
              </a:rPr>
              <a:t>Reengineering Concepts</a:t>
            </a:r>
            <a:endParaRPr/>
          </a:p>
          <a:p>
            <a:pPr marL="457200" marR="0" lvl="0" indent="-457200" algn="l" rtl="0">
              <a:lnSpc>
                <a:spcPct val="90000"/>
              </a:lnSpc>
              <a:spcBef>
                <a:spcPts val="720"/>
              </a:spcBef>
              <a:spcAft>
                <a:spcPts val="0"/>
              </a:spcAft>
              <a:buClr>
                <a:srgbClr val="3333FF"/>
              </a:buClr>
              <a:buSzPts val="1800"/>
              <a:buFont typeface="Times New Roman"/>
              <a:buChar char="•"/>
            </a:pPr>
            <a:r>
              <a:rPr lang="en-US" sz="2400" b="0">
                <a:solidFill>
                  <a:srgbClr val="3333FF"/>
                </a:solidFill>
                <a:latin typeface="Times New Roman"/>
                <a:ea typeface="Times New Roman"/>
                <a:cs typeface="Times New Roman"/>
                <a:sym typeface="Times New Roman"/>
              </a:rPr>
              <a:t>A General Model for Software Engineering</a:t>
            </a:r>
            <a:endParaRPr/>
          </a:p>
          <a:p>
            <a:pPr marL="457200" marR="0" lvl="0" indent="-457200" algn="l" rtl="0">
              <a:lnSpc>
                <a:spcPct val="90000"/>
              </a:lnSpc>
              <a:spcBef>
                <a:spcPts val="720"/>
              </a:spcBef>
              <a:spcAft>
                <a:spcPts val="0"/>
              </a:spcAft>
              <a:buClr>
                <a:srgbClr val="3333FF"/>
              </a:buClr>
              <a:buSzPts val="1800"/>
              <a:buFont typeface="Times New Roman"/>
              <a:buChar char="•"/>
            </a:pPr>
            <a:r>
              <a:rPr lang="en-US" sz="2400" b="0">
                <a:solidFill>
                  <a:srgbClr val="3333FF"/>
                </a:solidFill>
                <a:latin typeface="Times New Roman"/>
                <a:ea typeface="Times New Roman"/>
                <a:cs typeface="Times New Roman"/>
                <a:sym typeface="Times New Roman"/>
              </a:rPr>
              <a:t>Reengineering Process</a:t>
            </a:r>
            <a:endParaRPr/>
          </a:p>
          <a:p>
            <a:pPr marL="457200" marR="0" lvl="0" indent="-457200" algn="l" rtl="0">
              <a:lnSpc>
                <a:spcPct val="90000"/>
              </a:lnSpc>
              <a:spcBef>
                <a:spcPts val="720"/>
              </a:spcBef>
              <a:spcAft>
                <a:spcPts val="0"/>
              </a:spcAft>
              <a:buClr>
                <a:schemeClr val="hlink"/>
              </a:buClr>
              <a:buSzPts val="1800"/>
              <a:buFont typeface="Times New Roman"/>
              <a:buChar char="•"/>
            </a:pPr>
            <a:r>
              <a:rPr lang="en-US" sz="2400" b="0">
                <a:solidFill>
                  <a:schemeClr val="hlink"/>
                </a:solidFill>
                <a:latin typeface="Times New Roman"/>
                <a:ea typeface="Times New Roman"/>
                <a:cs typeface="Times New Roman"/>
                <a:sym typeface="Times New Roman"/>
              </a:rPr>
              <a:t>Code Reverse Engineering</a:t>
            </a:r>
            <a:endParaRPr/>
          </a:p>
          <a:p>
            <a:pPr marL="457200" marR="0" lvl="0" indent="-457200" algn="l" rtl="0">
              <a:lnSpc>
                <a:spcPct val="90000"/>
              </a:lnSpc>
              <a:spcBef>
                <a:spcPts val="720"/>
              </a:spcBef>
              <a:spcAft>
                <a:spcPts val="0"/>
              </a:spcAft>
              <a:buClr>
                <a:srgbClr val="3333FF"/>
              </a:buClr>
              <a:buSzPts val="1800"/>
              <a:buFont typeface="Times New Roman"/>
              <a:buChar char="•"/>
            </a:pPr>
            <a:r>
              <a:rPr lang="en-US" sz="2400" b="0">
                <a:solidFill>
                  <a:srgbClr val="3333FF"/>
                </a:solidFill>
                <a:latin typeface="Times New Roman"/>
                <a:ea typeface="Times New Roman"/>
                <a:cs typeface="Times New Roman"/>
                <a:sym typeface="Times New Roman"/>
              </a:rPr>
              <a:t>Techniques used for Reverse Engineering</a:t>
            </a:r>
            <a:endParaRPr/>
          </a:p>
          <a:p>
            <a:pPr marL="457200" marR="0" lvl="0" indent="-457200" algn="l" rtl="0">
              <a:lnSpc>
                <a:spcPct val="90000"/>
              </a:lnSpc>
              <a:spcBef>
                <a:spcPts val="720"/>
              </a:spcBef>
              <a:spcAft>
                <a:spcPts val="0"/>
              </a:spcAft>
              <a:buClr>
                <a:srgbClr val="000000"/>
              </a:buClr>
              <a:buSzPts val="1800"/>
              <a:buFont typeface="Times New Roman"/>
              <a:buChar char="•"/>
            </a:pPr>
            <a:r>
              <a:rPr lang="en-US" sz="2400" b="0">
                <a:solidFill>
                  <a:srgbClr val="000000"/>
                </a:solidFill>
                <a:latin typeface="Times New Roman"/>
                <a:ea typeface="Times New Roman"/>
                <a:cs typeface="Times New Roman"/>
                <a:sym typeface="Times New Roman"/>
              </a:rPr>
              <a:t>Decompilation versus Reverse Engineering</a:t>
            </a:r>
            <a:endParaRPr/>
          </a:p>
          <a:p>
            <a:pPr marL="457200" marR="0" lvl="0" indent="-457200" algn="l" rtl="0">
              <a:lnSpc>
                <a:spcPct val="90000"/>
              </a:lnSpc>
              <a:spcBef>
                <a:spcPts val="720"/>
              </a:spcBef>
              <a:spcAft>
                <a:spcPts val="0"/>
              </a:spcAft>
              <a:buClr>
                <a:srgbClr val="3333FF"/>
              </a:buClr>
              <a:buSzPts val="1800"/>
              <a:buFont typeface="Times New Roman"/>
              <a:buChar char="•"/>
            </a:pPr>
            <a:r>
              <a:rPr lang="en-US" sz="2400" b="0">
                <a:solidFill>
                  <a:srgbClr val="3333FF"/>
                </a:solidFill>
                <a:latin typeface="Times New Roman"/>
                <a:ea typeface="Times New Roman"/>
                <a:cs typeface="Times New Roman"/>
                <a:sym typeface="Times New Roman"/>
              </a:rPr>
              <a:t>Data Reverse Engineering</a:t>
            </a:r>
            <a:endParaRPr/>
          </a:p>
          <a:p>
            <a:pPr marL="457200" marR="0" lvl="0" indent="-457200" algn="l" rtl="0">
              <a:lnSpc>
                <a:spcPct val="90000"/>
              </a:lnSpc>
              <a:spcBef>
                <a:spcPts val="720"/>
              </a:spcBef>
              <a:spcAft>
                <a:spcPts val="0"/>
              </a:spcAft>
              <a:buClr>
                <a:schemeClr val="hlink"/>
              </a:buClr>
              <a:buSzPts val="1800"/>
              <a:buFont typeface="Times New Roman"/>
              <a:buChar char="•"/>
            </a:pPr>
            <a:r>
              <a:rPr lang="en-US" sz="2400" b="0">
                <a:solidFill>
                  <a:schemeClr val="hlink"/>
                </a:solidFill>
                <a:latin typeface="Times New Roman"/>
                <a:ea typeface="Times New Roman"/>
                <a:cs typeface="Times New Roman"/>
                <a:sym typeface="Times New Roman"/>
              </a:rPr>
              <a:t>Reverse Engineering Tools</a:t>
            </a:r>
            <a:endParaRPr/>
          </a:p>
          <a:p>
            <a:pPr marL="457200" marR="0" lvl="0" indent="-361950" algn="l" rtl="0">
              <a:lnSpc>
                <a:spcPct val="90000"/>
              </a:lnSpc>
              <a:spcBef>
                <a:spcPts val="600"/>
              </a:spcBef>
              <a:spcAft>
                <a:spcPts val="0"/>
              </a:spcAft>
              <a:buClr>
                <a:srgbClr val="000000"/>
              </a:buClr>
              <a:buSzPts val="1500"/>
              <a:buFont typeface="Times New Roman"/>
              <a:buNone/>
            </a:pPr>
            <a:endParaRPr sz="2000" b="0">
              <a:solidFill>
                <a:srgbClr val="000000"/>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4"/>
          <p:cNvSpPr txBox="1">
            <a:spLocks noGrp="1"/>
          </p:cNvSpPr>
          <p:nvPr>
            <p:ph type="title" idx="4294967295"/>
          </p:nvPr>
        </p:nvSpPr>
        <p:spPr>
          <a:xfrm>
            <a:off x="0" y="0"/>
            <a:ext cx="9144000" cy="487363"/>
          </a:xfrm>
          <a:prstGeom prst="rect">
            <a:avLst/>
          </a:prstGeom>
          <a:noFill/>
          <a:ln>
            <a:noFill/>
          </a:ln>
        </p:spPr>
        <p:txBody>
          <a:bodyPr spcFirstLastPara="1" wrap="square" lIns="92075" tIns="46025" rIns="92075" bIns="46025" anchor="ctr" anchorCtr="0">
            <a:noAutofit/>
          </a:bodyPr>
          <a:lstStyle/>
          <a:p>
            <a:pPr marL="0" lvl="0" indent="0" algn="ctr" rtl="0">
              <a:lnSpc>
                <a:spcPct val="90000"/>
              </a:lnSpc>
              <a:spcBef>
                <a:spcPts val="0"/>
              </a:spcBef>
              <a:spcAft>
                <a:spcPts val="0"/>
              </a:spcAft>
              <a:buNone/>
            </a:pPr>
            <a:r>
              <a:rPr lang="en-US">
                <a:solidFill>
                  <a:schemeClr val="hlink"/>
                </a:solidFill>
              </a:rPr>
              <a:t>Summary</a:t>
            </a:r>
            <a:endParaRPr/>
          </a:p>
        </p:txBody>
      </p:sp>
      <p:sp>
        <p:nvSpPr>
          <p:cNvPr id="657" name="Google Shape;657;p74"/>
          <p:cNvSpPr/>
          <p:nvPr/>
        </p:nvSpPr>
        <p:spPr>
          <a:xfrm>
            <a:off x="231775" y="749300"/>
            <a:ext cx="8912225" cy="5403850"/>
          </a:xfrm>
          <a:prstGeom prst="rect">
            <a:avLst/>
          </a:prstGeom>
          <a:noFill/>
          <a:ln>
            <a:noFill/>
          </a:ln>
        </p:spPr>
        <p:txBody>
          <a:bodyPr spcFirstLastPara="1" wrap="square" lIns="92075" tIns="46025" rIns="92075" bIns="46025" anchor="t" anchorCtr="0">
            <a:noAutofit/>
          </a:bodyPr>
          <a:lstStyle/>
          <a:p>
            <a:pPr marL="457200" marR="0" lvl="0" indent="-457200" algn="l" rtl="0">
              <a:lnSpc>
                <a:spcPct val="90000"/>
              </a:lnSpc>
              <a:spcBef>
                <a:spcPts val="0"/>
              </a:spcBef>
              <a:spcAft>
                <a:spcPts val="0"/>
              </a:spcAft>
              <a:buClr>
                <a:schemeClr val="dk2"/>
              </a:buClr>
              <a:buSzPts val="1800"/>
              <a:buFont typeface="Times New Roman"/>
              <a:buChar char="•"/>
            </a:pPr>
            <a:r>
              <a:rPr lang="en-US" sz="2400" b="0" u="sng">
                <a:solidFill>
                  <a:schemeClr val="dk2"/>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https://www.scaler.com/topics/reverse-engineering-in-software-engineering/</a:t>
            </a:r>
            <a:endParaRPr sz="2400" b="0">
              <a:solidFill>
                <a:schemeClr val="dk2"/>
              </a:solidFill>
              <a:latin typeface="Times New Roman"/>
              <a:ea typeface="Times New Roman"/>
              <a:cs typeface="Times New Roman"/>
              <a:sym typeface="Times New Roman"/>
            </a:endParaRPr>
          </a:p>
          <a:p>
            <a:pPr marL="457200" marR="0" lvl="0" indent="-457200" algn="l" rtl="0">
              <a:lnSpc>
                <a:spcPct val="90000"/>
              </a:lnSpc>
              <a:spcBef>
                <a:spcPts val="720"/>
              </a:spcBef>
              <a:spcAft>
                <a:spcPts val="0"/>
              </a:spcAft>
              <a:buClr>
                <a:schemeClr val="dk2"/>
              </a:buClr>
              <a:buSzPts val="1800"/>
              <a:buFont typeface="Times New Roman"/>
              <a:buChar char="•"/>
            </a:pPr>
            <a:r>
              <a:rPr lang="en-US" sz="2400" b="0" u="sng">
                <a:solidFill>
                  <a:schemeClr val="dk2"/>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https://solutionshub.epam.com/blog/post/what-is-reverse-engineering-in-software-engineering</a:t>
            </a:r>
            <a:endParaRPr sz="2400" b="0">
              <a:solidFill>
                <a:schemeClr val="dk2"/>
              </a:solidFill>
              <a:latin typeface="Times New Roman"/>
              <a:ea typeface="Times New Roman"/>
              <a:cs typeface="Times New Roman"/>
              <a:sym typeface="Times New Roman"/>
            </a:endParaRPr>
          </a:p>
          <a:p>
            <a:pPr marL="457200" marR="0" lvl="0" indent="-457200" algn="l" rtl="0">
              <a:lnSpc>
                <a:spcPct val="90000"/>
              </a:lnSpc>
              <a:spcBef>
                <a:spcPts val="720"/>
              </a:spcBef>
              <a:spcAft>
                <a:spcPts val="0"/>
              </a:spcAft>
              <a:buClr>
                <a:schemeClr val="dk2"/>
              </a:buClr>
              <a:buSzPts val="1800"/>
              <a:buFont typeface="Times New Roman"/>
              <a:buChar char="•"/>
            </a:pPr>
            <a:r>
              <a:rPr lang="en-US" sz="2400" b="0" u="sng">
                <a:solidFill>
                  <a:schemeClr val="dk2"/>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https://www.spiceworks.com/tech/tech-general/articles/what-is-reverse-engineering/</a:t>
            </a:r>
            <a:endParaRPr sz="2400" b="0">
              <a:solidFill>
                <a:schemeClr val="dk2"/>
              </a:solidFill>
              <a:latin typeface="Times New Roman"/>
              <a:ea typeface="Times New Roman"/>
              <a:cs typeface="Times New Roman"/>
              <a:sym typeface="Times New Roman"/>
            </a:endParaRPr>
          </a:p>
          <a:p>
            <a:pPr marL="0" marR="0" lvl="0" indent="0" algn="l" rtl="0">
              <a:lnSpc>
                <a:spcPct val="90000"/>
              </a:lnSpc>
              <a:spcBef>
                <a:spcPts val="720"/>
              </a:spcBef>
              <a:spcAft>
                <a:spcPts val="0"/>
              </a:spcAft>
              <a:buClr>
                <a:srgbClr val="000000"/>
              </a:buClr>
              <a:buSzPts val="1800"/>
              <a:buFont typeface="Times New Roman"/>
              <a:buNone/>
            </a:pPr>
            <a:endParaRPr sz="2400" b="0">
              <a:solidFill>
                <a:srgbClr val="000000"/>
              </a:solidFill>
              <a:latin typeface="Times New Roman"/>
              <a:ea typeface="Times New Roman"/>
              <a:cs typeface="Times New Roman"/>
              <a:sym typeface="Times New Roman"/>
            </a:endParaRPr>
          </a:p>
          <a:p>
            <a:pPr marL="457200" marR="0" lvl="0" indent="-361950" algn="l" rtl="0">
              <a:lnSpc>
                <a:spcPct val="90000"/>
              </a:lnSpc>
              <a:spcBef>
                <a:spcPts val="600"/>
              </a:spcBef>
              <a:spcAft>
                <a:spcPts val="0"/>
              </a:spcAft>
              <a:buClr>
                <a:srgbClr val="000000"/>
              </a:buClr>
              <a:buSzPts val="1500"/>
              <a:buFont typeface="Times New Roman"/>
              <a:buNone/>
            </a:pPr>
            <a:endParaRPr sz="2000" b="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1_Piyu">
  <a:themeElements>
    <a:clrScheme name="">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0033"/>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8722</Words>
  <Application>Microsoft Office PowerPoint</Application>
  <PresentationFormat>On-screen Show (4:3)</PresentationFormat>
  <Paragraphs>836</Paragraphs>
  <Slides>74</Slides>
  <Notes>74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74</vt:i4>
      </vt:variant>
    </vt:vector>
  </HeadingPairs>
  <TitlesOfParts>
    <vt:vector size="79" baseType="lpstr">
      <vt:lpstr>Times New Roman</vt:lpstr>
      <vt:lpstr>Arial Black</vt:lpstr>
      <vt:lpstr>Comic Sans MS</vt:lpstr>
      <vt:lpstr>Arial</vt:lpstr>
      <vt:lpstr>1_Piyu</vt:lpstr>
      <vt:lpstr>Software Evolution and Maintenance  A Practitioner’s Approach </vt:lpstr>
      <vt:lpstr>Outline of the Chapter</vt:lpstr>
      <vt:lpstr>Outline of the Chapter</vt:lpstr>
      <vt:lpstr>4.1 General Idea</vt:lpstr>
      <vt:lpstr>4.2 Reengineering Concepts</vt:lpstr>
      <vt:lpstr>4.2 Reengineering Concepts</vt:lpstr>
      <vt:lpstr>4.2 Reengineering Concepts</vt:lpstr>
      <vt:lpstr>4.2 Reengineering Concepts</vt:lpstr>
      <vt:lpstr>4.3 A General Model For Software Reengineering</vt:lpstr>
      <vt:lpstr>4.3 A General Model For Software Reengineering</vt:lpstr>
      <vt:lpstr>4.3 A General Model For Software Reengineering</vt:lpstr>
      <vt:lpstr>4.3 A General Model For Software Reengineering</vt:lpstr>
      <vt:lpstr>4.3 A General Model For Software Reengineering</vt:lpstr>
      <vt:lpstr>4.3.1 Types of Change</vt:lpstr>
      <vt:lpstr>4.3.1 Types of Change</vt:lpstr>
      <vt:lpstr>4.3.2 Software Reengineering Strategies</vt:lpstr>
      <vt:lpstr>4.3.2 Software Reengineering Strategies</vt:lpstr>
      <vt:lpstr>4.3.2 Software Reengineering Strategies</vt:lpstr>
      <vt:lpstr>4.4 Reengineering Process</vt:lpstr>
      <vt:lpstr>4.4.1 Reengineering Approaches</vt:lpstr>
      <vt:lpstr>4.4.1 Reengineering Approaches</vt:lpstr>
      <vt:lpstr>4.4.1 Reengineering Approaches</vt:lpstr>
      <vt:lpstr>4.4.1 Reengineering Approaches</vt:lpstr>
      <vt:lpstr>4.4.1 Reengineering Approaches</vt:lpstr>
      <vt:lpstr>4.4.2 Source Code Reengineering Reference Model</vt:lpstr>
      <vt:lpstr>4.4.2 Source Code Reengineering Reference Model</vt:lpstr>
      <vt:lpstr>4.4.2 Source Code Reengineering Reference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4.5 Code Reverse Engineering</vt:lpstr>
      <vt:lpstr>4.5 Code Reverse Engineering</vt:lpstr>
      <vt:lpstr>4.5 Code Reverse Engineering</vt:lpstr>
      <vt:lpstr>4.5 Code Reverse Engineering</vt:lpstr>
      <vt:lpstr>4.5 Code Reverse Engineering</vt:lpstr>
      <vt:lpstr>4.5 Code Reverse Engineering</vt:lpstr>
      <vt:lpstr>4.5 Code Reverse Engineering</vt:lpstr>
      <vt:lpstr>4.5 Code Reverse Engineering</vt:lpstr>
      <vt:lpstr>4.6 Techniques Used for Reverse Engineering</vt:lpstr>
      <vt:lpstr>4.6.1 Lexical Analysis</vt:lpstr>
      <vt:lpstr>4.6.2 Syntax Analysis</vt:lpstr>
      <vt:lpstr>4.6.3 Control Flow Analysis</vt:lpstr>
      <vt:lpstr>4.6.3 Control Flow Analysis</vt:lpstr>
      <vt:lpstr>4.6.4 Data Flow Analysis</vt:lpstr>
      <vt:lpstr>4.6.5 Program Slicing</vt:lpstr>
      <vt:lpstr>4.6.5 Program Slicing:Example of Backward Slice</vt:lpstr>
      <vt:lpstr>4.6.5 Program Slicing: Example of Forward Slice</vt:lpstr>
      <vt:lpstr>4.6.6 Visualization</vt:lpstr>
      <vt:lpstr>4.6.6 Visualization</vt:lpstr>
      <vt:lpstr>4.6.7 Program Metrics</vt:lpstr>
      <vt:lpstr>Program Metrics</vt:lpstr>
      <vt:lpstr>4.6.7 Program Metrics</vt:lpstr>
      <vt:lpstr>4.6.7 Program Metrics</vt:lpstr>
      <vt:lpstr>4.7 Decompilation Versus Reverse Engineering</vt:lpstr>
      <vt:lpstr>4.7 Decompilation Versus Reverse Engineering</vt:lpstr>
      <vt:lpstr>4.7 Decompilation Versus Reverse Engineering</vt:lpstr>
      <vt:lpstr>4.8 Data Reverse Engineering</vt:lpstr>
      <vt:lpstr>4.8 Data Reverse Engineering</vt:lpstr>
      <vt:lpstr>4.8 Data Reverse Engineering</vt:lpstr>
      <vt:lpstr>4.8 Data Reverse Engineering</vt:lpstr>
      <vt:lpstr>4.8.1 Data Structure Extraction</vt:lpstr>
      <vt:lpstr>4.8.2 Data Structure Conceptualization</vt:lpstr>
      <vt:lpstr>4.8.2 Data Structure Conceptualization</vt:lpstr>
      <vt:lpstr>4.9 Reverse Engineering Tools</vt:lpstr>
      <vt:lpstr>4.9 Reverse Engineering Tools</vt:lpstr>
      <vt:lpstr>4.9 Reverse Engineering Tools</vt:lpstr>
      <vt:lpstr>4.9 Reverse Engineering Tools</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Piyu Tripathy and Sagar Naik</dc:creator>
  <cp:lastModifiedBy>Namisa__ __</cp:lastModifiedBy>
  <cp:revision>1</cp:revision>
  <dcterms:created xsi:type="dcterms:W3CDTF">1996-06-15T03:21:08Z</dcterms:created>
  <dcterms:modified xsi:type="dcterms:W3CDTF">2026-07-01T09:43:20Z</dcterms:modified>
</cp:coreProperties>
</file>