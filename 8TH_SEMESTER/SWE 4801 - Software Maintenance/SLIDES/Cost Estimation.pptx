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2" r:id="rId5"/>
    <p:sldId id="263" r:id="rId6"/>
    <p:sldId id="264" r:id="rId7"/>
    <p:sldId id="266" r:id="rId8"/>
    <p:sldId id="260" r:id="rId9"/>
    <p:sldId id="261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8" r:id="rId19"/>
    <p:sldId id="257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A1C5B9-6F43-5E29-551F-3CAAAB122F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E8EB1B-AEFB-23AD-A10C-358E1C2340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8D771F-FA5C-8109-6C02-84C546A019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69111-8575-4D41-91A1-8A4896FBBF12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824F9E-858F-8FEA-5A0B-C90F04CAEB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BF792B-2E41-5544-BC53-053AD4756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58B3D-75F0-4558-A272-A26A70D7FE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63611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42AF05-3992-483B-2FB8-56F69A572E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87249E-9A68-A6A8-668B-F4C9A3472A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7D0E52-2496-791D-5147-63CB0B3323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69111-8575-4D41-91A1-8A4896FBBF12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CE7837-36AE-D6B9-173A-36E68ECA12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BDAB88-92D9-5D87-F5F9-3D8DE90A6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58B3D-75F0-4558-A272-A26A70D7FE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30115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FF4BA2-C835-3AD1-B967-45AECD711B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B8CE89-AF3C-1D3F-59F1-1BB0D5DC0A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CCC49C-A9AF-9B7A-4367-2FB6094035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69111-8575-4D41-91A1-8A4896FBBF12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269B9C-41A3-5A69-76EE-63BDC2758F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1738E0-D042-CE39-0614-C8C1C49547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58B3D-75F0-4558-A272-A26A70D7FE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02995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FE0B59-9D27-CBD2-AFA7-AC66208956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68C68E-1854-6B32-5F1B-B8DB5844FB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B5251C-D982-83EA-F1FB-F8FBFA7CF7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AC43D6-F870-1D34-ADD7-2FDC543395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69111-8575-4D41-91A1-8A4896FBBF12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DA149F-5BA6-6340-713F-3BF4AC16ED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CE6EB4-DF9F-C3D8-BC39-176D7CCE9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58B3D-75F0-4558-A272-A26A70D7FE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02775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26D467-150C-A3EE-ADA9-D1F76FF9CF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C7EA7D-0AEC-6038-FE49-C8FF81308D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3ADCD8-B4BE-326F-DF16-DDC5EE3F8A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ABF755F-DEA4-10D6-5786-1E56E84A15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2B32C1-6BCE-104E-A658-1AAD9CF203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CF7A642-7E6F-1A58-B2ED-D1A33E70F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69111-8575-4D41-91A1-8A4896FBBF12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6357D7C-288B-E105-709D-06656E442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81CFC3-53DF-6A32-1CB2-07378E6E1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58B3D-75F0-4558-A272-A26A70D7FE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87452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73E187-4B50-98B1-3008-F2B2BCC9D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019C3C-85D5-D6D0-8672-89B4EC897E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69111-8575-4D41-91A1-8A4896FBBF12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29DDC70-8210-42DD-C57E-95B1D3F7E4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445CC8-D374-E4E6-8AAA-11E471C496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58B3D-75F0-4558-A272-A26A70D7FE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0865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D3FB431-B09B-4924-52E4-D61A4FAB36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69111-8575-4D41-91A1-8A4896FBBF12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B5EDDE7-A7AA-F2D7-AFAC-A62A08806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FD03D0-532A-10A9-1FAE-F609D8B96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58B3D-75F0-4558-A272-A26A70D7FE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17335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734B08-BC27-A13A-EF66-4D7C25319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3FBA08-D305-3E63-BB27-02B44C9115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D486C8-5C41-7E8C-EC7E-70CC3364A3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7033D5-7278-CEE5-EA79-39FC7D68DF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69111-8575-4D41-91A1-8A4896FBBF12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DB5749-A26C-7786-2C57-25B0143C9F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AE55C6-D48D-BFAC-8AB0-8A061FCCAE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58B3D-75F0-4558-A272-A26A70D7FE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02704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F37C4D-17B3-5958-CFB3-554AEE248E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75CAE0-8470-D1BF-34C0-7C98A64C31C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882F2A-BD5B-13C9-030E-5FF016EDF6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44178F-37A0-B355-F0F2-8281D1E4BA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69111-8575-4D41-91A1-8A4896FBBF12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5E292A-6FE7-3AD2-54F9-B78164351A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4FB65D-5825-724B-1802-FD5C879B9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58B3D-75F0-4558-A272-A26A70D7FE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65702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48914-198D-8469-4534-EE6197752E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C92CA4-B876-08A6-CDB0-DFEEAEFC29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CC88E8-A8D4-F944-BF7D-69390CAD18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69111-8575-4D41-91A1-8A4896FBBF12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AC5164-DE09-75F6-8D07-7C73A24883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1172FF-CB91-14FC-B23E-D80CBBE0B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58B3D-75F0-4558-A272-A26A70D7FE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46900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695A356-65CD-04B2-5F32-844556AD53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D6FE59-2F5A-3BAB-CBC2-5ED53FB31D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8DEF28-FE1C-8F59-AFC8-7A5E10F0B6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69111-8575-4D41-91A1-8A4896FBBF12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30E449-D763-8C8D-9BF2-2051A83D41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65936E-F583-212E-C80B-2D32E18E7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58B3D-75F0-4558-A272-A26A70D7FE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06583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420324E-1F5C-4520-FBF1-929B5615C2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E3B378-AE19-F2E4-18F7-C68DD46393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4F1EA4-843F-B3E0-EE03-96F9EEF852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569111-8575-4D41-91A1-8A4896FBBF12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477C29-4BF9-28FF-6F51-1482E22D0E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DC50D9-06B8-E7E1-DF15-6136DC965A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B58B3D-75F0-4558-A272-A26A70D7FE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32358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startups.epam.com/blog/software-maintenance-cost" TargetMode="External"/><Relationship Id="rId2" Type="http://schemas.openxmlformats.org/officeDocument/2006/relationships/hyperlink" Target="https://www.geeksforgeeks.org/software-engineering/cost-and-efforts-of-software-maintenance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idealink.tech/blog/software-development-maintenance-true-cost-equation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72CA0-D00B-F8E2-774B-FD1418FE0D1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Software Maintenance Cost Estimation and Models</a:t>
            </a:r>
          </a:p>
        </p:txBody>
      </p:sp>
    </p:spTree>
    <p:extLst>
      <p:ext uri="{BB962C8B-B14F-4D97-AF65-F5344CB8AC3E}">
        <p14:creationId xmlns:p14="http://schemas.microsoft.com/office/powerpoint/2010/main" val="28946650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EB10B2-C878-DC7B-DC12-B9120EE24D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Software Maintenance Cost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stimation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9E0070-4A75-CE54-0088-8B8452DB0B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Expense associated with updating, repairing, and enhancing software after its initial deployment. This includes: 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bug fixes,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improvements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updates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adapting the software to new hardware or operating systems.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these costs is crucial for ensuring the long-term functionality and reliability of software solutions while managing budget allocations effectively.</a:t>
            </a:r>
          </a:p>
        </p:txBody>
      </p:sp>
    </p:spTree>
    <p:extLst>
      <p:ext uri="{BB962C8B-B14F-4D97-AF65-F5344CB8AC3E}">
        <p14:creationId xmlns:p14="http://schemas.microsoft.com/office/powerpoint/2010/main" val="10826767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B14F98-2C5E-EDEE-BBEF-BF224BFE9C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Components of Software Maintenance</a:t>
            </a:r>
          </a:p>
        </p:txBody>
      </p:sp>
      <p:sp>
        <p:nvSpPr>
          <p:cNvPr id="4" name="AutoShape 2" descr="components of software maintenance">
            <a:extLst>
              <a:ext uri="{FF2B5EF4-FFF2-40B4-BE49-F238E27FC236}">
                <a16:creationId xmlns:a16="http://schemas.microsoft.com/office/drawing/2014/main" id="{B6C07E3F-08AA-2246-93ED-A000F770BF8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828041" y="3276599"/>
            <a:ext cx="3420359" cy="34203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386CC11-D7DD-3B67-E18F-30FAA953EE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4631" y="1964719"/>
            <a:ext cx="8967537" cy="2777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77620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FE1E24-804F-9B41-DB36-EAC719BA83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Maintenance Cost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B6391F5-DE83-9F3F-E08B-CE4F2641DE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5125" y="1759543"/>
            <a:ext cx="6725252" cy="4483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50901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D1F9E8-704A-B457-E52C-F789A8417C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the maintenance-to-development ratio matters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AB399B-EFA0-8E53-B2C8-51EDC201DF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6224" y="1439126"/>
            <a:ext cx="10515600" cy="4351338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The ratio between maintenance costs and development costs serves as a critical indicator of software quality and sustainability. </a:t>
            </a:r>
          </a:p>
          <a:p>
            <a:r>
              <a:rPr lang="en-US" dirty="0"/>
              <a:t>Abnormally high maintenance costs relative to initial development often indicate:</a:t>
            </a:r>
          </a:p>
          <a:p>
            <a:pPr lvl="1"/>
            <a:r>
              <a:rPr lang="en-US" dirty="0"/>
              <a:t>Poor initial architecture decisions</a:t>
            </a:r>
          </a:p>
          <a:p>
            <a:pPr lvl="1"/>
            <a:r>
              <a:rPr lang="en-US" dirty="0"/>
              <a:t>Inadequate testing during development</a:t>
            </a:r>
          </a:p>
          <a:p>
            <a:pPr lvl="1"/>
            <a:r>
              <a:rPr lang="en-US" dirty="0"/>
              <a:t>Excessive technical debt</a:t>
            </a:r>
          </a:p>
          <a:p>
            <a:pPr lvl="1"/>
            <a:r>
              <a:rPr lang="en-US" dirty="0"/>
              <a:t>Insufficient documentation</a:t>
            </a:r>
          </a:p>
          <a:p>
            <a:pPr lvl="1"/>
            <a:r>
              <a:rPr lang="en-US" dirty="0"/>
              <a:t>Overly complex or custom solutions when simpler options would suffice</a:t>
            </a:r>
          </a:p>
          <a:p>
            <a:r>
              <a:rPr lang="en-US" dirty="0"/>
              <a:t>These issues don't just impact your budget - they affect your ability to remain competitive and responsive to market changes. </a:t>
            </a:r>
          </a:p>
          <a:p>
            <a:r>
              <a:rPr lang="en-US" dirty="0"/>
              <a:t>When excessive resources go toward maintaining existing functionality, fewer resources remain available for innovation and growth.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00441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B54F43-C00A-4109-3B6F-0EE57221A8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maintenance cost percentage distribution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CC8345-634C-4F33-C220-76C6B22DC3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5122" y="1505114"/>
            <a:ext cx="10515600" cy="435133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Maintenance costs typically distribute across the four maintenance types as follows:</a:t>
            </a:r>
          </a:p>
          <a:p>
            <a:pPr lvl="1"/>
            <a:r>
              <a:rPr lang="en-US" dirty="0"/>
              <a:t>Corrective maintenance: 20-30%</a:t>
            </a:r>
          </a:p>
          <a:p>
            <a:pPr lvl="1"/>
            <a:r>
              <a:rPr lang="en-US" dirty="0"/>
              <a:t>Adaptive maintenance: 20-25%</a:t>
            </a:r>
          </a:p>
          <a:p>
            <a:pPr lvl="1"/>
            <a:r>
              <a:rPr lang="en-US" dirty="0"/>
              <a:t>Perfective maintenance: 30-40%</a:t>
            </a:r>
          </a:p>
          <a:p>
            <a:pPr lvl="1"/>
            <a:r>
              <a:rPr lang="en-US" dirty="0"/>
              <a:t>Preventive maintenance: 10-20%</a:t>
            </a:r>
          </a:p>
          <a:p>
            <a:r>
              <a:rPr lang="en-US" dirty="0"/>
              <a:t>This distribution varies based on software type, age, and organizational priorities. </a:t>
            </a:r>
          </a:p>
          <a:p>
            <a:r>
              <a:rPr lang="en-US" dirty="0"/>
              <a:t>Mature software may require more adaptive maintenance to remain relevant</a:t>
            </a:r>
          </a:p>
          <a:p>
            <a:r>
              <a:rPr lang="en-US" dirty="0"/>
              <a:t>while newer software often demands more corrective maintenance to address early-life bugs.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61751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716D55-BEE9-97AE-B6D9-0FADD7F520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maintenance cost percentage distribution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437E88-88A9-DB11-F913-3FFE681189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 maintenance budget also changes over the software's lifecycle. Gartner's research suggests maintenance costs follow a predictable pattern:</a:t>
            </a:r>
          </a:p>
          <a:p>
            <a:pPr lvl="1"/>
            <a:r>
              <a:rPr lang="en-US" dirty="0"/>
              <a:t>Early phase (years 1-2): 10-25% of development costs annually</a:t>
            </a:r>
          </a:p>
          <a:p>
            <a:pPr lvl="1"/>
            <a:r>
              <a:rPr lang="en-US" dirty="0"/>
              <a:t>Mid-life phase (years 3-5): 15-30% of development costs annually</a:t>
            </a:r>
          </a:p>
          <a:p>
            <a:pPr lvl="1"/>
            <a:r>
              <a:rPr lang="en-US" dirty="0"/>
              <a:t>Mature phase (years 6+): 20-40% of development costs annually</a:t>
            </a:r>
          </a:p>
          <a:p>
            <a:r>
              <a:rPr lang="en-US" dirty="0"/>
              <a:t>This escalating pattern reinforces why lifetime cost projections are essential for accurate budgeting and financial planning.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25171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1FC369-5AE5-172A-149C-719C71F975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Factors Affecting Software Maintenance Cost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55146AC-DD7D-E307-42EA-CF55D4A6C3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14400" y="1825625"/>
            <a:ext cx="9595588" cy="4729696"/>
          </a:xfrm>
          <a:prstGeom prst="rect">
            <a:avLst/>
          </a:prstGeom>
        </p:spPr>
      </p:pic>
      <p:sp>
        <p:nvSpPr>
          <p:cNvPr id="4" name="AutoShape 2" descr="factors affecting software maintenance cost">
            <a:extLst>
              <a:ext uri="{FF2B5EF4-FFF2-40B4-BE49-F238E27FC236}">
                <a16:creationId xmlns:a16="http://schemas.microsoft.com/office/drawing/2014/main" id="{EDCB5BD6-9734-0792-A609-771BB0D8F68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62553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9E4C8B-6E9B-BB83-23F3-F732262E9E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Steps to Reduce Maintenance Cost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FB3E5BD-E803-D38D-AE8E-2A1A86B077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56574" y="1825625"/>
            <a:ext cx="6326658" cy="4767444"/>
          </a:xfrm>
          <a:prstGeom prst="rect">
            <a:avLst/>
          </a:prstGeom>
        </p:spPr>
      </p:pic>
      <p:sp>
        <p:nvSpPr>
          <p:cNvPr id="4" name="AutoShape 2" descr="7 steps to reduce software maintenance costs">
            <a:extLst>
              <a:ext uri="{FF2B5EF4-FFF2-40B4-BE49-F238E27FC236}">
                <a16:creationId xmlns:a16="http://schemas.microsoft.com/office/drawing/2014/main" id="{81228992-9E1C-18B9-92D7-6087C50BF52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71819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BDA48-905D-5D6B-16F2-770CD62A0D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Cost analysis Methodologies for software Projects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4E8F23-271E-B0D9-AC19-EB2FF3469A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Cost of Ownership (TCO) analysis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 Point Analysis (FPA)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Constructive Cost Model (COCOMO)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Value-based analysis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88316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06E8D1-D792-800E-4400-3359E08FBE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Total Cost of Ownership (TCO) analysis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D46789-E54D-43CB-639C-52E59E2224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TCO analysis examines all direct and indirect costs associated with software throughout its lifecycle. This includes: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 acquisition/development costs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and integration costs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Ongoing maintenance and support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Infrastructure and hosting fees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and user support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Opportunity costs of deployment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Eventual replacement or decommissioning costs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approach prevents the common mistake of focusing exclusively on upfront development expenses while ignoring the more significant long-term costs.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67730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08EEF1-754C-069B-248E-8B87CA8B8C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Function Point Analysis (FPA)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AD3B54-4B3E-552A-DB92-F6A197E4FF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 Point Analysis measures software size based on functionality rather than technical complexity. This method: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Evaluates software from the user's perspective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a standardized measurement approach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more accurate estimates for both development and maintenance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Facilitates comparisons across different technologies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FPA helps organizations predict maintenance efforts more accurately by establishing a clearer relationship between functional complexity and maintenance requirements.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84741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EC1A1C-F450-A670-4197-0C94B4C38A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Constructive Cost Model (COCOMO)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6A94B7-DF61-8311-E7A4-2B64BFCA13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COCOMO provides algorithmic software cost estimation models that incorporate:</a:t>
            </a:r>
          </a:p>
          <a:p>
            <a:pPr lvl="1"/>
            <a:r>
              <a:rPr lang="en-US" dirty="0"/>
              <a:t>Project size (in lines of code or function points)</a:t>
            </a:r>
          </a:p>
          <a:p>
            <a:pPr lvl="1"/>
            <a:r>
              <a:rPr lang="en-US" dirty="0"/>
              <a:t>Development methodology</a:t>
            </a:r>
          </a:p>
          <a:p>
            <a:pPr lvl="1"/>
            <a:r>
              <a:rPr lang="en-US" dirty="0"/>
              <a:t>Team expertise</a:t>
            </a:r>
          </a:p>
          <a:p>
            <a:pPr lvl="1"/>
            <a:r>
              <a:rPr lang="en-US" dirty="0"/>
              <a:t>Technical complexity factors</a:t>
            </a:r>
          </a:p>
          <a:p>
            <a:pPr lvl="1"/>
            <a:r>
              <a:rPr lang="en-US" dirty="0"/>
              <a:t>Required reliability</a:t>
            </a:r>
          </a:p>
          <a:p>
            <a:pPr marL="0" indent="0">
              <a:buNone/>
            </a:pPr>
            <a:r>
              <a:rPr lang="en-US" dirty="0"/>
              <a:t>Modern variations like COCOMO II include parameters that help predict maintenance costs based on the development approach and environmental factors.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41796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C17179-D9EE-3122-D50C-349256E2F2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Value-based analysis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BCC791-D414-310C-EA9F-C1C21FA2DF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Beyond pure cost considerations, value-based approaches assess whether software delivers sufficient business value to justify its total cost. This analysis includes: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Revenue generation potential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Operational efficiency improvements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Competitive advantage creation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satisfaction impact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reduction benefits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approach recognizes that higher-cost software may still represent a better investment if it delivers proportionally greater value.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91621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D96A4D-7F6B-BC61-22CA-DDA7CEA09B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br>
              <a:rPr lang="en-US" dirty="0"/>
            </a:br>
            <a:r>
              <a:rPr lang="en-US" b="1" dirty="0"/>
              <a:t>Case study 1: The banking system migration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C554EB-E741-1965-C1DB-330B76F18D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97344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mid-sized bank invested $5 million in developing a new core banking system. The development team delivered on time and within budget, winning executive praise. However, within three years, annual maintenance costs reached $2.1 million - over 40% of the original development cost. Issues included:</a:t>
            </a:r>
          </a:p>
          <a:p>
            <a:pPr lvl="1">
              <a:spcBef>
                <a:spcPts val="0"/>
              </a:spcBef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Legacy data integration complications requiring ongoing specialized support</a:t>
            </a:r>
          </a:p>
          <a:p>
            <a:pPr lvl="1">
              <a:spcBef>
                <a:spcPts val="0"/>
              </a:spcBef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Regulatory changes necessitating frequent updates</a:t>
            </a:r>
          </a:p>
          <a:p>
            <a:pPr lvl="1">
              <a:spcBef>
                <a:spcPts val="0"/>
              </a:spcBef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optimization for growing transaction volumes </a:t>
            </a:r>
          </a:p>
          <a:p>
            <a:pPr lvl="1">
              <a:spcBef>
                <a:spcPts val="0"/>
              </a:spcBef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patching against evolving threats</a:t>
            </a: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Lessons learned: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bank had budgeted for only 15% annual maintenance, creating significant financial strain. If they conducted proper TCO analysis, they would have anticipated these costs and either adjusted their approach or prepared adequate reserves.</a:t>
            </a:r>
          </a:p>
        </p:txBody>
      </p:sp>
    </p:spTree>
    <p:extLst>
      <p:ext uri="{BB962C8B-B14F-4D97-AF65-F5344CB8AC3E}">
        <p14:creationId xmlns:p14="http://schemas.microsoft.com/office/powerpoint/2010/main" val="34617141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561291-722D-BCE5-932E-503BCAE1B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 study 2: The startup's technical debt crisis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4C394B-FAB3-00D6-8A7F-48446F3914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promising startup built their product rapidly to meet investor milestones, accumulating significant technical debt. Their initial development cost $400,000 and delivered an MVP that attracted users and additional funding. However, by year three:</a:t>
            </a:r>
          </a:p>
          <a:p>
            <a:pPr lvl="1">
              <a:spcBef>
                <a:spcPts val="0"/>
              </a:spcBef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Bug fixing consumed 35% of developer time</a:t>
            </a:r>
          </a:p>
          <a:p>
            <a:pPr lvl="1">
              <a:spcBef>
                <a:spcPts val="0"/>
              </a:spcBef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Adding new features took 3x longer than projected</a:t>
            </a:r>
          </a:p>
          <a:p>
            <a:pPr lvl="1">
              <a:spcBef>
                <a:spcPts val="0"/>
              </a:spcBef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stability issues created customer satisfaction problems</a:t>
            </a:r>
          </a:p>
          <a:p>
            <a:pPr lvl="1">
              <a:spcBef>
                <a:spcPts val="0"/>
              </a:spcBef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Developer turnover increased as team members became frustrated with the maintenance burden</a:t>
            </a:r>
          </a:p>
          <a:p>
            <a:pPr lvl="1">
              <a:spcBef>
                <a:spcPts val="0"/>
              </a:spcBef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company eventually spent $900,000 on a partial rewrite - more than twice the original development cost - to address fundamental architectural issues.</a:t>
            </a:r>
          </a:p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Lessons learned: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Short-term development savings created massive maintenance penalties. Proper preventive maintenance and better initial architecture would have cost more upfront but saved millions over time.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08956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31339-2983-0F3F-B8E9-60D5494508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 study 3: The balanced approach success story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724534-34C7-33E9-E8F7-AE303129D1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healthcare software company developing a patient management system took a balanced approach:</a:t>
            </a:r>
          </a:p>
          <a:p>
            <a:pPr lvl="1">
              <a:spcBef>
                <a:spcPts val="0"/>
              </a:spcBef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 development budget: $1.2 million</a:t>
            </a:r>
          </a:p>
          <a:p>
            <a:pPr lvl="1">
              <a:spcBef>
                <a:spcPts val="0"/>
              </a:spcBef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Annual maintenance budget: $300,000-$400,000 (25-33% of development)</a:t>
            </a:r>
          </a:p>
          <a:p>
            <a:pPr lvl="1">
              <a:spcBef>
                <a:spcPts val="0"/>
              </a:spcBef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Dedicated 20% of developer time to technical debt reduction and code quality</a:t>
            </a:r>
          </a:p>
          <a:p>
            <a:pPr lvl="1">
              <a:spcBef>
                <a:spcPts val="0"/>
              </a:spcBef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Invested in comprehensive automated testing infrastructure</a:t>
            </a:r>
          </a:p>
          <a:p>
            <a:pPr lvl="1">
              <a:spcBef>
                <a:spcPts val="0"/>
              </a:spcBef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Maintained detailed documentation and knowledge management</a:t>
            </a:r>
          </a:p>
          <a:p>
            <a:pPr marL="457200" lvl="1" indent="0">
              <a:spcBef>
                <a:spcPts val="0"/>
              </a:spcBef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Five years later, their maintenance costs remained stable at around 25% of initial development annually, while competitors struggled with escalating maintenance burdens reaching 40-50% of development costs.</a:t>
            </a:r>
          </a:p>
          <a:p>
            <a:pPr marL="0" indent="0">
              <a:spcBef>
                <a:spcPts val="0"/>
              </a:spcBef>
              <a:buNone/>
            </a:pP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Lessons learned: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Deliberate planning for maintenance from the project's inception resulted in lower total cost of ownership and greater business agility.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36617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A08D72-353C-9770-B7E5-E605E789FF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key takeaways for businesses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8A2E12-DA78-8E83-CABB-E4909761CF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Budget for the full software lifecycle, not just development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 maintenance to cost 2-4 times the initial development over the software's lifetime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Invest in quality, documentation, and testing during development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Allocate resources to all four types of maintenance, including preventive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 maintenance costs and compare them to value delivered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comprehensive cost analysis methodologies for better decision-making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17108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5FAE96-0C2F-DC95-04F0-714657313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8661F9-7DD1-2E1A-4466-41C6BD99B5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https://www.geeksforgeeks.org/software-engineering/cost-and-efforts-of-software-maintenance/</a:t>
            </a:r>
            <a:endParaRPr lang="en-US" dirty="0"/>
          </a:p>
          <a:p>
            <a:r>
              <a:rPr lang="en-US" dirty="0">
                <a:hlinkClick r:id="rId3"/>
              </a:rPr>
              <a:t>https://startups.epam.com/blog/software-maintenance-cost</a:t>
            </a:r>
            <a:endParaRPr lang="en-US" dirty="0"/>
          </a:p>
          <a:p>
            <a:r>
              <a:rPr lang="en-US" dirty="0">
                <a:hlinkClick r:id="rId4"/>
              </a:rPr>
              <a:t>https://idealink.tech/blog/software-development-maintenance-true-cost-equation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81833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231</TotalTime>
  <Words>1123</Words>
  <Application>Microsoft Office PowerPoint</Application>
  <PresentationFormat>Widescreen</PresentationFormat>
  <Paragraphs>112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Aptos</vt:lpstr>
      <vt:lpstr>Aptos Display</vt:lpstr>
      <vt:lpstr>Arial</vt:lpstr>
      <vt:lpstr>Times New Roman</vt:lpstr>
      <vt:lpstr>Office Theme</vt:lpstr>
      <vt:lpstr>Software Maintenance Cost Estimation and Models</vt:lpstr>
      <vt:lpstr>Software Maintenance Cost Estimation</vt:lpstr>
      <vt:lpstr>Components of Software Maintenance</vt:lpstr>
      <vt:lpstr>Maintenance Cost</vt:lpstr>
      <vt:lpstr>Why the maintenance-to-development ratio matters </vt:lpstr>
      <vt:lpstr>Software maintenance cost percentage distribution </vt:lpstr>
      <vt:lpstr>Software maintenance cost percentage distribution </vt:lpstr>
      <vt:lpstr>Factors Affecting Software Maintenance Cost</vt:lpstr>
      <vt:lpstr>Steps to Reduce Maintenance Cost</vt:lpstr>
      <vt:lpstr>Cost analysis Methodologies for software Projects </vt:lpstr>
      <vt:lpstr>Total Cost of Ownership (TCO) analysis </vt:lpstr>
      <vt:lpstr>Function Point Analysis (FPA) </vt:lpstr>
      <vt:lpstr>Constructive Cost Model (COCOMO) </vt:lpstr>
      <vt:lpstr>Value-based analysis </vt:lpstr>
      <vt:lpstr> Case study 1: The banking system migration</vt:lpstr>
      <vt:lpstr>Case study 2: The startup's technical debt crisis</vt:lpstr>
      <vt:lpstr>Case study 3: The balanced approach success story</vt:lpstr>
      <vt:lpstr>The key takeaways for businesses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Lutfun Nahar Lota Assistant Professor,	CSE</dc:creator>
  <cp:lastModifiedBy>Namisa__ __</cp:lastModifiedBy>
  <cp:revision>6</cp:revision>
  <dcterms:created xsi:type="dcterms:W3CDTF">2025-07-15T08:25:01Z</dcterms:created>
  <dcterms:modified xsi:type="dcterms:W3CDTF">2026-09-08T11:10:30Z</dcterms:modified>
</cp:coreProperties>
</file>