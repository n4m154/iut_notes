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56" r:id="rId2"/>
    <p:sldId id="257" r:id="rId3"/>
    <p:sldId id="258" r:id="rId4"/>
    <p:sldId id="259" r:id="rId5"/>
    <p:sldId id="260" r:id="rId6"/>
    <p:sldId id="261" r:id="rId7"/>
    <p:sldId id="263" r:id="rId8"/>
    <p:sldId id="264" r:id="rId9"/>
    <p:sldId id="265" r:id="rId10"/>
    <p:sldId id="267" r:id="rId11"/>
    <p:sldId id="280" r:id="rId12"/>
    <p:sldId id="281" r:id="rId13"/>
    <p:sldId id="282" r:id="rId14"/>
    <p:sldId id="270" r:id="rId15"/>
    <p:sldId id="271" r:id="rId16"/>
    <p:sldId id="272" r:id="rId17"/>
    <p:sldId id="273" r:id="rId18"/>
    <p:sldId id="276" r:id="rId19"/>
    <p:sldId id="285" r:id="rId20"/>
    <p:sldId id="286" r:id="rId21"/>
    <p:sldId id="287" r:id="rId22"/>
    <p:sldId id="277" r:id="rId23"/>
    <p:sldId id="283" r:id="rId24"/>
    <p:sldId id="284" r:id="rId25"/>
    <p:sldId id="278" r:id="rId26"/>
    <p:sldId id="279" r:id="rId27"/>
  </p:sldIdLst>
  <p:sldSz cx="9144000" cy="5143500" type="screen16x9"/>
  <p:notesSz cx="6858000" cy="9144000"/>
  <p:embeddedFontLst>
    <p:embeddedFont>
      <p:font typeface="Lato" panose="020F0502020204030203" pitchFamily="34" charset="0"/>
      <p:regular r:id="rId29"/>
      <p:bold r:id="rId30"/>
      <p:italic r:id="rId31"/>
      <p:boldItalic r:id="rId32"/>
    </p:embeddedFont>
    <p:embeddedFont>
      <p:font typeface="Raleway"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fc8500f96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fc8500f96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01a7c30569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1a7c30569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01a7c30569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01a7c30569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01a7c30569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01a7c30569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01a7c30569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01a7c30569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01a7c30569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01a7c30569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01a7c30569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101a7c30569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01a7c30569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101a7c30569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01a7c30569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01a7c30569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https://www.miquido.com/blog/change-management-in-software-development/"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200" dirty="0">
                <a:latin typeface="Times New Roman" panose="02020603050405020304" pitchFamily="18" charset="0"/>
                <a:cs typeface="Times New Roman" panose="02020603050405020304" pitchFamily="18" charset="0"/>
              </a:rPr>
              <a:t>Chapter 3</a:t>
            </a:r>
            <a:endParaRPr sz="3200" dirty="0">
              <a:latin typeface="Times New Roman" panose="02020603050405020304" pitchFamily="18" charset="0"/>
              <a:cs typeface="Times New Roman" panose="02020603050405020304" pitchFamily="18" charset="0"/>
            </a:endParaRPr>
          </a:p>
        </p:txBody>
      </p:sp>
      <p:sp>
        <p:nvSpPr>
          <p:cNvPr id="87" name="Google Shape;87;p13"/>
          <p:cNvSpPr txBox="1">
            <a:spLocks noGrp="1"/>
          </p:cNvSpPr>
          <p:nvPr>
            <p:ph type="subTitle" idx="1"/>
          </p:nvPr>
        </p:nvSpPr>
        <p:spPr>
          <a:xfrm>
            <a:off x="822496" y="2154800"/>
            <a:ext cx="76881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b="1" dirty="0">
                <a:solidFill>
                  <a:schemeClr val="dk2"/>
                </a:solidFill>
                <a:latin typeface="Times New Roman" panose="02020603050405020304" pitchFamily="18" charset="0"/>
                <a:ea typeface="Raleway"/>
                <a:cs typeface="Times New Roman" panose="02020603050405020304" pitchFamily="18" charset="0"/>
                <a:sym typeface="Raleway"/>
              </a:rPr>
              <a:t>Fundamentals of Software Maintenance</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Overview</a:t>
            </a:r>
            <a:endParaRPr>
              <a:latin typeface="Times New Roman" panose="02020603050405020304" pitchFamily="18" charset="0"/>
              <a:cs typeface="Times New Roman" panose="02020603050405020304" pitchFamily="18" charset="0"/>
            </a:endParaRPr>
          </a:p>
        </p:txBody>
      </p:sp>
      <p:sp>
        <p:nvSpPr>
          <p:cNvPr id="93" name="Google Shape;93;p14"/>
          <p:cNvSpPr txBox="1">
            <a:spLocks noGrp="1"/>
          </p:cNvSpPr>
          <p:nvPr>
            <p:ph type="body" idx="1"/>
          </p:nvPr>
        </p:nvSpPr>
        <p:spPr>
          <a:xfrm>
            <a:off x="729450" y="1240675"/>
            <a:ext cx="7688700" cy="2261100"/>
          </a:xfrm>
          <a:prstGeom prst="rect">
            <a:avLst/>
          </a:prstGeom>
        </p:spPr>
        <p:txBody>
          <a:bodyPr spcFirstLastPara="1" wrap="square" lIns="91425" tIns="91425" rIns="91425" bIns="91425" anchor="t" anchorCtr="0">
            <a:noAutofit/>
          </a:bodyPr>
          <a:lstStyle/>
          <a:p>
            <a:pPr marL="457200" lvl="0" indent="-317976" algn="l" rtl="0">
              <a:lnSpc>
                <a:spcPct val="95000"/>
              </a:lnSpc>
              <a:spcBef>
                <a:spcPts val="0"/>
              </a:spcBef>
              <a:spcAft>
                <a:spcPts val="0"/>
              </a:spcAft>
              <a:buClr>
                <a:srgbClr val="000000"/>
              </a:buClr>
              <a:buSzPts val="1408"/>
              <a:buChar char="●"/>
            </a:pPr>
            <a:r>
              <a:rPr lang="en" sz="1200" dirty="0">
                <a:solidFill>
                  <a:srgbClr val="000000"/>
                </a:solidFill>
                <a:latin typeface="Times New Roman" panose="02020603050405020304" pitchFamily="18" charset="0"/>
                <a:cs typeface="Times New Roman" panose="02020603050405020304" pitchFamily="18" charset="0"/>
              </a:rPr>
              <a:t>Categories of Software Maintenance</a:t>
            </a:r>
            <a:endParaRPr sz="1200" dirty="0">
              <a:solidFill>
                <a:srgbClr val="000000"/>
              </a:solidFill>
              <a:latin typeface="Times New Roman" panose="02020603050405020304" pitchFamily="18" charset="0"/>
              <a:cs typeface="Times New Roman" panose="02020603050405020304" pitchFamily="18" charset="0"/>
            </a:endParaRPr>
          </a:p>
          <a:p>
            <a:pPr marL="914400" lvl="1" indent="-308133" algn="l" rtl="0">
              <a:lnSpc>
                <a:spcPct val="95000"/>
              </a:lnSpc>
              <a:spcBef>
                <a:spcPts val="0"/>
              </a:spcBef>
              <a:spcAft>
                <a:spcPts val="0"/>
              </a:spcAft>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Corrective (Design error, Logical error, coding error)</a:t>
            </a:r>
            <a:endParaRPr sz="1200" dirty="0">
              <a:solidFill>
                <a:srgbClr val="000000"/>
              </a:solidFill>
              <a:latin typeface="Times New Roman" panose="02020603050405020304" pitchFamily="18" charset="0"/>
              <a:cs typeface="Times New Roman" panose="02020603050405020304" pitchFamily="18" charset="0"/>
            </a:endParaRPr>
          </a:p>
          <a:p>
            <a:pPr marL="914400" lvl="1" indent="-308133" algn="l" rtl="0">
              <a:lnSpc>
                <a:spcPct val="95000"/>
              </a:lnSpc>
              <a:spcBef>
                <a:spcPts val="0"/>
              </a:spcBef>
              <a:spcAft>
                <a:spcPts val="0"/>
              </a:spcAft>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Preventive (code restructuring, refactoring etc)</a:t>
            </a:r>
            <a:endParaRPr sz="1200" dirty="0">
              <a:solidFill>
                <a:srgbClr val="000000"/>
              </a:solidFill>
              <a:latin typeface="Times New Roman" panose="02020603050405020304" pitchFamily="18" charset="0"/>
              <a:cs typeface="Times New Roman" panose="02020603050405020304" pitchFamily="18" charset="0"/>
            </a:endParaRPr>
          </a:p>
          <a:p>
            <a:pPr marL="914400" lvl="1" indent="-308133" algn="l" rtl="0">
              <a:lnSpc>
                <a:spcPct val="95000"/>
              </a:lnSpc>
              <a:spcBef>
                <a:spcPts val="0"/>
              </a:spcBef>
              <a:spcAft>
                <a:spcPts val="0"/>
              </a:spcAft>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Perfective (new functionality)</a:t>
            </a:r>
            <a:endParaRPr sz="1200" dirty="0">
              <a:solidFill>
                <a:srgbClr val="000000"/>
              </a:solidFill>
              <a:latin typeface="Times New Roman" panose="02020603050405020304" pitchFamily="18" charset="0"/>
              <a:cs typeface="Times New Roman" panose="02020603050405020304" pitchFamily="18" charset="0"/>
            </a:endParaRPr>
          </a:p>
          <a:p>
            <a:pPr marL="914400" lvl="1" indent="-308133" algn="l" rtl="0">
              <a:lnSpc>
                <a:spcPct val="95000"/>
              </a:lnSpc>
              <a:spcBef>
                <a:spcPts val="0"/>
              </a:spcBef>
              <a:spcAft>
                <a:spcPts val="0"/>
              </a:spcAft>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Adaptive (hardware software changes)</a:t>
            </a:r>
            <a:endParaRPr sz="1200" dirty="0">
              <a:solidFill>
                <a:srgbClr val="000000"/>
              </a:solidFill>
              <a:latin typeface="Times New Roman" panose="02020603050405020304" pitchFamily="18" charset="0"/>
              <a:cs typeface="Times New Roman" panose="02020603050405020304" pitchFamily="18" charset="0"/>
            </a:endParaRPr>
          </a:p>
          <a:p>
            <a:pPr marL="457200" lvl="0" indent="-317976" algn="l" rtl="0">
              <a:lnSpc>
                <a:spcPct val="95000"/>
              </a:lnSpc>
              <a:spcBef>
                <a:spcPts val="0"/>
              </a:spcBef>
              <a:spcAft>
                <a:spcPts val="0"/>
              </a:spcAft>
              <a:buClr>
                <a:srgbClr val="000000"/>
              </a:buClr>
              <a:buSzPts val="1408"/>
              <a:buChar char="●"/>
            </a:pPr>
            <a:r>
              <a:rPr lang="en" sz="1200" dirty="0">
                <a:solidFill>
                  <a:srgbClr val="000000"/>
                </a:solidFill>
                <a:latin typeface="Times New Roman" panose="02020603050405020304" pitchFamily="18" charset="0"/>
                <a:cs typeface="Times New Roman" panose="02020603050405020304" pitchFamily="18" charset="0"/>
              </a:rPr>
              <a:t>Relationship between Maintenance Categories</a:t>
            </a:r>
          </a:p>
          <a:p>
            <a:pPr marL="457200" lvl="0" indent="-317976" algn="l" rtl="0">
              <a:lnSpc>
                <a:spcPct val="95000"/>
              </a:lnSpc>
              <a:spcBef>
                <a:spcPts val="0"/>
              </a:spcBef>
              <a:spcAft>
                <a:spcPts val="0"/>
              </a:spcAft>
              <a:buClr>
                <a:srgbClr val="000000"/>
              </a:buClr>
              <a:buSzPts val="1408"/>
              <a:buChar char="●"/>
            </a:pPr>
            <a:r>
              <a:rPr lang="en" sz="1200" dirty="0">
                <a:solidFill>
                  <a:srgbClr val="000000"/>
                </a:solidFill>
                <a:latin typeface="Times New Roman" panose="02020603050405020304" pitchFamily="18" charset="0"/>
                <a:cs typeface="Times New Roman" panose="02020603050405020304" pitchFamily="18" charset="0"/>
              </a:rPr>
              <a:t>Ongoing support</a:t>
            </a:r>
            <a:endParaRPr sz="1200" dirty="0">
              <a:solidFill>
                <a:srgbClr val="000000"/>
              </a:solidFill>
              <a:latin typeface="Times New Roman" panose="02020603050405020304" pitchFamily="18" charset="0"/>
              <a:cs typeface="Times New Roman" panose="02020603050405020304" pitchFamily="18" charset="0"/>
            </a:endParaRPr>
          </a:p>
          <a:p>
            <a:pPr marL="914400" lvl="1" indent="-308133" algn="l" rtl="0">
              <a:lnSpc>
                <a:spcPct val="95000"/>
              </a:lnSpc>
              <a:spcBef>
                <a:spcPts val="0"/>
              </a:spcBef>
              <a:spcAft>
                <a:spcPts val="0"/>
              </a:spcAft>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Effective Communication, Training End User, and Provide business information </a:t>
            </a:r>
          </a:p>
          <a:p>
            <a:pPr indent="-308133">
              <a:lnSpc>
                <a:spcPct val="95000"/>
              </a:lnSpc>
              <a:buClr>
                <a:srgbClr val="000000"/>
              </a:buClr>
              <a:buSzPts val="1253"/>
            </a:pPr>
            <a:r>
              <a:rPr lang="en-US" sz="1400" dirty="0">
                <a:solidFill>
                  <a:srgbClr val="000000"/>
                </a:solidFill>
                <a:latin typeface="Times New Roman" panose="02020603050405020304" pitchFamily="18" charset="0"/>
                <a:cs typeface="Times New Roman" panose="02020603050405020304" pitchFamily="18" charset="0"/>
              </a:rPr>
              <a:t>Predicting Maintenance</a:t>
            </a:r>
          </a:p>
          <a:p>
            <a:pPr indent="-308133">
              <a:lnSpc>
                <a:spcPct val="95000"/>
              </a:lnSpc>
              <a:buClr>
                <a:srgbClr val="000000"/>
              </a:buClr>
              <a:buSzPts val="1253"/>
            </a:pPr>
            <a:r>
              <a:rPr lang="en-US" sz="1400" dirty="0">
                <a:solidFill>
                  <a:srgbClr val="000000"/>
                </a:solidFill>
                <a:latin typeface="Times New Roman" panose="02020603050405020304" pitchFamily="18" charset="0"/>
                <a:cs typeface="Times New Roman" panose="02020603050405020304" pitchFamily="18" charset="0"/>
              </a:rPr>
              <a:t>Change Management</a:t>
            </a:r>
            <a:endParaRPr lang="en" sz="1200" dirty="0">
              <a:solidFill>
                <a:srgbClr val="000000"/>
              </a:solidFill>
              <a:latin typeface="Times New Roman" panose="02020603050405020304" pitchFamily="18" charset="0"/>
              <a:cs typeface="Times New Roman" panose="02020603050405020304" pitchFamily="18" charset="0"/>
            </a:endParaRPr>
          </a:p>
          <a:p>
            <a:pPr marL="457200" lvl="0" indent="-317976" algn="l" rtl="0">
              <a:lnSpc>
                <a:spcPct val="95000"/>
              </a:lnSpc>
              <a:spcBef>
                <a:spcPts val="0"/>
              </a:spcBef>
              <a:spcAft>
                <a:spcPts val="0"/>
              </a:spcAft>
              <a:buClr>
                <a:srgbClr val="000000"/>
              </a:buClr>
              <a:buSzPts val="1408"/>
              <a:buChar char="●"/>
            </a:pPr>
            <a:r>
              <a:rPr lang="en" sz="1200" dirty="0">
                <a:solidFill>
                  <a:srgbClr val="000000"/>
                </a:solidFill>
                <a:latin typeface="Times New Roman" panose="02020603050405020304" pitchFamily="18" charset="0"/>
                <a:cs typeface="Times New Roman" panose="02020603050405020304" pitchFamily="18" charset="0"/>
              </a:rPr>
              <a:t>Program Evolution Dynamics</a:t>
            </a:r>
          </a:p>
          <a:p>
            <a:pPr lvl="1" indent="-317976">
              <a:lnSpc>
                <a:spcPct val="95000"/>
              </a:lnSpc>
              <a:buClr>
                <a:srgbClr val="000000"/>
              </a:buClr>
              <a:buSzPts val="1408"/>
              <a:buChar char="●"/>
            </a:pPr>
            <a:r>
              <a:rPr lang="en" sz="1200" dirty="0">
                <a:solidFill>
                  <a:srgbClr val="000000"/>
                </a:solidFill>
                <a:latin typeface="Times New Roman" panose="02020603050405020304" pitchFamily="18" charset="0"/>
                <a:cs typeface="Times New Roman" panose="02020603050405020304" pitchFamily="18" charset="0"/>
              </a:rPr>
              <a:t>Lehman’s Laws</a:t>
            </a:r>
            <a:endParaRPr sz="1200" dirty="0">
              <a:solidFill>
                <a:srgbClr val="000000"/>
              </a:solidFill>
              <a:latin typeface="Times New Roman" panose="02020603050405020304" pitchFamily="18" charset="0"/>
              <a:cs typeface="Times New Roman" panose="02020603050405020304" pitchFamily="18" charset="0"/>
            </a:endParaRPr>
          </a:p>
          <a:p>
            <a:pPr lvl="2" indent="-308133">
              <a:lnSpc>
                <a:spcPct val="95000"/>
              </a:lnSpc>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Continuing Change</a:t>
            </a:r>
            <a:endParaRPr sz="1200" dirty="0">
              <a:solidFill>
                <a:srgbClr val="000000"/>
              </a:solidFill>
              <a:latin typeface="Times New Roman" panose="02020603050405020304" pitchFamily="18" charset="0"/>
              <a:cs typeface="Times New Roman" panose="02020603050405020304" pitchFamily="18" charset="0"/>
            </a:endParaRPr>
          </a:p>
          <a:p>
            <a:pPr lvl="2" indent="-308133">
              <a:lnSpc>
                <a:spcPct val="95000"/>
              </a:lnSpc>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Increasing Complexity</a:t>
            </a:r>
            <a:endParaRPr sz="1200" dirty="0">
              <a:solidFill>
                <a:srgbClr val="000000"/>
              </a:solidFill>
              <a:latin typeface="Times New Roman" panose="02020603050405020304" pitchFamily="18" charset="0"/>
              <a:cs typeface="Times New Roman" panose="02020603050405020304" pitchFamily="18" charset="0"/>
            </a:endParaRPr>
          </a:p>
          <a:p>
            <a:pPr lvl="2" indent="-308133">
              <a:lnSpc>
                <a:spcPct val="95000"/>
              </a:lnSpc>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Self Regulation</a:t>
            </a:r>
            <a:endParaRPr sz="1200" dirty="0">
              <a:solidFill>
                <a:srgbClr val="000000"/>
              </a:solidFill>
              <a:latin typeface="Times New Roman" panose="02020603050405020304" pitchFamily="18" charset="0"/>
              <a:cs typeface="Times New Roman" panose="02020603050405020304" pitchFamily="18" charset="0"/>
            </a:endParaRPr>
          </a:p>
          <a:p>
            <a:pPr lvl="2" indent="-308133">
              <a:lnSpc>
                <a:spcPct val="95000"/>
              </a:lnSpc>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Conservation of Organizational Stability</a:t>
            </a:r>
            <a:endParaRPr sz="1200" dirty="0">
              <a:solidFill>
                <a:srgbClr val="000000"/>
              </a:solidFill>
              <a:latin typeface="Times New Roman" panose="02020603050405020304" pitchFamily="18" charset="0"/>
              <a:cs typeface="Times New Roman" panose="02020603050405020304" pitchFamily="18" charset="0"/>
            </a:endParaRPr>
          </a:p>
          <a:p>
            <a:pPr lvl="2" indent="-308133">
              <a:lnSpc>
                <a:spcPct val="95000"/>
              </a:lnSpc>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Continuing growth </a:t>
            </a:r>
            <a:endParaRPr sz="1200" dirty="0">
              <a:solidFill>
                <a:srgbClr val="000000"/>
              </a:solidFill>
              <a:latin typeface="Times New Roman" panose="02020603050405020304" pitchFamily="18" charset="0"/>
              <a:cs typeface="Times New Roman" panose="02020603050405020304" pitchFamily="18" charset="0"/>
            </a:endParaRPr>
          </a:p>
          <a:p>
            <a:pPr lvl="2" indent="-308133">
              <a:lnSpc>
                <a:spcPct val="95000"/>
              </a:lnSpc>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Declining Quality</a:t>
            </a:r>
            <a:endParaRPr sz="1200" dirty="0">
              <a:solidFill>
                <a:srgbClr val="000000"/>
              </a:solidFill>
              <a:latin typeface="Times New Roman" panose="02020603050405020304" pitchFamily="18" charset="0"/>
              <a:cs typeface="Times New Roman" panose="02020603050405020304" pitchFamily="18" charset="0"/>
            </a:endParaRPr>
          </a:p>
          <a:p>
            <a:pPr lvl="2" indent="-308133">
              <a:lnSpc>
                <a:spcPct val="95000"/>
              </a:lnSpc>
              <a:buClr>
                <a:srgbClr val="000000"/>
              </a:buClr>
              <a:buSzPts val="1253"/>
              <a:buChar char="○"/>
            </a:pPr>
            <a:r>
              <a:rPr lang="en" sz="1200" dirty="0">
                <a:solidFill>
                  <a:srgbClr val="000000"/>
                </a:solidFill>
                <a:latin typeface="Times New Roman" panose="02020603050405020304" pitchFamily="18" charset="0"/>
                <a:cs typeface="Times New Roman" panose="02020603050405020304" pitchFamily="18" charset="0"/>
              </a:rPr>
              <a:t>Feedback system</a:t>
            </a:r>
            <a:endParaRPr sz="1200" dirty="0">
              <a:solidFill>
                <a:srgbClr val="000000"/>
              </a:solidFill>
              <a:latin typeface="Times New Roman" panose="02020603050405020304" pitchFamily="18" charset="0"/>
              <a:cs typeface="Times New Roman" panose="02020603050405020304" pitchFamily="18" charset="0"/>
            </a:endParaRPr>
          </a:p>
          <a:p>
            <a:pPr marL="0" lvl="0" indent="0" algn="l" rtl="0">
              <a:lnSpc>
                <a:spcPct val="95000"/>
              </a:lnSpc>
              <a:spcBef>
                <a:spcPts val="1200"/>
              </a:spcBef>
              <a:spcAft>
                <a:spcPts val="1200"/>
              </a:spcAft>
              <a:buSzPts val="852"/>
              <a:buNone/>
            </a:pPr>
            <a:endParaRPr sz="12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665156" y="397106"/>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Categories of Software Maintenance</a:t>
            </a:r>
            <a:endParaRPr dirty="0">
              <a:latin typeface="Times New Roman" panose="02020603050405020304" pitchFamily="18" charset="0"/>
              <a:cs typeface="Times New Roman" panose="02020603050405020304" pitchFamily="18" charset="0"/>
            </a:endParaRPr>
          </a:p>
        </p:txBody>
      </p:sp>
      <p:sp>
        <p:nvSpPr>
          <p:cNvPr id="99" name="Google Shape;99;p15"/>
          <p:cNvSpPr txBox="1">
            <a:spLocks noGrp="1"/>
          </p:cNvSpPr>
          <p:nvPr>
            <p:ph type="body" idx="1"/>
          </p:nvPr>
        </p:nvSpPr>
        <p:spPr>
          <a:xfrm>
            <a:off x="665156" y="1441200"/>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700" dirty="0">
                <a:solidFill>
                  <a:srgbClr val="000000"/>
                </a:solidFill>
                <a:latin typeface="Times New Roman" panose="02020603050405020304" pitchFamily="18" charset="0"/>
                <a:cs typeface="Times New Roman" panose="02020603050405020304" pitchFamily="18" charset="0"/>
              </a:rPr>
              <a:t>There are four types of changes in software maintenance.</a:t>
            </a:r>
            <a:endParaRPr sz="1700" dirty="0">
              <a:solidFill>
                <a:srgbClr val="000000"/>
              </a:solidFill>
              <a:latin typeface="Times New Roman" panose="02020603050405020304" pitchFamily="18" charset="0"/>
              <a:cs typeface="Times New Roman" panose="02020603050405020304" pitchFamily="18" charset="0"/>
            </a:endParaRPr>
          </a:p>
          <a:p>
            <a:pPr marL="457200" lvl="0" indent="-336550" algn="l" rtl="0">
              <a:spcBef>
                <a:spcPts val="1200"/>
              </a:spcBef>
              <a:spcAft>
                <a:spcPts val="0"/>
              </a:spcAft>
              <a:buClr>
                <a:srgbClr val="000000"/>
              </a:buClr>
              <a:buSzPts val="1700"/>
              <a:buAutoNum type="arabicPeriod"/>
            </a:pPr>
            <a:r>
              <a:rPr lang="en" sz="1700" dirty="0">
                <a:solidFill>
                  <a:srgbClr val="000000"/>
                </a:solidFill>
                <a:latin typeface="Times New Roman" panose="02020603050405020304" pitchFamily="18" charset="0"/>
                <a:cs typeface="Times New Roman" panose="02020603050405020304" pitchFamily="18" charset="0"/>
              </a:rPr>
              <a:t>Corrective</a:t>
            </a:r>
            <a:endParaRPr sz="1700" dirty="0">
              <a:solidFill>
                <a:srgbClr val="000000"/>
              </a:solidFill>
              <a:latin typeface="Times New Roman" panose="02020603050405020304" pitchFamily="18" charset="0"/>
              <a:cs typeface="Times New Roman" panose="02020603050405020304" pitchFamily="18" charset="0"/>
            </a:endParaRPr>
          </a:p>
          <a:p>
            <a:pPr marL="457200" lvl="0" indent="-336550" algn="l" rtl="0">
              <a:spcBef>
                <a:spcPts val="0"/>
              </a:spcBef>
              <a:spcAft>
                <a:spcPts val="0"/>
              </a:spcAft>
              <a:buClr>
                <a:srgbClr val="000000"/>
              </a:buClr>
              <a:buSzPts val="1700"/>
              <a:buAutoNum type="arabicPeriod"/>
            </a:pPr>
            <a:r>
              <a:rPr lang="en" sz="1700" dirty="0">
                <a:solidFill>
                  <a:srgbClr val="000000"/>
                </a:solidFill>
                <a:latin typeface="Times New Roman" panose="02020603050405020304" pitchFamily="18" charset="0"/>
                <a:cs typeface="Times New Roman" panose="02020603050405020304" pitchFamily="18" charset="0"/>
              </a:rPr>
              <a:t>Adaptive</a:t>
            </a:r>
            <a:endParaRPr sz="1700" dirty="0">
              <a:solidFill>
                <a:srgbClr val="000000"/>
              </a:solidFill>
              <a:latin typeface="Times New Roman" panose="02020603050405020304" pitchFamily="18" charset="0"/>
              <a:cs typeface="Times New Roman" panose="02020603050405020304" pitchFamily="18" charset="0"/>
            </a:endParaRPr>
          </a:p>
          <a:p>
            <a:pPr marL="457200" lvl="0" indent="-336550" algn="l" rtl="0">
              <a:spcBef>
                <a:spcPts val="0"/>
              </a:spcBef>
              <a:spcAft>
                <a:spcPts val="0"/>
              </a:spcAft>
              <a:buClr>
                <a:srgbClr val="000000"/>
              </a:buClr>
              <a:buSzPts val="1700"/>
              <a:buAutoNum type="arabicPeriod"/>
            </a:pPr>
            <a:r>
              <a:rPr lang="en" sz="1700" dirty="0">
                <a:solidFill>
                  <a:srgbClr val="000000"/>
                </a:solidFill>
                <a:latin typeface="Times New Roman" panose="02020603050405020304" pitchFamily="18" charset="0"/>
                <a:cs typeface="Times New Roman" panose="02020603050405020304" pitchFamily="18" charset="0"/>
              </a:rPr>
              <a:t>Perfective</a:t>
            </a:r>
            <a:endParaRPr sz="1700" dirty="0">
              <a:solidFill>
                <a:srgbClr val="000000"/>
              </a:solidFill>
              <a:latin typeface="Times New Roman" panose="02020603050405020304" pitchFamily="18" charset="0"/>
              <a:cs typeface="Times New Roman" panose="02020603050405020304" pitchFamily="18" charset="0"/>
            </a:endParaRPr>
          </a:p>
          <a:p>
            <a:pPr marL="457200" lvl="0" indent="-336550" algn="l" rtl="0">
              <a:spcBef>
                <a:spcPts val="0"/>
              </a:spcBef>
              <a:spcAft>
                <a:spcPts val="0"/>
              </a:spcAft>
              <a:buClr>
                <a:srgbClr val="000000"/>
              </a:buClr>
              <a:buSzPts val="1700"/>
              <a:buAutoNum type="arabicPeriod"/>
            </a:pPr>
            <a:r>
              <a:rPr lang="en" sz="1700" dirty="0">
                <a:solidFill>
                  <a:srgbClr val="000000"/>
                </a:solidFill>
                <a:latin typeface="Times New Roman" panose="02020603050405020304" pitchFamily="18" charset="0"/>
                <a:cs typeface="Times New Roman" panose="02020603050405020304" pitchFamily="18" charset="0"/>
              </a:rPr>
              <a:t>Preventive</a:t>
            </a:r>
            <a:endParaRPr sz="1700" dirty="0">
              <a:solidFill>
                <a:srgbClr val="000000"/>
              </a:solidFill>
              <a:latin typeface="Times New Roman" panose="02020603050405020304" pitchFamily="18" charset="0"/>
              <a:cs typeface="Times New Roman" panose="02020603050405020304" pitchFamily="18" charset="0"/>
            </a:endParaRPr>
          </a:p>
          <a:p>
            <a:pPr marL="457200" lvl="0" indent="0" algn="l" rtl="0">
              <a:spcBef>
                <a:spcPts val="1200"/>
              </a:spcBef>
              <a:spcAft>
                <a:spcPts val="1200"/>
              </a:spcAft>
              <a:buNone/>
            </a:pPr>
            <a:endParaRPr sz="17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643725" y="468544"/>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Corrective Maintenance	</a:t>
            </a:r>
            <a:endParaRPr dirty="0">
              <a:latin typeface="Times New Roman" panose="02020603050405020304" pitchFamily="18" charset="0"/>
              <a:cs typeface="Times New Roman" panose="02020603050405020304" pitchFamily="18" charset="0"/>
            </a:endParaRPr>
          </a:p>
        </p:txBody>
      </p:sp>
      <p:sp>
        <p:nvSpPr>
          <p:cNvPr id="105" name="Google Shape;105;p16"/>
          <p:cNvSpPr txBox="1">
            <a:spLocks noGrp="1"/>
          </p:cNvSpPr>
          <p:nvPr>
            <p:ph type="body" idx="1"/>
          </p:nvPr>
        </p:nvSpPr>
        <p:spPr>
          <a:xfrm>
            <a:off x="727650" y="1441200"/>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rgbClr val="000000"/>
                </a:solidFill>
                <a:latin typeface="Times New Roman" panose="02020603050405020304" pitchFamily="18" charset="0"/>
                <a:cs typeface="Times New Roman" panose="02020603050405020304" pitchFamily="18" charset="0"/>
              </a:rPr>
              <a:t>Def:  Modification initiated by defects are known as corrective maintenance of software.</a:t>
            </a:r>
            <a:br>
              <a:rPr lang="en" sz="1400" dirty="0">
                <a:solidFill>
                  <a:srgbClr val="000000"/>
                </a:solidFill>
                <a:latin typeface="Times New Roman" panose="02020603050405020304" pitchFamily="18" charset="0"/>
                <a:cs typeface="Times New Roman" panose="02020603050405020304" pitchFamily="18" charset="0"/>
              </a:rPr>
            </a:br>
            <a:r>
              <a:rPr lang="en" sz="1400" dirty="0">
                <a:solidFill>
                  <a:srgbClr val="000000"/>
                </a:solidFill>
                <a:latin typeface="Times New Roman" panose="02020603050405020304" pitchFamily="18" charset="0"/>
                <a:cs typeface="Times New Roman" panose="02020603050405020304" pitchFamily="18" charset="0"/>
              </a:rPr>
              <a:t>A defect can result from following errors:</a:t>
            </a:r>
            <a:endParaRPr sz="1400" dirty="0">
              <a:solidFill>
                <a:srgbClr val="000000"/>
              </a:solidFill>
              <a:latin typeface="Times New Roman" panose="02020603050405020304" pitchFamily="18" charset="0"/>
              <a:cs typeface="Times New Roman" panose="02020603050405020304" pitchFamily="18" charset="0"/>
            </a:endParaRPr>
          </a:p>
          <a:p>
            <a:pPr marL="457200" lvl="0" indent="-317500" algn="l" rtl="0">
              <a:spcBef>
                <a:spcPts val="1200"/>
              </a:spcBef>
              <a:spcAft>
                <a:spcPts val="0"/>
              </a:spcAft>
              <a:buClr>
                <a:srgbClr val="000000"/>
              </a:buClr>
              <a:buSzPts val="1400"/>
              <a:buAutoNum type="arabicPeriod"/>
            </a:pPr>
            <a:r>
              <a:rPr lang="en" sz="1400" dirty="0">
                <a:solidFill>
                  <a:srgbClr val="000000"/>
                </a:solidFill>
                <a:latin typeface="Times New Roman" panose="02020603050405020304" pitchFamily="18" charset="0"/>
                <a:cs typeface="Times New Roman" panose="02020603050405020304" pitchFamily="18" charset="0"/>
              </a:rPr>
              <a:t>Design errors: These occur when, for example, changes made to the software are incorrect, incomplete, wrongly communicated or the change request is misunderstood.</a:t>
            </a:r>
            <a:endParaRPr sz="1400" dirty="0">
              <a:solidFill>
                <a:srgbClr val="000000"/>
              </a:solidFill>
              <a:latin typeface="Times New Roman" panose="02020603050405020304" pitchFamily="18" charset="0"/>
              <a:cs typeface="Times New Roman" panose="02020603050405020304" pitchFamily="18" charset="0"/>
            </a:endParaRPr>
          </a:p>
          <a:p>
            <a:pPr marL="457200" lvl="0" indent="-317500" algn="l" rtl="0">
              <a:spcBef>
                <a:spcPts val="0"/>
              </a:spcBef>
              <a:spcAft>
                <a:spcPts val="0"/>
              </a:spcAft>
              <a:buClr>
                <a:srgbClr val="000000"/>
              </a:buClr>
              <a:buSzPts val="1400"/>
              <a:buAutoNum type="arabicPeriod"/>
            </a:pPr>
            <a:r>
              <a:rPr lang="en" sz="1400" dirty="0">
                <a:solidFill>
                  <a:srgbClr val="000000"/>
                </a:solidFill>
                <a:latin typeface="Times New Roman" panose="02020603050405020304" pitchFamily="18" charset="0"/>
                <a:cs typeface="Times New Roman" panose="02020603050405020304" pitchFamily="18" charset="0"/>
              </a:rPr>
              <a:t>Logic errors: These result from invalid tests and conclusions, incorrect implementation of design specifications, faulty logic flow or incomplete testing of data. </a:t>
            </a:r>
            <a:endParaRPr sz="1400" dirty="0">
              <a:solidFill>
                <a:srgbClr val="000000"/>
              </a:solidFill>
              <a:latin typeface="Times New Roman" panose="02020603050405020304" pitchFamily="18" charset="0"/>
              <a:cs typeface="Times New Roman" panose="02020603050405020304" pitchFamily="18" charset="0"/>
            </a:endParaRPr>
          </a:p>
          <a:p>
            <a:pPr marL="457200" lvl="0" indent="-317500" algn="l" rtl="0">
              <a:spcBef>
                <a:spcPts val="0"/>
              </a:spcBef>
              <a:spcAft>
                <a:spcPts val="0"/>
              </a:spcAft>
              <a:buClr>
                <a:srgbClr val="000000"/>
              </a:buClr>
              <a:buSzPts val="1400"/>
              <a:buAutoNum type="arabicPeriod"/>
            </a:pPr>
            <a:r>
              <a:rPr lang="en" sz="1400" dirty="0">
                <a:solidFill>
                  <a:srgbClr val="000000"/>
                </a:solidFill>
                <a:latin typeface="Times New Roman" panose="02020603050405020304" pitchFamily="18" charset="0"/>
                <a:cs typeface="Times New Roman" panose="02020603050405020304" pitchFamily="18" charset="0"/>
              </a:rPr>
              <a:t>Coding errors: These are caused by incorrect implementation of detailed logic design and incorrect use of the source code logic. Defects are also caused by data processing errors and system performance errors.</a:t>
            </a:r>
            <a:endParaRPr sz="14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400" dirty="0">
                <a:solidFill>
                  <a:srgbClr val="000000"/>
                </a:solidFill>
                <a:latin typeface="Times New Roman" panose="02020603050405020304" pitchFamily="18" charset="0"/>
                <a:cs typeface="Times New Roman" panose="02020603050405020304" pitchFamily="18" charset="0"/>
              </a:rPr>
              <a:t>All these errors, sometimes called 'residual errors' or 'bugs', prevent the software from conforming to its agreed specification.</a:t>
            </a:r>
            <a:endParaRPr sz="14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4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4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665157" y="5359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Corrective Maintenance	</a:t>
            </a:r>
            <a:endParaRPr dirty="0">
              <a:latin typeface="Times New Roman" panose="02020603050405020304" pitchFamily="18" charset="0"/>
              <a:cs typeface="Times New Roman" panose="02020603050405020304" pitchFamily="18" charset="0"/>
            </a:endParaRPr>
          </a:p>
        </p:txBody>
      </p:sp>
      <p:sp>
        <p:nvSpPr>
          <p:cNvPr id="111" name="Google Shape;111;p17"/>
          <p:cNvSpPr txBox="1">
            <a:spLocks noGrp="1"/>
          </p:cNvSpPr>
          <p:nvPr>
            <p:ph type="body" idx="1"/>
          </p:nvPr>
        </p:nvSpPr>
        <p:spPr>
          <a:xfrm>
            <a:off x="694520" y="1441200"/>
            <a:ext cx="7688700" cy="2261100"/>
          </a:xfrm>
          <a:prstGeom prst="rect">
            <a:avLst/>
          </a:prstGeom>
        </p:spPr>
        <p:txBody>
          <a:bodyPr spcFirstLastPara="1" wrap="square" lIns="91425" tIns="91425" rIns="91425" bIns="91425" anchor="t" anchorCtr="0">
            <a:noAutofit/>
          </a:bodyPr>
          <a:lstStyle/>
          <a:p>
            <a:pPr marL="285750" indent="-285750"/>
            <a:r>
              <a:rPr lang="en" sz="1600" b="1" dirty="0">
                <a:solidFill>
                  <a:schemeClr val="bg2"/>
                </a:solidFill>
                <a:latin typeface="Times New Roman" panose="02020603050405020304" pitchFamily="18" charset="0"/>
                <a:cs typeface="Times New Roman" panose="02020603050405020304" pitchFamily="18" charset="0"/>
              </a:rPr>
              <a:t>Software Patch: </a:t>
            </a:r>
            <a:r>
              <a:rPr lang="en" sz="1600" dirty="0">
                <a:solidFill>
                  <a:srgbClr val="000000"/>
                </a:solidFill>
                <a:latin typeface="Times New Roman" panose="02020603050405020304" pitchFamily="18" charset="0"/>
                <a:cs typeface="Times New Roman" panose="02020603050405020304" pitchFamily="18" charset="0"/>
              </a:rPr>
              <a:t>A </a:t>
            </a:r>
            <a:r>
              <a:rPr lang="en" sz="1600" dirty="0">
                <a:solidFill>
                  <a:schemeClr val="tx1"/>
                </a:solidFill>
                <a:latin typeface="Times New Roman" panose="02020603050405020304" pitchFamily="18" charset="0"/>
                <a:cs typeface="Times New Roman" panose="02020603050405020304" pitchFamily="18" charset="0"/>
              </a:rPr>
              <a:t>software patch or fix</a:t>
            </a:r>
            <a:r>
              <a:rPr lang="en" sz="1600" dirty="0">
                <a:solidFill>
                  <a:srgbClr val="000000"/>
                </a:solidFill>
                <a:latin typeface="Times New Roman" panose="02020603050405020304" pitchFamily="18" charset="0"/>
                <a:cs typeface="Times New Roman" panose="02020603050405020304" pitchFamily="18" charset="0"/>
              </a:rPr>
              <a:t> is a </a:t>
            </a:r>
            <a:r>
              <a:rPr lang="en" sz="1600" dirty="0">
                <a:solidFill>
                  <a:srgbClr val="FFC000"/>
                </a:solidFill>
                <a:latin typeface="Times New Roman" panose="02020603050405020304" pitchFamily="18" charset="0"/>
                <a:cs typeface="Times New Roman" panose="02020603050405020304" pitchFamily="18" charset="0"/>
              </a:rPr>
              <a:t>quick-repair job </a:t>
            </a:r>
            <a:r>
              <a:rPr lang="en" sz="1600" dirty="0">
                <a:solidFill>
                  <a:srgbClr val="000000"/>
                </a:solidFill>
                <a:latin typeface="Times New Roman" panose="02020603050405020304" pitchFamily="18" charset="0"/>
                <a:cs typeface="Times New Roman" panose="02020603050405020304" pitchFamily="18" charset="0"/>
              </a:rPr>
              <a:t>for a piece of programming designed to resolve functionality issues, improve security and add new features.</a:t>
            </a:r>
          </a:p>
          <a:p>
            <a:pPr marL="285750" indent="-285750"/>
            <a:r>
              <a:rPr lang="en" sz="1600" dirty="0">
                <a:solidFill>
                  <a:srgbClr val="000000"/>
                </a:solidFill>
                <a:latin typeface="Times New Roman" panose="02020603050405020304" pitchFamily="18" charset="0"/>
                <a:cs typeface="Times New Roman" panose="02020603050405020304" pitchFamily="18" charset="0"/>
              </a:rPr>
              <a:t>This approach gives rise to a range of problems that include </a:t>
            </a:r>
            <a:r>
              <a:rPr lang="en" sz="1600" dirty="0">
                <a:solidFill>
                  <a:srgbClr val="FFC000"/>
                </a:solidFill>
                <a:latin typeface="Times New Roman" panose="02020603050405020304" pitchFamily="18" charset="0"/>
                <a:cs typeface="Times New Roman" panose="02020603050405020304" pitchFamily="18" charset="0"/>
              </a:rPr>
              <a:t>increased program complexity</a:t>
            </a:r>
            <a:r>
              <a:rPr lang="en" sz="1600" dirty="0">
                <a:solidFill>
                  <a:srgbClr val="000000"/>
                </a:solidFill>
                <a:latin typeface="Times New Roman" panose="02020603050405020304" pitchFamily="18" charset="0"/>
                <a:cs typeface="Times New Roman" panose="02020603050405020304" pitchFamily="18" charset="0"/>
              </a:rPr>
              <a:t> and unforeseen </a:t>
            </a:r>
            <a:r>
              <a:rPr lang="en" sz="1600" dirty="0">
                <a:solidFill>
                  <a:srgbClr val="FFC000"/>
                </a:solidFill>
                <a:latin typeface="Times New Roman" panose="02020603050405020304" pitchFamily="18" charset="0"/>
                <a:cs typeface="Times New Roman" panose="02020603050405020304" pitchFamily="18" charset="0"/>
              </a:rPr>
              <a:t>ripple effects</a:t>
            </a:r>
            <a:r>
              <a:rPr lang="en" sz="1600" dirty="0">
                <a:solidFill>
                  <a:srgbClr val="000000"/>
                </a:solidFill>
                <a:latin typeface="Times New Roman" panose="02020603050405020304" pitchFamily="18" charset="0"/>
                <a:cs typeface="Times New Roman" panose="02020603050405020304" pitchFamily="18" charset="0"/>
              </a:rPr>
              <a:t>. It thus leads to spaghetti syndrome.</a:t>
            </a:r>
          </a:p>
          <a:p>
            <a:pPr marL="285750" indent="-285750"/>
            <a:r>
              <a:rPr lang="en" sz="1600" b="1" dirty="0">
                <a:solidFill>
                  <a:schemeClr val="bg2"/>
                </a:solidFill>
                <a:latin typeface="Times New Roman" panose="02020603050405020304" pitchFamily="18" charset="0"/>
                <a:cs typeface="Times New Roman" panose="02020603050405020304" pitchFamily="18" charset="0"/>
              </a:rPr>
              <a:t>Spaghetti syndrome: </a:t>
            </a:r>
            <a:r>
              <a:rPr lang="en" sz="1600" dirty="0">
                <a:solidFill>
                  <a:srgbClr val="000000"/>
                </a:solidFill>
                <a:latin typeface="Times New Roman" panose="02020603050405020304" pitchFamily="18" charset="0"/>
                <a:cs typeface="Times New Roman" panose="02020603050405020304" pitchFamily="18" charset="0"/>
              </a:rPr>
              <a:t>Degeneration of program structure which makes the program increasingly difficult to understand. It also indicates the  resistance of the program to change is at its maximum</a:t>
            </a: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6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7650" y="6042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Adaptive Maintenance</a:t>
            </a:r>
            <a:endParaRPr dirty="0">
              <a:latin typeface="Times New Roman" panose="02020603050405020304" pitchFamily="18" charset="0"/>
              <a:cs typeface="Times New Roman" panose="02020603050405020304" pitchFamily="18" charset="0"/>
            </a:endParaRPr>
          </a:p>
        </p:txBody>
      </p:sp>
      <p:sp>
        <p:nvSpPr>
          <p:cNvPr id="117" name="Google Shape;117;p18"/>
          <p:cNvSpPr txBox="1">
            <a:spLocks noGrp="1"/>
          </p:cNvSpPr>
          <p:nvPr>
            <p:ph type="body" idx="1"/>
          </p:nvPr>
        </p:nvSpPr>
        <p:spPr>
          <a:xfrm>
            <a:off x="726637" y="1585957"/>
            <a:ext cx="7688700" cy="2953268"/>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400" b="1" dirty="0">
                <a:solidFill>
                  <a:srgbClr val="000000"/>
                </a:solidFill>
                <a:latin typeface="Times New Roman" panose="02020603050405020304" pitchFamily="18" charset="0"/>
                <a:cs typeface="Times New Roman" panose="02020603050405020304" pitchFamily="18" charset="0"/>
              </a:rPr>
              <a:t>Def:</a:t>
            </a:r>
            <a:r>
              <a:rPr lang="en" sz="1400" dirty="0">
                <a:solidFill>
                  <a:srgbClr val="000000"/>
                </a:solidFill>
                <a:latin typeface="Times New Roman" panose="02020603050405020304" pitchFamily="18" charset="0"/>
                <a:cs typeface="Times New Roman" panose="02020603050405020304" pitchFamily="18" charset="0"/>
              </a:rPr>
              <a:t> a change driven by the need to accommodate modifications in the environment of the software system.</a:t>
            </a:r>
            <a:endParaRPr sz="1400" dirty="0">
              <a:solidFill>
                <a:srgbClr val="000000"/>
              </a:solidFill>
              <a:latin typeface="Times New Roman" panose="02020603050405020304" pitchFamily="18" charset="0"/>
              <a:cs typeface="Times New Roman" panose="02020603050405020304" pitchFamily="18" charset="0"/>
            </a:endParaRPr>
          </a:p>
          <a:p>
            <a:pPr marL="285750" indent="-285750">
              <a:lnSpc>
                <a:spcPct val="95000"/>
              </a:lnSpc>
              <a:spcBef>
                <a:spcPts val="1200"/>
              </a:spcBef>
              <a:buSzPts val="935"/>
            </a:pPr>
            <a:r>
              <a:rPr lang="en" sz="1400" dirty="0">
                <a:solidFill>
                  <a:srgbClr val="000000"/>
                </a:solidFill>
                <a:latin typeface="Times New Roman" panose="02020603050405020304" pitchFamily="18" charset="0"/>
                <a:cs typeface="Times New Roman" panose="02020603050405020304" pitchFamily="18" charset="0"/>
              </a:rPr>
              <a:t>Environment refers to the totality of all conditions and influences which act from outside upon the system i.e: business rules, government policies, work patterns, software and hardware operating platforms. </a:t>
            </a:r>
          </a:p>
          <a:p>
            <a:pPr marL="285750" indent="-285750">
              <a:lnSpc>
                <a:spcPct val="95000"/>
              </a:lnSpc>
              <a:spcBef>
                <a:spcPts val="1200"/>
              </a:spcBef>
              <a:buSzPts val="935"/>
            </a:pPr>
            <a:r>
              <a:rPr lang="en-US" sz="1400" dirty="0">
                <a:solidFill>
                  <a:srgbClr val="000000"/>
                </a:solidFill>
                <a:latin typeface="Times New Roman" panose="02020603050405020304" pitchFamily="18" charset="0"/>
                <a:cs typeface="Times New Roman" panose="02020603050405020304" pitchFamily="18" charset="0"/>
              </a:rPr>
              <a:t>Includes any work initiated as a consequence of moving the software to a different hardware or software platform - compiler, operating system or new processor.</a:t>
            </a:r>
          </a:p>
          <a:p>
            <a:pPr marL="285750" indent="-285750">
              <a:lnSpc>
                <a:spcPct val="95000"/>
              </a:lnSpc>
              <a:spcBef>
                <a:spcPts val="1200"/>
              </a:spcBef>
              <a:buSzPts val="935"/>
            </a:pPr>
            <a:r>
              <a:rPr lang="en-US" sz="1400" dirty="0">
                <a:solidFill>
                  <a:schemeClr val="bg2"/>
                </a:solidFill>
                <a:latin typeface="Times New Roman" panose="02020603050405020304" pitchFamily="18" charset="0"/>
                <a:cs typeface="Times New Roman" panose="02020603050405020304" pitchFamily="18" charset="0"/>
              </a:rPr>
              <a:t>Example: upgrading systems for new OS versions (e.g., Windows/macOS), updating APIs, adapting to new data privacy laws, or migrating to cloud services.</a:t>
            </a:r>
            <a:endParaRPr sz="1704" dirty="0">
              <a:solidFill>
                <a:schemeClr val="bg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629125" y="38996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Perfective Maintenance</a:t>
            </a:r>
            <a:endParaRPr dirty="0">
              <a:latin typeface="Times New Roman" panose="02020603050405020304" pitchFamily="18" charset="0"/>
              <a:cs typeface="Times New Roman" panose="02020603050405020304" pitchFamily="18" charset="0"/>
            </a:endParaRPr>
          </a:p>
        </p:txBody>
      </p:sp>
      <p:sp>
        <p:nvSpPr>
          <p:cNvPr id="129" name="Google Shape;129;p20"/>
          <p:cNvSpPr txBox="1">
            <a:spLocks noGrp="1"/>
          </p:cNvSpPr>
          <p:nvPr>
            <p:ph type="body" idx="1"/>
          </p:nvPr>
        </p:nvSpPr>
        <p:spPr>
          <a:xfrm>
            <a:off x="586737" y="1441200"/>
            <a:ext cx="7688700" cy="2261100"/>
          </a:xfrm>
          <a:prstGeom prst="rect">
            <a:avLst/>
          </a:prstGeom>
        </p:spPr>
        <p:txBody>
          <a:bodyPr spcFirstLastPara="1" wrap="square" lIns="91425" tIns="91425" rIns="91425" bIns="91425" anchor="t" anchorCtr="0">
            <a:noAutofit/>
          </a:bodyPr>
          <a:lstStyle/>
          <a:p>
            <a:pPr marL="0" lvl="0" indent="0">
              <a:buNone/>
            </a:pPr>
            <a:r>
              <a:rPr lang="en" sz="1400" b="1" dirty="0">
                <a:solidFill>
                  <a:schemeClr val="bg2"/>
                </a:solidFill>
                <a:latin typeface="Times New Roman" panose="02020603050405020304" pitchFamily="18" charset="0"/>
                <a:cs typeface="Times New Roman" panose="02020603050405020304" pitchFamily="18" charset="0"/>
              </a:rPr>
              <a:t>Def: </a:t>
            </a:r>
            <a:r>
              <a:rPr lang="en-US" sz="1400" dirty="0">
                <a:solidFill>
                  <a:schemeClr val="bg2"/>
                </a:solidFill>
                <a:latin typeface="Times New Roman" panose="02020603050405020304" pitchFamily="18" charset="0"/>
                <a:cs typeface="Times New Roman" panose="02020603050405020304" pitchFamily="18" charset="0"/>
              </a:rPr>
              <a:t>is the process of updating, enhancing, and refining software after its release to improve performance, maintainability, or user experience, rather than fixing bugs.</a:t>
            </a:r>
            <a:endParaRPr sz="14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400" dirty="0">
              <a:solidFill>
                <a:srgbClr val="000000"/>
              </a:solidFill>
              <a:latin typeface="Times New Roman" panose="02020603050405020304" pitchFamily="18" charset="0"/>
              <a:cs typeface="Times New Roman" panose="02020603050405020304" pitchFamily="18" charset="0"/>
            </a:endParaRPr>
          </a:p>
        </p:txBody>
      </p:sp>
      <p:pic>
        <p:nvPicPr>
          <p:cNvPr id="130" name="Google Shape;130;p20"/>
          <p:cNvPicPr preferRelativeResize="0"/>
          <p:nvPr/>
        </p:nvPicPr>
        <p:blipFill>
          <a:blip r:embed="rId3">
            <a:alphaModFix/>
          </a:blip>
          <a:stretch>
            <a:fillRect/>
          </a:stretch>
        </p:blipFill>
        <p:spPr>
          <a:xfrm>
            <a:off x="244637" y="2436756"/>
            <a:ext cx="3593275" cy="1969175"/>
          </a:xfrm>
          <a:prstGeom prst="rect">
            <a:avLst/>
          </a:prstGeom>
          <a:noFill/>
          <a:ln>
            <a:noFill/>
          </a:ln>
        </p:spPr>
      </p:pic>
      <p:pic>
        <p:nvPicPr>
          <p:cNvPr id="131" name="Google Shape;131;p20"/>
          <p:cNvPicPr preferRelativeResize="0"/>
          <p:nvPr/>
        </p:nvPicPr>
        <p:blipFill>
          <a:blip r:embed="rId4">
            <a:alphaModFix/>
          </a:blip>
          <a:stretch>
            <a:fillRect/>
          </a:stretch>
        </p:blipFill>
        <p:spPr>
          <a:xfrm>
            <a:off x="3940912" y="2355968"/>
            <a:ext cx="3752950" cy="2130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a:spLocks noGrp="1"/>
          </p:cNvSpPr>
          <p:nvPr>
            <p:ph type="title"/>
          </p:nvPr>
        </p:nvSpPr>
        <p:spPr>
          <a:xfrm>
            <a:off x="727650" y="654282"/>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Preventive Maintenance</a:t>
            </a:r>
            <a:endParaRPr dirty="0">
              <a:latin typeface="Times New Roman" panose="02020603050405020304" pitchFamily="18" charset="0"/>
              <a:cs typeface="Times New Roman" panose="02020603050405020304" pitchFamily="18" charset="0"/>
            </a:endParaRPr>
          </a:p>
        </p:txBody>
      </p:sp>
      <p:sp>
        <p:nvSpPr>
          <p:cNvPr id="137" name="Google Shape;137;p21"/>
          <p:cNvSpPr txBox="1">
            <a:spLocks noGrp="1"/>
          </p:cNvSpPr>
          <p:nvPr>
            <p:ph type="body" idx="1"/>
          </p:nvPr>
        </p:nvSpPr>
        <p:spPr>
          <a:xfrm>
            <a:off x="665157" y="1441200"/>
            <a:ext cx="7688700" cy="2261100"/>
          </a:xfrm>
          <a:prstGeom prst="rect">
            <a:avLst/>
          </a:prstGeom>
        </p:spPr>
        <p:txBody>
          <a:bodyPr spcFirstLastPara="1" wrap="square" lIns="91425" tIns="91425" rIns="91425" bIns="91425" anchor="t" anchorCtr="0">
            <a:noAutofit/>
          </a:bodyPr>
          <a:lstStyle/>
          <a:p>
            <a:pPr marL="0" lvl="0" indent="0">
              <a:buNone/>
            </a:pPr>
            <a:r>
              <a:rPr lang="en" sz="1400" b="1" dirty="0">
                <a:solidFill>
                  <a:schemeClr val="bg2"/>
                </a:solidFill>
                <a:latin typeface="Times New Roman" panose="02020603050405020304" pitchFamily="18" charset="0"/>
                <a:cs typeface="Times New Roman" panose="02020603050405020304" pitchFamily="18" charset="0"/>
              </a:rPr>
              <a:t>Def: </a:t>
            </a:r>
            <a:r>
              <a:rPr lang="en-US" sz="1400" dirty="0">
                <a:solidFill>
                  <a:schemeClr val="bg2"/>
                </a:solidFill>
                <a:latin typeface="Times New Roman" panose="02020603050405020304" pitchFamily="18" charset="0"/>
                <a:cs typeface="Times New Roman" panose="02020603050405020304" pitchFamily="18" charset="0"/>
              </a:rPr>
              <a:t>involves taking measures to prevent future problems, such as optimization, updating documentation, reviewing and testing the system, and implementing preventive measures such as backups.</a:t>
            </a:r>
          </a:p>
          <a:p>
            <a:pPr marL="0" lvl="0" indent="0">
              <a:spcBef>
                <a:spcPts val="1200"/>
              </a:spcBef>
              <a:spcAft>
                <a:spcPts val="1200"/>
              </a:spcAft>
              <a:buNone/>
            </a:pPr>
            <a:r>
              <a:rPr lang="en-US" sz="1400" b="1" dirty="0">
                <a:solidFill>
                  <a:schemeClr val="bg2"/>
                </a:solidFill>
                <a:latin typeface="Times New Roman" panose="02020603050405020304" pitchFamily="18" charset="0"/>
                <a:cs typeface="Times New Roman" panose="02020603050405020304" pitchFamily="18" charset="0"/>
              </a:rPr>
              <a:t>Example:</a:t>
            </a:r>
            <a:r>
              <a:rPr lang="en-US" sz="1400" dirty="0">
                <a:solidFill>
                  <a:schemeClr val="bg2"/>
                </a:solidFill>
                <a:latin typeface="Times New Roman" panose="02020603050405020304" pitchFamily="18" charset="0"/>
                <a:cs typeface="Times New Roman" panose="02020603050405020304" pitchFamily="18" charset="0"/>
              </a:rPr>
              <a:t> include refactoring code to improve readability, updating libraries to avoid security risks, and updating documentation to reflect architectural changes</a:t>
            </a:r>
            <a:endParaRPr sz="1400" dirty="0">
              <a:solidFill>
                <a:schemeClr val="bg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type="title"/>
          </p:nvPr>
        </p:nvSpPr>
        <p:spPr>
          <a:xfrm>
            <a:off x="579431" y="32566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Relationship Between Maintenance Categories</a:t>
            </a:r>
            <a:endParaRPr dirty="0">
              <a:latin typeface="Times New Roman" panose="02020603050405020304" pitchFamily="18" charset="0"/>
              <a:cs typeface="Times New Roman" panose="02020603050405020304" pitchFamily="18" charset="0"/>
            </a:endParaRPr>
          </a:p>
        </p:txBody>
      </p:sp>
      <p:pic>
        <p:nvPicPr>
          <p:cNvPr id="144" name="Google Shape;144;p22"/>
          <p:cNvPicPr preferRelativeResize="0"/>
          <p:nvPr/>
        </p:nvPicPr>
        <p:blipFill>
          <a:blip r:embed="rId3">
            <a:alphaModFix/>
          </a:blip>
          <a:stretch>
            <a:fillRect/>
          </a:stretch>
        </p:blipFill>
        <p:spPr>
          <a:xfrm>
            <a:off x="725850" y="1380425"/>
            <a:ext cx="6583950" cy="3362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a:spLocks noGrp="1"/>
          </p:cNvSpPr>
          <p:nvPr>
            <p:ph type="title"/>
          </p:nvPr>
        </p:nvSpPr>
        <p:spPr>
          <a:xfrm>
            <a:off x="744525" y="5359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Ongoing Support</a:t>
            </a:r>
            <a:endParaRPr dirty="0">
              <a:latin typeface="Times New Roman" panose="02020603050405020304" pitchFamily="18" charset="0"/>
              <a:cs typeface="Times New Roman" panose="02020603050405020304" pitchFamily="18" charset="0"/>
            </a:endParaRPr>
          </a:p>
        </p:txBody>
      </p:sp>
      <p:sp>
        <p:nvSpPr>
          <p:cNvPr id="157" name="Google Shape;157;p24"/>
          <p:cNvSpPr txBox="1">
            <a:spLocks noGrp="1"/>
          </p:cNvSpPr>
          <p:nvPr>
            <p:ph type="body" idx="1"/>
          </p:nvPr>
        </p:nvSpPr>
        <p:spPr>
          <a:xfrm>
            <a:off x="572287" y="1335925"/>
            <a:ext cx="7688700" cy="22611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Char char="●"/>
            </a:pPr>
            <a:r>
              <a:rPr lang="en" sz="1400" dirty="0">
                <a:solidFill>
                  <a:srgbClr val="000000"/>
                </a:solidFill>
                <a:latin typeface="Times New Roman" panose="02020603050405020304" pitchFamily="18" charset="0"/>
                <a:cs typeface="Times New Roman" panose="02020603050405020304" pitchFamily="18" charset="0"/>
              </a:rPr>
              <a:t>Def: This category of maintenance work refers to the service provided to satisfy non-programming-related work requests. </a:t>
            </a:r>
            <a:br>
              <a:rPr lang="en" sz="1400" dirty="0">
                <a:solidFill>
                  <a:srgbClr val="000000"/>
                </a:solidFill>
                <a:latin typeface="Times New Roman" panose="02020603050405020304" pitchFamily="18" charset="0"/>
                <a:cs typeface="Times New Roman" panose="02020603050405020304" pitchFamily="18" charset="0"/>
              </a:rPr>
            </a:br>
            <a:r>
              <a:rPr lang="en" sz="1400" dirty="0">
                <a:solidFill>
                  <a:srgbClr val="000000"/>
                </a:solidFill>
                <a:latin typeface="Times New Roman" panose="02020603050405020304" pitchFamily="18" charset="0"/>
                <a:cs typeface="Times New Roman" panose="02020603050405020304" pitchFamily="18" charset="0"/>
              </a:rPr>
              <a:t>It does not create software change, but is essential for successful communication of desired changes. </a:t>
            </a:r>
            <a:endParaRPr sz="1400" dirty="0">
              <a:solidFill>
                <a:srgbClr val="000000"/>
              </a:solidFill>
              <a:latin typeface="Times New Roman" panose="02020603050405020304" pitchFamily="18" charset="0"/>
              <a:cs typeface="Times New Roman" panose="02020603050405020304" pitchFamily="18" charset="0"/>
            </a:endParaRPr>
          </a:p>
          <a:p>
            <a:pPr marL="457200" lvl="0" indent="-317500" algn="l" rtl="0">
              <a:spcBef>
                <a:spcPts val="0"/>
              </a:spcBef>
              <a:spcAft>
                <a:spcPts val="0"/>
              </a:spcAft>
              <a:buClr>
                <a:srgbClr val="000000"/>
              </a:buClr>
              <a:buSzPts val="1400"/>
              <a:buChar char="●"/>
            </a:pPr>
            <a:r>
              <a:rPr lang="en" sz="1400" dirty="0">
                <a:solidFill>
                  <a:srgbClr val="000000"/>
                </a:solidFill>
                <a:latin typeface="Times New Roman" panose="02020603050405020304" pitchFamily="18" charset="0"/>
                <a:cs typeface="Times New Roman" panose="02020603050405020304" pitchFamily="18" charset="0"/>
              </a:rPr>
              <a:t>Followings are some of the ongoing support activities:</a:t>
            </a:r>
            <a:endParaRPr sz="1400" dirty="0">
              <a:solidFill>
                <a:srgbClr val="000000"/>
              </a:solidFill>
              <a:latin typeface="Times New Roman" panose="02020603050405020304" pitchFamily="18" charset="0"/>
              <a:cs typeface="Times New Roman" panose="02020603050405020304" pitchFamily="18" charset="0"/>
            </a:endParaRPr>
          </a:p>
          <a:p>
            <a:pPr marL="914400" lvl="1" indent="-317500" algn="l" rtl="0">
              <a:spcBef>
                <a:spcPts val="0"/>
              </a:spcBef>
              <a:spcAft>
                <a:spcPts val="0"/>
              </a:spcAft>
              <a:buClr>
                <a:srgbClr val="000000"/>
              </a:buClr>
              <a:buSzPts val="1400"/>
              <a:buChar char="○"/>
            </a:pPr>
            <a:r>
              <a:rPr lang="en" sz="1400" b="1" dirty="0">
                <a:solidFill>
                  <a:srgbClr val="000000"/>
                </a:solidFill>
                <a:latin typeface="Times New Roman" panose="02020603050405020304" pitchFamily="18" charset="0"/>
                <a:cs typeface="Times New Roman" panose="02020603050405020304" pitchFamily="18" charset="0"/>
              </a:rPr>
              <a:t>Effective communication:</a:t>
            </a:r>
            <a:r>
              <a:rPr lang="en" sz="1400" dirty="0">
                <a:solidFill>
                  <a:srgbClr val="000000"/>
                </a:solidFill>
                <a:latin typeface="Times New Roman" panose="02020603050405020304" pitchFamily="18" charset="0"/>
                <a:cs typeface="Times New Roman" panose="02020603050405020304" pitchFamily="18" charset="0"/>
              </a:rPr>
              <a:t>  Maintenance is the most customer-intensive part of the software life-cycle. It is necessary to establish good customer relations and cooperation, and continually demonstrate that they aim to satisfy the customers</a:t>
            </a:r>
            <a:endParaRPr sz="1400" dirty="0">
              <a:solidFill>
                <a:srgbClr val="000000"/>
              </a:solidFill>
              <a:latin typeface="Times New Roman" panose="02020603050405020304" pitchFamily="18" charset="0"/>
              <a:cs typeface="Times New Roman" panose="02020603050405020304" pitchFamily="18" charset="0"/>
            </a:endParaRPr>
          </a:p>
          <a:p>
            <a:pPr marL="914400" lvl="1" indent="-317500" algn="l" rtl="0">
              <a:spcBef>
                <a:spcPts val="0"/>
              </a:spcBef>
              <a:spcAft>
                <a:spcPts val="0"/>
              </a:spcAft>
              <a:buClr>
                <a:srgbClr val="000000"/>
              </a:buClr>
              <a:buSzPts val="1400"/>
              <a:buChar char="○"/>
            </a:pPr>
            <a:r>
              <a:rPr lang="en" sz="1400" b="1" dirty="0">
                <a:solidFill>
                  <a:srgbClr val="000000"/>
                </a:solidFill>
                <a:latin typeface="Times New Roman" panose="02020603050405020304" pitchFamily="18" charset="0"/>
                <a:cs typeface="Times New Roman" panose="02020603050405020304" pitchFamily="18" charset="0"/>
              </a:rPr>
              <a:t>Training of end-users</a:t>
            </a:r>
            <a:r>
              <a:rPr lang="en" sz="1400" dirty="0">
                <a:solidFill>
                  <a:srgbClr val="000000"/>
                </a:solidFill>
                <a:latin typeface="Times New Roman" panose="02020603050405020304" pitchFamily="18" charset="0"/>
                <a:cs typeface="Times New Roman" panose="02020603050405020304" pitchFamily="18" charset="0"/>
              </a:rPr>
              <a:t>: Training refers to the process of equipping users with sufficient knowledge and skills to enable them use a system to its full potential. </a:t>
            </a:r>
            <a:endParaRPr sz="1400" dirty="0">
              <a:solidFill>
                <a:srgbClr val="000000"/>
              </a:solidFill>
              <a:latin typeface="Times New Roman" panose="02020603050405020304" pitchFamily="18" charset="0"/>
              <a:cs typeface="Times New Roman" panose="02020603050405020304" pitchFamily="18" charset="0"/>
            </a:endParaRPr>
          </a:p>
          <a:p>
            <a:pPr marL="914400" lvl="1" indent="-317500" algn="l" rtl="0">
              <a:spcBef>
                <a:spcPts val="0"/>
              </a:spcBef>
              <a:spcAft>
                <a:spcPts val="0"/>
              </a:spcAft>
              <a:buClr>
                <a:srgbClr val="000000"/>
              </a:buClr>
              <a:buSzPts val="1400"/>
              <a:buChar char="○"/>
            </a:pPr>
            <a:r>
              <a:rPr lang="en" sz="1400" b="1" dirty="0">
                <a:solidFill>
                  <a:srgbClr val="000000"/>
                </a:solidFill>
                <a:latin typeface="Times New Roman" panose="02020603050405020304" pitchFamily="18" charset="0"/>
                <a:cs typeface="Times New Roman" panose="02020603050405020304" pitchFamily="18" charset="0"/>
              </a:rPr>
              <a:t>Providing business information:</a:t>
            </a:r>
            <a:r>
              <a:rPr lang="en" sz="1400" dirty="0">
                <a:solidFill>
                  <a:srgbClr val="000000"/>
                </a:solidFill>
                <a:latin typeface="Times New Roman" panose="02020603050405020304" pitchFamily="18" charset="0"/>
                <a:cs typeface="Times New Roman" panose="02020603050405020304" pitchFamily="18" charset="0"/>
              </a:rPr>
              <a:t> Users need various types of timely and accurate information to enable them take strategic business decisions.</a:t>
            </a:r>
            <a:endParaRPr sz="1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23AD-AA49-4303-772C-297037199734}"/>
              </a:ext>
            </a:extLst>
          </p:cNvPr>
          <p:cNvSpPr>
            <a:spLocks noGrp="1"/>
          </p:cNvSpPr>
          <p:nvPr>
            <p:ph type="title"/>
          </p:nvPr>
        </p:nvSpPr>
        <p:spPr>
          <a:xfrm>
            <a:off x="656879" y="364577"/>
            <a:ext cx="7688700" cy="764135"/>
          </a:xfrm>
        </p:spPr>
        <p:txBody>
          <a:bodyPr>
            <a:normAutofit fontScale="90000"/>
          </a:bodyPr>
          <a:lstStyle/>
          <a:p>
            <a:r>
              <a:rPr lang="en-US" dirty="0">
                <a:solidFill>
                  <a:schemeClr val="bg2"/>
                </a:solidFill>
                <a:latin typeface="Times New Roman" panose="02020603050405020304" pitchFamily="18" charset="0"/>
                <a:cs typeface="Times New Roman" panose="02020603050405020304" pitchFamily="18" charset="0"/>
              </a:rPr>
              <a:t>Maintenance Prediction</a:t>
            </a:r>
            <a:br>
              <a:rPr lang="en-US" dirty="0">
                <a:solidFill>
                  <a:schemeClr val="bg2"/>
                </a:solidFill>
                <a:latin typeface="Times New Roman" panose="02020603050405020304" pitchFamily="18" charset="0"/>
                <a:cs typeface="Times New Roman" panose="02020603050405020304" pitchFamily="18" charset="0"/>
              </a:rPr>
            </a:br>
            <a:r>
              <a:rPr lang="en-US" sz="1000" b="0" dirty="0">
                <a:solidFill>
                  <a:schemeClr val="bg2"/>
                </a:solidFill>
                <a:latin typeface="Times New Roman" panose="02020603050405020304" pitchFamily="18" charset="0"/>
                <a:cs typeface="Times New Roman" panose="02020603050405020304" pitchFamily="18" charset="0"/>
              </a:rPr>
              <a:t>Chapter 9: Software Evolution</a:t>
            </a:r>
            <a:br>
              <a:rPr lang="en-US" sz="1000" b="0" dirty="0">
                <a:solidFill>
                  <a:schemeClr val="bg2"/>
                </a:solidFill>
                <a:latin typeface="Times New Roman" panose="02020603050405020304" pitchFamily="18" charset="0"/>
                <a:cs typeface="Times New Roman" panose="02020603050405020304" pitchFamily="18" charset="0"/>
              </a:rPr>
            </a:br>
            <a:r>
              <a:rPr lang="en-US" sz="1000" b="0" dirty="0">
                <a:solidFill>
                  <a:schemeClr val="bg2"/>
                </a:solidFill>
                <a:latin typeface="Times New Roman" panose="02020603050405020304" pitchFamily="18" charset="0"/>
                <a:cs typeface="Times New Roman" panose="02020603050405020304" pitchFamily="18" charset="0"/>
              </a:rPr>
              <a:t>Book: SOFTWARE ENGINEERING - Ian Sommerville</a:t>
            </a:r>
            <a:br>
              <a:rPr lang="en-US" sz="1000" b="0" dirty="0">
                <a:solidFill>
                  <a:schemeClr val="bg2"/>
                </a:solidFill>
                <a:latin typeface="Times New Roman" panose="02020603050405020304" pitchFamily="18" charset="0"/>
                <a:cs typeface="Times New Roman" panose="02020603050405020304" pitchFamily="18" charset="0"/>
              </a:rPr>
            </a:br>
            <a:endParaRPr lang="en-US" sz="1000" b="0" dirty="0">
              <a:solidFill>
                <a:schemeClr val="bg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48BA35F-A62A-7A01-5412-020578AC3097}"/>
              </a:ext>
            </a:extLst>
          </p:cNvPr>
          <p:cNvSpPr>
            <a:spLocks noGrp="1"/>
          </p:cNvSpPr>
          <p:nvPr>
            <p:ph type="body" idx="1"/>
          </p:nvPr>
        </p:nvSpPr>
        <p:spPr>
          <a:xfrm>
            <a:off x="127108" y="1207766"/>
            <a:ext cx="7688700" cy="2261100"/>
          </a:xfrm>
        </p:spPr>
        <p:txBody>
          <a:bodyPr/>
          <a:lstStyle/>
          <a:p>
            <a:r>
              <a:rPr lang="en-US" dirty="0">
                <a:solidFill>
                  <a:schemeClr val="bg2"/>
                </a:solidFill>
                <a:latin typeface="Times New Roman" panose="02020603050405020304" pitchFamily="18" charset="0"/>
                <a:cs typeface="Times New Roman" panose="02020603050405020304" pitchFamily="18" charset="0"/>
              </a:rPr>
              <a:t>Predict what system changes might be proposed and what parts of the system are likely to be the most difficult to maintain. </a:t>
            </a:r>
          </a:p>
          <a:p>
            <a:r>
              <a:rPr lang="en-US" dirty="0">
                <a:solidFill>
                  <a:schemeClr val="bg2"/>
                </a:solidFill>
                <a:latin typeface="Times New Roman" panose="02020603050405020304" pitchFamily="18" charset="0"/>
                <a:cs typeface="Times New Roman" panose="02020603050405020304" pitchFamily="18" charset="0"/>
              </a:rPr>
              <a:t>Estimate the overall maintenance costs for a system in a given time period.</a:t>
            </a:r>
          </a:p>
        </p:txBody>
      </p:sp>
      <p:pic>
        <p:nvPicPr>
          <p:cNvPr id="5" name="Picture 4">
            <a:extLst>
              <a:ext uri="{FF2B5EF4-FFF2-40B4-BE49-F238E27FC236}">
                <a16:creationId xmlns:a16="http://schemas.microsoft.com/office/drawing/2014/main" id="{A3CC7B86-80F0-3D5D-279C-A858694BFE4B}"/>
              </a:ext>
            </a:extLst>
          </p:cNvPr>
          <p:cNvPicPr>
            <a:picLocks noChangeAspect="1"/>
          </p:cNvPicPr>
          <p:nvPr/>
        </p:nvPicPr>
        <p:blipFill>
          <a:blip r:embed="rId2"/>
          <a:stretch>
            <a:fillRect/>
          </a:stretch>
        </p:blipFill>
        <p:spPr>
          <a:xfrm>
            <a:off x="1550338" y="2010132"/>
            <a:ext cx="6043324" cy="2917467"/>
          </a:xfrm>
          <a:prstGeom prst="rect">
            <a:avLst/>
          </a:prstGeom>
        </p:spPr>
      </p:pic>
    </p:spTree>
    <p:extLst>
      <p:ext uri="{BB962C8B-B14F-4D97-AF65-F5344CB8AC3E}">
        <p14:creationId xmlns:p14="http://schemas.microsoft.com/office/powerpoint/2010/main" val="2418154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650E1-FCCE-420D-7CDD-9B03F3FD7DDF}"/>
              </a:ext>
            </a:extLst>
          </p:cNvPr>
          <p:cNvSpPr>
            <a:spLocks noGrp="1"/>
          </p:cNvSpPr>
          <p:nvPr>
            <p:ph type="title"/>
          </p:nvPr>
        </p:nvSpPr>
        <p:spPr>
          <a:xfrm>
            <a:off x="729450" y="404250"/>
            <a:ext cx="7688700" cy="535200"/>
          </a:xfrm>
        </p:spPr>
        <p:txBody>
          <a:bodyPr>
            <a:normAutofit fontScale="90000"/>
          </a:bodyPr>
          <a:lstStyle/>
          <a:p>
            <a:r>
              <a:rPr lang="en-US" dirty="0">
                <a:latin typeface="Times New Roman" panose="02020603050405020304" pitchFamily="18" charset="0"/>
                <a:cs typeface="Times New Roman" panose="02020603050405020304" pitchFamily="18" charset="0"/>
              </a:rPr>
              <a:t>Predicting the number of change requests</a:t>
            </a:r>
          </a:p>
        </p:txBody>
      </p:sp>
      <p:sp>
        <p:nvSpPr>
          <p:cNvPr id="3" name="Text Placeholder 2">
            <a:extLst>
              <a:ext uri="{FF2B5EF4-FFF2-40B4-BE49-F238E27FC236}">
                <a16:creationId xmlns:a16="http://schemas.microsoft.com/office/drawing/2014/main" id="{92649CE1-EACC-18EF-015A-30BC4482D981}"/>
              </a:ext>
            </a:extLst>
          </p:cNvPr>
          <p:cNvSpPr>
            <a:spLocks noGrp="1"/>
          </p:cNvSpPr>
          <p:nvPr>
            <p:ph type="body" idx="1"/>
          </p:nvPr>
        </p:nvSpPr>
        <p:spPr>
          <a:xfrm>
            <a:off x="593719" y="1350212"/>
            <a:ext cx="7688700" cy="2821738"/>
          </a:xfrm>
        </p:spPr>
        <p:txBody>
          <a:bodyPr>
            <a:normAutofit/>
          </a:bodyPr>
          <a:lstStyle/>
          <a:p>
            <a:r>
              <a:rPr lang="en-US" dirty="0">
                <a:solidFill>
                  <a:schemeClr val="bg2"/>
                </a:solidFill>
                <a:latin typeface="Times New Roman" panose="02020603050405020304" pitchFamily="18" charset="0"/>
                <a:cs typeface="Times New Roman" panose="02020603050405020304" pitchFamily="18" charset="0"/>
              </a:rPr>
              <a:t>Requires an understanding of the relationship between the system and its external environment. </a:t>
            </a:r>
          </a:p>
          <a:p>
            <a:r>
              <a:rPr lang="en-US" dirty="0">
                <a:solidFill>
                  <a:schemeClr val="bg2"/>
                </a:solidFill>
                <a:latin typeface="Times New Roman" panose="02020603050405020304" pitchFamily="18" charset="0"/>
                <a:cs typeface="Times New Roman" panose="02020603050405020304" pitchFamily="18" charset="0"/>
              </a:rPr>
              <a:t>Some systems have a very complex relationship with their external environment and changes to that environment inevitably result in changes to the system. </a:t>
            </a:r>
          </a:p>
          <a:p>
            <a:r>
              <a:rPr lang="en-US" dirty="0">
                <a:solidFill>
                  <a:schemeClr val="bg2"/>
                </a:solidFill>
                <a:latin typeface="Times New Roman" panose="02020603050405020304" pitchFamily="18" charset="0"/>
                <a:cs typeface="Times New Roman" panose="02020603050405020304" pitchFamily="18" charset="0"/>
              </a:rPr>
              <a:t>To evaluate the relationships between a system and its environment:</a:t>
            </a:r>
          </a:p>
          <a:p>
            <a:pPr lvl="1"/>
            <a:r>
              <a:rPr lang="en-US" b="1" dirty="0">
                <a:solidFill>
                  <a:schemeClr val="bg2"/>
                </a:solidFill>
                <a:latin typeface="Times New Roman" panose="02020603050405020304" pitchFamily="18" charset="0"/>
                <a:cs typeface="Times New Roman" panose="02020603050405020304" pitchFamily="18" charset="0"/>
              </a:rPr>
              <a:t>The number and complexity of system interfaces: </a:t>
            </a:r>
            <a:r>
              <a:rPr lang="en-US" dirty="0">
                <a:solidFill>
                  <a:schemeClr val="bg2"/>
                </a:solidFill>
                <a:latin typeface="Times New Roman" panose="02020603050405020304" pitchFamily="18" charset="0"/>
                <a:cs typeface="Times New Roman" panose="02020603050405020304" pitchFamily="18" charset="0"/>
              </a:rPr>
              <a:t>The larger the number of interfaces and the more complex these interfaces, the more likely it is that interface changes will be required as new requirements are proposed. </a:t>
            </a:r>
          </a:p>
          <a:p>
            <a:pPr lvl="1"/>
            <a:r>
              <a:rPr lang="en-US" b="1" dirty="0">
                <a:solidFill>
                  <a:schemeClr val="bg2"/>
                </a:solidFill>
                <a:latin typeface="Times New Roman" panose="02020603050405020304" pitchFamily="18" charset="0"/>
                <a:cs typeface="Times New Roman" panose="02020603050405020304" pitchFamily="18" charset="0"/>
              </a:rPr>
              <a:t>The number of inherently volatile system requirements: </a:t>
            </a:r>
            <a:r>
              <a:rPr lang="en-US" dirty="0">
                <a:solidFill>
                  <a:schemeClr val="bg2"/>
                </a:solidFill>
                <a:latin typeface="Times New Roman" panose="02020603050405020304" pitchFamily="18" charset="0"/>
                <a:cs typeface="Times New Roman" panose="02020603050405020304" pitchFamily="18" charset="0"/>
              </a:rPr>
              <a:t>Requirements that reflect organizational policies and procedures are likely to be more volatile than requirements that are based on stable domain characteristics. </a:t>
            </a:r>
          </a:p>
          <a:p>
            <a:pPr lvl="1"/>
            <a:r>
              <a:rPr lang="en-US" b="1" dirty="0">
                <a:solidFill>
                  <a:schemeClr val="bg2"/>
                </a:solidFill>
                <a:latin typeface="Times New Roman" panose="02020603050405020304" pitchFamily="18" charset="0"/>
                <a:cs typeface="Times New Roman" panose="02020603050405020304" pitchFamily="18" charset="0"/>
              </a:rPr>
              <a:t>The business processes in which the system is used </a:t>
            </a:r>
            <a:r>
              <a:rPr lang="en-US" dirty="0">
                <a:solidFill>
                  <a:schemeClr val="bg2"/>
                </a:solidFill>
                <a:latin typeface="Times New Roman" panose="02020603050405020304" pitchFamily="18" charset="0"/>
                <a:cs typeface="Times New Roman" panose="02020603050405020304" pitchFamily="18" charset="0"/>
              </a:rPr>
              <a:t>As business processes evolve, they generate system change requests. The more business processes that use a system, the more the demands for system change.</a:t>
            </a:r>
          </a:p>
        </p:txBody>
      </p:sp>
    </p:spTree>
    <p:extLst>
      <p:ext uri="{BB962C8B-B14F-4D97-AF65-F5344CB8AC3E}">
        <p14:creationId xmlns:p14="http://schemas.microsoft.com/office/powerpoint/2010/main" val="2824460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66DD-4460-673B-624C-D95B6F91895D}"/>
              </a:ext>
            </a:extLst>
          </p:cNvPr>
          <p:cNvSpPr>
            <a:spLocks noGrp="1"/>
          </p:cNvSpPr>
          <p:nvPr>
            <p:ph type="title"/>
          </p:nvPr>
        </p:nvSpPr>
        <p:spPr>
          <a:xfrm>
            <a:off x="643725" y="614363"/>
            <a:ext cx="7688700" cy="535200"/>
          </a:xfrm>
        </p:spPr>
        <p:txBody>
          <a:bodyPr>
            <a:normAutofit fontScale="90000"/>
          </a:bodyPr>
          <a:lstStyle/>
          <a:p>
            <a:r>
              <a:rPr lang="en-US" dirty="0">
                <a:latin typeface="Times New Roman" panose="02020603050405020304" pitchFamily="18" charset="0"/>
                <a:cs typeface="Times New Roman" panose="02020603050405020304" pitchFamily="18" charset="0"/>
              </a:rPr>
              <a:t>Predicting Maintainability</a:t>
            </a:r>
          </a:p>
        </p:txBody>
      </p:sp>
      <p:sp>
        <p:nvSpPr>
          <p:cNvPr id="3" name="Text Placeholder 2">
            <a:extLst>
              <a:ext uri="{FF2B5EF4-FFF2-40B4-BE49-F238E27FC236}">
                <a16:creationId xmlns:a16="http://schemas.microsoft.com/office/drawing/2014/main" id="{56B9340F-9EF2-E4AD-248C-CCBB06F226C2}"/>
              </a:ext>
            </a:extLst>
          </p:cNvPr>
          <p:cNvSpPr>
            <a:spLocks noGrp="1"/>
          </p:cNvSpPr>
          <p:nvPr>
            <p:ph type="body" idx="1"/>
          </p:nvPr>
        </p:nvSpPr>
        <p:spPr>
          <a:xfrm>
            <a:off x="643725" y="1346618"/>
            <a:ext cx="7688700" cy="3611145"/>
          </a:xfrm>
        </p:spPr>
        <p:txBody>
          <a:bodyPr>
            <a:noAutofit/>
          </a:bodyPr>
          <a:lstStyle/>
          <a:p>
            <a:pPr algn="just"/>
            <a:r>
              <a:rPr lang="en-US" sz="1200" dirty="0">
                <a:solidFill>
                  <a:schemeClr val="bg2"/>
                </a:solidFill>
                <a:latin typeface="Times New Roman" panose="02020603050405020304" pitchFamily="18" charset="0"/>
                <a:cs typeface="Times New Roman" panose="02020603050405020304" pitchFamily="18" charset="0"/>
              </a:rPr>
              <a:t>It is not surprising that the more complex a system or component, the more expensive it is to maintain. </a:t>
            </a:r>
          </a:p>
          <a:p>
            <a:pPr algn="just"/>
            <a:r>
              <a:rPr lang="en-US" sz="1200" dirty="0">
                <a:solidFill>
                  <a:schemeClr val="bg2"/>
                </a:solidFill>
                <a:latin typeface="Times New Roman" panose="02020603050405020304" pitchFamily="18" charset="0"/>
                <a:cs typeface="Times New Roman" panose="02020603050405020304" pitchFamily="18" charset="0"/>
              </a:rPr>
              <a:t>Complexity measurements are particularly useful in identifying program components that are likely to be expensive to maintain. </a:t>
            </a:r>
          </a:p>
          <a:p>
            <a:pPr algn="just"/>
            <a:r>
              <a:rPr lang="en-US" sz="1200" dirty="0">
                <a:solidFill>
                  <a:schemeClr val="bg2"/>
                </a:solidFill>
                <a:latin typeface="Times New Roman" panose="02020603050405020304" pitchFamily="18" charset="0"/>
                <a:cs typeface="Times New Roman" panose="02020603050405020304" pitchFamily="18" charset="0"/>
              </a:rPr>
              <a:t>To reduce maintenance costs, you should try to replace complex system components with simpler alternatives.</a:t>
            </a:r>
          </a:p>
          <a:p>
            <a:pPr lvl="1" algn="just"/>
            <a:r>
              <a:rPr lang="en-US" sz="1200" b="1" dirty="0">
                <a:solidFill>
                  <a:schemeClr val="bg2"/>
                </a:solidFill>
                <a:latin typeface="Times New Roman" panose="02020603050405020304" pitchFamily="18" charset="0"/>
                <a:cs typeface="Times New Roman" panose="02020603050405020304" pitchFamily="18" charset="0"/>
              </a:rPr>
              <a:t>Number of requests for corrective maintenance: </a:t>
            </a:r>
            <a:r>
              <a:rPr lang="en-US" sz="1200" dirty="0">
                <a:solidFill>
                  <a:schemeClr val="bg2"/>
                </a:solidFill>
                <a:latin typeface="Times New Roman" panose="02020603050405020304" pitchFamily="18" charset="0"/>
                <a:cs typeface="Times New Roman" panose="02020603050405020304" pitchFamily="18" charset="0"/>
              </a:rPr>
              <a:t>An increase in the number of bug and failure reports may indicate that more errors are being introduced into the program than are being repaired during the maintenance process. This may indicate a decline in maintainability. </a:t>
            </a:r>
          </a:p>
          <a:p>
            <a:pPr lvl="1" algn="just"/>
            <a:r>
              <a:rPr lang="en-US" sz="1200" b="1" dirty="0">
                <a:solidFill>
                  <a:schemeClr val="bg2"/>
                </a:solidFill>
                <a:latin typeface="Times New Roman" panose="02020603050405020304" pitchFamily="18" charset="0"/>
                <a:cs typeface="Times New Roman" panose="02020603050405020304" pitchFamily="18" charset="0"/>
              </a:rPr>
              <a:t>Average time required for impact analysis: </a:t>
            </a:r>
            <a:r>
              <a:rPr lang="en-US" sz="1200" dirty="0">
                <a:solidFill>
                  <a:schemeClr val="bg2"/>
                </a:solidFill>
                <a:latin typeface="Times New Roman" panose="02020603050405020304" pitchFamily="18" charset="0"/>
                <a:cs typeface="Times New Roman" panose="02020603050405020304" pitchFamily="18" charset="0"/>
              </a:rPr>
              <a:t>This reflects the number of program components that are affected by the change request. If this time increases, it implies more and more components are affected and maintainability is decreasing. </a:t>
            </a:r>
          </a:p>
          <a:p>
            <a:pPr lvl="1" algn="just"/>
            <a:r>
              <a:rPr lang="en-US" sz="1200" b="1" dirty="0">
                <a:solidFill>
                  <a:schemeClr val="bg2"/>
                </a:solidFill>
                <a:latin typeface="Times New Roman" panose="02020603050405020304" pitchFamily="18" charset="0"/>
                <a:cs typeface="Times New Roman" panose="02020603050405020304" pitchFamily="18" charset="0"/>
              </a:rPr>
              <a:t>Average time taken to implement a change request: </a:t>
            </a:r>
            <a:r>
              <a:rPr lang="en-US" sz="1200" dirty="0">
                <a:solidFill>
                  <a:schemeClr val="bg2"/>
                </a:solidFill>
                <a:latin typeface="Times New Roman" panose="02020603050405020304" pitchFamily="18" charset="0"/>
                <a:cs typeface="Times New Roman" panose="02020603050405020304" pitchFamily="18" charset="0"/>
              </a:rPr>
              <a:t>The amount of time that you need to modify the system and its documentation, after you have assessed which components are affected. An increase in the time needed to implement a change may indicate a decline in maintainability. </a:t>
            </a:r>
          </a:p>
          <a:p>
            <a:pPr lvl="1" algn="just"/>
            <a:r>
              <a:rPr lang="en-US" sz="1200" b="1" dirty="0">
                <a:solidFill>
                  <a:schemeClr val="bg2"/>
                </a:solidFill>
                <a:latin typeface="Times New Roman" panose="02020603050405020304" pitchFamily="18" charset="0"/>
                <a:cs typeface="Times New Roman" panose="02020603050405020304" pitchFamily="18" charset="0"/>
              </a:rPr>
              <a:t>Number of outstanding change requests </a:t>
            </a:r>
            <a:r>
              <a:rPr lang="en-US" sz="1200" dirty="0">
                <a:solidFill>
                  <a:schemeClr val="bg2"/>
                </a:solidFill>
                <a:latin typeface="Times New Roman" panose="02020603050405020304" pitchFamily="18" charset="0"/>
                <a:cs typeface="Times New Roman" panose="02020603050405020304" pitchFamily="18" charset="0"/>
              </a:rPr>
              <a:t>An increase in this number over time may imply a decline in maintainability.</a:t>
            </a:r>
          </a:p>
        </p:txBody>
      </p:sp>
    </p:spTree>
    <p:extLst>
      <p:ext uri="{BB962C8B-B14F-4D97-AF65-F5344CB8AC3E}">
        <p14:creationId xmlns:p14="http://schemas.microsoft.com/office/powerpoint/2010/main" val="2292685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BD74D-3EBE-5B31-0629-2F2F1CF6D4EC}"/>
              </a:ext>
            </a:extLst>
          </p:cNvPr>
          <p:cNvSpPr>
            <a:spLocks noGrp="1"/>
          </p:cNvSpPr>
          <p:nvPr>
            <p:ph type="title"/>
          </p:nvPr>
        </p:nvSpPr>
        <p:spPr>
          <a:xfrm>
            <a:off x="629437" y="482831"/>
            <a:ext cx="7688700" cy="535200"/>
          </a:xfrm>
        </p:spPr>
        <p:txBody>
          <a:bodyPr>
            <a:normAutofit fontScale="90000"/>
          </a:bodyPr>
          <a:lstStyle/>
          <a:p>
            <a:r>
              <a:rPr lang="en-US" dirty="0">
                <a:latin typeface="Times New Roman" panose="02020603050405020304" pitchFamily="18" charset="0"/>
                <a:cs typeface="Times New Roman" panose="02020603050405020304" pitchFamily="18" charset="0"/>
              </a:rPr>
              <a:t>Change Management</a:t>
            </a:r>
          </a:p>
        </p:txBody>
      </p:sp>
      <p:sp>
        <p:nvSpPr>
          <p:cNvPr id="3" name="Text Placeholder 2">
            <a:extLst>
              <a:ext uri="{FF2B5EF4-FFF2-40B4-BE49-F238E27FC236}">
                <a16:creationId xmlns:a16="http://schemas.microsoft.com/office/drawing/2014/main" id="{30D2D29D-6D7C-A12B-8FD7-4EF891CBD5D8}"/>
              </a:ext>
            </a:extLst>
          </p:cNvPr>
          <p:cNvSpPr>
            <a:spLocks noGrp="1"/>
          </p:cNvSpPr>
          <p:nvPr>
            <p:ph type="body" idx="1"/>
          </p:nvPr>
        </p:nvSpPr>
        <p:spPr>
          <a:xfrm>
            <a:off x="579431" y="1441200"/>
            <a:ext cx="7688700" cy="2261100"/>
          </a:xfrm>
        </p:spPr>
        <p:txBody>
          <a:bodyPr/>
          <a:lstStyle/>
          <a:p>
            <a:pPr marL="146050" indent="0">
              <a:buNone/>
            </a:pPr>
            <a:r>
              <a:rPr lang="en-US" b="0" i="0" dirty="0">
                <a:solidFill>
                  <a:srgbClr val="0F1014"/>
                </a:solidFill>
                <a:effectLst/>
                <a:latin typeface="Times New Roman" panose="02020603050405020304" pitchFamily="18" charset="0"/>
                <a:cs typeface="Times New Roman" panose="02020603050405020304" pitchFamily="18" charset="0"/>
              </a:rPr>
              <a:t>Change management in software projects is the process of transiting from the current defective state to the improved state.</a:t>
            </a:r>
            <a:endParaRPr lang="en-US" dirty="0">
              <a:latin typeface="Times New Roman" panose="02020603050405020304" pitchFamily="18" charset="0"/>
              <a:cs typeface="Times New Roman" panose="02020603050405020304" pitchFamily="18" charset="0"/>
            </a:endParaRPr>
          </a:p>
        </p:txBody>
      </p:sp>
      <p:pic>
        <p:nvPicPr>
          <p:cNvPr id="1026" name="Picture 2" descr="Change management process: current state, transition, future">
            <a:extLst>
              <a:ext uri="{FF2B5EF4-FFF2-40B4-BE49-F238E27FC236}">
                <a16:creationId xmlns:a16="http://schemas.microsoft.com/office/drawing/2014/main" id="{158CBF91-15E8-E33D-FD8C-7EFFF9FCC0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3407" y="2643541"/>
            <a:ext cx="4286498" cy="1910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442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FB056-C872-23F9-181B-5C1329189562}"/>
              </a:ext>
            </a:extLst>
          </p:cNvPr>
          <p:cNvSpPr>
            <a:spLocks noGrp="1"/>
          </p:cNvSpPr>
          <p:nvPr>
            <p:ph type="title"/>
          </p:nvPr>
        </p:nvSpPr>
        <p:spPr>
          <a:xfrm>
            <a:off x="727650" y="625706"/>
            <a:ext cx="7688700" cy="535200"/>
          </a:xfrm>
        </p:spPr>
        <p:txBody>
          <a:bodyPr>
            <a:normAutofit fontScale="90000"/>
          </a:bodyPr>
          <a:lstStyle/>
          <a:p>
            <a:r>
              <a:rPr lang="en-US" dirty="0">
                <a:latin typeface="Times New Roman" panose="02020603050405020304" pitchFamily="18" charset="0"/>
                <a:cs typeface="Times New Roman" panose="02020603050405020304" pitchFamily="18" charset="0"/>
              </a:rPr>
              <a:t>Reasons to Change</a:t>
            </a:r>
          </a:p>
        </p:txBody>
      </p:sp>
      <p:sp>
        <p:nvSpPr>
          <p:cNvPr id="3" name="Text Placeholder 2">
            <a:extLst>
              <a:ext uri="{FF2B5EF4-FFF2-40B4-BE49-F238E27FC236}">
                <a16:creationId xmlns:a16="http://schemas.microsoft.com/office/drawing/2014/main" id="{B44F29FB-7B0D-AB85-2501-654EA90C4422}"/>
              </a:ext>
            </a:extLst>
          </p:cNvPr>
          <p:cNvSpPr>
            <a:spLocks noGrp="1"/>
          </p:cNvSpPr>
          <p:nvPr>
            <p:ph type="body" idx="1"/>
          </p:nvPr>
        </p:nvSpPr>
        <p:spPr>
          <a:xfrm>
            <a:off x="719494" y="1441200"/>
            <a:ext cx="7688700" cy="2261100"/>
          </a:xfrm>
        </p:spPr>
        <p:txBody>
          <a:bodyPr/>
          <a:lstStyle/>
          <a:p>
            <a:r>
              <a:rPr lang="en-US" dirty="0">
                <a:solidFill>
                  <a:schemeClr val="bg2"/>
                </a:solidFill>
                <a:latin typeface="Times New Roman" panose="02020603050405020304" pitchFamily="18" charset="0"/>
                <a:cs typeface="Times New Roman" panose="02020603050405020304" pitchFamily="18" charset="0"/>
              </a:rPr>
              <a:t>The project requirements have changed.</a:t>
            </a:r>
          </a:p>
          <a:p>
            <a:r>
              <a:rPr lang="en-US" dirty="0">
                <a:solidFill>
                  <a:schemeClr val="bg2"/>
                </a:solidFill>
                <a:latin typeface="Times New Roman" panose="02020603050405020304" pitchFamily="18" charset="0"/>
                <a:cs typeface="Times New Roman" panose="02020603050405020304" pitchFamily="18" charset="0"/>
              </a:rPr>
              <a:t>Some bugs need fixing.</a:t>
            </a:r>
          </a:p>
          <a:p>
            <a:r>
              <a:rPr lang="en-US" dirty="0">
                <a:solidFill>
                  <a:schemeClr val="bg2"/>
                </a:solidFill>
                <a:latin typeface="Times New Roman" panose="02020603050405020304" pitchFamily="18" charset="0"/>
                <a:cs typeface="Times New Roman" panose="02020603050405020304" pitchFamily="18" charset="0"/>
              </a:rPr>
              <a:t>Some team members have left the project.</a:t>
            </a:r>
          </a:p>
          <a:p>
            <a:r>
              <a:rPr lang="en-US" dirty="0">
                <a:solidFill>
                  <a:schemeClr val="bg2"/>
                </a:solidFill>
                <a:latin typeface="Times New Roman" panose="02020603050405020304" pitchFamily="18" charset="0"/>
                <a:cs typeface="Times New Roman" panose="02020603050405020304" pitchFamily="18" charset="0"/>
              </a:rPr>
              <a:t>Your company has been reorganized.</a:t>
            </a:r>
          </a:p>
          <a:p>
            <a:r>
              <a:rPr lang="en-US" dirty="0">
                <a:solidFill>
                  <a:schemeClr val="bg2"/>
                </a:solidFill>
                <a:latin typeface="Times New Roman" panose="02020603050405020304" pitchFamily="18" charset="0"/>
                <a:cs typeface="Times New Roman" panose="02020603050405020304" pitchFamily="18" charset="0"/>
              </a:rPr>
              <a:t>Market demands have shifted.</a:t>
            </a:r>
          </a:p>
          <a:p>
            <a:r>
              <a:rPr lang="en-US" dirty="0">
                <a:solidFill>
                  <a:schemeClr val="bg2"/>
                </a:solidFill>
                <a:latin typeface="Times New Roman" panose="02020603050405020304" pitchFamily="18" charset="0"/>
                <a:cs typeface="Times New Roman" panose="02020603050405020304" pitchFamily="18" charset="0"/>
              </a:rPr>
              <a:t>Project performance requires some improvements.</a:t>
            </a:r>
          </a:p>
        </p:txBody>
      </p:sp>
    </p:spTree>
    <p:extLst>
      <p:ext uri="{BB962C8B-B14F-4D97-AF65-F5344CB8AC3E}">
        <p14:creationId xmlns:p14="http://schemas.microsoft.com/office/powerpoint/2010/main" val="275057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FC87-17F3-BD39-ECCA-B53EE190693D}"/>
              </a:ext>
            </a:extLst>
          </p:cNvPr>
          <p:cNvSpPr>
            <a:spLocks noGrp="1"/>
          </p:cNvSpPr>
          <p:nvPr>
            <p:ph type="title"/>
          </p:nvPr>
        </p:nvSpPr>
        <p:spPr>
          <a:xfrm>
            <a:off x="629438" y="632692"/>
            <a:ext cx="7688700" cy="535200"/>
          </a:xfrm>
        </p:spPr>
        <p:txBody>
          <a:bodyPr>
            <a:normAutofit fontScale="90000"/>
          </a:bodyPr>
          <a:lstStyle/>
          <a:p>
            <a:r>
              <a:rPr lang="en-US" dirty="0">
                <a:latin typeface="Times New Roman" panose="02020603050405020304" pitchFamily="18" charset="0"/>
                <a:cs typeface="Times New Roman" panose="02020603050405020304" pitchFamily="18" charset="0"/>
              </a:rPr>
              <a:t>Benefits of Change Management</a:t>
            </a:r>
          </a:p>
        </p:txBody>
      </p:sp>
      <p:pic>
        <p:nvPicPr>
          <p:cNvPr id="2050" name="Picture 2" descr="Benefits of introducing changes to a software project">
            <a:extLst>
              <a:ext uri="{FF2B5EF4-FFF2-40B4-BE49-F238E27FC236}">
                <a16:creationId xmlns:a16="http://schemas.microsoft.com/office/drawing/2014/main" id="{ACE6D7C6-931A-470F-D602-EDBC2B1B4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4577" y="1386212"/>
            <a:ext cx="4915043" cy="3068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169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DE35A-ACFC-4EFC-5596-3DFEED12049D}"/>
              </a:ext>
            </a:extLst>
          </p:cNvPr>
          <p:cNvSpPr>
            <a:spLocks noGrp="1"/>
          </p:cNvSpPr>
          <p:nvPr>
            <p:ph type="title"/>
          </p:nvPr>
        </p:nvSpPr>
        <p:spPr>
          <a:xfrm>
            <a:off x="615150" y="454256"/>
            <a:ext cx="7688700" cy="535200"/>
          </a:xfrm>
        </p:spPr>
        <p:txBody>
          <a:bodyPr>
            <a:normAutofit fontScale="90000"/>
          </a:bodyPr>
          <a:lstStyle/>
          <a:p>
            <a:r>
              <a:rPr lang="en-US" dirty="0">
                <a:latin typeface="Times New Roman" panose="02020603050405020304" pitchFamily="18" charset="0"/>
                <a:cs typeface="Times New Roman" panose="02020603050405020304" pitchFamily="18" charset="0"/>
              </a:rPr>
              <a:t>Types of Change Management</a:t>
            </a:r>
          </a:p>
        </p:txBody>
      </p:sp>
      <p:sp>
        <p:nvSpPr>
          <p:cNvPr id="3" name="Text Placeholder 2">
            <a:extLst>
              <a:ext uri="{FF2B5EF4-FFF2-40B4-BE49-F238E27FC236}">
                <a16:creationId xmlns:a16="http://schemas.microsoft.com/office/drawing/2014/main" id="{3EDFC8FC-D073-7EB9-A0F3-60F0B1A21AB3}"/>
              </a:ext>
            </a:extLst>
          </p:cNvPr>
          <p:cNvSpPr>
            <a:spLocks noGrp="1"/>
          </p:cNvSpPr>
          <p:nvPr>
            <p:ph type="body" idx="1"/>
          </p:nvPr>
        </p:nvSpPr>
        <p:spPr>
          <a:xfrm>
            <a:off x="672300" y="1441200"/>
            <a:ext cx="7988480" cy="3248044"/>
          </a:xfrm>
        </p:spPr>
        <p:txBody>
          <a:bodyPr>
            <a:normAutofit fontScale="92500" lnSpcReduction="20000"/>
          </a:bodyPr>
          <a:lstStyle/>
          <a:p>
            <a:pPr algn="just"/>
            <a:r>
              <a:rPr lang="en-US" sz="1600" b="1" dirty="0">
                <a:solidFill>
                  <a:schemeClr val="bg2"/>
                </a:solidFill>
                <a:latin typeface="Times New Roman" panose="02020603050405020304" pitchFamily="18" charset="0"/>
                <a:cs typeface="Times New Roman" panose="02020603050405020304" pitchFamily="18" charset="0"/>
              </a:rPr>
              <a:t>Anticipatory change: </a:t>
            </a:r>
            <a:r>
              <a:rPr lang="en-US" sz="1600" dirty="0">
                <a:solidFill>
                  <a:schemeClr val="bg2"/>
                </a:solidFill>
                <a:latin typeface="Times New Roman" panose="02020603050405020304" pitchFamily="18" charset="0"/>
                <a:cs typeface="Times New Roman" panose="02020603050405020304" pitchFamily="18" charset="0"/>
              </a:rPr>
              <a:t>When we know in advance that a certain change or series of changes is bound to happen. Such planned shifts are significantly easier to implement as here, the project manager has time to tackle the expected situation.</a:t>
            </a:r>
          </a:p>
          <a:p>
            <a:pPr algn="just"/>
            <a:r>
              <a:rPr lang="en-US" sz="1600" b="1" dirty="0">
                <a:solidFill>
                  <a:schemeClr val="bg2"/>
                </a:solidFill>
                <a:latin typeface="Times New Roman" panose="02020603050405020304" pitchFamily="18" charset="0"/>
                <a:cs typeface="Times New Roman" panose="02020603050405020304" pitchFamily="18" charset="0"/>
              </a:rPr>
              <a:t>Incremental change: </a:t>
            </a:r>
            <a:r>
              <a:rPr lang="en-US" sz="1600" dirty="0">
                <a:solidFill>
                  <a:schemeClr val="bg2"/>
                </a:solidFill>
                <a:latin typeface="Times New Roman" panose="02020603050405020304" pitchFamily="18" charset="0"/>
                <a:cs typeface="Times New Roman" panose="02020603050405020304" pitchFamily="18" charset="0"/>
              </a:rPr>
              <a:t>The changes in projects that happen relatively often and gradually. They don’t involve immense shifts that turn the entire project on its head. Instead, the changes are introduced progressively and often may not be noticeable at first glance.</a:t>
            </a:r>
          </a:p>
          <a:p>
            <a:pPr algn="just"/>
            <a:r>
              <a:rPr lang="en-US" sz="1600" b="1" dirty="0">
                <a:solidFill>
                  <a:schemeClr val="bg2"/>
                </a:solidFill>
                <a:latin typeface="Times New Roman" panose="02020603050405020304" pitchFamily="18" charset="0"/>
                <a:cs typeface="Times New Roman" panose="02020603050405020304" pitchFamily="18" charset="0"/>
              </a:rPr>
              <a:t>Emergency (or urgent) change: </a:t>
            </a:r>
            <a:r>
              <a:rPr lang="en-US" sz="1600" dirty="0">
                <a:solidFill>
                  <a:schemeClr val="bg2"/>
                </a:solidFill>
                <a:latin typeface="Times New Roman" panose="02020603050405020304" pitchFamily="18" charset="0"/>
                <a:cs typeface="Times New Roman" panose="02020603050405020304" pitchFamily="18" charset="0"/>
              </a:rPr>
              <a:t>The changes that need to be introduced immediately. Otherwise, the project may become a failure or its execution may be impossible.</a:t>
            </a:r>
          </a:p>
          <a:p>
            <a:pPr algn="just"/>
            <a:r>
              <a:rPr lang="en-US" sz="1600" b="1" dirty="0">
                <a:solidFill>
                  <a:schemeClr val="bg2"/>
                </a:solidFill>
                <a:latin typeface="Times New Roman" panose="02020603050405020304" pitchFamily="18" charset="0"/>
                <a:cs typeface="Times New Roman" panose="02020603050405020304" pitchFamily="18" charset="0"/>
              </a:rPr>
              <a:t>Reactive change: </a:t>
            </a:r>
            <a:r>
              <a:rPr lang="en-US" sz="1600" dirty="0">
                <a:solidFill>
                  <a:schemeClr val="bg2"/>
                </a:solidFill>
                <a:latin typeface="Times New Roman" panose="02020603050405020304" pitchFamily="18" charset="0"/>
                <a:cs typeface="Times New Roman" panose="02020603050405020304" pitchFamily="18" charset="0"/>
              </a:rPr>
              <a:t>Shifts that occur due to an event or a series of events. They often happen when least expected. For that reason, reactive changes are particularly challenging to manage as, in most cases, they can’t be planned in advance.</a:t>
            </a:r>
          </a:p>
          <a:p>
            <a:pPr algn="just"/>
            <a:r>
              <a:rPr lang="en-US" sz="1600" b="1" dirty="0">
                <a:solidFill>
                  <a:schemeClr val="bg2"/>
                </a:solidFill>
                <a:latin typeface="Times New Roman" panose="02020603050405020304" pitchFamily="18" charset="0"/>
                <a:cs typeface="Times New Roman" panose="02020603050405020304" pitchFamily="18" charset="0"/>
              </a:rPr>
              <a:t>Strategic change</a:t>
            </a:r>
            <a:r>
              <a:rPr lang="en-US" sz="1600" dirty="0">
                <a:solidFill>
                  <a:schemeClr val="bg2"/>
                </a:solidFill>
                <a:latin typeface="Times New Roman" panose="02020603050405020304" pitchFamily="18" charset="0"/>
                <a:cs typeface="Times New Roman" panose="02020603050405020304" pitchFamily="18" charset="0"/>
              </a:rPr>
              <a:t>: They involve the whole organization and result from the decisions of C-level management.</a:t>
            </a:r>
          </a:p>
        </p:txBody>
      </p:sp>
    </p:spTree>
    <p:extLst>
      <p:ext uri="{BB962C8B-B14F-4D97-AF65-F5344CB8AC3E}">
        <p14:creationId xmlns:p14="http://schemas.microsoft.com/office/powerpoint/2010/main" val="1932975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3E9B-10BA-77AF-968A-18DA5EEC706C}"/>
              </a:ext>
            </a:extLst>
          </p:cNvPr>
          <p:cNvSpPr>
            <a:spLocks noGrp="1"/>
          </p:cNvSpPr>
          <p:nvPr>
            <p:ph type="title"/>
          </p:nvPr>
        </p:nvSpPr>
        <p:spPr>
          <a:xfrm>
            <a:off x="629437" y="347100"/>
            <a:ext cx="7688700" cy="535200"/>
          </a:xfrm>
        </p:spPr>
        <p:txBody>
          <a:bodyPr>
            <a:normAutofit fontScale="90000"/>
          </a:bodyPr>
          <a:lstStyle/>
          <a:p>
            <a:r>
              <a:rPr lang="en-US" dirty="0">
                <a:solidFill>
                  <a:srgbClr val="0F1014"/>
                </a:solidFill>
                <a:latin typeface="Times New Roman" panose="02020603050405020304" pitchFamily="18" charset="0"/>
                <a:cs typeface="Times New Roman" panose="02020603050405020304" pitchFamily="18" charset="0"/>
              </a:rPr>
              <a:t>T</a:t>
            </a:r>
            <a:r>
              <a:rPr lang="en-US" i="0" dirty="0">
                <a:solidFill>
                  <a:srgbClr val="0F1014"/>
                </a:solidFill>
                <a:effectLst/>
                <a:latin typeface="Times New Roman" panose="02020603050405020304" pitchFamily="18" charset="0"/>
                <a:cs typeface="Times New Roman" panose="02020603050405020304" pitchFamily="18" charset="0"/>
              </a:rPr>
              <a:t>ools for Conducting </a:t>
            </a:r>
            <a:r>
              <a:rPr lang="en-US" dirty="0">
                <a:solidFill>
                  <a:srgbClr val="0F1014"/>
                </a:solidFill>
                <a:latin typeface="Times New Roman" panose="02020603050405020304" pitchFamily="18" charset="0"/>
                <a:cs typeface="Times New Roman" panose="02020603050405020304" pitchFamily="18" charset="0"/>
              </a:rPr>
              <a:t>C</a:t>
            </a:r>
            <a:r>
              <a:rPr lang="en-US" i="0" dirty="0">
                <a:solidFill>
                  <a:srgbClr val="0F1014"/>
                </a:solidFill>
                <a:effectLst/>
                <a:latin typeface="Times New Roman" panose="02020603050405020304" pitchFamily="18" charset="0"/>
                <a:cs typeface="Times New Roman" panose="02020603050405020304" pitchFamily="18" charset="0"/>
              </a:rPr>
              <a:t>hange </a:t>
            </a:r>
            <a:r>
              <a:rPr lang="en-US" dirty="0">
                <a:solidFill>
                  <a:srgbClr val="0F1014"/>
                </a:solidFill>
                <a:latin typeface="Times New Roman" panose="02020603050405020304" pitchFamily="18" charset="0"/>
                <a:cs typeface="Times New Roman" panose="02020603050405020304" pitchFamily="18" charset="0"/>
              </a:rPr>
              <a:t>M</a:t>
            </a:r>
            <a:r>
              <a:rPr lang="en-US" i="0" dirty="0">
                <a:solidFill>
                  <a:srgbClr val="0F1014"/>
                </a:solidFill>
                <a:effectLst/>
                <a:latin typeface="Times New Roman" panose="02020603050405020304" pitchFamily="18" charset="0"/>
                <a:cs typeface="Times New Roman" panose="02020603050405020304" pitchFamily="18" charset="0"/>
              </a:rPr>
              <a:t>anagement</a:t>
            </a:r>
            <a:br>
              <a:rPr lang="en-US" b="0" i="0" dirty="0">
                <a:solidFill>
                  <a:srgbClr val="0F1014"/>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4408C07-AAF4-492E-C5AF-64624CE95042}"/>
              </a:ext>
            </a:extLst>
          </p:cNvPr>
          <p:cNvSpPr>
            <a:spLocks noGrp="1"/>
          </p:cNvSpPr>
          <p:nvPr>
            <p:ph type="body" idx="1"/>
          </p:nvPr>
        </p:nvSpPr>
        <p:spPr>
          <a:xfrm>
            <a:off x="727650" y="1385931"/>
            <a:ext cx="7688700" cy="2261100"/>
          </a:xfrm>
        </p:spPr>
        <p:txBody>
          <a:bodyPr/>
          <a:lstStyle/>
          <a:p>
            <a:r>
              <a:rPr lang="en-US" b="0" i="0" dirty="0">
                <a:solidFill>
                  <a:srgbClr val="0F1014"/>
                </a:solidFill>
                <a:effectLst/>
                <a:latin typeface="Times New Roman" panose="02020603050405020304" pitchFamily="18" charset="0"/>
                <a:cs typeface="Times New Roman" panose="02020603050405020304" pitchFamily="18" charset="0"/>
              </a:rPr>
              <a:t>Wrike</a:t>
            </a:r>
          </a:p>
          <a:p>
            <a:r>
              <a:rPr lang="en-US" b="0" i="0" dirty="0">
                <a:solidFill>
                  <a:srgbClr val="0F1014"/>
                </a:solidFill>
                <a:effectLst/>
                <a:latin typeface="Times New Roman" panose="02020603050405020304" pitchFamily="18" charset="0"/>
                <a:cs typeface="Times New Roman" panose="02020603050405020304" pitchFamily="18" charset="0"/>
              </a:rPr>
              <a:t>The Change Compass</a:t>
            </a:r>
            <a:endParaRPr lang="en-US" dirty="0">
              <a:solidFill>
                <a:srgbClr val="0F1014"/>
              </a:solidFill>
              <a:latin typeface="Times New Roman" panose="02020603050405020304" pitchFamily="18" charset="0"/>
              <a:cs typeface="Times New Roman" panose="02020603050405020304" pitchFamily="18" charset="0"/>
            </a:endParaRPr>
          </a:p>
          <a:p>
            <a:r>
              <a:rPr lang="en-US" b="0" i="0" dirty="0">
                <a:solidFill>
                  <a:srgbClr val="0F1014"/>
                </a:solidFill>
                <a:effectLst/>
                <a:latin typeface="Times New Roman" panose="02020603050405020304" pitchFamily="18" charset="0"/>
                <a:cs typeface="Times New Roman" panose="02020603050405020304" pitchFamily="18" charset="0"/>
              </a:rPr>
              <a:t>JIRA</a:t>
            </a:r>
          </a:p>
          <a:p>
            <a:r>
              <a:rPr lang="en-US" b="0" i="0" dirty="0">
                <a:solidFill>
                  <a:srgbClr val="0F1014"/>
                </a:solidFill>
                <a:effectLst/>
                <a:latin typeface="Times New Roman" panose="02020603050405020304" pitchFamily="18" charset="0"/>
                <a:cs typeface="Times New Roman" panose="02020603050405020304" pitchFamily="18" charset="0"/>
              </a:rPr>
              <a:t>Trello</a:t>
            </a:r>
            <a:endParaRPr lang="en-US" dirty="0">
              <a:solidFill>
                <a:srgbClr val="0F1014"/>
              </a:solidFill>
              <a:latin typeface="Times New Roman" panose="02020603050405020304" pitchFamily="18" charset="0"/>
              <a:cs typeface="Times New Roman" panose="02020603050405020304" pitchFamily="18" charset="0"/>
            </a:endParaRPr>
          </a:p>
          <a:p>
            <a:r>
              <a:rPr lang="en-US" b="0" i="0" dirty="0">
                <a:solidFill>
                  <a:srgbClr val="0F1014"/>
                </a:solidFill>
                <a:effectLst/>
                <a:latin typeface="Times New Roman" panose="02020603050405020304" pitchFamily="18" charset="0"/>
                <a:cs typeface="Times New Roman" panose="02020603050405020304" pitchFamily="18" charset="0"/>
              </a:rPr>
              <a:t>The Change Shop</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2015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258E9-53C5-8A98-1B6F-7CA8E37FB096}"/>
              </a:ext>
            </a:extLst>
          </p:cNvPr>
          <p:cNvSpPr>
            <a:spLocks noGrp="1"/>
          </p:cNvSpPr>
          <p:nvPr>
            <p:ph type="title"/>
          </p:nvPr>
        </p:nvSpPr>
        <p:spPr>
          <a:xfrm>
            <a:off x="286538" y="59710"/>
            <a:ext cx="7688700" cy="535200"/>
          </a:xfrm>
        </p:spPr>
        <p:txBody>
          <a:bodyPr>
            <a:normAutofit fontScale="90000"/>
          </a:bodyPr>
          <a:lstStyle/>
          <a:p>
            <a:r>
              <a:rPr lang="en-US" dirty="0">
                <a:latin typeface="Times New Roman" panose="02020603050405020304" pitchFamily="18" charset="0"/>
                <a:cs typeface="Times New Roman" panose="02020603050405020304" pitchFamily="18" charset="0"/>
              </a:rPr>
              <a:t>Change Management Steps</a:t>
            </a:r>
            <a:endParaRPr lang="en-US" dirty="0"/>
          </a:p>
        </p:txBody>
      </p:sp>
      <p:pic>
        <p:nvPicPr>
          <p:cNvPr id="5" name="Picture 4">
            <a:extLst>
              <a:ext uri="{FF2B5EF4-FFF2-40B4-BE49-F238E27FC236}">
                <a16:creationId xmlns:a16="http://schemas.microsoft.com/office/drawing/2014/main" id="{4B039D69-65E2-387F-7F3C-41BDEF697F4C}"/>
              </a:ext>
            </a:extLst>
          </p:cNvPr>
          <p:cNvPicPr>
            <a:picLocks noChangeAspect="1"/>
          </p:cNvPicPr>
          <p:nvPr/>
        </p:nvPicPr>
        <p:blipFill>
          <a:blip r:embed="rId2"/>
          <a:stretch>
            <a:fillRect/>
          </a:stretch>
        </p:blipFill>
        <p:spPr>
          <a:xfrm>
            <a:off x="1060661" y="561797"/>
            <a:ext cx="6140454" cy="4521993"/>
          </a:xfrm>
          <a:prstGeom prst="rect">
            <a:avLst/>
          </a:prstGeom>
        </p:spPr>
      </p:pic>
    </p:spTree>
    <p:extLst>
      <p:ext uri="{BB962C8B-B14F-4D97-AF65-F5344CB8AC3E}">
        <p14:creationId xmlns:p14="http://schemas.microsoft.com/office/powerpoint/2010/main" val="3299705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EF797-D10A-0350-DE78-992A37B63632}"/>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8D29008E-8093-09BE-C3A3-92BF4016FA6B}"/>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EA11C2AC-4F26-9E87-BB94-225E5D7D1537}"/>
              </a:ext>
            </a:extLst>
          </p:cNvPr>
          <p:cNvPicPr>
            <a:picLocks noChangeAspect="1"/>
          </p:cNvPicPr>
          <p:nvPr/>
        </p:nvPicPr>
        <p:blipFill>
          <a:blip r:embed="rId2"/>
          <a:stretch>
            <a:fillRect/>
          </a:stretch>
        </p:blipFill>
        <p:spPr>
          <a:xfrm>
            <a:off x="-635793" y="0"/>
            <a:ext cx="9144000" cy="5110538"/>
          </a:xfrm>
          <a:prstGeom prst="rect">
            <a:avLst/>
          </a:prstGeom>
        </p:spPr>
      </p:pic>
    </p:spTree>
    <p:extLst>
      <p:ext uri="{BB962C8B-B14F-4D97-AF65-F5344CB8AC3E}">
        <p14:creationId xmlns:p14="http://schemas.microsoft.com/office/powerpoint/2010/main" val="4018496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58AB-A208-B751-94F4-EEE9616E6EBC}"/>
              </a:ext>
            </a:extLst>
          </p:cNvPr>
          <p:cNvSpPr>
            <a:spLocks noGrp="1"/>
          </p:cNvSpPr>
          <p:nvPr>
            <p:ph type="title"/>
          </p:nvPr>
        </p:nvSpPr>
        <p:spPr>
          <a:xfrm>
            <a:off x="727650" y="661425"/>
            <a:ext cx="7688700" cy="535200"/>
          </a:xfrm>
        </p:spPr>
        <p:txBody>
          <a:bodyPr>
            <a:normAutofit fontScale="90000"/>
          </a:bodyPr>
          <a:lstStyle/>
          <a:p>
            <a:r>
              <a:rPr lang="en-US" dirty="0">
                <a:solidFill>
                  <a:schemeClr val="bg2"/>
                </a:solidFill>
                <a:latin typeface="Times New Roman" panose="02020603050405020304" pitchFamily="18" charset="0"/>
                <a:cs typeface="Times New Roman" panose="02020603050405020304" pitchFamily="18" charset="0"/>
              </a:rPr>
              <a:t>Factors on deciding on change approval</a:t>
            </a:r>
            <a:endParaRPr lang="en-US" dirty="0"/>
          </a:p>
        </p:txBody>
      </p:sp>
      <p:sp>
        <p:nvSpPr>
          <p:cNvPr id="3" name="Text Placeholder 2">
            <a:extLst>
              <a:ext uri="{FF2B5EF4-FFF2-40B4-BE49-F238E27FC236}">
                <a16:creationId xmlns:a16="http://schemas.microsoft.com/office/drawing/2014/main" id="{8E907F9C-F57A-9D44-9CDB-4D2E6A9E5BDE}"/>
              </a:ext>
            </a:extLst>
          </p:cNvPr>
          <p:cNvSpPr>
            <a:spLocks noGrp="1"/>
          </p:cNvSpPr>
          <p:nvPr>
            <p:ph type="body" idx="1"/>
          </p:nvPr>
        </p:nvSpPr>
        <p:spPr>
          <a:xfrm>
            <a:off x="727650" y="1441200"/>
            <a:ext cx="7688700" cy="2261100"/>
          </a:xfrm>
        </p:spPr>
        <p:txBody>
          <a:bodyPr/>
          <a:lstStyle/>
          <a:p>
            <a:pPr marL="146050" indent="0">
              <a:buNone/>
            </a:pPr>
            <a:r>
              <a:rPr lang="en-US" dirty="0">
                <a:solidFill>
                  <a:schemeClr val="bg2"/>
                </a:solidFill>
                <a:latin typeface="Times New Roman" panose="02020603050405020304" pitchFamily="18" charset="0"/>
                <a:cs typeface="Times New Roman" panose="02020603050405020304" pitchFamily="18" charset="0"/>
              </a:rPr>
              <a:t>Significant factors that should be taken into account in deciding whether or not a change should be approved are:</a:t>
            </a:r>
          </a:p>
          <a:p>
            <a:r>
              <a:rPr lang="en-US" dirty="0">
                <a:solidFill>
                  <a:schemeClr val="bg2"/>
                </a:solidFill>
                <a:latin typeface="Times New Roman" panose="02020603050405020304" pitchFamily="18" charset="0"/>
                <a:cs typeface="Times New Roman" panose="02020603050405020304" pitchFamily="18" charset="0"/>
              </a:rPr>
              <a:t>The consequences of not making the change</a:t>
            </a:r>
          </a:p>
          <a:p>
            <a:r>
              <a:rPr lang="en-US" dirty="0">
                <a:solidFill>
                  <a:schemeClr val="bg2"/>
                </a:solidFill>
                <a:latin typeface="Times New Roman" panose="02020603050405020304" pitchFamily="18" charset="0"/>
                <a:cs typeface="Times New Roman" panose="02020603050405020304" pitchFamily="18" charset="0"/>
              </a:rPr>
              <a:t>The benefits of the change</a:t>
            </a:r>
          </a:p>
          <a:p>
            <a:r>
              <a:rPr lang="en-US" dirty="0">
                <a:solidFill>
                  <a:schemeClr val="bg2"/>
                </a:solidFill>
                <a:latin typeface="Times New Roman" panose="02020603050405020304" pitchFamily="18" charset="0"/>
                <a:cs typeface="Times New Roman" panose="02020603050405020304" pitchFamily="18" charset="0"/>
              </a:rPr>
              <a:t>The number of users affected by the change</a:t>
            </a:r>
          </a:p>
          <a:p>
            <a:r>
              <a:rPr lang="en-US" dirty="0">
                <a:solidFill>
                  <a:schemeClr val="bg2"/>
                </a:solidFill>
                <a:latin typeface="Times New Roman" panose="02020603050405020304" pitchFamily="18" charset="0"/>
                <a:cs typeface="Times New Roman" panose="02020603050405020304" pitchFamily="18" charset="0"/>
              </a:rPr>
              <a:t>The costs of making the change</a:t>
            </a:r>
          </a:p>
          <a:p>
            <a:r>
              <a:rPr lang="en-US" dirty="0">
                <a:solidFill>
                  <a:schemeClr val="bg2"/>
                </a:solidFill>
                <a:latin typeface="Times New Roman" panose="02020603050405020304" pitchFamily="18" charset="0"/>
                <a:cs typeface="Times New Roman" panose="02020603050405020304" pitchFamily="18" charset="0"/>
              </a:rPr>
              <a:t>The product release cycle</a:t>
            </a:r>
          </a:p>
        </p:txBody>
      </p:sp>
    </p:spTree>
    <p:extLst>
      <p:ext uri="{BB962C8B-B14F-4D97-AF65-F5344CB8AC3E}">
        <p14:creationId xmlns:p14="http://schemas.microsoft.com/office/powerpoint/2010/main" val="2398775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279B7-6561-B541-C255-DF8EA10B7DFC}"/>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References</a:t>
            </a:r>
          </a:p>
        </p:txBody>
      </p:sp>
      <p:sp>
        <p:nvSpPr>
          <p:cNvPr id="3" name="Text Placeholder 2">
            <a:extLst>
              <a:ext uri="{FF2B5EF4-FFF2-40B4-BE49-F238E27FC236}">
                <a16:creationId xmlns:a16="http://schemas.microsoft.com/office/drawing/2014/main" id="{D82E5B87-B2C8-3A5B-B677-FD8DB279AB28}"/>
              </a:ext>
            </a:extLst>
          </p:cNvPr>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hlinkClick r:id="rId2"/>
              </a:rPr>
              <a:t>https://www.miquido.com/blog/change-management-in-software-development/</a:t>
            </a:r>
            <a:endParaRPr lang="en-US" dirty="0">
              <a:latin typeface="Times New Roman" panose="02020603050405020304" pitchFamily="18" charset="0"/>
              <a:cs typeface="Times New Roman" panose="02020603050405020304" pitchFamily="18" charset="0"/>
            </a:endParaRPr>
          </a:p>
          <a:p>
            <a:r>
              <a:rPr lang="en-US" dirty="0">
                <a:solidFill>
                  <a:schemeClr val="bg2"/>
                </a:solidFill>
                <a:latin typeface="Times New Roman" panose="02020603050405020304" pitchFamily="18" charset="0"/>
                <a:cs typeface="Times New Roman" panose="02020603050405020304" pitchFamily="18" charset="0"/>
              </a:rPr>
              <a:t>Chapter 25: Software Engineering – Ian Sommerville</a:t>
            </a:r>
          </a:p>
        </p:txBody>
      </p:sp>
    </p:spTree>
    <p:extLst>
      <p:ext uri="{BB962C8B-B14F-4D97-AF65-F5344CB8AC3E}">
        <p14:creationId xmlns:p14="http://schemas.microsoft.com/office/powerpoint/2010/main" val="689927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CF6A6-B937-9EE1-1F3C-849C157BD14E}"/>
              </a:ext>
            </a:extLst>
          </p:cNvPr>
          <p:cNvSpPr>
            <a:spLocks noGrp="1"/>
          </p:cNvSpPr>
          <p:nvPr>
            <p:ph type="title"/>
          </p:nvPr>
        </p:nvSpPr>
        <p:spPr>
          <a:xfrm>
            <a:off x="665156" y="377733"/>
            <a:ext cx="7688700" cy="535200"/>
          </a:xfrm>
        </p:spPr>
        <p:txBody>
          <a:bodyPr>
            <a:noAutofit/>
          </a:bodyPr>
          <a:lstStyle/>
          <a:p>
            <a:r>
              <a:rPr lang="en-US" sz="2800" dirty="0">
                <a:latin typeface="Times New Roman" panose="02020603050405020304" pitchFamily="18" charset="0"/>
                <a:cs typeface="Times New Roman" panose="02020603050405020304" pitchFamily="18" charset="0"/>
              </a:rPr>
              <a:t>Software Evolution Process</a:t>
            </a:r>
          </a:p>
        </p:txBody>
      </p:sp>
      <p:pic>
        <p:nvPicPr>
          <p:cNvPr id="5" name="Picture 4">
            <a:extLst>
              <a:ext uri="{FF2B5EF4-FFF2-40B4-BE49-F238E27FC236}">
                <a16:creationId xmlns:a16="http://schemas.microsoft.com/office/drawing/2014/main" id="{74FDA5FD-B8B0-A271-75A0-BADDADD7ACC6}"/>
              </a:ext>
            </a:extLst>
          </p:cNvPr>
          <p:cNvPicPr>
            <a:picLocks noChangeAspect="1"/>
          </p:cNvPicPr>
          <p:nvPr/>
        </p:nvPicPr>
        <p:blipFill>
          <a:blip r:embed="rId2"/>
          <a:stretch>
            <a:fillRect/>
          </a:stretch>
        </p:blipFill>
        <p:spPr>
          <a:xfrm>
            <a:off x="0" y="1228304"/>
            <a:ext cx="9144000" cy="2686892"/>
          </a:xfrm>
          <a:prstGeom prst="rect">
            <a:avLst/>
          </a:prstGeom>
        </p:spPr>
      </p:pic>
    </p:spTree>
    <p:extLst>
      <p:ext uri="{BB962C8B-B14F-4D97-AF65-F5344CB8AC3E}">
        <p14:creationId xmlns:p14="http://schemas.microsoft.com/office/powerpoint/2010/main" val="661733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6600-75C9-A8D0-1BCD-75297652B2B8}"/>
              </a:ext>
            </a:extLst>
          </p:cNvPr>
          <p:cNvSpPr>
            <a:spLocks noGrp="1"/>
          </p:cNvSpPr>
          <p:nvPr>
            <p:ph type="title"/>
          </p:nvPr>
        </p:nvSpPr>
        <p:spPr>
          <a:xfrm>
            <a:off x="730237" y="604275"/>
            <a:ext cx="7688700" cy="535200"/>
          </a:xfrm>
        </p:spPr>
        <p:txBody>
          <a:bodyPr>
            <a:normAutofit fontScale="90000"/>
          </a:bodyPr>
          <a:lstStyle/>
          <a:p>
            <a:r>
              <a:rPr lang="en-US" dirty="0">
                <a:solidFill>
                  <a:schemeClr val="bg2"/>
                </a:solidFill>
                <a:latin typeface="Times New Roman" panose="02020603050405020304" pitchFamily="18" charset="0"/>
                <a:cs typeface="Times New Roman" panose="02020603050405020304" pitchFamily="18" charset="0"/>
              </a:rPr>
              <a:t>Program evolution dynamics</a:t>
            </a:r>
          </a:p>
        </p:txBody>
      </p:sp>
      <p:sp>
        <p:nvSpPr>
          <p:cNvPr id="3" name="Text Placeholder 2">
            <a:extLst>
              <a:ext uri="{FF2B5EF4-FFF2-40B4-BE49-F238E27FC236}">
                <a16:creationId xmlns:a16="http://schemas.microsoft.com/office/drawing/2014/main" id="{6F51FBB6-772D-89E3-DB14-33F776E3D774}"/>
              </a:ext>
            </a:extLst>
          </p:cNvPr>
          <p:cNvSpPr>
            <a:spLocks noGrp="1"/>
          </p:cNvSpPr>
          <p:nvPr>
            <p:ph type="body" idx="1"/>
          </p:nvPr>
        </p:nvSpPr>
        <p:spPr>
          <a:xfrm>
            <a:off x="727650" y="1657393"/>
            <a:ext cx="7688700" cy="2261100"/>
          </a:xfrm>
        </p:spPr>
        <p:txBody>
          <a:bodyPr/>
          <a:lstStyle/>
          <a:p>
            <a:pPr algn="just"/>
            <a:r>
              <a:rPr lang="en-US" dirty="0">
                <a:solidFill>
                  <a:schemeClr val="bg2"/>
                </a:solidFill>
                <a:latin typeface="Times New Roman" panose="02020603050405020304" pitchFamily="18" charset="0"/>
                <a:cs typeface="Times New Roman" panose="02020603050405020304" pitchFamily="18" charset="0"/>
              </a:rPr>
              <a:t>Program evolution dynamics is the study of system change.</a:t>
            </a:r>
          </a:p>
          <a:p>
            <a:pPr algn="just"/>
            <a:r>
              <a:rPr lang="en-US" dirty="0">
                <a:solidFill>
                  <a:schemeClr val="bg2"/>
                </a:solidFill>
                <a:latin typeface="Times New Roman" panose="02020603050405020304" pitchFamily="18" charset="0"/>
                <a:cs typeface="Times New Roman" panose="02020603050405020304" pitchFamily="18" charset="0"/>
              </a:rPr>
              <a:t>Lehman and </a:t>
            </a:r>
            <a:r>
              <a:rPr lang="en-US" dirty="0" err="1">
                <a:solidFill>
                  <a:schemeClr val="bg2"/>
                </a:solidFill>
                <a:latin typeface="Times New Roman" panose="02020603050405020304" pitchFamily="18" charset="0"/>
                <a:cs typeface="Times New Roman" panose="02020603050405020304" pitchFamily="18" charset="0"/>
              </a:rPr>
              <a:t>Belady</a:t>
            </a:r>
            <a:r>
              <a:rPr lang="en-US" dirty="0">
                <a:solidFill>
                  <a:schemeClr val="bg2"/>
                </a:solidFill>
                <a:latin typeface="Times New Roman" panose="02020603050405020304" pitchFamily="18" charset="0"/>
                <a:cs typeface="Times New Roman" panose="02020603050405020304" pitchFamily="18" charset="0"/>
              </a:rPr>
              <a:t> (1985) carried out several empirical studies of system change with a view to understanding more about characteristics of software evolution. </a:t>
            </a:r>
          </a:p>
          <a:p>
            <a:pPr algn="just"/>
            <a:r>
              <a:rPr lang="en-US" dirty="0">
                <a:solidFill>
                  <a:schemeClr val="bg2"/>
                </a:solidFill>
                <a:latin typeface="Times New Roman" panose="02020603050405020304" pitchFamily="18" charset="0"/>
                <a:cs typeface="Times New Roman" panose="02020603050405020304" pitchFamily="18" charset="0"/>
              </a:rPr>
              <a:t>The work continued in the 1990s as Lehman and others investigated the significance of feedback in evolution processes (Lehman, 1996; Lehman et al., 1998; Lehman et al., 2001). </a:t>
            </a:r>
          </a:p>
          <a:p>
            <a:pPr algn="just"/>
            <a:r>
              <a:rPr lang="en-US" dirty="0">
                <a:solidFill>
                  <a:schemeClr val="bg2"/>
                </a:solidFill>
                <a:latin typeface="Times New Roman" panose="02020603050405020304" pitchFamily="18" charset="0"/>
                <a:cs typeface="Times New Roman" panose="02020603050405020304" pitchFamily="18" charset="0"/>
              </a:rPr>
              <a:t>From these studies, they proposed ‘Lehman’s laws’ concerning system change.</a:t>
            </a:r>
          </a:p>
        </p:txBody>
      </p:sp>
    </p:spTree>
    <p:extLst>
      <p:ext uri="{BB962C8B-B14F-4D97-AF65-F5344CB8AC3E}">
        <p14:creationId xmlns:p14="http://schemas.microsoft.com/office/powerpoint/2010/main" val="606050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DBD4F-9B5A-1389-8C69-5F19E408BA96}"/>
              </a:ext>
            </a:extLst>
          </p:cNvPr>
          <p:cNvSpPr>
            <a:spLocks noGrp="1"/>
          </p:cNvSpPr>
          <p:nvPr>
            <p:ph type="title"/>
          </p:nvPr>
        </p:nvSpPr>
        <p:spPr>
          <a:xfrm>
            <a:off x="265107" y="132787"/>
            <a:ext cx="7688700" cy="535200"/>
          </a:xfrm>
        </p:spPr>
        <p:txBody>
          <a:bodyPr>
            <a:normAutofit fontScale="90000"/>
          </a:bodyPr>
          <a:lstStyle/>
          <a:p>
            <a:r>
              <a:rPr lang="en" dirty="0">
                <a:latin typeface="Times New Roman" panose="02020603050405020304" pitchFamily="18" charset="0"/>
                <a:cs typeface="Times New Roman" panose="02020603050405020304" pitchFamily="18" charset="0"/>
              </a:rPr>
              <a:t>Lehman's Laws</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C948507-51DC-3DE6-A9AF-498D211BD767}"/>
              </a:ext>
            </a:extLst>
          </p:cNvPr>
          <p:cNvSpPr>
            <a:spLocks noGrp="1"/>
          </p:cNvSpPr>
          <p:nvPr>
            <p:ph type="body" idx="1"/>
          </p:nvPr>
        </p:nvSpPr>
        <p:spPr/>
        <p:txBody>
          <a:bodyPr/>
          <a:lstStyle/>
          <a:p>
            <a:endParaRPr lang="en-US">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AAF037E-8502-DE07-4529-CBD84B22B441}"/>
              </a:ext>
            </a:extLst>
          </p:cNvPr>
          <p:cNvPicPr>
            <a:picLocks noChangeAspect="1"/>
          </p:cNvPicPr>
          <p:nvPr/>
        </p:nvPicPr>
        <p:blipFill>
          <a:blip r:embed="rId2"/>
          <a:stretch>
            <a:fillRect/>
          </a:stretch>
        </p:blipFill>
        <p:spPr>
          <a:xfrm>
            <a:off x="0" y="1039463"/>
            <a:ext cx="9144000" cy="3487595"/>
          </a:xfrm>
          <a:prstGeom prst="rect">
            <a:avLst/>
          </a:prstGeom>
        </p:spPr>
      </p:pic>
    </p:spTree>
    <p:extLst>
      <p:ext uri="{BB962C8B-B14F-4D97-AF65-F5344CB8AC3E}">
        <p14:creationId xmlns:p14="http://schemas.microsoft.com/office/powerpoint/2010/main" val="1231640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6B82B-0CEE-BBCF-6A09-23F43F153D9C}"/>
              </a:ext>
            </a:extLst>
          </p:cNvPr>
          <p:cNvSpPr>
            <a:spLocks noGrp="1"/>
          </p:cNvSpPr>
          <p:nvPr>
            <p:ph type="title"/>
          </p:nvPr>
        </p:nvSpPr>
        <p:spPr>
          <a:xfrm>
            <a:off x="407981" y="182794"/>
            <a:ext cx="7688700" cy="535200"/>
          </a:xfrm>
        </p:spPr>
        <p:txBody>
          <a:bodyPr>
            <a:normAutofit fontScale="90000"/>
          </a:bodyPr>
          <a:lstStyle/>
          <a:p>
            <a:r>
              <a:rPr lang="en" dirty="0">
                <a:latin typeface="Times New Roman" panose="02020603050405020304" pitchFamily="18" charset="0"/>
                <a:cs typeface="Times New Roman" panose="02020603050405020304" pitchFamily="18" charset="0"/>
              </a:rPr>
              <a:t>Lehman's Laws</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4142D62-46DC-BE81-7235-FF44FCC066B8}"/>
              </a:ext>
            </a:extLst>
          </p:cNvPr>
          <p:cNvPicPr>
            <a:picLocks noChangeAspect="1"/>
          </p:cNvPicPr>
          <p:nvPr/>
        </p:nvPicPr>
        <p:blipFill>
          <a:blip r:embed="rId2"/>
          <a:stretch>
            <a:fillRect/>
          </a:stretch>
        </p:blipFill>
        <p:spPr>
          <a:xfrm>
            <a:off x="280961" y="1166998"/>
            <a:ext cx="9021977" cy="2809503"/>
          </a:xfrm>
          <a:prstGeom prst="rect">
            <a:avLst/>
          </a:prstGeom>
        </p:spPr>
      </p:pic>
    </p:spTree>
    <p:extLst>
      <p:ext uri="{BB962C8B-B14F-4D97-AF65-F5344CB8AC3E}">
        <p14:creationId xmlns:p14="http://schemas.microsoft.com/office/powerpoint/2010/main" val="1481990381"/>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1609</TotalTime>
  <Words>1538</Words>
  <Application>Microsoft Office PowerPoint</Application>
  <PresentationFormat>On-screen Show (16:9)</PresentationFormat>
  <Paragraphs>116</Paragraphs>
  <Slides>26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Lato</vt:lpstr>
      <vt:lpstr>Arial</vt:lpstr>
      <vt:lpstr>Times New Roman</vt:lpstr>
      <vt:lpstr>Raleway</vt:lpstr>
      <vt:lpstr>Streamline</vt:lpstr>
      <vt:lpstr>Chapter 3</vt:lpstr>
      <vt:lpstr>Overview</vt:lpstr>
      <vt:lpstr>Categories of Software Maintenance</vt:lpstr>
      <vt:lpstr>Corrective Maintenance </vt:lpstr>
      <vt:lpstr>Corrective Maintenance </vt:lpstr>
      <vt:lpstr>Adaptive Maintenance</vt:lpstr>
      <vt:lpstr>Perfective Maintenance</vt:lpstr>
      <vt:lpstr>Preventive Maintenance</vt:lpstr>
      <vt:lpstr>Relationship Between Maintenance Categories</vt:lpstr>
      <vt:lpstr>Ongoing Support</vt:lpstr>
      <vt:lpstr>Maintenance Prediction Chapter 9: Software Evolution Book: SOFTWARE ENGINEERING - Ian Sommerville </vt:lpstr>
      <vt:lpstr>Predicting the number of change requests</vt:lpstr>
      <vt:lpstr>Predicting Maintainability</vt:lpstr>
      <vt:lpstr>Change Management</vt:lpstr>
      <vt:lpstr>Reasons to Change</vt:lpstr>
      <vt:lpstr>Benefits of Change Management</vt:lpstr>
      <vt:lpstr>Types of Change Management</vt:lpstr>
      <vt:lpstr>Tools for Conducting Change Management </vt:lpstr>
      <vt:lpstr>Change Management Steps</vt:lpstr>
      <vt:lpstr>PowerPoint Presentation</vt:lpstr>
      <vt:lpstr>Factors on deciding on change approval</vt:lpstr>
      <vt:lpstr>References</vt:lpstr>
      <vt:lpstr>Software Evolution Process</vt:lpstr>
      <vt:lpstr>Program evolution dynamics</vt:lpstr>
      <vt:lpstr>Lehman's Laws</vt:lpstr>
      <vt:lpstr>Lehman's Laws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Namisa__ __</cp:lastModifiedBy>
  <cp:revision>10</cp:revision>
  <dcterms:modified xsi:type="dcterms:W3CDTF">2026-09-09T07:20:36Z</dcterms:modified>
</cp:coreProperties>
</file>