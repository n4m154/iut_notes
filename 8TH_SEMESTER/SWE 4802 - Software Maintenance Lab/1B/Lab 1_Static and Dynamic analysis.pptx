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74" r:id="rId2"/>
    <p:sldId id="275" r:id="rId3"/>
    <p:sldId id="256" r:id="rId4"/>
    <p:sldId id="257" r:id="rId5"/>
    <p:sldId id="258" r:id="rId6"/>
    <p:sldId id="259" r:id="rId7"/>
    <p:sldId id="260" r:id="rId8"/>
    <p:sldId id="261" r:id="rId9"/>
    <p:sldId id="262" r:id="rId10"/>
    <p:sldId id="263" r:id="rId11"/>
    <p:sldId id="264" r:id="rId12"/>
    <p:sldId id="265" r:id="rId13"/>
    <p:sldId id="276" r:id="rId14"/>
    <p:sldId id="266" r:id="rId15"/>
    <p:sldId id="267" r:id="rId16"/>
    <p:sldId id="268" r:id="rId17"/>
    <p:sldId id="277" r:id="rId18"/>
  </p:sldIdLst>
  <p:sldSz cx="9144000" cy="5143500" type="screen16x9"/>
  <p:notesSz cx="6858000" cy="9144000"/>
  <p:embeddedFontLst>
    <p:embeddedFont>
      <p:font typeface="Lato" panose="020F0502020204030203" pitchFamily="34" charset="0"/>
      <p:regular r:id="rId20"/>
      <p:bold r:id="rId21"/>
      <p:italic r:id="rId22"/>
      <p:boldItalic r:id="rId23"/>
    </p:embeddedFont>
    <p:embeddedFont>
      <p:font typeface="Open Sans" panose="020B0606030504020204" pitchFamily="34" charset="0"/>
      <p:regular r:id="rId24"/>
      <p:bold r:id="rId25"/>
      <p:italic r:id="rId26"/>
      <p:boldItalic r:id="rId27"/>
    </p:embeddedFont>
    <p:embeddedFont>
      <p:font typeface="Raleway"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9" d="100"/>
          <a:sy n="139" d="100"/>
        </p:scale>
        <p:origin x="804"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40267a4c9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40267a4c9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072fd2233c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072fd2233c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072fd2233c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072fd2233c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072fd2233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072fd2233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072fd2233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072fd2233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072fd2233c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072fd2233c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072fd2233c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1072fd2233c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072fd2233c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072fd2233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072fd2233c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1072fd2233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072fd2233c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072fd2233c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072fd2233c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1072fd2233c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072fd2233c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1072fd2233c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avinash201199/Projects"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plasma-umass/scalen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astexplorer.net/" TargetMode="External"/><Relationship Id="rId2" Type="http://schemas.openxmlformats.org/officeDocument/2006/relationships/hyperlink" Target="https://dev.to/balapriya/abstract-syntax-tree-ast-explained-in-plain-english-1h38"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sonarsource.com/products/sonarqub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C64FC-5A30-9784-5019-B12B731C7468}"/>
              </a:ext>
            </a:extLst>
          </p:cNvPr>
          <p:cNvSpPr>
            <a:spLocks noGrp="1"/>
          </p:cNvSpPr>
          <p:nvPr>
            <p:ph type="title"/>
          </p:nvPr>
        </p:nvSpPr>
        <p:spPr/>
        <p:txBody>
          <a:bodyPr>
            <a:normAutofit fontScale="90000"/>
          </a:bodyPr>
          <a:lstStyle/>
          <a:p>
            <a:r>
              <a:rPr lang="en-US" dirty="0"/>
              <a:t>Introduction</a:t>
            </a:r>
          </a:p>
        </p:txBody>
      </p:sp>
      <p:sp>
        <p:nvSpPr>
          <p:cNvPr id="3" name="Text Placeholder 2">
            <a:extLst>
              <a:ext uri="{FF2B5EF4-FFF2-40B4-BE49-F238E27FC236}">
                <a16:creationId xmlns:a16="http://schemas.microsoft.com/office/drawing/2014/main" id="{229FAFAD-623A-A7B4-1AA1-C45BD71D5050}"/>
              </a:ext>
            </a:extLst>
          </p:cNvPr>
          <p:cNvSpPr>
            <a:spLocks noGrp="1"/>
          </p:cNvSpPr>
          <p:nvPr>
            <p:ph type="body" idx="1"/>
          </p:nvPr>
        </p:nvSpPr>
        <p:spPr/>
        <p:txBody>
          <a:bodyPr>
            <a:normAutofit/>
          </a:bodyPr>
          <a:lstStyle/>
          <a:p>
            <a:r>
              <a:rPr lang="en-US" sz="1100" dirty="0">
                <a:solidFill>
                  <a:schemeClr val="bg2"/>
                </a:solidFill>
                <a:latin typeface="Times New Roman" panose="02020603050405020304" pitchFamily="18" charset="0"/>
                <a:cs typeface="Times New Roman" panose="02020603050405020304" pitchFamily="18" charset="0"/>
              </a:rPr>
              <a:t>Find a code base</a:t>
            </a:r>
          </a:p>
          <a:p>
            <a:r>
              <a:rPr lang="en-US" sz="1100" dirty="0">
                <a:solidFill>
                  <a:schemeClr val="bg2"/>
                </a:solidFill>
                <a:latin typeface="Times New Roman" panose="02020603050405020304" pitchFamily="18" charset="0"/>
                <a:cs typeface="Times New Roman" panose="02020603050405020304" pitchFamily="18" charset="0"/>
              </a:rPr>
              <a:t>Perform Static and Dynamic analysis on that.</a:t>
            </a:r>
          </a:p>
          <a:p>
            <a:r>
              <a:rPr lang="en-US" sz="1100" dirty="0">
                <a:solidFill>
                  <a:schemeClr val="bg2"/>
                </a:solidFill>
                <a:latin typeface="Times New Roman" panose="02020603050405020304" pitchFamily="18" charset="0"/>
                <a:cs typeface="Times New Roman" panose="02020603050405020304" pitchFamily="18" charset="0"/>
              </a:rPr>
              <a:t>Static Analysis</a:t>
            </a:r>
          </a:p>
          <a:p>
            <a:pPr lvl="1"/>
            <a:r>
              <a:rPr lang="en-US" dirty="0">
                <a:solidFill>
                  <a:schemeClr val="bg2"/>
                </a:solidFill>
                <a:latin typeface="Times New Roman" panose="02020603050405020304" pitchFamily="18" charset="0"/>
                <a:cs typeface="Times New Roman" panose="02020603050405020304" pitchFamily="18" charset="0"/>
              </a:rPr>
              <a:t>Generate AST</a:t>
            </a:r>
          </a:p>
          <a:p>
            <a:pPr lvl="1"/>
            <a:r>
              <a:rPr lang="en-US" dirty="0">
                <a:solidFill>
                  <a:schemeClr val="bg2"/>
                </a:solidFill>
                <a:latin typeface="Times New Roman" panose="02020603050405020304" pitchFamily="18" charset="0"/>
                <a:cs typeface="Times New Roman" panose="02020603050405020304" pitchFamily="18" charset="0"/>
              </a:rPr>
              <a:t>Metrics Calculation </a:t>
            </a:r>
          </a:p>
          <a:p>
            <a:r>
              <a:rPr lang="en-US" sz="1100" dirty="0">
                <a:solidFill>
                  <a:schemeClr val="bg2"/>
                </a:solidFill>
                <a:latin typeface="Times New Roman" panose="02020603050405020304" pitchFamily="18" charset="0"/>
                <a:cs typeface="Times New Roman" panose="02020603050405020304" pitchFamily="18" charset="0"/>
              </a:rPr>
              <a:t>Dynamic Analysis</a:t>
            </a:r>
          </a:p>
          <a:p>
            <a:pPr lvl="1"/>
            <a:r>
              <a:rPr lang="en-US" dirty="0">
                <a:solidFill>
                  <a:schemeClr val="bg2"/>
                </a:solidFill>
                <a:latin typeface="Times New Roman" panose="02020603050405020304" pitchFamily="18" charset="0"/>
                <a:cs typeface="Times New Roman" panose="02020603050405020304" pitchFamily="18" charset="0"/>
              </a:rPr>
              <a:t>Code coverage</a:t>
            </a:r>
          </a:p>
          <a:p>
            <a:r>
              <a:rPr lang="en-US" sz="1100" dirty="0">
                <a:solidFill>
                  <a:schemeClr val="bg2"/>
                </a:solidFill>
                <a:latin typeface="Times New Roman" panose="02020603050405020304" pitchFamily="18" charset="0"/>
                <a:cs typeface="Times New Roman" panose="02020603050405020304" pitchFamily="18" charset="0"/>
              </a:rPr>
              <a:t>Find a suitable tools to support your analysis</a:t>
            </a:r>
          </a:p>
          <a:p>
            <a:r>
              <a:rPr lang="en-US" sz="1100" dirty="0">
                <a:solidFill>
                  <a:schemeClr val="bg2"/>
                </a:solidFill>
                <a:latin typeface="Times New Roman" panose="02020603050405020304" pitchFamily="18" charset="0"/>
                <a:cs typeface="Times New Roman" panose="02020603050405020304" pitchFamily="18" charset="0"/>
              </a:rPr>
              <a:t>Prepare a report on your work providing necessary screenshots and explanation</a:t>
            </a:r>
          </a:p>
        </p:txBody>
      </p:sp>
      <p:sp>
        <p:nvSpPr>
          <p:cNvPr id="4" name="Slide Number Placeholder 3">
            <a:extLst>
              <a:ext uri="{FF2B5EF4-FFF2-40B4-BE49-F238E27FC236}">
                <a16:creationId xmlns:a16="http://schemas.microsoft.com/office/drawing/2014/main" id="{781E5828-BEEE-7C53-62B7-38228C4E4B5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a:t>
            </a:fld>
            <a:endParaRPr lang="en"/>
          </a:p>
        </p:txBody>
      </p:sp>
    </p:spTree>
    <p:extLst>
      <p:ext uri="{BB962C8B-B14F-4D97-AF65-F5344CB8AC3E}">
        <p14:creationId xmlns:p14="http://schemas.microsoft.com/office/powerpoint/2010/main" val="4239016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FD976-9F9E-BC91-FFC9-8DFC513D4E85}"/>
              </a:ext>
            </a:extLst>
          </p:cNvPr>
          <p:cNvSpPr>
            <a:spLocks noGrp="1"/>
          </p:cNvSpPr>
          <p:nvPr>
            <p:ph type="title"/>
          </p:nvPr>
        </p:nvSpPr>
        <p:spPr/>
        <p:txBody>
          <a:bodyPr>
            <a:normAutofit fontScale="90000"/>
          </a:bodyPr>
          <a:lstStyle/>
          <a:p>
            <a:r>
              <a:rPr lang="en-US" dirty="0"/>
              <a:t>Find the Codebase</a:t>
            </a:r>
          </a:p>
        </p:txBody>
      </p:sp>
      <p:sp>
        <p:nvSpPr>
          <p:cNvPr id="3" name="Text Placeholder 2">
            <a:extLst>
              <a:ext uri="{FF2B5EF4-FFF2-40B4-BE49-F238E27FC236}">
                <a16:creationId xmlns:a16="http://schemas.microsoft.com/office/drawing/2014/main" id="{1498FD23-C717-B637-11B6-28D05DB1E028}"/>
              </a:ext>
            </a:extLst>
          </p:cNvPr>
          <p:cNvSpPr>
            <a:spLocks noGrp="1"/>
          </p:cNvSpPr>
          <p:nvPr>
            <p:ph type="body" idx="1"/>
          </p:nvPr>
        </p:nvSpPr>
        <p:spPr/>
        <p:txBody>
          <a:bodyPr/>
          <a:lstStyle/>
          <a:p>
            <a:pPr marL="146050" indent="0">
              <a:buNone/>
            </a:pPr>
            <a:r>
              <a:rPr lang="en-US" dirty="0">
                <a:hlinkClick r:id="rId2"/>
              </a:rPr>
              <a:t>https://github.com/avinash201199/Projects</a:t>
            </a:r>
            <a:endParaRPr lang="en-US" dirty="0"/>
          </a:p>
        </p:txBody>
      </p:sp>
    </p:spTree>
    <p:extLst>
      <p:ext uri="{BB962C8B-B14F-4D97-AF65-F5344CB8AC3E}">
        <p14:creationId xmlns:p14="http://schemas.microsoft.com/office/powerpoint/2010/main" val="1341188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p:spPr>
        <p:txBody>
          <a:bodyPr spcFirstLastPara="1" wrap="square" lIns="91425" tIns="91425" rIns="91425" bIns="91425" anchor="t" anchorCtr="0">
            <a:normAutofit/>
          </a:bodyPr>
          <a:lstStyle/>
          <a:p>
            <a:pPr lvl="0"/>
            <a:r>
              <a:rPr lang="en-US" dirty="0"/>
              <a:t>Dynamic Analysis and Static Analysis</a:t>
            </a:r>
          </a:p>
        </p:txBody>
      </p:sp>
      <p:sp>
        <p:nvSpPr>
          <p:cNvPr id="4" name="Subtitle 3">
            <a:extLst>
              <a:ext uri="{FF2B5EF4-FFF2-40B4-BE49-F238E27FC236}">
                <a16:creationId xmlns:a16="http://schemas.microsoft.com/office/drawing/2014/main" id="{39E1EF0F-345A-CF4B-DC08-EC8B2867A0FD}"/>
              </a:ext>
            </a:extLst>
          </p:cNvPr>
          <p:cNvSpPr>
            <a:spLocks noGrp="1"/>
          </p:cNvSpPr>
          <p:nvPr>
            <p:ph type="subTitle" idx="1"/>
          </p:nvPr>
        </p:nvSpPr>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7650" y="51097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Dynamic Analysis</a:t>
            </a:r>
            <a:endParaRPr/>
          </a:p>
        </p:txBody>
      </p:sp>
      <p:sp>
        <p:nvSpPr>
          <p:cNvPr id="93" name="Google Shape;93;p14"/>
          <p:cNvSpPr txBox="1">
            <a:spLocks noGrp="1"/>
          </p:cNvSpPr>
          <p:nvPr>
            <p:ph type="body" idx="1"/>
          </p:nvPr>
        </p:nvSpPr>
        <p:spPr>
          <a:xfrm>
            <a:off x="727650" y="1232725"/>
            <a:ext cx="7688700" cy="304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018"/>
              <a:buNone/>
            </a:pPr>
            <a:r>
              <a:rPr lang="en" sz="1487">
                <a:solidFill>
                  <a:srgbClr val="000000"/>
                </a:solidFill>
                <a:latin typeface="Arial"/>
                <a:ea typeface="Arial"/>
                <a:cs typeface="Arial"/>
                <a:sym typeface="Arial"/>
              </a:rPr>
              <a:t>Def: </a:t>
            </a:r>
            <a:r>
              <a:rPr lang="en" sz="1487">
                <a:solidFill>
                  <a:srgbClr val="000000"/>
                </a:solidFill>
                <a:highlight>
                  <a:srgbClr val="F8F8F8"/>
                </a:highlight>
                <a:latin typeface="Arial"/>
                <a:ea typeface="Arial"/>
                <a:cs typeface="Arial"/>
                <a:sym typeface="Arial"/>
              </a:rPr>
              <a:t>Dynamic analysis is the ability to track what is happening during program execution.</a:t>
            </a:r>
            <a:endParaRPr sz="1487">
              <a:solidFill>
                <a:srgbClr val="000000"/>
              </a:solidFill>
              <a:highlight>
                <a:srgbClr val="F8F8F8"/>
              </a:highlight>
              <a:latin typeface="Arial"/>
              <a:ea typeface="Arial"/>
              <a:cs typeface="Arial"/>
              <a:sym typeface="Arial"/>
            </a:endParaRPr>
          </a:p>
          <a:p>
            <a:pPr marL="0" lvl="0" indent="0" algn="l" rtl="0">
              <a:spcBef>
                <a:spcPts val="1200"/>
              </a:spcBef>
              <a:spcAft>
                <a:spcPts val="0"/>
              </a:spcAft>
              <a:buSzPts val="1018"/>
              <a:buNone/>
            </a:pPr>
            <a:r>
              <a:rPr lang="en" sz="1487">
                <a:solidFill>
                  <a:srgbClr val="000000"/>
                </a:solidFill>
                <a:highlight>
                  <a:srgbClr val="F8F8F8"/>
                </a:highlight>
                <a:latin typeface="Arial"/>
                <a:ea typeface="Arial"/>
                <a:cs typeface="Arial"/>
                <a:sym typeface="Arial"/>
              </a:rPr>
              <a:t>The Python settrace() mechanism allows you to track all code lines, all variables, all values, as the program executes</a:t>
            </a:r>
            <a:endParaRPr sz="1487">
              <a:solidFill>
                <a:srgbClr val="000000"/>
              </a:solidFill>
              <a:highlight>
                <a:srgbClr val="F8F8F8"/>
              </a:highlight>
              <a:latin typeface="Arial"/>
              <a:ea typeface="Arial"/>
              <a:cs typeface="Arial"/>
              <a:sym typeface="Arial"/>
            </a:endParaRPr>
          </a:p>
          <a:p>
            <a:pPr marL="0" lvl="0" indent="0" algn="l" rtl="0">
              <a:spcBef>
                <a:spcPts val="1200"/>
              </a:spcBef>
              <a:spcAft>
                <a:spcPts val="0"/>
              </a:spcAft>
              <a:buSzPts val="1018"/>
              <a:buNone/>
            </a:pPr>
            <a:r>
              <a:rPr lang="en" sz="1487">
                <a:solidFill>
                  <a:srgbClr val="000000"/>
                </a:solidFill>
                <a:highlight>
                  <a:srgbClr val="FFFFFF"/>
                </a:highlight>
                <a:latin typeface="Arial"/>
                <a:ea typeface="Arial"/>
                <a:cs typeface="Arial"/>
                <a:sym typeface="Arial"/>
              </a:rPr>
              <a:t>Python sys module provides some of the powerful functions but they are complex to understand. One of which is the sys.settrace() which is used for implementing debuggers, profilers and coverage tools. </a:t>
            </a:r>
            <a:endParaRPr sz="1487">
              <a:solidFill>
                <a:srgbClr val="000000"/>
              </a:solidFill>
              <a:highlight>
                <a:srgbClr val="FFFFFF"/>
              </a:highlight>
              <a:latin typeface="Arial"/>
              <a:ea typeface="Arial"/>
              <a:cs typeface="Arial"/>
              <a:sym typeface="Arial"/>
            </a:endParaRPr>
          </a:p>
          <a:p>
            <a:pPr marL="0" lvl="0" indent="0" algn="l" rtl="0">
              <a:spcBef>
                <a:spcPts val="1200"/>
              </a:spcBef>
              <a:spcAft>
                <a:spcPts val="0"/>
              </a:spcAft>
              <a:buSzPts val="1018"/>
              <a:buNone/>
            </a:pPr>
            <a:r>
              <a:rPr lang="en" sz="1487">
                <a:solidFill>
                  <a:srgbClr val="000000"/>
                </a:solidFill>
                <a:highlight>
                  <a:srgbClr val="FFFFFF"/>
                </a:highlight>
                <a:latin typeface="Arial"/>
                <a:ea typeface="Arial"/>
                <a:cs typeface="Arial"/>
                <a:sym typeface="Arial"/>
              </a:rPr>
              <a:t>On a higher level, sys.settrace() registers the traceback to the Python interpreter. A traceback is basically the information that is returned when an event happens in the code.</a:t>
            </a:r>
            <a:endParaRPr sz="1487">
              <a:solidFill>
                <a:srgbClr val="000000"/>
              </a:solidFill>
              <a:highlight>
                <a:srgbClr val="FFFFFF"/>
              </a:highlight>
              <a:latin typeface="Arial"/>
              <a:ea typeface="Arial"/>
              <a:cs typeface="Arial"/>
              <a:sym typeface="Arial"/>
            </a:endParaRPr>
          </a:p>
          <a:p>
            <a:pPr marL="0" lvl="0" indent="0" algn="l" rtl="0">
              <a:spcBef>
                <a:spcPts val="1200"/>
              </a:spcBef>
              <a:spcAft>
                <a:spcPts val="0"/>
              </a:spcAft>
              <a:buSzPts val="1018"/>
              <a:buNone/>
            </a:pPr>
            <a:endParaRPr sz="1487">
              <a:solidFill>
                <a:srgbClr val="000000"/>
              </a:solidFill>
              <a:highlight>
                <a:srgbClr val="FFFFFF"/>
              </a:highlight>
              <a:latin typeface="Arial"/>
              <a:ea typeface="Arial"/>
              <a:cs typeface="Arial"/>
              <a:sym typeface="Arial"/>
            </a:endParaRPr>
          </a:p>
          <a:p>
            <a:pPr marL="0" lvl="0" indent="0" algn="l" rtl="0">
              <a:spcBef>
                <a:spcPts val="1200"/>
              </a:spcBef>
              <a:spcAft>
                <a:spcPts val="1200"/>
              </a:spcAft>
              <a:buSzPts val="1018"/>
              <a:buNone/>
            </a:pPr>
            <a:endParaRPr sz="1487">
              <a:solidFill>
                <a:srgbClr val="000000"/>
              </a:solidFill>
              <a:highlight>
                <a:srgbClr val="FFFFFF"/>
              </a:highlight>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Dynamic Analysis</a:t>
            </a:r>
            <a:endParaRPr/>
          </a:p>
          <a:p>
            <a:pPr marL="0" lvl="0" indent="0" algn="l" rtl="0">
              <a:spcBef>
                <a:spcPts val="0"/>
              </a:spcBef>
              <a:spcAft>
                <a:spcPts val="0"/>
              </a:spcAft>
              <a:buNone/>
            </a:pPr>
            <a:endParaRPr/>
          </a:p>
        </p:txBody>
      </p:sp>
      <p:sp>
        <p:nvSpPr>
          <p:cNvPr id="99" name="Google Shape;99;p15"/>
          <p:cNvSpPr txBox="1">
            <a:spLocks noGrp="1"/>
          </p:cNvSpPr>
          <p:nvPr>
            <p:ph type="body" idx="1"/>
          </p:nvPr>
        </p:nvSpPr>
        <p:spPr>
          <a:xfrm>
            <a:off x="681350" y="1296975"/>
            <a:ext cx="7688700" cy="210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000000"/>
                </a:solidFill>
              </a:rPr>
              <a:t>The registered traceback is invoked when one of the following four events occur : </a:t>
            </a:r>
            <a:endParaRPr sz="1600">
              <a:solidFill>
                <a:srgbClr val="000000"/>
              </a:solidFill>
            </a:endParaRPr>
          </a:p>
          <a:p>
            <a:pPr marL="457200" lvl="0" indent="-330200" algn="l" rtl="0">
              <a:spcBef>
                <a:spcPts val="1200"/>
              </a:spcBef>
              <a:spcAft>
                <a:spcPts val="0"/>
              </a:spcAft>
              <a:buClr>
                <a:srgbClr val="000000"/>
              </a:buClr>
              <a:buSzPts val="1600"/>
              <a:buAutoNum type="arabicPeriod"/>
            </a:pPr>
            <a:r>
              <a:rPr lang="en" sz="1600">
                <a:solidFill>
                  <a:srgbClr val="000000"/>
                </a:solidFill>
              </a:rPr>
              <a:t>Function is called </a:t>
            </a:r>
            <a:endParaRPr sz="1600">
              <a:solidFill>
                <a:srgbClr val="000000"/>
              </a:solidFill>
            </a:endParaRPr>
          </a:p>
          <a:p>
            <a:pPr marL="457200" lvl="0" indent="-330200" algn="l" rtl="0">
              <a:spcBef>
                <a:spcPts val="0"/>
              </a:spcBef>
              <a:spcAft>
                <a:spcPts val="0"/>
              </a:spcAft>
              <a:buClr>
                <a:srgbClr val="000000"/>
              </a:buClr>
              <a:buSzPts val="1600"/>
              <a:buAutoNum type="arabicPeriod"/>
            </a:pPr>
            <a:r>
              <a:rPr lang="en" sz="1600">
                <a:solidFill>
                  <a:srgbClr val="000000"/>
                </a:solidFill>
              </a:rPr>
              <a:t>Function returns </a:t>
            </a:r>
            <a:endParaRPr sz="1600">
              <a:solidFill>
                <a:srgbClr val="000000"/>
              </a:solidFill>
            </a:endParaRPr>
          </a:p>
          <a:p>
            <a:pPr marL="457200" lvl="0" indent="-330200" algn="l" rtl="0">
              <a:spcBef>
                <a:spcPts val="0"/>
              </a:spcBef>
              <a:spcAft>
                <a:spcPts val="0"/>
              </a:spcAft>
              <a:buClr>
                <a:srgbClr val="000000"/>
              </a:buClr>
              <a:buSzPts val="1600"/>
              <a:buAutoNum type="arabicPeriod"/>
            </a:pPr>
            <a:r>
              <a:rPr lang="en" sz="1600">
                <a:solidFill>
                  <a:srgbClr val="000000"/>
                </a:solidFill>
              </a:rPr>
              <a:t>Execution of a line </a:t>
            </a:r>
            <a:endParaRPr sz="1600">
              <a:solidFill>
                <a:srgbClr val="000000"/>
              </a:solidFill>
            </a:endParaRPr>
          </a:p>
          <a:p>
            <a:pPr marL="457200" lvl="0" indent="-330200" algn="l" rtl="0">
              <a:spcBef>
                <a:spcPts val="0"/>
              </a:spcBef>
              <a:spcAft>
                <a:spcPts val="0"/>
              </a:spcAft>
              <a:buClr>
                <a:srgbClr val="000000"/>
              </a:buClr>
              <a:buSzPts val="1600"/>
              <a:buAutoNum type="arabicPeriod"/>
            </a:pPr>
            <a:r>
              <a:rPr lang="en" sz="1600">
                <a:solidFill>
                  <a:srgbClr val="000000"/>
                </a:solidFill>
              </a:rPr>
              <a:t>Exception is raised</a:t>
            </a:r>
            <a:endParaRPr sz="1600">
              <a:solidFill>
                <a:srgbClr val="000000"/>
              </a:solidFill>
            </a:endParaRPr>
          </a:p>
          <a:p>
            <a:pPr marL="0" lvl="0" indent="0" algn="l" rtl="0">
              <a:spcBef>
                <a:spcPts val="1200"/>
              </a:spcBef>
              <a:spcAft>
                <a:spcPts val="0"/>
              </a:spcAft>
              <a:buNone/>
            </a:pPr>
            <a:endParaRPr sz="1600">
              <a:solidFill>
                <a:srgbClr val="000000"/>
              </a:solidFill>
            </a:endParaRPr>
          </a:p>
          <a:p>
            <a:pPr marL="0" lvl="0" indent="0" algn="l" rtl="0">
              <a:spcBef>
                <a:spcPts val="1200"/>
              </a:spcBef>
              <a:spcAft>
                <a:spcPts val="1200"/>
              </a:spcAft>
              <a:buNone/>
            </a:pPr>
            <a:endParaRPr sz="16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Dynamic Analysis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05" name="Google Shape;105;p16"/>
          <p:cNvSpPr txBox="1">
            <a:spLocks noGrp="1"/>
          </p:cNvSpPr>
          <p:nvPr>
            <p:ph type="body" idx="1"/>
          </p:nvPr>
        </p:nvSpPr>
        <p:spPr>
          <a:xfrm>
            <a:off x="729450" y="1469275"/>
            <a:ext cx="7688700" cy="22611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600">
                <a:solidFill>
                  <a:srgbClr val="000000"/>
                </a:solidFill>
              </a:rPr>
              <a:t>Syntax: sys.settrace(frame, event, arg.frame) </a:t>
            </a:r>
            <a:endParaRPr sz="1600">
              <a:solidFill>
                <a:srgbClr val="000000"/>
              </a:solidFill>
            </a:endParaRPr>
          </a:p>
          <a:p>
            <a:pPr marL="0" lvl="0" indent="0" algn="l" rtl="0">
              <a:spcBef>
                <a:spcPts val="1200"/>
              </a:spcBef>
              <a:spcAft>
                <a:spcPts val="0"/>
              </a:spcAft>
              <a:buNone/>
            </a:pPr>
            <a:r>
              <a:rPr lang="en" sz="1600">
                <a:solidFill>
                  <a:srgbClr val="000000"/>
                </a:solidFill>
              </a:rPr>
              <a:t>Parameters: </a:t>
            </a:r>
            <a:endParaRPr sz="1600">
              <a:solidFill>
                <a:srgbClr val="000000"/>
              </a:solidFill>
            </a:endParaRPr>
          </a:p>
          <a:p>
            <a:pPr marL="0" lvl="0" indent="0" algn="l" rtl="0">
              <a:spcBef>
                <a:spcPts val="1200"/>
              </a:spcBef>
              <a:spcAft>
                <a:spcPts val="1200"/>
              </a:spcAft>
              <a:buNone/>
            </a:pPr>
            <a:r>
              <a:rPr lang="en" sz="1600">
                <a:solidFill>
                  <a:srgbClr val="000000"/>
                </a:solidFill>
              </a:rPr>
              <a:t>frame: frame is the current stack frame </a:t>
            </a:r>
            <a:br>
              <a:rPr lang="en" sz="1600">
                <a:solidFill>
                  <a:srgbClr val="000000"/>
                </a:solidFill>
              </a:rPr>
            </a:br>
            <a:r>
              <a:rPr lang="en" sz="1600">
                <a:solidFill>
                  <a:srgbClr val="000000"/>
                </a:solidFill>
              </a:rPr>
              <a:t>event: A string which be either 'call', 'line', 'return', 'exception' or 'opcode' </a:t>
            </a:r>
            <a:br>
              <a:rPr lang="en" sz="1600">
                <a:solidFill>
                  <a:srgbClr val="000000"/>
                </a:solidFill>
              </a:rPr>
            </a:br>
            <a:r>
              <a:rPr lang="en" sz="1600">
                <a:solidFill>
                  <a:srgbClr val="000000"/>
                </a:solidFill>
              </a:rPr>
              <a:t>arg: Depends on the event type </a:t>
            </a:r>
            <a:br>
              <a:rPr lang="en" sz="1600">
                <a:solidFill>
                  <a:srgbClr val="000000"/>
                </a:solidFill>
              </a:rPr>
            </a:br>
            <a:r>
              <a:rPr lang="en" sz="1600">
                <a:solidFill>
                  <a:srgbClr val="000000"/>
                </a:solidFill>
              </a:rPr>
              <a:t>Returns: Reference to the local trace function which then returns reference to itself</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1:</a:t>
            </a:r>
            <a:endParaRPr/>
          </a:p>
        </p:txBody>
      </p:sp>
      <p:sp>
        <p:nvSpPr>
          <p:cNvPr id="111" name="Google Shape;111;p17"/>
          <p:cNvSpPr txBox="1">
            <a:spLocks noGrp="1"/>
          </p:cNvSpPr>
          <p:nvPr>
            <p:ph type="body" idx="1"/>
          </p:nvPr>
        </p:nvSpPr>
        <p:spPr>
          <a:xfrm>
            <a:off x="729450" y="14692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rgbClr val="000080"/>
                </a:solidFill>
                <a:highlight>
                  <a:srgbClr val="FFFFFF"/>
                </a:highlight>
                <a:latin typeface="Arial"/>
                <a:ea typeface="Arial"/>
                <a:cs typeface="Arial"/>
                <a:sym typeface="Arial"/>
              </a:rPr>
              <a:t>import </a:t>
            </a:r>
            <a:r>
              <a:rPr lang="en" sz="1500">
                <a:solidFill>
                  <a:srgbClr val="000000"/>
                </a:solidFill>
                <a:highlight>
                  <a:srgbClr val="FFFFFF"/>
                </a:highlight>
                <a:latin typeface="Arial"/>
                <a:ea typeface="Arial"/>
                <a:cs typeface="Arial"/>
                <a:sym typeface="Arial"/>
              </a:rPr>
              <a:t>sys</a:t>
            </a:r>
            <a:br>
              <a:rPr lang="en" sz="1500">
                <a:solidFill>
                  <a:srgbClr val="000000"/>
                </a:solidFill>
                <a:highlight>
                  <a:srgbClr val="FFFFFF"/>
                </a:highlight>
                <a:latin typeface="Arial"/>
                <a:ea typeface="Arial"/>
                <a:cs typeface="Arial"/>
                <a:sym typeface="Arial"/>
              </a:rPr>
            </a:br>
            <a:r>
              <a:rPr lang="en" sz="1500" b="1">
                <a:solidFill>
                  <a:srgbClr val="000080"/>
                </a:solidFill>
                <a:highlight>
                  <a:srgbClr val="FFFFFF"/>
                </a:highlight>
                <a:latin typeface="Arial"/>
                <a:ea typeface="Arial"/>
                <a:cs typeface="Arial"/>
                <a:sym typeface="Arial"/>
              </a:rPr>
              <a:t>def </a:t>
            </a:r>
            <a:r>
              <a:rPr lang="en" sz="1500">
                <a:solidFill>
                  <a:srgbClr val="000000"/>
                </a:solidFill>
                <a:highlight>
                  <a:srgbClr val="FFFFFF"/>
                </a:highlight>
                <a:latin typeface="Arial"/>
                <a:ea typeface="Arial"/>
                <a:cs typeface="Arial"/>
                <a:sym typeface="Arial"/>
              </a:rPr>
              <a:t>my_tracer(frame, event, </a:t>
            </a:r>
            <a:r>
              <a:rPr lang="en" sz="1500">
                <a:solidFill>
                  <a:srgbClr val="808080"/>
                </a:solidFill>
                <a:highlight>
                  <a:srgbClr val="FFFFFF"/>
                </a:highlight>
                <a:latin typeface="Arial"/>
                <a:ea typeface="Arial"/>
                <a:cs typeface="Arial"/>
                <a:sym typeface="Arial"/>
              </a:rPr>
              <a:t>arg = </a:t>
            </a:r>
            <a:r>
              <a:rPr lang="en" sz="1500" b="1">
                <a:solidFill>
                  <a:srgbClr val="808080"/>
                </a:solidFill>
                <a:highlight>
                  <a:srgbClr val="FFFFFF"/>
                </a:highlight>
                <a:latin typeface="Arial"/>
                <a:ea typeface="Arial"/>
                <a:cs typeface="Arial"/>
                <a:sym typeface="Arial"/>
              </a:rPr>
              <a:t>None</a:t>
            </a:r>
            <a:r>
              <a:rPr lang="en" sz="1500">
                <a:solidFill>
                  <a:srgbClr val="000000"/>
                </a:solidFill>
                <a:highlight>
                  <a:srgbClr val="FFFFFF"/>
                </a:highlight>
                <a:latin typeface="Arial"/>
                <a:ea typeface="Arial"/>
                <a:cs typeface="Arial"/>
                <a:sym typeface="Arial"/>
              </a:rPr>
              <a:t>):</a:t>
            </a:r>
            <a:br>
              <a:rPr lang="en" sz="1500">
                <a:solidFill>
                  <a:srgbClr val="000000"/>
                </a:solidFill>
                <a:highlight>
                  <a:srgbClr val="FFFFFF"/>
                </a:highlight>
                <a:latin typeface="Arial"/>
                <a:ea typeface="Arial"/>
                <a:cs typeface="Arial"/>
                <a:sym typeface="Arial"/>
              </a:rPr>
            </a:br>
            <a:r>
              <a:rPr lang="en" sz="1500">
                <a:solidFill>
                  <a:srgbClr val="000000"/>
                </a:solidFill>
                <a:highlight>
                  <a:srgbClr val="FFFFFF"/>
                </a:highlight>
                <a:latin typeface="Arial"/>
                <a:ea typeface="Arial"/>
                <a:cs typeface="Arial"/>
                <a:sym typeface="Arial"/>
              </a:rPr>
              <a:t>	code = frame.f_code</a:t>
            </a:r>
            <a:br>
              <a:rPr lang="en" sz="1500">
                <a:solidFill>
                  <a:srgbClr val="000000"/>
                </a:solidFill>
                <a:highlight>
                  <a:srgbClr val="FFFFFF"/>
                </a:highlight>
                <a:latin typeface="Arial"/>
                <a:ea typeface="Arial"/>
                <a:cs typeface="Arial"/>
                <a:sym typeface="Arial"/>
              </a:rPr>
            </a:br>
            <a:r>
              <a:rPr lang="en" sz="1500">
                <a:solidFill>
                  <a:srgbClr val="000000"/>
                </a:solidFill>
                <a:highlight>
                  <a:srgbClr val="FFFFFF"/>
                </a:highlight>
                <a:latin typeface="Arial"/>
                <a:ea typeface="Arial"/>
                <a:cs typeface="Arial"/>
                <a:sym typeface="Arial"/>
              </a:rPr>
              <a:t>	func_name = code.co_name</a:t>
            </a:r>
            <a:br>
              <a:rPr lang="en" sz="1500">
                <a:solidFill>
                  <a:srgbClr val="000000"/>
                </a:solidFill>
                <a:highlight>
                  <a:srgbClr val="FFFFFF"/>
                </a:highlight>
                <a:latin typeface="Arial"/>
                <a:ea typeface="Arial"/>
                <a:cs typeface="Arial"/>
                <a:sym typeface="Arial"/>
              </a:rPr>
            </a:br>
            <a:r>
              <a:rPr lang="en" sz="1500">
                <a:solidFill>
                  <a:srgbClr val="000000"/>
                </a:solidFill>
                <a:highlight>
                  <a:srgbClr val="FFFFFF"/>
                </a:highlight>
                <a:latin typeface="Arial"/>
                <a:ea typeface="Arial"/>
                <a:cs typeface="Arial"/>
                <a:sym typeface="Arial"/>
              </a:rPr>
              <a:t>	line_no = frame.f_lineno</a:t>
            </a:r>
            <a:br>
              <a:rPr lang="en" sz="1500">
                <a:solidFill>
                  <a:srgbClr val="000000"/>
                </a:solidFill>
                <a:highlight>
                  <a:srgbClr val="FFFFFF"/>
                </a:highlight>
                <a:latin typeface="Arial"/>
                <a:ea typeface="Arial"/>
                <a:cs typeface="Arial"/>
                <a:sym typeface="Arial"/>
              </a:rPr>
            </a:br>
            <a:r>
              <a:rPr lang="en" sz="1500">
                <a:solidFill>
                  <a:srgbClr val="000000"/>
                </a:solidFill>
                <a:highlight>
                  <a:srgbClr val="FFFFFF"/>
                </a:highlight>
                <a:latin typeface="Arial"/>
                <a:ea typeface="Arial"/>
                <a:cs typeface="Arial"/>
                <a:sym typeface="Arial"/>
              </a:rPr>
              <a:t>	</a:t>
            </a:r>
            <a:r>
              <a:rPr lang="en" sz="1500">
                <a:solidFill>
                  <a:srgbClr val="000080"/>
                </a:solidFill>
                <a:highlight>
                  <a:srgbClr val="FFFFFF"/>
                </a:highlight>
                <a:latin typeface="Arial"/>
                <a:ea typeface="Arial"/>
                <a:cs typeface="Arial"/>
                <a:sym typeface="Arial"/>
              </a:rPr>
              <a:t>print</a:t>
            </a:r>
            <a:r>
              <a:rPr lang="en" sz="1500">
                <a:solidFill>
                  <a:srgbClr val="000000"/>
                </a:solidFill>
                <a:highlight>
                  <a:srgbClr val="FFFFFF"/>
                </a:highlight>
                <a:latin typeface="Arial"/>
                <a:ea typeface="Arial"/>
                <a:cs typeface="Arial"/>
                <a:sym typeface="Arial"/>
              </a:rPr>
              <a:t>(</a:t>
            </a:r>
            <a:r>
              <a:rPr lang="en" sz="1500" b="1">
                <a:solidFill>
                  <a:srgbClr val="008080"/>
                </a:solidFill>
                <a:highlight>
                  <a:srgbClr val="FFFFFF"/>
                </a:highlight>
                <a:latin typeface="Arial"/>
                <a:ea typeface="Arial"/>
                <a:cs typeface="Arial"/>
                <a:sym typeface="Arial"/>
              </a:rPr>
              <a:t>f"A </a:t>
            </a:r>
            <a:r>
              <a:rPr lang="en" sz="1500" b="1">
                <a:solidFill>
                  <a:srgbClr val="000080"/>
                </a:solidFill>
                <a:highlight>
                  <a:srgbClr val="FFFFFF"/>
                </a:highlight>
                <a:latin typeface="Arial"/>
                <a:ea typeface="Arial"/>
                <a:cs typeface="Arial"/>
                <a:sym typeface="Arial"/>
              </a:rPr>
              <a:t>{</a:t>
            </a:r>
            <a:r>
              <a:rPr lang="en" sz="1500">
                <a:solidFill>
                  <a:srgbClr val="000000"/>
                </a:solidFill>
                <a:highlight>
                  <a:srgbClr val="FFFFFF"/>
                </a:highlight>
                <a:latin typeface="Arial"/>
                <a:ea typeface="Arial"/>
                <a:cs typeface="Arial"/>
                <a:sym typeface="Arial"/>
              </a:rPr>
              <a:t>event</a:t>
            </a:r>
            <a:r>
              <a:rPr lang="en" sz="1500" b="1">
                <a:solidFill>
                  <a:srgbClr val="000080"/>
                </a:solidFill>
                <a:highlight>
                  <a:srgbClr val="FFFFFF"/>
                </a:highlight>
                <a:latin typeface="Arial"/>
                <a:ea typeface="Arial"/>
                <a:cs typeface="Arial"/>
                <a:sym typeface="Arial"/>
              </a:rPr>
              <a:t>}</a:t>
            </a:r>
            <a:r>
              <a:rPr lang="en" sz="1500" b="1">
                <a:solidFill>
                  <a:srgbClr val="008080"/>
                </a:solidFill>
                <a:highlight>
                  <a:srgbClr val="FFFFFF"/>
                </a:highlight>
                <a:latin typeface="Arial"/>
                <a:ea typeface="Arial"/>
                <a:cs typeface="Arial"/>
                <a:sym typeface="Arial"/>
              </a:rPr>
              <a:t> encountered in </a:t>
            </a:r>
            <a:r>
              <a:rPr lang="en" sz="1500" b="1">
                <a:solidFill>
                  <a:srgbClr val="000080"/>
                </a:solidFill>
                <a:highlight>
                  <a:srgbClr val="FFFFFF"/>
                </a:highlight>
                <a:latin typeface="Arial"/>
                <a:ea typeface="Arial"/>
                <a:cs typeface="Arial"/>
                <a:sym typeface="Arial"/>
              </a:rPr>
              <a:t>\</a:t>
            </a:r>
            <a:br>
              <a:rPr lang="en" sz="1500" b="1">
                <a:solidFill>
                  <a:srgbClr val="000080"/>
                </a:solidFill>
                <a:highlight>
                  <a:srgbClr val="FFFFFF"/>
                </a:highlight>
                <a:latin typeface="Arial"/>
                <a:ea typeface="Arial"/>
                <a:cs typeface="Arial"/>
                <a:sym typeface="Arial"/>
              </a:rPr>
            </a:br>
            <a:r>
              <a:rPr lang="en" sz="1500" b="1">
                <a:solidFill>
                  <a:srgbClr val="000080"/>
                </a:solidFill>
                <a:highlight>
                  <a:srgbClr val="FFFFFF"/>
                </a:highlight>
                <a:latin typeface="Arial"/>
                <a:ea typeface="Arial"/>
                <a:cs typeface="Arial"/>
                <a:sym typeface="Arial"/>
              </a:rPr>
              <a:t>	{</a:t>
            </a:r>
            <a:r>
              <a:rPr lang="en" sz="1500">
                <a:solidFill>
                  <a:srgbClr val="000000"/>
                </a:solidFill>
                <a:highlight>
                  <a:srgbClr val="FFFFFF"/>
                </a:highlight>
                <a:latin typeface="Arial"/>
                <a:ea typeface="Arial"/>
                <a:cs typeface="Arial"/>
                <a:sym typeface="Arial"/>
              </a:rPr>
              <a:t>func_name</a:t>
            </a:r>
            <a:r>
              <a:rPr lang="en" sz="1500" b="1">
                <a:solidFill>
                  <a:srgbClr val="000080"/>
                </a:solidFill>
                <a:highlight>
                  <a:srgbClr val="FFFFFF"/>
                </a:highlight>
                <a:latin typeface="Arial"/>
                <a:ea typeface="Arial"/>
                <a:cs typeface="Arial"/>
                <a:sym typeface="Arial"/>
              </a:rPr>
              <a:t>}</a:t>
            </a:r>
            <a:r>
              <a:rPr lang="en" sz="1500" b="1">
                <a:solidFill>
                  <a:srgbClr val="008080"/>
                </a:solidFill>
                <a:highlight>
                  <a:srgbClr val="FFFFFF"/>
                </a:highlight>
                <a:latin typeface="Arial"/>
                <a:ea typeface="Arial"/>
                <a:cs typeface="Arial"/>
                <a:sym typeface="Arial"/>
              </a:rPr>
              <a:t>() at line number </a:t>
            </a:r>
            <a:r>
              <a:rPr lang="en" sz="1500" b="1">
                <a:solidFill>
                  <a:srgbClr val="000080"/>
                </a:solidFill>
                <a:highlight>
                  <a:srgbClr val="FFFFFF"/>
                </a:highlight>
                <a:latin typeface="Arial"/>
                <a:ea typeface="Arial"/>
                <a:cs typeface="Arial"/>
                <a:sym typeface="Arial"/>
              </a:rPr>
              <a:t>{</a:t>
            </a:r>
            <a:r>
              <a:rPr lang="en" sz="1500">
                <a:solidFill>
                  <a:srgbClr val="000000"/>
                </a:solidFill>
                <a:highlight>
                  <a:srgbClr val="FFFFFF"/>
                </a:highlight>
                <a:latin typeface="Arial"/>
                <a:ea typeface="Arial"/>
                <a:cs typeface="Arial"/>
                <a:sym typeface="Arial"/>
              </a:rPr>
              <a:t>line_no</a:t>
            </a:r>
            <a:r>
              <a:rPr lang="en" sz="1500" b="1">
                <a:solidFill>
                  <a:srgbClr val="000080"/>
                </a:solidFill>
                <a:highlight>
                  <a:srgbClr val="FFFFFF"/>
                </a:highlight>
                <a:latin typeface="Arial"/>
                <a:ea typeface="Arial"/>
                <a:cs typeface="Arial"/>
                <a:sym typeface="Arial"/>
              </a:rPr>
              <a:t>} </a:t>
            </a:r>
            <a:r>
              <a:rPr lang="en" sz="1500" b="1">
                <a:solidFill>
                  <a:srgbClr val="008080"/>
                </a:solidFill>
                <a:highlight>
                  <a:srgbClr val="FFFFFF"/>
                </a:highlight>
                <a:latin typeface="Arial"/>
                <a:ea typeface="Arial"/>
                <a:cs typeface="Arial"/>
                <a:sym typeface="Arial"/>
              </a:rPr>
              <a:t>"</a:t>
            </a:r>
            <a:r>
              <a:rPr lang="en" sz="1500">
                <a:solidFill>
                  <a:srgbClr val="000000"/>
                </a:solidFill>
                <a:highlight>
                  <a:srgbClr val="FFFFFF"/>
                </a:highlight>
                <a:latin typeface="Arial"/>
                <a:ea typeface="Arial"/>
                <a:cs typeface="Arial"/>
                <a:sym typeface="Arial"/>
              </a:rPr>
              <a:t>)</a:t>
            </a:r>
            <a:br>
              <a:rPr lang="en" sz="1500">
                <a:solidFill>
                  <a:srgbClr val="000000"/>
                </a:solidFill>
                <a:highlight>
                  <a:srgbClr val="FFFFFF"/>
                </a:highlight>
                <a:latin typeface="Arial"/>
                <a:ea typeface="Arial"/>
                <a:cs typeface="Arial"/>
                <a:sym typeface="Arial"/>
              </a:rPr>
            </a:br>
            <a:r>
              <a:rPr lang="en" sz="1500" b="1">
                <a:solidFill>
                  <a:srgbClr val="000080"/>
                </a:solidFill>
                <a:highlight>
                  <a:srgbClr val="FFFFFF"/>
                </a:highlight>
                <a:latin typeface="Arial"/>
                <a:ea typeface="Arial"/>
                <a:cs typeface="Arial"/>
                <a:sym typeface="Arial"/>
              </a:rPr>
              <a:t>return </a:t>
            </a:r>
            <a:r>
              <a:rPr lang="en" sz="1500">
                <a:solidFill>
                  <a:srgbClr val="000000"/>
                </a:solidFill>
                <a:highlight>
                  <a:srgbClr val="FFFFFF"/>
                </a:highlight>
                <a:latin typeface="Arial"/>
                <a:ea typeface="Arial"/>
                <a:cs typeface="Arial"/>
                <a:sym typeface="Arial"/>
              </a:rPr>
              <a:t>my_tracer</a:t>
            </a:r>
            <a:endParaRPr sz="1500">
              <a:solidFill>
                <a:srgbClr val="000000"/>
              </a:solidFill>
              <a:highlight>
                <a:srgbClr val="FFFFFF"/>
              </a:highlight>
              <a:latin typeface="Arial"/>
              <a:ea typeface="Arial"/>
              <a:cs typeface="Arial"/>
              <a:sym typeface="Arial"/>
            </a:endParaRPr>
          </a:p>
          <a:p>
            <a:pPr marL="0" lvl="0" indent="0" algn="l" rtl="0">
              <a:spcBef>
                <a:spcPts val="1200"/>
              </a:spcBef>
              <a:spcAft>
                <a:spcPts val="1200"/>
              </a:spcAft>
              <a:buNone/>
            </a:pP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1:</a:t>
            </a:r>
            <a:endParaRPr/>
          </a:p>
        </p:txBody>
      </p:sp>
      <p:sp>
        <p:nvSpPr>
          <p:cNvPr id="117" name="Google Shape;117;p18"/>
          <p:cNvSpPr txBox="1">
            <a:spLocks noGrp="1"/>
          </p:cNvSpPr>
          <p:nvPr>
            <p:ph type="body" idx="1"/>
          </p:nvPr>
        </p:nvSpPr>
        <p:spPr>
          <a:xfrm>
            <a:off x="729450" y="1316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000080"/>
                </a:solidFill>
                <a:highlight>
                  <a:srgbClr val="FFFFFF"/>
                </a:highlight>
                <a:latin typeface="Arial"/>
                <a:ea typeface="Arial"/>
                <a:cs typeface="Arial"/>
                <a:sym typeface="Arial"/>
              </a:rPr>
              <a:t>def </a:t>
            </a:r>
            <a:r>
              <a:rPr lang="en" sz="1600">
                <a:solidFill>
                  <a:srgbClr val="000000"/>
                </a:solidFill>
                <a:highlight>
                  <a:srgbClr val="FFFFFF"/>
                </a:highlight>
                <a:latin typeface="Arial"/>
                <a:ea typeface="Arial"/>
                <a:cs typeface="Arial"/>
                <a:sym typeface="Arial"/>
              </a:rPr>
              <a:t>fun(a, b):</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c=a+b</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a:t>
            </a:r>
            <a:r>
              <a:rPr lang="en" sz="1600" b="1">
                <a:solidFill>
                  <a:srgbClr val="000080"/>
                </a:solidFill>
                <a:highlight>
                  <a:srgbClr val="FFFFFF"/>
                </a:highlight>
                <a:latin typeface="Arial"/>
                <a:ea typeface="Arial"/>
                <a:cs typeface="Arial"/>
                <a:sym typeface="Arial"/>
              </a:rPr>
              <a:t>return </a:t>
            </a:r>
            <a:r>
              <a:rPr lang="en" sz="1600">
                <a:solidFill>
                  <a:srgbClr val="000000"/>
                </a:solidFill>
                <a:highlight>
                  <a:srgbClr val="FFFFFF"/>
                </a:highlight>
                <a:latin typeface="Arial"/>
                <a:ea typeface="Arial"/>
                <a:cs typeface="Arial"/>
                <a:sym typeface="Arial"/>
              </a:rPr>
              <a:t>c</a:t>
            </a:r>
            <a:endParaRPr sz="1600">
              <a:solidFill>
                <a:srgbClr val="000000"/>
              </a:solidFill>
              <a:highlight>
                <a:srgbClr val="FFFFFF"/>
              </a:highlight>
              <a:latin typeface="Arial"/>
              <a:ea typeface="Arial"/>
              <a:cs typeface="Arial"/>
              <a:sym typeface="Arial"/>
            </a:endParaRPr>
          </a:p>
          <a:p>
            <a:pPr marL="0" lvl="0" indent="0" algn="l" rtl="0">
              <a:spcBef>
                <a:spcPts val="1200"/>
              </a:spcBef>
              <a:spcAft>
                <a:spcPts val="0"/>
              </a:spcAft>
              <a:buNone/>
            </a:pPr>
            <a:r>
              <a:rPr lang="en" sz="1600" b="1">
                <a:solidFill>
                  <a:srgbClr val="000080"/>
                </a:solidFill>
                <a:highlight>
                  <a:srgbClr val="FFFFFF"/>
                </a:highlight>
                <a:latin typeface="Arial"/>
                <a:ea typeface="Arial"/>
                <a:cs typeface="Arial"/>
                <a:sym typeface="Arial"/>
              </a:rPr>
              <a:t>def </a:t>
            </a:r>
            <a:r>
              <a:rPr lang="en" sz="1600">
                <a:solidFill>
                  <a:srgbClr val="000000"/>
                </a:solidFill>
                <a:highlight>
                  <a:srgbClr val="FFFFFF"/>
                </a:highlight>
                <a:latin typeface="Arial"/>
                <a:ea typeface="Arial"/>
                <a:cs typeface="Arial"/>
                <a:sym typeface="Arial"/>
              </a:rPr>
              <a:t>check():</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a:t>
            </a:r>
            <a:r>
              <a:rPr lang="en" sz="1600" b="1">
                <a:solidFill>
                  <a:srgbClr val="000080"/>
                </a:solidFill>
                <a:highlight>
                  <a:srgbClr val="FFFFFF"/>
                </a:highlight>
                <a:latin typeface="Arial"/>
                <a:ea typeface="Arial"/>
                <a:cs typeface="Arial"/>
                <a:sym typeface="Arial"/>
              </a:rPr>
              <a:t>return </a:t>
            </a:r>
            <a:r>
              <a:rPr lang="en" sz="1600">
                <a:solidFill>
                  <a:srgbClr val="000000"/>
                </a:solidFill>
                <a:highlight>
                  <a:srgbClr val="FFFFFF"/>
                </a:highlight>
                <a:latin typeface="Arial"/>
                <a:ea typeface="Arial"/>
                <a:cs typeface="Arial"/>
                <a:sym typeface="Arial"/>
              </a:rPr>
              <a:t>fun(</a:t>
            </a:r>
            <a:r>
              <a:rPr lang="en" sz="1600">
                <a:solidFill>
                  <a:srgbClr val="0000FF"/>
                </a:solidFill>
                <a:highlight>
                  <a:srgbClr val="FFFFFF"/>
                </a:highlight>
                <a:latin typeface="Arial"/>
                <a:ea typeface="Arial"/>
                <a:cs typeface="Arial"/>
                <a:sym typeface="Arial"/>
              </a:rPr>
              <a:t>1</a:t>
            </a:r>
            <a:r>
              <a:rPr lang="en" sz="1600">
                <a:solidFill>
                  <a:srgbClr val="000000"/>
                </a:solidFill>
                <a:highlight>
                  <a:srgbClr val="FFFFFF"/>
                </a:highlight>
                <a:latin typeface="Arial"/>
                <a:ea typeface="Arial"/>
                <a:cs typeface="Arial"/>
                <a:sym typeface="Arial"/>
              </a:rPr>
              <a:t>,</a:t>
            </a:r>
            <a:r>
              <a:rPr lang="en" sz="1600">
                <a:solidFill>
                  <a:srgbClr val="0000FF"/>
                </a:solidFill>
                <a:highlight>
                  <a:srgbClr val="FFFFFF"/>
                </a:highlight>
                <a:latin typeface="Arial"/>
                <a:ea typeface="Arial"/>
                <a:cs typeface="Arial"/>
                <a:sym typeface="Arial"/>
              </a:rPr>
              <a:t>2</a:t>
            </a:r>
            <a:r>
              <a:rPr lang="en" sz="1600">
                <a:solidFill>
                  <a:srgbClr val="000000"/>
                </a:solidFill>
                <a:highlight>
                  <a:srgbClr val="FFFFFF"/>
                </a:highlight>
                <a:latin typeface="Arial"/>
                <a:ea typeface="Arial"/>
                <a:cs typeface="Arial"/>
                <a:sym typeface="Arial"/>
              </a:rPr>
              <a:t>)</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sys.settrace(my_tracer)</a:t>
            </a:r>
            <a:br>
              <a:rPr lang="en" sz="1600">
                <a:solidFill>
                  <a:srgbClr val="000000"/>
                </a:solidFill>
                <a:highlight>
                  <a:srgbClr val="FFFFFF"/>
                </a:highlight>
                <a:latin typeface="Arial"/>
                <a:ea typeface="Arial"/>
                <a:cs typeface="Arial"/>
                <a:sym typeface="Arial"/>
              </a:rPr>
            </a:br>
            <a:r>
              <a:rPr lang="en" sz="1600">
                <a:solidFill>
                  <a:srgbClr val="000080"/>
                </a:solidFill>
                <a:highlight>
                  <a:srgbClr val="FFFFFF"/>
                </a:highlight>
                <a:latin typeface="Arial"/>
                <a:ea typeface="Arial"/>
                <a:cs typeface="Arial"/>
                <a:sym typeface="Arial"/>
              </a:rPr>
              <a:t>print</a:t>
            </a:r>
            <a:r>
              <a:rPr lang="en" sz="1600">
                <a:solidFill>
                  <a:srgbClr val="000000"/>
                </a:solidFill>
                <a:highlight>
                  <a:srgbClr val="FFFFFF"/>
                </a:highlight>
                <a:latin typeface="Arial"/>
                <a:ea typeface="Arial"/>
                <a:cs typeface="Arial"/>
                <a:sym typeface="Arial"/>
              </a:rPr>
              <a:t>(check())</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sys.settrace(</a:t>
            </a:r>
            <a:r>
              <a:rPr lang="en" sz="1600" b="1">
                <a:solidFill>
                  <a:srgbClr val="000080"/>
                </a:solidFill>
                <a:highlight>
                  <a:srgbClr val="FFFFFF"/>
                </a:highlight>
                <a:latin typeface="Arial"/>
                <a:ea typeface="Arial"/>
                <a:cs typeface="Arial"/>
                <a:sym typeface="Arial"/>
              </a:rPr>
              <a:t>None</a:t>
            </a:r>
            <a:r>
              <a:rPr lang="en" sz="1600">
                <a:solidFill>
                  <a:srgbClr val="000000"/>
                </a:solidFill>
                <a:highlight>
                  <a:srgbClr val="FFFFFF"/>
                </a:highlight>
                <a:latin typeface="Arial"/>
                <a:ea typeface="Arial"/>
                <a:cs typeface="Arial"/>
                <a:sym typeface="Arial"/>
              </a:rPr>
              <a:t>)</a:t>
            </a:r>
            <a:endParaRPr sz="1600">
              <a:solidFill>
                <a:srgbClr val="000000"/>
              </a:solidFill>
              <a:highlight>
                <a:srgbClr val="FFFFFF"/>
              </a:highlight>
              <a:latin typeface="Arial"/>
              <a:ea typeface="Arial"/>
              <a:cs typeface="Arial"/>
              <a:sym typeface="Arial"/>
            </a:endParaRPr>
          </a:p>
          <a:p>
            <a:pPr marL="0" lvl="0" indent="0" algn="l" rtl="0">
              <a:spcBef>
                <a:spcPts val="1200"/>
              </a:spcBef>
              <a:spcAft>
                <a:spcPts val="1200"/>
              </a:spcAft>
              <a:buNone/>
            </a:pPr>
            <a:endParaRPr sz="1600" b="1">
              <a:solidFill>
                <a:srgbClr val="000080"/>
              </a:solidFill>
              <a:highlight>
                <a:srgbClr val="FFFFFF"/>
              </a:highlight>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Output of Example 1</a:t>
            </a:r>
            <a:endParaRPr/>
          </a:p>
        </p:txBody>
      </p:sp>
      <p:sp>
        <p:nvSpPr>
          <p:cNvPr id="123" name="Google Shape;123;p19"/>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24" name="Google Shape;124;p19"/>
          <p:cNvPicPr preferRelativeResize="0"/>
          <p:nvPr/>
        </p:nvPicPr>
        <p:blipFill>
          <a:blip r:embed="rId3">
            <a:alphaModFix/>
          </a:blip>
          <a:stretch>
            <a:fillRect/>
          </a:stretch>
        </p:blipFill>
        <p:spPr>
          <a:xfrm>
            <a:off x="729450" y="2078875"/>
            <a:ext cx="7688700" cy="2578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title"/>
          </p:nvPr>
        </p:nvSpPr>
        <p:spPr>
          <a:xfrm>
            <a:off x="681375" y="5398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2:</a:t>
            </a:r>
            <a:endParaRPr/>
          </a:p>
        </p:txBody>
      </p:sp>
      <p:sp>
        <p:nvSpPr>
          <p:cNvPr id="130" name="Google Shape;130;p20"/>
          <p:cNvSpPr txBox="1">
            <a:spLocks noGrp="1"/>
          </p:cNvSpPr>
          <p:nvPr>
            <p:ph type="body" idx="1"/>
          </p:nvPr>
        </p:nvSpPr>
        <p:spPr>
          <a:xfrm>
            <a:off x="681375" y="12615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000080"/>
                </a:solidFill>
                <a:highlight>
                  <a:srgbClr val="FFFFFF"/>
                </a:highlight>
                <a:latin typeface="Arial"/>
                <a:ea typeface="Arial"/>
                <a:cs typeface="Arial"/>
                <a:sym typeface="Arial"/>
              </a:rPr>
              <a:t>import </a:t>
            </a:r>
            <a:r>
              <a:rPr lang="en" sz="1600">
                <a:solidFill>
                  <a:srgbClr val="000000"/>
                </a:solidFill>
                <a:highlight>
                  <a:srgbClr val="FFFFFF"/>
                </a:highlight>
                <a:latin typeface="Arial"/>
                <a:ea typeface="Arial"/>
                <a:cs typeface="Arial"/>
                <a:sym typeface="Arial"/>
              </a:rPr>
              <a:t>sys</a:t>
            </a:r>
            <a:br>
              <a:rPr lang="en" sz="1600">
                <a:solidFill>
                  <a:srgbClr val="000000"/>
                </a:solidFill>
                <a:highlight>
                  <a:srgbClr val="FFFFFF"/>
                </a:highlight>
                <a:latin typeface="Arial"/>
                <a:ea typeface="Arial"/>
                <a:cs typeface="Arial"/>
                <a:sym typeface="Arial"/>
              </a:rPr>
            </a:br>
            <a:r>
              <a:rPr lang="en" sz="1600" b="1">
                <a:solidFill>
                  <a:srgbClr val="000080"/>
                </a:solidFill>
                <a:highlight>
                  <a:srgbClr val="FFFFFF"/>
                </a:highlight>
                <a:latin typeface="Arial"/>
                <a:ea typeface="Arial"/>
                <a:cs typeface="Arial"/>
                <a:sym typeface="Arial"/>
              </a:rPr>
              <a:t>import </a:t>
            </a:r>
            <a:r>
              <a:rPr lang="en" sz="1600">
                <a:solidFill>
                  <a:srgbClr val="000000"/>
                </a:solidFill>
                <a:highlight>
                  <a:srgbClr val="FFFFFF"/>
                </a:highlight>
                <a:latin typeface="Arial"/>
                <a:ea typeface="Arial"/>
                <a:cs typeface="Arial"/>
                <a:sym typeface="Arial"/>
              </a:rPr>
              <a:t>inspect</a:t>
            </a:r>
            <a:br>
              <a:rPr lang="en" sz="1600">
                <a:solidFill>
                  <a:srgbClr val="000000"/>
                </a:solidFill>
                <a:highlight>
                  <a:srgbClr val="FFFFFF"/>
                </a:highlight>
                <a:latin typeface="Arial"/>
                <a:ea typeface="Arial"/>
                <a:cs typeface="Arial"/>
                <a:sym typeface="Arial"/>
              </a:rPr>
            </a:br>
            <a:r>
              <a:rPr lang="en" sz="1600" b="1">
                <a:solidFill>
                  <a:srgbClr val="000080"/>
                </a:solidFill>
                <a:highlight>
                  <a:srgbClr val="FFFFFF"/>
                </a:highlight>
                <a:latin typeface="Arial"/>
                <a:ea typeface="Arial"/>
                <a:cs typeface="Arial"/>
                <a:sym typeface="Arial"/>
              </a:rPr>
              <a:t>def </a:t>
            </a:r>
            <a:r>
              <a:rPr lang="en" sz="1600">
                <a:solidFill>
                  <a:srgbClr val="000000"/>
                </a:solidFill>
                <a:highlight>
                  <a:srgbClr val="FFFFFF"/>
                </a:highlight>
                <a:latin typeface="Arial"/>
                <a:ea typeface="Arial"/>
                <a:cs typeface="Arial"/>
                <a:sym typeface="Arial"/>
              </a:rPr>
              <a:t>my_tracer(frame, </a:t>
            </a:r>
            <a:r>
              <a:rPr lang="en" sz="1600">
                <a:solidFill>
                  <a:srgbClr val="808080"/>
                </a:solidFill>
                <a:highlight>
                  <a:srgbClr val="FFFFFF"/>
                </a:highlight>
                <a:latin typeface="Arial"/>
                <a:ea typeface="Arial"/>
                <a:cs typeface="Arial"/>
                <a:sym typeface="Arial"/>
              </a:rPr>
              <a:t>event</a:t>
            </a:r>
            <a:r>
              <a:rPr lang="en" sz="1600">
                <a:solidFill>
                  <a:srgbClr val="000000"/>
                </a:solidFill>
                <a:highlight>
                  <a:srgbClr val="FFFFFF"/>
                </a:highlight>
                <a:latin typeface="Arial"/>
                <a:ea typeface="Arial"/>
                <a:cs typeface="Arial"/>
                <a:sym typeface="Arial"/>
              </a:rPr>
              <a:t>, </a:t>
            </a:r>
            <a:r>
              <a:rPr lang="en" sz="1600">
                <a:solidFill>
                  <a:srgbClr val="808080"/>
                </a:solidFill>
                <a:highlight>
                  <a:srgbClr val="FFFFFF"/>
                </a:highlight>
                <a:latin typeface="Arial"/>
                <a:ea typeface="Arial"/>
                <a:cs typeface="Arial"/>
                <a:sym typeface="Arial"/>
              </a:rPr>
              <a:t>arg</a:t>
            </a:r>
            <a:r>
              <a:rPr lang="en" sz="1600">
                <a:solidFill>
                  <a:srgbClr val="000000"/>
                </a:solidFill>
                <a:highlight>
                  <a:srgbClr val="FFFFFF"/>
                </a:highlight>
                <a:latin typeface="Arial"/>
                <a:ea typeface="Arial"/>
                <a:cs typeface="Arial"/>
                <a:sym typeface="Arial"/>
              </a:rPr>
              <a:t>):</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function_code = frame.f_code</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function_name = function_code.co_name</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lineno = frame.f_lineno</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vars = frame.f_locals</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source_lines, starting_line_no = inspect.getsourcelines(frame.f_code)</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loc = </a:t>
            </a:r>
            <a:r>
              <a:rPr lang="en" sz="1600" b="1">
                <a:solidFill>
                  <a:srgbClr val="008080"/>
                </a:solidFill>
                <a:highlight>
                  <a:srgbClr val="FFFFFF"/>
                </a:highlight>
                <a:latin typeface="Arial"/>
                <a:ea typeface="Arial"/>
                <a:cs typeface="Arial"/>
                <a:sym typeface="Arial"/>
              </a:rPr>
              <a:t>f"</a:t>
            </a:r>
            <a:r>
              <a:rPr lang="en" sz="1600" b="1">
                <a:solidFill>
                  <a:srgbClr val="000080"/>
                </a:solidFill>
                <a:highlight>
                  <a:srgbClr val="FFFFFF"/>
                </a:highlight>
                <a:latin typeface="Arial"/>
                <a:ea typeface="Arial"/>
                <a:cs typeface="Arial"/>
                <a:sym typeface="Arial"/>
              </a:rPr>
              <a:t>{</a:t>
            </a:r>
            <a:r>
              <a:rPr lang="en" sz="1600">
                <a:solidFill>
                  <a:srgbClr val="000000"/>
                </a:solidFill>
                <a:highlight>
                  <a:srgbClr val="FFFFFF"/>
                </a:highlight>
                <a:latin typeface="Arial"/>
                <a:ea typeface="Arial"/>
                <a:cs typeface="Arial"/>
                <a:sym typeface="Arial"/>
              </a:rPr>
              <a:t>function_name</a:t>
            </a:r>
            <a:r>
              <a:rPr lang="en" sz="1600" b="1">
                <a:solidFill>
                  <a:srgbClr val="000080"/>
                </a:solidFill>
                <a:highlight>
                  <a:srgbClr val="FFFFFF"/>
                </a:highlight>
                <a:latin typeface="Arial"/>
                <a:ea typeface="Arial"/>
                <a:cs typeface="Arial"/>
                <a:sym typeface="Arial"/>
              </a:rPr>
              <a:t>}</a:t>
            </a:r>
            <a:r>
              <a:rPr lang="en" sz="1600" b="1">
                <a:solidFill>
                  <a:srgbClr val="008080"/>
                </a:solidFill>
                <a:highlight>
                  <a:srgbClr val="FFFFFF"/>
                </a:highlight>
                <a:latin typeface="Arial"/>
                <a:ea typeface="Arial"/>
                <a:cs typeface="Arial"/>
                <a:sym typeface="Arial"/>
              </a:rPr>
              <a:t>:</a:t>
            </a:r>
            <a:r>
              <a:rPr lang="en" sz="1600" b="1">
                <a:solidFill>
                  <a:srgbClr val="000080"/>
                </a:solidFill>
                <a:highlight>
                  <a:srgbClr val="FFFFFF"/>
                </a:highlight>
                <a:latin typeface="Arial"/>
                <a:ea typeface="Arial"/>
                <a:cs typeface="Arial"/>
                <a:sym typeface="Arial"/>
              </a:rPr>
              <a:t>{</a:t>
            </a:r>
            <a:r>
              <a:rPr lang="en" sz="1600">
                <a:solidFill>
                  <a:srgbClr val="000000"/>
                </a:solidFill>
                <a:highlight>
                  <a:srgbClr val="FFFFFF"/>
                </a:highlight>
                <a:latin typeface="Arial"/>
                <a:ea typeface="Arial"/>
                <a:cs typeface="Arial"/>
                <a:sym typeface="Arial"/>
              </a:rPr>
              <a:t>lineno</a:t>
            </a:r>
            <a:r>
              <a:rPr lang="en" sz="1600" b="1">
                <a:solidFill>
                  <a:srgbClr val="000080"/>
                </a:solidFill>
                <a:highlight>
                  <a:srgbClr val="FFFFFF"/>
                </a:highlight>
                <a:latin typeface="Arial"/>
                <a:ea typeface="Arial"/>
                <a:cs typeface="Arial"/>
                <a:sym typeface="Arial"/>
              </a:rPr>
              <a:t>} {</a:t>
            </a:r>
            <a:r>
              <a:rPr lang="en" sz="1600">
                <a:solidFill>
                  <a:srgbClr val="000000"/>
                </a:solidFill>
                <a:highlight>
                  <a:srgbClr val="FFFFFF"/>
                </a:highlight>
                <a:latin typeface="Arial"/>
                <a:ea typeface="Arial"/>
                <a:cs typeface="Arial"/>
                <a:sym typeface="Arial"/>
              </a:rPr>
              <a:t>source_lines[lineno -</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starting_line_no].rstrip()</a:t>
            </a:r>
            <a:r>
              <a:rPr lang="en" sz="1600" b="1">
                <a:solidFill>
                  <a:srgbClr val="000080"/>
                </a:solidFill>
                <a:highlight>
                  <a:srgbClr val="FFFFFF"/>
                </a:highlight>
                <a:latin typeface="Arial"/>
                <a:ea typeface="Arial"/>
                <a:cs typeface="Arial"/>
                <a:sym typeface="Arial"/>
              </a:rPr>
              <a:t>}</a:t>
            </a:r>
            <a:r>
              <a:rPr lang="en" sz="1600" b="1">
                <a:solidFill>
                  <a:srgbClr val="008080"/>
                </a:solidFill>
                <a:highlight>
                  <a:srgbClr val="FFFFFF"/>
                </a:highlight>
                <a:latin typeface="Arial"/>
                <a:ea typeface="Arial"/>
                <a:cs typeface="Arial"/>
                <a:sym typeface="Arial"/>
              </a:rPr>
              <a:t>"</a:t>
            </a:r>
            <a:br>
              <a:rPr lang="en" sz="1600" b="1">
                <a:solidFill>
                  <a:srgbClr val="008080"/>
                </a:solidFill>
                <a:highlight>
                  <a:srgbClr val="FFFFFF"/>
                </a:highlight>
                <a:latin typeface="Arial"/>
                <a:ea typeface="Arial"/>
                <a:cs typeface="Arial"/>
                <a:sym typeface="Arial"/>
              </a:rPr>
            </a:br>
            <a:r>
              <a:rPr lang="en" sz="1600" b="1">
                <a:solidFill>
                  <a:srgbClr val="008080"/>
                </a:solidFill>
                <a:highlight>
                  <a:srgbClr val="FFFFFF"/>
                </a:highlight>
                <a:latin typeface="Arial"/>
                <a:ea typeface="Arial"/>
                <a:cs typeface="Arial"/>
                <a:sym typeface="Arial"/>
              </a:rPr>
              <a:t>	</a:t>
            </a:r>
            <a:r>
              <a:rPr lang="en" sz="1600">
                <a:solidFill>
                  <a:srgbClr val="000000"/>
                </a:solidFill>
                <a:highlight>
                  <a:srgbClr val="FFFFFF"/>
                </a:highlight>
                <a:latin typeface="Arial"/>
                <a:ea typeface="Arial"/>
                <a:cs typeface="Arial"/>
                <a:sym typeface="Arial"/>
              </a:rPr>
              <a:t>vars = </a:t>
            </a:r>
            <a:r>
              <a:rPr lang="en" sz="1600" b="1">
                <a:solidFill>
                  <a:srgbClr val="008080"/>
                </a:solidFill>
                <a:highlight>
                  <a:srgbClr val="FFFFFF"/>
                </a:highlight>
                <a:latin typeface="Arial"/>
                <a:ea typeface="Arial"/>
                <a:cs typeface="Arial"/>
                <a:sym typeface="Arial"/>
              </a:rPr>
              <a:t>", "</a:t>
            </a:r>
            <a:r>
              <a:rPr lang="en" sz="1600">
                <a:solidFill>
                  <a:srgbClr val="000000"/>
                </a:solidFill>
                <a:highlight>
                  <a:srgbClr val="FFFFFF"/>
                </a:highlight>
                <a:latin typeface="Arial"/>
                <a:ea typeface="Arial"/>
                <a:cs typeface="Arial"/>
                <a:sym typeface="Arial"/>
              </a:rPr>
              <a:t>.join(</a:t>
            </a:r>
            <a:r>
              <a:rPr lang="en" sz="1600" b="1">
                <a:solidFill>
                  <a:srgbClr val="008080"/>
                </a:solidFill>
                <a:highlight>
                  <a:srgbClr val="FFFFFF"/>
                </a:highlight>
                <a:latin typeface="Arial"/>
                <a:ea typeface="Arial"/>
                <a:cs typeface="Arial"/>
                <a:sym typeface="Arial"/>
              </a:rPr>
              <a:t>f"</a:t>
            </a:r>
            <a:r>
              <a:rPr lang="en" sz="1600" b="1">
                <a:solidFill>
                  <a:srgbClr val="000080"/>
                </a:solidFill>
                <a:highlight>
                  <a:srgbClr val="FFFFFF"/>
                </a:highlight>
                <a:latin typeface="Arial"/>
                <a:ea typeface="Arial"/>
                <a:cs typeface="Arial"/>
                <a:sym typeface="Arial"/>
              </a:rPr>
              <a:t>{</a:t>
            </a:r>
            <a:r>
              <a:rPr lang="en" sz="1600">
                <a:solidFill>
                  <a:srgbClr val="000000"/>
                </a:solidFill>
                <a:highlight>
                  <a:srgbClr val="FFFFFF"/>
                </a:highlight>
                <a:latin typeface="Arial"/>
                <a:ea typeface="Arial"/>
                <a:cs typeface="Arial"/>
                <a:sym typeface="Arial"/>
              </a:rPr>
              <a:t>name</a:t>
            </a:r>
            <a:r>
              <a:rPr lang="en" sz="1600" b="1">
                <a:solidFill>
                  <a:srgbClr val="000080"/>
                </a:solidFill>
                <a:highlight>
                  <a:srgbClr val="FFFFFF"/>
                </a:highlight>
                <a:latin typeface="Arial"/>
                <a:ea typeface="Arial"/>
                <a:cs typeface="Arial"/>
                <a:sym typeface="Arial"/>
              </a:rPr>
              <a:t>}</a:t>
            </a:r>
            <a:r>
              <a:rPr lang="en" sz="1600" b="1">
                <a:solidFill>
                  <a:srgbClr val="008080"/>
                </a:solidFill>
                <a:highlight>
                  <a:srgbClr val="FFFFFF"/>
                </a:highlight>
                <a:latin typeface="Arial"/>
                <a:ea typeface="Arial"/>
                <a:cs typeface="Arial"/>
                <a:sym typeface="Arial"/>
              </a:rPr>
              <a:t> = </a:t>
            </a:r>
            <a:r>
              <a:rPr lang="en" sz="1600" b="1">
                <a:solidFill>
                  <a:srgbClr val="000080"/>
                </a:solidFill>
                <a:highlight>
                  <a:srgbClr val="FFFFFF"/>
                </a:highlight>
                <a:latin typeface="Arial"/>
                <a:ea typeface="Arial"/>
                <a:cs typeface="Arial"/>
                <a:sym typeface="Arial"/>
              </a:rPr>
              <a:t>{</a:t>
            </a:r>
            <a:r>
              <a:rPr lang="en" sz="1600">
                <a:solidFill>
                  <a:srgbClr val="000000"/>
                </a:solidFill>
                <a:highlight>
                  <a:srgbClr val="FFFFFF"/>
                </a:highlight>
                <a:latin typeface="Arial"/>
                <a:ea typeface="Arial"/>
                <a:cs typeface="Arial"/>
                <a:sym typeface="Arial"/>
              </a:rPr>
              <a:t>vars[name]</a:t>
            </a:r>
            <a:r>
              <a:rPr lang="en" sz="1600" b="1">
                <a:solidFill>
                  <a:srgbClr val="000080"/>
                </a:solidFill>
                <a:highlight>
                  <a:srgbClr val="FFFFFF"/>
                </a:highlight>
                <a:latin typeface="Arial"/>
                <a:ea typeface="Arial"/>
                <a:cs typeface="Arial"/>
                <a:sym typeface="Arial"/>
              </a:rPr>
              <a:t>}</a:t>
            </a:r>
            <a:r>
              <a:rPr lang="en" sz="1600" b="1">
                <a:solidFill>
                  <a:srgbClr val="008080"/>
                </a:solidFill>
                <a:highlight>
                  <a:srgbClr val="FFFFFF"/>
                </a:highlight>
                <a:latin typeface="Arial"/>
                <a:ea typeface="Arial"/>
                <a:cs typeface="Arial"/>
                <a:sym typeface="Arial"/>
              </a:rPr>
              <a:t>" </a:t>
            </a:r>
            <a:r>
              <a:rPr lang="en" sz="1600" b="1">
                <a:solidFill>
                  <a:srgbClr val="000080"/>
                </a:solidFill>
                <a:highlight>
                  <a:srgbClr val="FFFFFF"/>
                </a:highlight>
                <a:latin typeface="Arial"/>
                <a:ea typeface="Arial"/>
                <a:cs typeface="Arial"/>
                <a:sym typeface="Arial"/>
              </a:rPr>
              <a:t>for </a:t>
            </a:r>
            <a:r>
              <a:rPr lang="en" sz="1600">
                <a:solidFill>
                  <a:srgbClr val="000000"/>
                </a:solidFill>
                <a:highlight>
                  <a:srgbClr val="FFFFFF"/>
                </a:highlight>
                <a:latin typeface="Arial"/>
                <a:ea typeface="Arial"/>
                <a:cs typeface="Arial"/>
                <a:sym typeface="Arial"/>
              </a:rPr>
              <a:t>name </a:t>
            </a:r>
            <a:r>
              <a:rPr lang="en" sz="1600" b="1">
                <a:solidFill>
                  <a:srgbClr val="000080"/>
                </a:solidFill>
                <a:highlight>
                  <a:srgbClr val="FFFFFF"/>
                </a:highlight>
                <a:latin typeface="Arial"/>
                <a:ea typeface="Arial"/>
                <a:cs typeface="Arial"/>
                <a:sym typeface="Arial"/>
              </a:rPr>
              <a:t>in </a:t>
            </a:r>
            <a:r>
              <a:rPr lang="en" sz="1600">
                <a:solidFill>
                  <a:srgbClr val="000000"/>
                </a:solidFill>
                <a:highlight>
                  <a:srgbClr val="FFFFFF"/>
                </a:highlight>
                <a:latin typeface="Arial"/>
                <a:ea typeface="Arial"/>
                <a:cs typeface="Arial"/>
                <a:sym typeface="Arial"/>
              </a:rPr>
              <a:t>vars)</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a:t>
            </a:r>
            <a:r>
              <a:rPr lang="en" sz="1600">
                <a:solidFill>
                  <a:srgbClr val="000080"/>
                </a:solidFill>
                <a:highlight>
                  <a:srgbClr val="FFFFFF"/>
                </a:highlight>
                <a:latin typeface="Arial"/>
                <a:ea typeface="Arial"/>
                <a:cs typeface="Arial"/>
                <a:sym typeface="Arial"/>
              </a:rPr>
              <a:t>print</a:t>
            </a:r>
            <a:r>
              <a:rPr lang="en" sz="1600">
                <a:solidFill>
                  <a:srgbClr val="000000"/>
                </a:solidFill>
                <a:highlight>
                  <a:srgbClr val="FFFFFF"/>
                </a:highlight>
                <a:latin typeface="Arial"/>
                <a:ea typeface="Arial"/>
                <a:cs typeface="Arial"/>
                <a:sym typeface="Arial"/>
              </a:rPr>
              <a:t>(</a:t>
            </a:r>
            <a:r>
              <a:rPr lang="en" sz="1600" b="1">
                <a:solidFill>
                  <a:srgbClr val="008080"/>
                </a:solidFill>
                <a:highlight>
                  <a:srgbClr val="FFFFFF"/>
                </a:highlight>
                <a:latin typeface="Arial"/>
                <a:ea typeface="Arial"/>
                <a:cs typeface="Arial"/>
                <a:sym typeface="Arial"/>
              </a:rPr>
              <a:t>f"</a:t>
            </a:r>
            <a:r>
              <a:rPr lang="en" sz="1600" b="1">
                <a:solidFill>
                  <a:srgbClr val="000080"/>
                </a:solidFill>
                <a:highlight>
                  <a:srgbClr val="FFFFFF"/>
                </a:highlight>
                <a:latin typeface="Arial"/>
                <a:ea typeface="Arial"/>
                <a:cs typeface="Arial"/>
                <a:sym typeface="Arial"/>
              </a:rPr>
              <a:t>{</a:t>
            </a:r>
            <a:r>
              <a:rPr lang="en" sz="1600">
                <a:solidFill>
                  <a:srgbClr val="000000"/>
                </a:solidFill>
                <a:highlight>
                  <a:srgbClr val="FFFFFF"/>
                </a:highlight>
                <a:latin typeface="Arial"/>
                <a:ea typeface="Arial"/>
                <a:cs typeface="Arial"/>
                <a:sym typeface="Arial"/>
              </a:rPr>
              <a:t>loc</a:t>
            </a:r>
            <a:r>
              <a:rPr lang="en" sz="1600" b="1">
                <a:solidFill>
                  <a:srgbClr val="000080"/>
                </a:solidFill>
                <a:highlight>
                  <a:srgbClr val="FFFFFF"/>
                </a:highlight>
                <a:latin typeface="Arial"/>
                <a:ea typeface="Arial"/>
                <a:cs typeface="Arial"/>
                <a:sym typeface="Arial"/>
              </a:rPr>
              <a:t>:</a:t>
            </a:r>
            <a:r>
              <a:rPr lang="en" sz="1600" b="1">
                <a:solidFill>
                  <a:srgbClr val="008080"/>
                </a:solidFill>
                <a:highlight>
                  <a:srgbClr val="FFFFFF"/>
                </a:highlight>
                <a:latin typeface="Arial"/>
                <a:ea typeface="Arial"/>
                <a:cs typeface="Arial"/>
                <a:sym typeface="Arial"/>
              </a:rPr>
              <a:t>50</a:t>
            </a:r>
            <a:r>
              <a:rPr lang="en" sz="1600" b="1">
                <a:solidFill>
                  <a:srgbClr val="000080"/>
                </a:solidFill>
                <a:highlight>
                  <a:srgbClr val="FFFFFF"/>
                </a:highlight>
                <a:latin typeface="Arial"/>
                <a:ea typeface="Arial"/>
                <a:cs typeface="Arial"/>
                <a:sym typeface="Arial"/>
              </a:rPr>
              <a:t>}</a:t>
            </a:r>
            <a:r>
              <a:rPr lang="en" sz="1600" b="1">
                <a:solidFill>
                  <a:srgbClr val="008080"/>
                </a:solidFill>
                <a:highlight>
                  <a:srgbClr val="FFFFFF"/>
                </a:highlight>
                <a:latin typeface="Arial"/>
                <a:ea typeface="Arial"/>
                <a:cs typeface="Arial"/>
                <a:sym typeface="Arial"/>
              </a:rPr>
              <a:t> (</a:t>
            </a:r>
            <a:r>
              <a:rPr lang="en" sz="1600" b="1">
                <a:solidFill>
                  <a:srgbClr val="000080"/>
                </a:solidFill>
                <a:highlight>
                  <a:srgbClr val="FFFFFF"/>
                </a:highlight>
                <a:latin typeface="Arial"/>
                <a:ea typeface="Arial"/>
                <a:cs typeface="Arial"/>
                <a:sym typeface="Arial"/>
              </a:rPr>
              <a:t>{</a:t>
            </a:r>
            <a:r>
              <a:rPr lang="en" sz="1600">
                <a:solidFill>
                  <a:srgbClr val="000000"/>
                </a:solidFill>
                <a:highlight>
                  <a:srgbClr val="FFFFFF"/>
                </a:highlight>
                <a:latin typeface="Arial"/>
                <a:ea typeface="Arial"/>
                <a:cs typeface="Arial"/>
                <a:sym typeface="Arial"/>
              </a:rPr>
              <a:t>vars</a:t>
            </a:r>
            <a:r>
              <a:rPr lang="en" sz="1600" b="1">
                <a:solidFill>
                  <a:srgbClr val="000080"/>
                </a:solidFill>
                <a:highlight>
                  <a:srgbClr val="FFFFFF"/>
                </a:highlight>
                <a:latin typeface="Arial"/>
                <a:ea typeface="Arial"/>
                <a:cs typeface="Arial"/>
                <a:sym typeface="Arial"/>
              </a:rPr>
              <a:t>}</a:t>
            </a:r>
            <a:r>
              <a:rPr lang="en" sz="1600" b="1">
                <a:solidFill>
                  <a:srgbClr val="008080"/>
                </a:solidFill>
                <a:highlight>
                  <a:srgbClr val="FFFFFF"/>
                </a:highlight>
                <a:latin typeface="Arial"/>
                <a:ea typeface="Arial"/>
                <a:cs typeface="Arial"/>
                <a:sym typeface="Arial"/>
              </a:rPr>
              <a:t>)"</a:t>
            </a:r>
            <a:r>
              <a:rPr lang="en" sz="1600">
                <a:solidFill>
                  <a:srgbClr val="000000"/>
                </a:solidFill>
                <a:highlight>
                  <a:srgbClr val="FFFFFF"/>
                </a:highlight>
                <a:latin typeface="Arial"/>
                <a:ea typeface="Arial"/>
                <a:cs typeface="Arial"/>
                <a:sym typeface="Arial"/>
              </a:rPr>
              <a:t>)</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	</a:t>
            </a:r>
            <a:r>
              <a:rPr lang="en" sz="1600" b="1">
                <a:solidFill>
                  <a:srgbClr val="000080"/>
                </a:solidFill>
                <a:highlight>
                  <a:srgbClr val="FFFFFF"/>
                </a:highlight>
                <a:latin typeface="Arial"/>
                <a:ea typeface="Arial"/>
                <a:cs typeface="Arial"/>
                <a:sym typeface="Arial"/>
              </a:rPr>
              <a:t>return </a:t>
            </a:r>
            <a:r>
              <a:rPr lang="en" sz="1600">
                <a:solidFill>
                  <a:srgbClr val="000000"/>
                </a:solidFill>
                <a:highlight>
                  <a:srgbClr val="FFFFFF"/>
                </a:highlight>
                <a:latin typeface="Arial"/>
                <a:ea typeface="Arial"/>
                <a:cs typeface="Arial"/>
                <a:sym typeface="Arial"/>
              </a:rPr>
              <a:t>my_tracer</a:t>
            </a:r>
            <a:endParaRPr sz="1600">
              <a:solidFill>
                <a:srgbClr val="000000"/>
              </a:solidFill>
              <a:highlight>
                <a:srgbClr val="FFFFFF"/>
              </a:highlight>
              <a:latin typeface="Arial"/>
              <a:ea typeface="Arial"/>
              <a:cs typeface="Arial"/>
              <a:sym typeface="Arial"/>
            </a:endParaRPr>
          </a:p>
          <a:p>
            <a:pPr marL="0" lvl="0" indent="0" algn="l" rtl="0">
              <a:spcBef>
                <a:spcPts val="1200"/>
              </a:spcBef>
              <a:spcAft>
                <a:spcPts val="1200"/>
              </a:spcAft>
              <a:buNone/>
            </a:pP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1"/>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Dynamic Analysis (Scalene Tool)</a:t>
            </a:r>
            <a:endParaRPr/>
          </a:p>
          <a:p>
            <a:pPr marL="0" lvl="0" indent="0" algn="l" rtl="0">
              <a:spcBef>
                <a:spcPts val="0"/>
              </a:spcBef>
              <a:spcAft>
                <a:spcPts val="0"/>
              </a:spcAft>
              <a:buNone/>
            </a:pPr>
            <a:endParaRPr/>
          </a:p>
        </p:txBody>
      </p:sp>
      <p:sp>
        <p:nvSpPr>
          <p:cNvPr id="136" name="Google Shape;136;p21"/>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dirty="0">
                <a:solidFill>
                  <a:srgbClr val="202124"/>
                </a:solidFill>
                <a:highlight>
                  <a:srgbClr val="FFFFFF"/>
                </a:highlight>
                <a:latin typeface="Arial"/>
                <a:ea typeface="Arial"/>
                <a:cs typeface="Arial"/>
                <a:sym typeface="Arial"/>
              </a:rPr>
              <a:t>The Memory Profiler is a component that </a:t>
            </a:r>
            <a:r>
              <a:rPr lang="en" sz="1200" b="1" dirty="0">
                <a:solidFill>
                  <a:srgbClr val="202124"/>
                </a:solidFill>
                <a:highlight>
                  <a:srgbClr val="FFFFFF"/>
                </a:highlight>
                <a:latin typeface="Arial"/>
                <a:ea typeface="Arial"/>
                <a:cs typeface="Arial"/>
                <a:sym typeface="Arial"/>
              </a:rPr>
              <a:t>helps you identify memory leaks and memory churn</a:t>
            </a:r>
            <a:r>
              <a:rPr lang="en" sz="1200" dirty="0">
                <a:solidFill>
                  <a:srgbClr val="202124"/>
                </a:solidFill>
                <a:highlight>
                  <a:srgbClr val="FFFFFF"/>
                </a:highlight>
                <a:latin typeface="Arial"/>
                <a:ea typeface="Arial"/>
                <a:cs typeface="Arial"/>
                <a:sym typeface="Arial"/>
              </a:rPr>
              <a:t> that can lead to stutter, freezes, and even app crashes. </a:t>
            </a:r>
            <a:endParaRPr dirty="0"/>
          </a:p>
          <a:p>
            <a:pPr marL="0" lvl="0" indent="0" algn="l" rtl="0">
              <a:spcBef>
                <a:spcPts val="1200"/>
              </a:spcBef>
              <a:spcAft>
                <a:spcPts val="0"/>
              </a:spcAft>
              <a:buNone/>
            </a:pPr>
            <a:r>
              <a:rPr lang="en" dirty="0"/>
              <a:t>Installation: Pip Install Scalene</a:t>
            </a:r>
            <a:endParaRPr dirty="0"/>
          </a:p>
          <a:p>
            <a:pPr marL="0" lvl="0" indent="0" algn="l" rtl="0">
              <a:spcBef>
                <a:spcPts val="1200"/>
              </a:spcBef>
              <a:spcAft>
                <a:spcPts val="0"/>
              </a:spcAft>
              <a:buNone/>
            </a:pPr>
            <a:r>
              <a:rPr lang="en" dirty="0"/>
              <a:t>Github Link: </a:t>
            </a:r>
            <a:r>
              <a:rPr lang="en" u="sng" dirty="0">
                <a:solidFill>
                  <a:schemeClr val="hlink"/>
                </a:solidFill>
                <a:hlinkClick r:id="rId3"/>
              </a:rPr>
              <a:t>https://github.com/plasma-umass/scalene</a:t>
            </a:r>
            <a:endParaRPr dirty="0"/>
          </a:p>
          <a:p>
            <a:pPr marL="0" lvl="0" indent="0" algn="l" rtl="0">
              <a:spcBef>
                <a:spcPts val="1200"/>
              </a:spcBef>
              <a:spcAft>
                <a:spcPts val="1200"/>
              </a:spcAft>
              <a:buNone/>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Static Analysis</a:t>
            </a:r>
            <a:endParaRPr/>
          </a:p>
        </p:txBody>
      </p:sp>
      <p:sp>
        <p:nvSpPr>
          <p:cNvPr id="142" name="Google Shape;142;p22"/>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b="1" dirty="0">
                <a:solidFill>
                  <a:srgbClr val="000000"/>
                </a:solidFill>
                <a:highlight>
                  <a:srgbClr val="F8F8F8"/>
                </a:highlight>
                <a:latin typeface="Open Sans"/>
                <a:ea typeface="Open Sans"/>
                <a:cs typeface="Open Sans"/>
                <a:sym typeface="Open Sans"/>
              </a:rPr>
              <a:t>Static analysis </a:t>
            </a:r>
            <a:r>
              <a:rPr lang="en" sz="1200" dirty="0">
                <a:solidFill>
                  <a:srgbClr val="000000"/>
                </a:solidFill>
                <a:highlight>
                  <a:srgbClr val="F8F8F8"/>
                </a:highlight>
                <a:latin typeface="Open Sans"/>
                <a:ea typeface="Open Sans"/>
                <a:cs typeface="Open Sans"/>
                <a:sym typeface="Open Sans"/>
              </a:rPr>
              <a:t>refers to the ability to analyze </a:t>
            </a:r>
            <a:r>
              <a:rPr lang="en" sz="1200" i="1" dirty="0">
                <a:solidFill>
                  <a:srgbClr val="000000"/>
                </a:solidFill>
                <a:highlight>
                  <a:srgbClr val="F8F8F8"/>
                </a:highlight>
                <a:latin typeface="Open Sans"/>
                <a:ea typeface="Open Sans"/>
                <a:cs typeface="Open Sans"/>
                <a:sym typeface="Open Sans"/>
              </a:rPr>
              <a:t>program code</a:t>
            </a:r>
            <a:r>
              <a:rPr lang="en" sz="1200" dirty="0">
                <a:solidFill>
                  <a:srgbClr val="000000"/>
                </a:solidFill>
                <a:highlight>
                  <a:srgbClr val="F8F8F8"/>
                </a:highlight>
                <a:latin typeface="Open Sans"/>
                <a:ea typeface="Open Sans"/>
                <a:cs typeface="Open Sans"/>
                <a:sym typeface="Open Sans"/>
              </a:rPr>
              <a:t> without actually executing it.	</a:t>
            </a:r>
            <a:endParaRPr sz="1200" dirty="0">
              <a:solidFill>
                <a:srgbClr val="000000"/>
              </a:solidFill>
              <a:highlight>
                <a:srgbClr val="F8F8F8"/>
              </a:highlight>
              <a:latin typeface="Open Sans"/>
              <a:ea typeface="Open Sans"/>
              <a:cs typeface="Open Sans"/>
              <a:sym typeface="Open Sans"/>
            </a:endParaRPr>
          </a:p>
          <a:p>
            <a:pPr marL="0" lvl="0" indent="0" algn="l" rtl="0">
              <a:spcBef>
                <a:spcPts val="1200"/>
              </a:spcBef>
              <a:spcAft>
                <a:spcPts val="1200"/>
              </a:spcAft>
              <a:buNone/>
            </a:pPr>
            <a:r>
              <a:rPr lang="en-US" sz="1200" b="1" dirty="0">
                <a:solidFill>
                  <a:srgbClr val="000000"/>
                </a:solidFill>
                <a:highlight>
                  <a:srgbClr val="F8F8F8"/>
                </a:highlight>
                <a:latin typeface="Open Sans"/>
                <a:ea typeface="Open Sans"/>
                <a:cs typeface="Open Sans"/>
                <a:sym typeface="Open Sans"/>
              </a:rPr>
              <a:t>An Abstract Syntax Tree (AST) </a:t>
            </a:r>
            <a:r>
              <a:rPr lang="en-US" sz="1200" dirty="0">
                <a:solidFill>
                  <a:srgbClr val="000000"/>
                </a:solidFill>
                <a:highlight>
                  <a:srgbClr val="F8F8F8"/>
                </a:highlight>
                <a:latin typeface="Open Sans"/>
                <a:ea typeface="Open Sans"/>
                <a:cs typeface="Open Sans"/>
                <a:sym typeface="Open Sans"/>
              </a:rPr>
              <a:t>is a tree representation of the syntactic structure of source code, where: Nodes represent constructs in the source code (e.g., variables, loops, functions).Branches represent relationships between those constructs (e.g., "a loop contains a condition").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8DCB4-1620-B7A0-9F5F-B61B7D05141F}"/>
              </a:ext>
            </a:extLst>
          </p:cNvPr>
          <p:cNvSpPr>
            <a:spLocks noGrp="1"/>
          </p:cNvSpPr>
          <p:nvPr>
            <p:ph type="title"/>
          </p:nvPr>
        </p:nvSpPr>
        <p:spPr/>
        <p:txBody>
          <a:bodyPr>
            <a:normAutofit fontScale="90000"/>
          </a:bodyPr>
          <a:lstStyle/>
          <a:p>
            <a:r>
              <a:rPr lang="en-US" dirty="0"/>
              <a:t>Generate AST</a:t>
            </a:r>
          </a:p>
        </p:txBody>
      </p:sp>
      <p:sp>
        <p:nvSpPr>
          <p:cNvPr id="3" name="Text Placeholder 2">
            <a:extLst>
              <a:ext uri="{FF2B5EF4-FFF2-40B4-BE49-F238E27FC236}">
                <a16:creationId xmlns:a16="http://schemas.microsoft.com/office/drawing/2014/main" id="{668ADA43-6513-2C36-3E9C-681BABD9978A}"/>
              </a:ext>
            </a:extLst>
          </p:cNvPr>
          <p:cNvSpPr>
            <a:spLocks noGrp="1"/>
          </p:cNvSpPr>
          <p:nvPr>
            <p:ph type="body" idx="1"/>
          </p:nvPr>
        </p:nvSpPr>
        <p:spPr/>
        <p:txBody>
          <a:bodyPr/>
          <a:lstStyle/>
          <a:p>
            <a:r>
              <a:rPr lang="en-US" dirty="0">
                <a:hlinkClick r:id="rId2"/>
              </a:rPr>
              <a:t>https://dev.to/balapriya/abstract-syntax-tree-ast-explained-in-plain-english-1h38</a:t>
            </a:r>
            <a:endParaRPr lang="en-US" dirty="0"/>
          </a:p>
          <a:p>
            <a:r>
              <a:rPr lang="en-US" b="1" dirty="0"/>
              <a:t>AST Explorer: </a:t>
            </a:r>
            <a:r>
              <a:rPr lang="en-US" dirty="0">
                <a:hlinkClick r:id="rId3"/>
              </a:rPr>
              <a:t>https://astexplorer.net/</a:t>
            </a:r>
            <a:endParaRPr lang="en-US" dirty="0"/>
          </a:p>
          <a:p>
            <a:pPr marL="146050" indent="0">
              <a:buNone/>
            </a:pPr>
            <a:endParaRPr lang="en-US" dirty="0"/>
          </a:p>
        </p:txBody>
      </p:sp>
    </p:spTree>
    <p:extLst>
      <p:ext uri="{BB962C8B-B14F-4D97-AF65-F5344CB8AC3E}">
        <p14:creationId xmlns:p14="http://schemas.microsoft.com/office/powerpoint/2010/main" val="2349889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3"/>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1:</a:t>
            </a:r>
            <a:endParaRPr/>
          </a:p>
        </p:txBody>
      </p:sp>
      <p:sp>
        <p:nvSpPr>
          <p:cNvPr id="148" name="Google Shape;148;p23"/>
          <p:cNvSpPr txBox="1">
            <a:spLocks noGrp="1"/>
          </p:cNvSpPr>
          <p:nvPr>
            <p:ph type="body" idx="1"/>
          </p:nvPr>
        </p:nvSpPr>
        <p:spPr>
          <a:xfrm>
            <a:off x="729450" y="1316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00" b="1" dirty="0">
                <a:solidFill>
                  <a:srgbClr val="000080"/>
                </a:solidFill>
                <a:highlight>
                  <a:srgbClr val="FFFFFF"/>
                </a:highlight>
                <a:latin typeface="Arial"/>
                <a:ea typeface="Arial"/>
                <a:cs typeface="Arial"/>
                <a:sym typeface="Arial"/>
              </a:rPr>
              <a:t>import </a:t>
            </a:r>
            <a:r>
              <a:rPr lang="en" sz="2300" dirty="0">
                <a:solidFill>
                  <a:srgbClr val="000000"/>
                </a:solidFill>
                <a:highlight>
                  <a:srgbClr val="FFFFFF"/>
                </a:highlight>
                <a:latin typeface="Arial"/>
                <a:ea typeface="Arial"/>
                <a:cs typeface="Arial"/>
                <a:sym typeface="Arial"/>
              </a:rPr>
              <a:t>ast</a:t>
            </a:r>
            <a:endParaRPr sz="2300" dirty="0">
              <a:solidFill>
                <a:srgbClr val="000000"/>
              </a:solidFill>
              <a:highlight>
                <a:srgbClr val="FFFFFF"/>
              </a:highlight>
              <a:latin typeface="Arial"/>
              <a:ea typeface="Arial"/>
              <a:cs typeface="Arial"/>
              <a:sym typeface="Arial"/>
            </a:endParaRPr>
          </a:p>
          <a:p>
            <a:pPr marL="0" lvl="0" indent="0" algn="l" rtl="0">
              <a:spcBef>
                <a:spcPts val="1200"/>
              </a:spcBef>
              <a:spcAft>
                <a:spcPts val="0"/>
              </a:spcAft>
              <a:buNone/>
            </a:pPr>
            <a:r>
              <a:rPr lang="en" sz="2300" dirty="0">
                <a:solidFill>
                  <a:srgbClr val="000000"/>
                </a:solidFill>
                <a:highlight>
                  <a:srgbClr val="FFFFFF"/>
                </a:highlight>
                <a:latin typeface="Arial"/>
                <a:ea typeface="Arial"/>
                <a:cs typeface="Arial"/>
                <a:sym typeface="Arial"/>
              </a:rPr>
              <a:t>code = </a:t>
            </a:r>
            <a:r>
              <a:rPr lang="en" sz="2300" b="1" dirty="0">
                <a:solidFill>
                  <a:srgbClr val="008080"/>
                </a:solidFill>
                <a:highlight>
                  <a:srgbClr val="FFFFFF"/>
                </a:highlight>
                <a:latin typeface="Arial"/>
                <a:ea typeface="Arial"/>
                <a:cs typeface="Arial"/>
                <a:sym typeface="Arial"/>
              </a:rPr>
              <a:t>"one_plus_two = 1+2"</a:t>
            </a:r>
            <a:endParaRPr sz="2300" b="1" dirty="0">
              <a:solidFill>
                <a:srgbClr val="008080"/>
              </a:solidFill>
              <a:highlight>
                <a:srgbClr val="FFFFFF"/>
              </a:highlight>
              <a:latin typeface="Arial"/>
              <a:ea typeface="Arial"/>
              <a:cs typeface="Arial"/>
              <a:sym typeface="Arial"/>
            </a:endParaRPr>
          </a:p>
          <a:p>
            <a:pPr marL="0" lvl="0" indent="0" algn="l" rtl="0">
              <a:spcBef>
                <a:spcPts val="1200"/>
              </a:spcBef>
              <a:spcAft>
                <a:spcPts val="0"/>
              </a:spcAft>
              <a:buNone/>
            </a:pPr>
            <a:r>
              <a:rPr lang="en" sz="2300" dirty="0">
                <a:solidFill>
                  <a:srgbClr val="000000"/>
                </a:solidFill>
                <a:highlight>
                  <a:srgbClr val="FFFFFF"/>
                </a:highlight>
                <a:latin typeface="Arial"/>
                <a:ea typeface="Arial"/>
                <a:cs typeface="Arial"/>
                <a:sym typeface="Arial"/>
              </a:rPr>
              <a:t>tree = ast.parse(code)</a:t>
            </a:r>
            <a:endParaRPr sz="2300" dirty="0">
              <a:solidFill>
                <a:srgbClr val="000000"/>
              </a:solidFill>
              <a:highlight>
                <a:srgbClr val="FFFFFF"/>
              </a:highlight>
              <a:latin typeface="Arial"/>
              <a:ea typeface="Arial"/>
              <a:cs typeface="Arial"/>
              <a:sym typeface="Arial"/>
            </a:endParaRPr>
          </a:p>
          <a:p>
            <a:pPr marL="0" lvl="0" indent="0" algn="l" rtl="0">
              <a:spcBef>
                <a:spcPts val="1200"/>
              </a:spcBef>
              <a:spcAft>
                <a:spcPts val="0"/>
              </a:spcAft>
              <a:buNone/>
            </a:pPr>
            <a:r>
              <a:rPr lang="en" sz="2300" dirty="0">
                <a:solidFill>
                  <a:srgbClr val="000080"/>
                </a:solidFill>
                <a:highlight>
                  <a:srgbClr val="FFFFFF"/>
                </a:highlight>
                <a:latin typeface="Arial"/>
                <a:ea typeface="Arial"/>
                <a:cs typeface="Arial"/>
                <a:sym typeface="Arial"/>
              </a:rPr>
              <a:t>print</a:t>
            </a:r>
            <a:r>
              <a:rPr lang="en" sz="2300" dirty="0">
                <a:solidFill>
                  <a:srgbClr val="000000"/>
                </a:solidFill>
                <a:highlight>
                  <a:srgbClr val="FFFFFF"/>
                </a:highlight>
                <a:latin typeface="Arial"/>
                <a:ea typeface="Arial"/>
                <a:cs typeface="Arial"/>
                <a:sym typeface="Arial"/>
              </a:rPr>
              <a:t>(ast.dump(tree))</a:t>
            </a:r>
            <a:endParaRPr sz="2300" dirty="0">
              <a:solidFill>
                <a:srgbClr val="000000"/>
              </a:solidFill>
              <a:highlight>
                <a:srgbClr val="FFFFFF"/>
              </a:highlight>
              <a:latin typeface="Arial"/>
              <a:ea typeface="Arial"/>
              <a:cs typeface="Arial"/>
              <a:sym typeface="Arial"/>
            </a:endParaRPr>
          </a:p>
          <a:p>
            <a:pPr marL="0" lvl="0" indent="0" algn="l" rtl="0">
              <a:spcBef>
                <a:spcPts val="1200"/>
              </a:spcBef>
              <a:spcAft>
                <a:spcPts val="1200"/>
              </a:spcAft>
              <a:buNone/>
            </a:pPr>
            <a:endParaRPr sz="2300" b="1" dirty="0">
              <a:solidFill>
                <a:srgbClr val="000080"/>
              </a:solidFill>
              <a:highlight>
                <a:srgbClr val="FFFFFF"/>
              </a:highlight>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54" name="Google Shape;154;p2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55" name="Google Shape;155;p24"/>
          <p:cNvPicPr preferRelativeResize="0"/>
          <p:nvPr/>
        </p:nvPicPr>
        <p:blipFill>
          <a:blip r:embed="rId3">
            <a:alphaModFix/>
          </a:blip>
          <a:stretch>
            <a:fillRect/>
          </a:stretch>
        </p:blipFill>
        <p:spPr>
          <a:xfrm>
            <a:off x="65550" y="496300"/>
            <a:ext cx="9143999" cy="4647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5"/>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2:</a:t>
            </a:r>
            <a:endParaRPr/>
          </a:p>
        </p:txBody>
      </p:sp>
      <p:sp>
        <p:nvSpPr>
          <p:cNvPr id="161" name="Google Shape;161;p25"/>
          <p:cNvSpPr txBox="1">
            <a:spLocks noGrp="1"/>
          </p:cNvSpPr>
          <p:nvPr>
            <p:ph type="body" idx="1"/>
          </p:nvPr>
        </p:nvSpPr>
        <p:spPr>
          <a:xfrm>
            <a:off x="729450" y="1316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rgbClr val="000080"/>
                </a:solidFill>
                <a:highlight>
                  <a:srgbClr val="FFFFFF"/>
                </a:highlight>
                <a:latin typeface="Arial"/>
                <a:ea typeface="Arial"/>
                <a:cs typeface="Arial"/>
                <a:sym typeface="Arial"/>
              </a:rPr>
              <a:t>import </a:t>
            </a:r>
            <a:r>
              <a:rPr lang="en" sz="1600">
                <a:solidFill>
                  <a:srgbClr val="000000"/>
                </a:solidFill>
                <a:highlight>
                  <a:srgbClr val="FFFFFF"/>
                </a:highlight>
                <a:latin typeface="Arial"/>
                <a:ea typeface="Arial"/>
                <a:cs typeface="Arial"/>
                <a:sym typeface="Arial"/>
              </a:rPr>
              <a:t>ast</a:t>
            </a:r>
            <a:br>
              <a:rPr lang="en" sz="1600">
                <a:solidFill>
                  <a:srgbClr val="000000"/>
                </a:solidFill>
                <a:highlight>
                  <a:srgbClr val="FFFFFF"/>
                </a:highlight>
                <a:latin typeface="Arial"/>
                <a:ea typeface="Arial"/>
                <a:cs typeface="Arial"/>
                <a:sym typeface="Arial"/>
              </a:rPr>
            </a:br>
            <a:r>
              <a:rPr lang="en" sz="1600">
                <a:solidFill>
                  <a:srgbClr val="000000"/>
                </a:solidFill>
                <a:highlight>
                  <a:srgbClr val="FFFFFF"/>
                </a:highlight>
                <a:latin typeface="Arial"/>
                <a:ea typeface="Arial"/>
                <a:cs typeface="Arial"/>
                <a:sym typeface="Arial"/>
              </a:rPr>
              <a:t>tree_ast = ast.parse(</a:t>
            </a:r>
            <a:r>
              <a:rPr lang="en" sz="1600" b="1">
                <a:solidFill>
                  <a:srgbClr val="008080"/>
                </a:solidFill>
                <a:highlight>
                  <a:srgbClr val="FFFFFF"/>
                </a:highlight>
                <a:latin typeface="Arial"/>
                <a:ea typeface="Arial"/>
                <a:cs typeface="Arial"/>
                <a:sym typeface="Arial"/>
              </a:rPr>
              <a:t>''' </a:t>
            </a:r>
            <a:endParaRPr sz="1600" b="1">
              <a:solidFill>
                <a:srgbClr val="008080"/>
              </a:solidFill>
              <a:highlight>
                <a:srgbClr val="FFFFFF"/>
              </a:highlight>
              <a:latin typeface="Arial"/>
              <a:ea typeface="Arial"/>
              <a:cs typeface="Arial"/>
              <a:sym typeface="Arial"/>
            </a:endParaRPr>
          </a:p>
          <a:p>
            <a:pPr marL="0" lvl="0" indent="0" algn="l" rtl="0">
              <a:spcBef>
                <a:spcPts val="1200"/>
              </a:spcBef>
              <a:spcAft>
                <a:spcPts val="0"/>
              </a:spcAft>
              <a:buNone/>
            </a:pPr>
            <a:r>
              <a:rPr lang="en" sz="1600" b="1">
                <a:solidFill>
                  <a:srgbClr val="008080"/>
                </a:solidFill>
                <a:highlight>
                  <a:srgbClr val="FFFFFF"/>
                </a:highlight>
                <a:latin typeface="Arial"/>
                <a:ea typeface="Arial"/>
                <a:cs typeface="Arial"/>
                <a:sym typeface="Arial"/>
              </a:rPr>
              <a:t>subjects = ['computer science', 'alorithm'] </a:t>
            </a:r>
            <a:endParaRPr sz="1600" b="1">
              <a:solidFill>
                <a:srgbClr val="008080"/>
              </a:solidFill>
              <a:highlight>
                <a:srgbClr val="FFFFFF"/>
              </a:highlight>
              <a:latin typeface="Arial"/>
              <a:ea typeface="Arial"/>
              <a:cs typeface="Arial"/>
              <a:sym typeface="Arial"/>
            </a:endParaRPr>
          </a:p>
          <a:p>
            <a:pPr marL="0" lvl="0" indent="0" algn="l" rtl="0">
              <a:spcBef>
                <a:spcPts val="1200"/>
              </a:spcBef>
              <a:spcAft>
                <a:spcPts val="0"/>
              </a:spcAft>
              <a:buNone/>
            </a:pPr>
            <a:r>
              <a:rPr lang="en" sz="1600" b="1">
                <a:solidFill>
                  <a:srgbClr val="008080"/>
                </a:solidFill>
                <a:highlight>
                  <a:srgbClr val="FFFFFF"/>
                </a:highlight>
                <a:latin typeface="Arial"/>
                <a:ea typeface="Arial"/>
                <a:cs typeface="Arial"/>
                <a:sym typeface="Arial"/>
              </a:rPr>
              <a:t>name = 'Ricky' </a:t>
            </a:r>
            <a:br>
              <a:rPr lang="en" sz="1600" b="1">
                <a:solidFill>
                  <a:srgbClr val="008080"/>
                </a:solidFill>
                <a:highlight>
                  <a:srgbClr val="FFFFFF"/>
                </a:highlight>
                <a:latin typeface="Arial"/>
                <a:ea typeface="Arial"/>
                <a:cs typeface="Arial"/>
                <a:sym typeface="Arial"/>
              </a:rPr>
            </a:br>
            <a:r>
              <a:rPr lang="en" sz="1600" b="1">
                <a:solidFill>
                  <a:srgbClr val="008080"/>
                </a:solidFill>
                <a:highlight>
                  <a:srgbClr val="FFFFFF"/>
                </a:highlight>
                <a:latin typeface="Arial"/>
                <a:ea typeface="Arial"/>
                <a:cs typeface="Arial"/>
                <a:sym typeface="Arial"/>
              </a:rPr>
              <a:t>for sub in subjects: </a:t>
            </a:r>
            <a:endParaRPr sz="1600" b="1">
              <a:solidFill>
                <a:srgbClr val="008080"/>
              </a:solidFill>
              <a:highlight>
                <a:srgbClr val="FFFFFF"/>
              </a:highlight>
              <a:latin typeface="Arial"/>
              <a:ea typeface="Arial"/>
              <a:cs typeface="Arial"/>
              <a:sym typeface="Arial"/>
            </a:endParaRPr>
          </a:p>
          <a:p>
            <a:pPr marL="0" lvl="0" indent="0" algn="l" rtl="0">
              <a:spcBef>
                <a:spcPts val="1200"/>
              </a:spcBef>
              <a:spcAft>
                <a:spcPts val="0"/>
              </a:spcAft>
              <a:buNone/>
            </a:pPr>
            <a:r>
              <a:rPr lang="en" sz="1600" b="1">
                <a:solidFill>
                  <a:srgbClr val="008080"/>
                </a:solidFill>
                <a:highlight>
                  <a:srgbClr val="FFFFFF"/>
                </a:highlight>
                <a:latin typeface="Arial"/>
                <a:ea typeface="Arial"/>
                <a:cs typeface="Arial"/>
                <a:sym typeface="Arial"/>
              </a:rPr>
              <a:t>   print('{} learn {}'.format(name, sub)) </a:t>
            </a:r>
            <a:endParaRPr sz="1600" b="1">
              <a:solidFill>
                <a:srgbClr val="008080"/>
              </a:solidFill>
              <a:highlight>
                <a:srgbClr val="FFFFFF"/>
              </a:highlight>
              <a:latin typeface="Arial"/>
              <a:ea typeface="Arial"/>
              <a:cs typeface="Arial"/>
              <a:sym typeface="Arial"/>
            </a:endParaRPr>
          </a:p>
          <a:p>
            <a:pPr marL="0" lvl="0" indent="0" algn="l" rtl="0">
              <a:spcBef>
                <a:spcPts val="1200"/>
              </a:spcBef>
              <a:spcAft>
                <a:spcPts val="0"/>
              </a:spcAft>
              <a:buNone/>
            </a:pPr>
            <a:r>
              <a:rPr lang="en" sz="1600" b="1">
                <a:solidFill>
                  <a:srgbClr val="008080"/>
                </a:solidFill>
                <a:highlight>
                  <a:srgbClr val="FFFFFF"/>
                </a:highlight>
                <a:latin typeface="Arial"/>
                <a:ea typeface="Arial"/>
                <a:cs typeface="Arial"/>
                <a:sym typeface="Arial"/>
              </a:rPr>
              <a:t>'''</a:t>
            </a:r>
            <a:r>
              <a:rPr lang="en" sz="1600">
                <a:solidFill>
                  <a:srgbClr val="000000"/>
                </a:solidFill>
                <a:highlight>
                  <a:srgbClr val="FFFFFF"/>
                </a:highlight>
                <a:latin typeface="Arial"/>
                <a:ea typeface="Arial"/>
                <a:cs typeface="Arial"/>
                <a:sym typeface="Arial"/>
              </a:rPr>
              <a:t>)</a:t>
            </a:r>
            <a:br>
              <a:rPr lang="en" sz="1600">
                <a:solidFill>
                  <a:srgbClr val="000000"/>
                </a:solidFill>
                <a:highlight>
                  <a:srgbClr val="FFFFFF"/>
                </a:highlight>
                <a:latin typeface="Arial"/>
                <a:ea typeface="Arial"/>
                <a:cs typeface="Arial"/>
                <a:sym typeface="Arial"/>
              </a:rPr>
            </a:br>
            <a:r>
              <a:rPr lang="en" sz="1600">
                <a:solidFill>
                  <a:srgbClr val="000080"/>
                </a:solidFill>
                <a:highlight>
                  <a:srgbClr val="FFFFFF"/>
                </a:highlight>
                <a:latin typeface="Arial"/>
                <a:ea typeface="Arial"/>
                <a:cs typeface="Arial"/>
                <a:sym typeface="Arial"/>
              </a:rPr>
              <a:t>print</a:t>
            </a:r>
            <a:r>
              <a:rPr lang="en" sz="1600">
                <a:solidFill>
                  <a:srgbClr val="000000"/>
                </a:solidFill>
                <a:highlight>
                  <a:srgbClr val="FFFFFF"/>
                </a:highlight>
                <a:latin typeface="Arial"/>
                <a:ea typeface="Arial"/>
                <a:cs typeface="Arial"/>
                <a:sym typeface="Arial"/>
              </a:rPr>
              <a:t>(ast.dump(tree_ast))</a:t>
            </a:r>
            <a:endParaRPr sz="1600">
              <a:solidFill>
                <a:srgbClr val="000000"/>
              </a:solidFill>
              <a:highlight>
                <a:srgbClr val="FFFFFF"/>
              </a:highlight>
              <a:latin typeface="Arial"/>
              <a:ea typeface="Arial"/>
              <a:cs typeface="Arial"/>
              <a:sym typeface="Arial"/>
            </a:endParaRPr>
          </a:p>
          <a:p>
            <a:pPr marL="0" lvl="0" indent="0" algn="l" rtl="0">
              <a:spcBef>
                <a:spcPts val="1200"/>
              </a:spcBef>
              <a:spcAft>
                <a:spcPts val="1200"/>
              </a:spcAft>
              <a:buNone/>
            </a:pP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678F5-06A8-3938-1E52-62502115B6E3}"/>
              </a:ext>
            </a:extLst>
          </p:cNvPr>
          <p:cNvSpPr>
            <a:spLocks noGrp="1"/>
          </p:cNvSpPr>
          <p:nvPr>
            <p:ph type="title"/>
          </p:nvPr>
        </p:nvSpPr>
        <p:spPr/>
        <p:txBody>
          <a:bodyPr>
            <a:normAutofit fontScale="90000"/>
          </a:bodyPr>
          <a:lstStyle/>
          <a:p>
            <a:r>
              <a:rPr lang="en-US" dirty="0" err="1"/>
              <a:t>Sonarqube</a:t>
            </a:r>
            <a:r>
              <a:rPr lang="en-US" dirty="0"/>
              <a:t> Static Analysis tool</a:t>
            </a:r>
          </a:p>
        </p:txBody>
      </p:sp>
      <p:sp>
        <p:nvSpPr>
          <p:cNvPr id="3" name="Text Placeholder 2">
            <a:extLst>
              <a:ext uri="{FF2B5EF4-FFF2-40B4-BE49-F238E27FC236}">
                <a16:creationId xmlns:a16="http://schemas.microsoft.com/office/drawing/2014/main" id="{3B47B7A9-2BEB-DBE0-F357-26B9548E49A2}"/>
              </a:ext>
            </a:extLst>
          </p:cNvPr>
          <p:cNvSpPr>
            <a:spLocks noGrp="1"/>
          </p:cNvSpPr>
          <p:nvPr>
            <p:ph type="body" idx="1"/>
          </p:nvPr>
        </p:nvSpPr>
        <p:spPr/>
        <p:txBody>
          <a:bodyPr/>
          <a:lstStyle/>
          <a:p>
            <a:pPr marL="146050" indent="0">
              <a:buNone/>
            </a:pPr>
            <a:endParaRPr lang="en-US" u="sng" dirty="0"/>
          </a:p>
          <a:p>
            <a:pPr marL="146050" indent="0">
              <a:buNone/>
            </a:pPr>
            <a:r>
              <a:rPr lang="en-US" dirty="0">
                <a:hlinkClick r:id="rId2"/>
              </a:rPr>
              <a:t>h</a:t>
            </a:r>
            <a:r>
              <a:rPr lang="en-US" dirty="0">
                <a:hlinkClick r:id="rId2"/>
              </a:rPr>
              <a:t>ttps://www.sonarsource.com/products/sonarqube/</a:t>
            </a:r>
            <a:r>
              <a:rPr lang="en-US" dirty="0"/>
              <a:t> </a:t>
            </a:r>
          </a:p>
        </p:txBody>
      </p:sp>
    </p:spTree>
    <p:extLst>
      <p:ext uri="{BB962C8B-B14F-4D97-AF65-F5344CB8AC3E}">
        <p14:creationId xmlns:p14="http://schemas.microsoft.com/office/powerpoint/2010/main" val="327112804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812</Words>
  <Application>Microsoft Office PowerPoint</Application>
  <PresentationFormat>On-screen Show (16:9)</PresentationFormat>
  <Paragraphs>61</Paragraphs>
  <Slides>17</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Times New Roman</vt:lpstr>
      <vt:lpstr>Lato</vt:lpstr>
      <vt:lpstr>Open Sans</vt:lpstr>
      <vt:lpstr>Raleway</vt:lpstr>
      <vt:lpstr>Arial</vt:lpstr>
      <vt:lpstr>Streamline</vt:lpstr>
      <vt:lpstr>Introduction</vt:lpstr>
      <vt:lpstr>Find the Codebase</vt:lpstr>
      <vt:lpstr>Dynamic Analysis and Static Analysis</vt:lpstr>
      <vt:lpstr>Dynamic Analysis</vt:lpstr>
      <vt:lpstr>Dynamic Analysis </vt:lpstr>
      <vt:lpstr>Dynamic Analysis  </vt:lpstr>
      <vt:lpstr>Example 1:</vt:lpstr>
      <vt:lpstr>Example 1:</vt:lpstr>
      <vt:lpstr>Output of Example 1</vt:lpstr>
      <vt:lpstr>Example 2:</vt:lpstr>
      <vt:lpstr>Dynamic Analysis (Scalene Tool) </vt:lpstr>
      <vt:lpstr>Static Analysis</vt:lpstr>
      <vt:lpstr>Generate AST</vt:lpstr>
      <vt:lpstr>Example 1:</vt:lpstr>
      <vt:lpstr>PowerPoint Presentation</vt:lpstr>
      <vt:lpstr>Example 2:</vt:lpstr>
      <vt:lpstr>Sonarqube Static Analysis tool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Lutfun Nahar Lota Assistant Professor,	CSE</cp:lastModifiedBy>
  <cp:revision>1</cp:revision>
  <dcterms:modified xsi:type="dcterms:W3CDTF">2025-05-15T07:50:02Z</dcterms:modified>
</cp:coreProperties>
</file>